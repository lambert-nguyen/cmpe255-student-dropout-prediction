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0"/>
    <p:restoredTop sz="94635"/>
  </p:normalViewPr>
  <p:slideViewPr>
    <p:cSldViewPr snapToGrid="0" snapToObjects="1">
      <p:cViewPr>
        <p:scale>
          <a:sx n="138" d="100"/>
          <a:sy n="138" d="100"/>
        </p:scale>
        <p:origin x="904" y="6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0010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everyone. Today we present our CMPE 255 project on predicting student dropout using data mining techniques. We analyzed a dataset of over 4,400 students from a Portuguese university to identify key risk factors and build predictive models.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Student dropout is costly — both for students who invest time and money, and for universities that lose funding and reputation. In our dataset, nearly one-third of students dropped out. Our goal is to use data mining to build an early-warning system that flags at-risk students so advisors can intervene before it's too late.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core research question is whether we can predict student outcomes using data available at enrollment time and after the first semesters. This is a multi-class problem with three outcomes. The class imbalance is a key challenge — Enrolled students make up only 18% of the data, making them harder to predict correctly.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dataset comes from the UCI repository — compiled from institutional databases at a Portuguese polytechnic. It contains 4,424 student records with 36 features spanning demographics, prior academics, socio-economic factors, and semester performance. Importantly, there are no missing values, so we could focus on modeling rather than imputation.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show a conceptual star schema for our data warehouse design. The central fact table stores each student's enrollment record with semester grades and outcome. Four dimension tables capture student demographics, academic background, family information, and economic factors. The ETL pipeline encodes categorical features and normalizes numerics.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preprocessing pipeline has five steps. First we verified data quality — no missing values. We identified feature types, encoded the target variable numerically, standardized all features, and performed a stratified 80/20 split to preserve the class distribution in both train and test sets.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target distribution shows moderate class imbalance. About half the students graduated, a third dropped out, and only 18% remain enrolled. This imbalance affects model performance, particularly for the Enrolled class. We use stratified splitting and F1-macro scoring to handle this.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KDE plots on the left show clear separation — dropout students cluster near zero approved units while graduates spread across higher values. The Spearman correlation chart on the right confirms that 2nd semester approved units is the single strongest predictor of student outcome.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key views here. Left: boxplots show dramatic separation in semester grades — dropout students score much lower. Center: stacked bars reveal that being a debtor or not having tuition up to date increases dropout risk. Right: PCA projects all 36 features to 2D, showing clusters but with overlap, suggesting a non-trivial classification problem.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showcases the breadth of visualization techniques we used — heatmaps, KDE distributions, boxplots, stacked bars, PCA, and feature importance charts. All use a consistent color scheme throughout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trained six classification models, covering tree-based, instance-based, linear, kernel, and boosting approaches. All use random_state=42 for reproducibility. KNN's k was tuned by testing 3, 5, 7, 9, and 11, with k=11 yielding the best accuracy. We evaluate all models using F1-macro to account for class imbalance.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Comparing our best model (XGBoost, F1-macro 0.706), a mid-range model (Logistic Regression, 0.683), and the weakest (KNN, 0.586). The confusion matrices show that all models struggle most with the Enrolled class due to its small size. ROC curves show strong AUC values across all three classes, especially for Dropout and Graduate.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K-Means with k=3 shows the best silhouette score at 0.21, confirming three natural groupings. However, the crosstab shows significant overlap — clusters don't cleanly separate the three outcome classes. Hierarchical clustering with Ward linkage confirms this. The low silhouette scores indicate that unsupervised methods alone cannot reliably predict outcomes, justifying our supervised classification approach.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applied the Apriori algorithm after binning numeric features. The strongest association rule says: students with low first-semester approved units who are mid-age have an 87% probability of dropping out, with a lift of 2.72 — meaning they are 2.7 times more likely to drop out than the baseline. This is actionable intelligence for academic advisors.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key results slide. XGBoost achieves the best F1-macro score of 0.706, which is our primary metric since it accounts for class imbalance. Random Forest has the highest raw accuracy at 77.1% and the most stable cross-validation performance. KNN and Decision Tree trail behind. The cross-validation results confirm these models generalize well — the small standard deviations show consistent performance across folds.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importance analysis from both Random Forest and XGBoost consistently ranks 2nd semester approved units as the single strongest predictor. Academic performance features dominate the top 5, followed by financial indicators like tuition status. This tells us that early semester performance is the most reliable signal for identifying at-risk students.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XGBoost is our best model by F1-macro, semester performance is the strongest predictor, and association rules provide actionable thresholds for intervention. Our key recommendation is simple — track first-semester approved units and flag students with fewer than 3 for immediate advising.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ahead, the most impactful next step would be building a real-time dashboard that advisors can use during the semester. We'd also like to validate our models across multiple institutions. Deep learning approaches like TabNet could potentially improve performance, and temporal modeling could track how risk evolves over time.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attention. We're happy to take any questions about our methodology, results, or potential applications of this work.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0" y="3063240"/>
            <a:ext cx="9418320" cy="54864"/>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371600"/>
            <a:ext cx="9418320" cy="1645920"/>
          </a:xfrm>
          <a:prstGeom prst="rect">
            <a:avLst/>
          </a:prstGeom>
          <a:noFill/>
        </p:spPr>
        <p:txBody>
          <a:bodyPr wrap="square">
            <a:spAutoFit/>
          </a:bodyPr>
          <a:lstStyle/>
          <a:p>
            <a:pPr algn="l">
              <a:defRPr sz="3600" b="1">
                <a:solidFill>
                  <a:srgbClr val="FFFFFF"/>
                </a:solidFill>
                <a:latin typeface="Calibri"/>
              </a:defRPr>
            </a:pPr>
            <a:r>
              <a:t>Predicting Student Dropout and</a:t>
            </a:r>
            <a:br/>
            <a:r>
              <a:t>Academic Success Using Data Mining</a:t>
            </a:r>
          </a:p>
        </p:txBody>
      </p:sp>
      <p:sp>
        <p:nvSpPr>
          <p:cNvPr id="5" name="TextBox 4"/>
          <p:cNvSpPr txBox="1"/>
          <p:nvPr/>
        </p:nvSpPr>
        <p:spPr>
          <a:xfrm>
            <a:off x="1371600" y="3291840"/>
            <a:ext cx="9418320" cy="548640"/>
          </a:xfrm>
          <a:prstGeom prst="rect">
            <a:avLst/>
          </a:prstGeom>
          <a:noFill/>
        </p:spPr>
        <p:txBody>
          <a:bodyPr wrap="none">
            <a:spAutoFit/>
          </a:bodyPr>
          <a:lstStyle/>
          <a:p>
            <a:pPr algn="l">
              <a:defRPr sz="2200">
                <a:solidFill>
                  <a:srgbClr val="1D9E75"/>
                </a:solidFill>
                <a:latin typeface="Calibri"/>
              </a:defRPr>
            </a:pPr>
            <a:r>
              <a:t>CMPE 255 — Data Mining  |  Spring 2026</a:t>
            </a:r>
          </a:p>
        </p:txBody>
      </p:sp>
      <p:sp>
        <p:nvSpPr>
          <p:cNvPr id="6" name="TextBox 5"/>
          <p:cNvSpPr txBox="1"/>
          <p:nvPr/>
        </p:nvSpPr>
        <p:spPr>
          <a:xfrm>
            <a:off x="1371600" y="4114800"/>
            <a:ext cx="9418320" cy="964367"/>
          </a:xfrm>
          <a:prstGeom prst="rect">
            <a:avLst/>
          </a:prstGeom>
          <a:noFill/>
        </p:spPr>
        <p:txBody>
          <a:bodyPr wrap="square">
            <a:spAutoFit/>
          </a:bodyPr>
          <a:lstStyle/>
          <a:p>
            <a:pPr algn="l">
              <a:spcAft>
                <a:spcPts val="400"/>
              </a:spcAft>
              <a:defRPr sz="1800">
                <a:solidFill>
                  <a:srgbClr val="BBCCDD"/>
                </a:solidFill>
                <a:latin typeface="Calibri"/>
              </a:defRPr>
            </a:pPr>
            <a:r>
              <a:rPr dirty="0"/>
              <a:t>Lam Nguyen (018229432)  •  Tri Ngo</a:t>
            </a:r>
            <a:r>
              <a:rPr lang="vi-VN" dirty="0"/>
              <a:t> (015712749)</a:t>
            </a:r>
            <a:endParaRPr dirty="0"/>
          </a:p>
          <a:p>
            <a:pPr algn="l">
              <a:spcAft>
                <a:spcPts val="400"/>
              </a:spcAft>
              <a:defRPr sz="1600">
                <a:solidFill>
                  <a:srgbClr val="BBCCDD"/>
                </a:solidFill>
                <a:latin typeface="Calibri"/>
              </a:defRPr>
            </a:pPr>
            <a:r>
              <a:rPr dirty="0"/>
              <a:t>San José State University</a:t>
            </a:r>
          </a:p>
          <a:p>
            <a:pPr algn="l">
              <a:spcAft>
                <a:spcPts val="400"/>
              </a:spcAft>
              <a:defRPr sz="1600">
                <a:solidFill>
                  <a:srgbClr val="BBCCDD"/>
                </a:solidFill>
                <a:latin typeface="Calibri"/>
              </a:defRPr>
            </a:pPr>
            <a:r>
              <a:rPr dirty="0"/>
              <a:t>April 2026</a:t>
            </a:r>
          </a:p>
        </p:txBody>
      </p:sp>
      <p:sp>
        <p:nvSpPr>
          <p:cNvPr id="7" name="TextBox 6"/>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 / 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Introduction &amp; Motivation</a:t>
            </a:r>
          </a:p>
        </p:txBody>
      </p:sp>
      <p:sp>
        <p:nvSpPr>
          <p:cNvPr id="3" name="TextBox 2"/>
          <p:cNvSpPr txBox="1"/>
          <p:nvPr/>
        </p:nvSpPr>
        <p:spPr>
          <a:xfrm>
            <a:off x="548640" y="1371600"/>
            <a:ext cx="6400800" cy="3200400"/>
          </a:xfrm>
          <a:prstGeom prst="rect">
            <a:avLst/>
          </a:prstGeom>
          <a:noFill/>
        </p:spPr>
        <p:txBody>
          <a:bodyPr wrap="square">
            <a:spAutoFit/>
          </a:bodyPr>
          <a:lstStyle/>
          <a:p>
            <a:pPr>
              <a:spcAft>
                <a:spcPts val="600"/>
              </a:spcAft>
              <a:defRPr sz="1900">
                <a:solidFill>
                  <a:srgbClr val="333333"/>
                </a:solidFill>
                <a:latin typeface="Calibri"/>
              </a:defRPr>
            </a:pPr>
            <a:r>
              <a:t>Higher education dropout is a significant global challenge — it affects students, families, and institutions alike</a:t>
            </a:r>
          </a:p>
          <a:p>
            <a:pPr>
              <a:spcAft>
                <a:spcPts val="600"/>
              </a:spcAft>
              <a:defRPr sz="1900">
                <a:solidFill>
                  <a:srgbClr val="333333"/>
                </a:solidFill>
                <a:latin typeface="Calibri"/>
              </a:defRPr>
            </a:pPr>
            <a:r>
              <a:t>~32% of students in our dataset dropped out before graduating</a:t>
            </a:r>
          </a:p>
          <a:p>
            <a:pPr>
              <a:spcAft>
                <a:spcPts val="600"/>
              </a:spcAft>
              <a:defRPr sz="1900">
                <a:solidFill>
                  <a:srgbClr val="333333"/>
                </a:solidFill>
                <a:latin typeface="Calibri"/>
              </a:defRPr>
            </a:pPr>
            <a:r>
              <a:t>Early identification of at-risk students enables targeted academic advising and intervention programs</a:t>
            </a:r>
          </a:p>
          <a:p>
            <a:pPr>
              <a:spcAft>
                <a:spcPts val="600"/>
              </a:spcAft>
              <a:defRPr sz="1900">
                <a:solidFill>
                  <a:srgbClr val="333333"/>
                </a:solidFill>
                <a:latin typeface="Calibri"/>
              </a:defRPr>
            </a:pPr>
            <a:r>
              <a:t>Data mining can uncover hidden patterns in enrollment, demographic, and academic performance data</a:t>
            </a:r>
          </a:p>
        </p:txBody>
      </p:sp>
      <p:sp>
        <p:nvSpPr>
          <p:cNvPr id="4" name="Rounded Rectangle 3"/>
          <p:cNvSpPr/>
          <p:nvPr/>
        </p:nvSpPr>
        <p:spPr>
          <a:xfrm>
            <a:off x="548640" y="4846320"/>
            <a:ext cx="11064240" cy="82296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700" b="1">
                <a:solidFill>
                  <a:srgbClr val="FFFFFF"/>
                </a:solidFill>
                <a:latin typeface="Calibri"/>
              </a:defRPr>
            </a:pPr>
            <a:r>
              <a:t>Goal: "Apply classification, clustering, and association rule mining to predict student outcomes and identify key dropout risk factors"</a:t>
            </a:r>
          </a:p>
        </p:txBody>
      </p:sp>
      <p:pic>
        <p:nvPicPr>
          <p:cNvPr id="5" name="Picture 4" descr="class_distribution.png"/>
          <p:cNvPicPr>
            <a:picLocks noChangeAspect="1"/>
          </p:cNvPicPr>
          <p:nvPr/>
        </p:nvPicPr>
        <p:blipFill>
          <a:blip r:embed="rId3"/>
          <a:stretch>
            <a:fillRect/>
          </a:stretch>
        </p:blipFill>
        <p:spPr>
          <a:xfrm>
            <a:off x="7498079" y="1280160"/>
            <a:ext cx="4114800" cy="2561324"/>
          </a:xfrm>
          <a:prstGeom prst="rect">
            <a:avLst/>
          </a:prstGeom>
        </p:spPr>
      </p:pic>
      <p:sp>
        <p:nvSpPr>
          <p:cNvPr id="6" name="TextBox 5"/>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2 / 19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Problem Statement</a:t>
            </a:r>
          </a:p>
        </p:txBody>
      </p:sp>
      <p:sp>
        <p:nvSpPr>
          <p:cNvPr id="3" name="TextBox 2"/>
          <p:cNvSpPr txBox="1"/>
          <p:nvPr/>
        </p:nvSpPr>
        <p:spPr>
          <a:xfrm>
            <a:off x="548640" y="1371600"/>
            <a:ext cx="10972800" cy="2246769"/>
          </a:xfrm>
          <a:prstGeom prst="rect">
            <a:avLst/>
          </a:prstGeom>
          <a:noFill/>
        </p:spPr>
        <p:txBody>
          <a:bodyPr wrap="square">
            <a:spAutoFit/>
          </a:bodyPr>
          <a:lstStyle/>
          <a:p>
            <a:pPr>
              <a:spcAft>
                <a:spcPts val="600"/>
              </a:spcAft>
              <a:defRPr sz="1900">
                <a:solidFill>
                  <a:srgbClr val="333333"/>
                </a:solidFill>
                <a:latin typeface="Calibri"/>
              </a:defRPr>
            </a:pPr>
            <a:r>
              <a:rPr sz="2000" b="1" dirty="0">
                <a:solidFill>
                  <a:srgbClr val="333333"/>
                </a:solidFill>
                <a:latin typeface="Calibri"/>
              </a:rPr>
              <a:t>Research Question:</a:t>
            </a:r>
            <a:r>
              <a:rPr sz="2000" dirty="0">
                <a:solidFill>
                  <a:srgbClr val="333333"/>
                </a:solidFill>
                <a:latin typeface="Calibri"/>
              </a:rPr>
              <a:t> Can we predict whether a student will drop out, remain enrolled, or graduate based on enrollment-time data?</a:t>
            </a:r>
          </a:p>
          <a:p>
            <a:pPr>
              <a:spcAft>
                <a:spcPts val="600"/>
              </a:spcAft>
              <a:defRPr sz="1900">
                <a:solidFill>
                  <a:srgbClr val="333333"/>
                </a:solidFill>
                <a:latin typeface="Calibri"/>
              </a:defRPr>
            </a:pPr>
            <a:r>
              <a:rPr sz="2000" b="1" dirty="0">
                <a:solidFill>
                  <a:srgbClr val="333333"/>
                </a:solidFill>
                <a:latin typeface="Calibri"/>
              </a:rPr>
              <a:t>Target Variable:</a:t>
            </a:r>
            <a:r>
              <a:rPr sz="2000" dirty="0">
                <a:solidFill>
                  <a:srgbClr val="333333"/>
                </a:solidFill>
                <a:latin typeface="Calibri"/>
              </a:rPr>
              <a:t> 3-class classification — Dropout / Enrolled / Graduate</a:t>
            </a:r>
          </a:p>
          <a:p>
            <a:pPr>
              <a:spcAft>
                <a:spcPts val="600"/>
              </a:spcAft>
              <a:defRPr sz="1900">
                <a:solidFill>
                  <a:srgbClr val="333333"/>
                </a:solidFill>
                <a:latin typeface="Calibri"/>
              </a:defRPr>
            </a:pPr>
            <a:r>
              <a:rPr sz="2000" b="1" dirty="0">
                <a:solidFill>
                  <a:srgbClr val="333333"/>
                </a:solidFill>
                <a:latin typeface="Calibri"/>
              </a:rPr>
              <a:t>Scope:</a:t>
            </a:r>
            <a:r>
              <a:rPr sz="2000" dirty="0">
                <a:solidFill>
                  <a:srgbClr val="333333"/>
                </a:solidFill>
                <a:latin typeface="Calibri"/>
              </a:rPr>
              <a:t> Supervised classification + unsupervised clustering for risk profiling</a:t>
            </a:r>
          </a:p>
          <a:p>
            <a:pPr>
              <a:spcAft>
                <a:spcPts val="600"/>
              </a:spcAft>
              <a:defRPr sz="1900">
                <a:solidFill>
                  <a:srgbClr val="333333"/>
                </a:solidFill>
                <a:latin typeface="Calibri"/>
              </a:defRPr>
            </a:pPr>
            <a:r>
              <a:rPr sz="2000" b="1" dirty="0">
                <a:solidFill>
                  <a:srgbClr val="333333"/>
                </a:solidFill>
                <a:latin typeface="Calibri"/>
              </a:rPr>
              <a:t>Challenge:</a:t>
            </a:r>
            <a:r>
              <a:rPr sz="2000" dirty="0">
                <a:solidFill>
                  <a:srgbClr val="333333"/>
                </a:solidFill>
                <a:latin typeface="Calibri"/>
              </a:rPr>
              <a:t> Class imbalance — Graduate ~50%, Dropout ~32%, Enrolled ~18%</a:t>
            </a:r>
          </a:p>
          <a:p>
            <a:pPr>
              <a:spcAft>
                <a:spcPts val="600"/>
              </a:spcAft>
              <a:defRPr sz="1900">
                <a:solidFill>
                  <a:srgbClr val="333333"/>
                </a:solidFill>
                <a:latin typeface="Calibri"/>
              </a:defRPr>
            </a:pPr>
            <a:r>
              <a:rPr sz="2000" b="1" dirty="0">
                <a:solidFill>
                  <a:srgbClr val="333333"/>
                </a:solidFill>
                <a:latin typeface="Calibri"/>
              </a:rPr>
              <a:t>Expected Outcome:</a:t>
            </a:r>
            <a:r>
              <a:rPr sz="2000" dirty="0">
                <a:solidFill>
                  <a:srgbClr val="333333"/>
                </a:solidFill>
                <a:latin typeface="Calibri"/>
              </a:rPr>
              <a:t> An early-warning framework to flag at-risk students for academic advising</a:t>
            </a:r>
          </a:p>
        </p:txBody>
      </p:sp>
      <p:sp>
        <p:nvSpPr>
          <p:cNvPr id="4" name="TextBox 3"/>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3 /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Data Sources</a:t>
            </a:r>
          </a:p>
        </p:txBody>
      </p:sp>
      <p:sp>
        <p:nvSpPr>
          <p:cNvPr id="3" name="TextBox 2"/>
          <p:cNvSpPr txBox="1"/>
          <p:nvPr/>
        </p:nvSpPr>
        <p:spPr>
          <a:xfrm>
            <a:off x="548639" y="1280160"/>
            <a:ext cx="6785034" cy="1631216"/>
          </a:xfrm>
          <a:prstGeom prst="rect">
            <a:avLst/>
          </a:prstGeom>
          <a:noFill/>
        </p:spPr>
        <p:txBody>
          <a:bodyPr wrap="square">
            <a:spAutoFit/>
          </a:bodyPr>
          <a:lstStyle/>
          <a:p>
            <a:pPr>
              <a:spcAft>
                <a:spcPts val="600"/>
              </a:spcAft>
              <a:defRPr sz="1600">
                <a:solidFill>
                  <a:srgbClr val="333333"/>
                </a:solidFill>
                <a:latin typeface="Calibri"/>
              </a:defRPr>
            </a:pPr>
            <a:r>
              <a:rPr dirty="0"/>
              <a:t>Source: UCI Machine Learning Repository (Dataset ID: 697)</a:t>
            </a:r>
          </a:p>
          <a:p>
            <a:pPr>
              <a:spcAft>
                <a:spcPts val="600"/>
              </a:spcAft>
              <a:defRPr sz="1600">
                <a:solidFill>
                  <a:srgbClr val="333333"/>
                </a:solidFill>
                <a:latin typeface="Calibri"/>
              </a:defRPr>
            </a:pPr>
            <a:r>
              <a:rPr dirty="0"/>
              <a:t>Origin: Instituto Politécnico de </a:t>
            </a:r>
            <a:r>
              <a:rPr dirty="0" err="1"/>
              <a:t>Portalegre</a:t>
            </a:r>
            <a:r>
              <a:rPr dirty="0"/>
              <a:t>, Portugal</a:t>
            </a:r>
          </a:p>
          <a:p>
            <a:pPr>
              <a:spcAft>
                <a:spcPts val="600"/>
              </a:spcAft>
              <a:defRPr sz="1600">
                <a:solidFill>
                  <a:srgbClr val="333333"/>
                </a:solidFill>
                <a:latin typeface="Calibri"/>
              </a:defRPr>
            </a:pPr>
            <a:r>
              <a:rPr dirty="0"/>
              <a:t>Size: 4,424 students × 37 columns (36 features + 1 target)</a:t>
            </a:r>
          </a:p>
          <a:p>
            <a:pPr>
              <a:spcAft>
                <a:spcPts val="600"/>
              </a:spcAft>
              <a:defRPr sz="1600">
                <a:solidFill>
                  <a:srgbClr val="333333"/>
                </a:solidFill>
                <a:latin typeface="Calibri"/>
              </a:defRPr>
            </a:pPr>
            <a:r>
              <a:rPr dirty="0"/>
              <a:t>Missing values: None  |  License: CC BY 4.0</a:t>
            </a:r>
          </a:p>
          <a:p>
            <a:pPr>
              <a:spcAft>
                <a:spcPts val="600"/>
              </a:spcAft>
              <a:defRPr sz="1600">
                <a:solidFill>
                  <a:srgbClr val="333333"/>
                </a:solidFill>
                <a:latin typeface="Calibri"/>
              </a:defRPr>
            </a:pPr>
            <a:r>
              <a:rPr dirty="0"/>
              <a:t>Citation: Realinho et al. (2021)</a:t>
            </a:r>
          </a:p>
        </p:txBody>
      </p:sp>
      <p:sp>
        <p:nvSpPr>
          <p:cNvPr id="4" name="Rounded Rectangle 3"/>
          <p:cNvSpPr/>
          <p:nvPr/>
        </p:nvSpPr>
        <p:spPr>
          <a:xfrm>
            <a:off x="548640" y="3931920"/>
            <a:ext cx="2468880" cy="228600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055A2"/>
                </a:solidFill>
                <a:latin typeface="Calibri"/>
              </a:defRPr>
            </a:pPr>
            <a:r>
              <a:rPr lang="en-US" dirty="0"/>
              <a:t>Demographic</a:t>
            </a:r>
          </a:p>
          <a:p>
            <a:pPr algn="l">
              <a:spcBef>
                <a:spcPts val="100"/>
              </a:spcBef>
              <a:defRPr sz="1000">
                <a:solidFill>
                  <a:srgbClr val="333333"/>
                </a:solidFill>
                <a:latin typeface="Calibri"/>
              </a:defRPr>
            </a:pPr>
            <a:r>
              <a:rPr sz="1400" dirty="0"/>
              <a:t>Marital status</a:t>
            </a:r>
          </a:p>
          <a:p>
            <a:pPr algn="l">
              <a:spcBef>
                <a:spcPts val="100"/>
              </a:spcBef>
              <a:defRPr sz="1000">
                <a:solidFill>
                  <a:srgbClr val="333333"/>
                </a:solidFill>
                <a:latin typeface="Calibri"/>
              </a:defRPr>
            </a:pPr>
            <a:r>
              <a:rPr sz="1400" dirty="0"/>
              <a:t>Nationality</a:t>
            </a:r>
          </a:p>
          <a:p>
            <a:pPr algn="l">
              <a:spcBef>
                <a:spcPts val="100"/>
              </a:spcBef>
              <a:defRPr sz="1000">
                <a:solidFill>
                  <a:srgbClr val="333333"/>
                </a:solidFill>
                <a:latin typeface="Calibri"/>
              </a:defRPr>
            </a:pPr>
            <a:r>
              <a:rPr sz="1400" dirty="0"/>
              <a:t>Gender</a:t>
            </a:r>
          </a:p>
          <a:p>
            <a:pPr algn="l">
              <a:spcBef>
                <a:spcPts val="100"/>
              </a:spcBef>
              <a:defRPr sz="1000">
                <a:solidFill>
                  <a:srgbClr val="333333"/>
                </a:solidFill>
                <a:latin typeface="Calibri"/>
              </a:defRPr>
            </a:pPr>
            <a:r>
              <a:rPr sz="1400" dirty="0"/>
              <a:t>Age at enrollment</a:t>
            </a:r>
          </a:p>
        </p:txBody>
      </p:sp>
      <p:sp>
        <p:nvSpPr>
          <p:cNvPr id="5" name="Rounded Rectangle 4"/>
          <p:cNvSpPr/>
          <p:nvPr/>
        </p:nvSpPr>
        <p:spPr>
          <a:xfrm>
            <a:off x="3200400" y="3931920"/>
            <a:ext cx="2468880" cy="2286000"/>
          </a:xfrm>
          <a:prstGeom prst="roundRect">
            <a:avLst/>
          </a:prstGeom>
          <a:solidFill>
            <a:srgbClr val="FFFFFF"/>
          </a:solidFill>
          <a:ln w="25400">
            <a:solidFill>
              <a:srgbClr val="1D9E7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D9E75"/>
                </a:solidFill>
                <a:latin typeface="Calibri"/>
              </a:defRPr>
            </a:pPr>
            <a:r>
              <a:rPr dirty="0"/>
              <a:t>Academic</a:t>
            </a:r>
          </a:p>
          <a:p>
            <a:pPr algn="l">
              <a:spcBef>
                <a:spcPts val="100"/>
              </a:spcBef>
              <a:defRPr sz="1000">
                <a:solidFill>
                  <a:srgbClr val="333333"/>
                </a:solidFill>
                <a:latin typeface="Calibri"/>
              </a:defRPr>
            </a:pPr>
            <a:r>
              <a:rPr sz="1400" dirty="0"/>
              <a:t>Previous qualification</a:t>
            </a:r>
          </a:p>
          <a:p>
            <a:pPr algn="l">
              <a:spcBef>
                <a:spcPts val="100"/>
              </a:spcBef>
              <a:defRPr sz="1000">
                <a:solidFill>
                  <a:srgbClr val="333333"/>
                </a:solidFill>
                <a:latin typeface="Calibri"/>
              </a:defRPr>
            </a:pPr>
            <a:r>
              <a:rPr sz="1400" dirty="0"/>
              <a:t>Admission grade</a:t>
            </a:r>
          </a:p>
          <a:p>
            <a:pPr algn="l">
              <a:spcBef>
                <a:spcPts val="100"/>
              </a:spcBef>
              <a:defRPr sz="1000">
                <a:solidFill>
                  <a:srgbClr val="333333"/>
                </a:solidFill>
                <a:latin typeface="Calibri"/>
              </a:defRPr>
            </a:pPr>
            <a:r>
              <a:rPr sz="1400" dirty="0"/>
              <a:t>Course</a:t>
            </a:r>
          </a:p>
          <a:p>
            <a:pPr algn="l">
              <a:spcBef>
                <a:spcPts val="100"/>
              </a:spcBef>
              <a:defRPr sz="1000">
                <a:solidFill>
                  <a:srgbClr val="333333"/>
                </a:solidFill>
                <a:latin typeface="Calibri"/>
              </a:defRPr>
            </a:pPr>
            <a:r>
              <a:rPr sz="1400" dirty="0"/>
              <a:t>Application mode</a:t>
            </a:r>
          </a:p>
        </p:txBody>
      </p:sp>
      <p:sp>
        <p:nvSpPr>
          <p:cNvPr id="6" name="Rounded Rectangle 5"/>
          <p:cNvSpPr/>
          <p:nvPr/>
        </p:nvSpPr>
        <p:spPr>
          <a:xfrm>
            <a:off x="5852160" y="3931920"/>
            <a:ext cx="2468880" cy="2286000"/>
          </a:xfrm>
          <a:prstGeom prst="roundRect">
            <a:avLst/>
          </a:prstGeom>
          <a:solidFill>
            <a:srgbClr val="FFFFFF"/>
          </a:solidFill>
          <a:ln w="25400">
            <a:solidFill>
              <a:srgbClr val="EF9F2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EF9F27"/>
                </a:solidFill>
                <a:latin typeface="Calibri"/>
              </a:defRPr>
            </a:pPr>
            <a:r>
              <a:rPr dirty="0"/>
              <a:t>Socio-Economic</a:t>
            </a:r>
          </a:p>
          <a:p>
            <a:pPr algn="l">
              <a:spcBef>
                <a:spcPts val="100"/>
              </a:spcBef>
              <a:defRPr sz="1000">
                <a:solidFill>
                  <a:srgbClr val="333333"/>
                </a:solidFill>
                <a:latin typeface="Calibri"/>
              </a:defRPr>
            </a:pPr>
            <a:r>
              <a:rPr sz="1400" dirty="0"/>
              <a:t>Scholarship holder</a:t>
            </a:r>
          </a:p>
          <a:p>
            <a:pPr algn="l">
              <a:spcBef>
                <a:spcPts val="100"/>
              </a:spcBef>
              <a:defRPr sz="1000">
                <a:solidFill>
                  <a:srgbClr val="333333"/>
                </a:solidFill>
                <a:latin typeface="Calibri"/>
              </a:defRPr>
            </a:pPr>
            <a:r>
              <a:rPr sz="1400" dirty="0"/>
              <a:t>Debtor</a:t>
            </a:r>
          </a:p>
          <a:p>
            <a:pPr algn="l">
              <a:spcBef>
                <a:spcPts val="100"/>
              </a:spcBef>
              <a:defRPr sz="1000">
                <a:solidFill>
                  <a:srgbClr val="333333"/>
                </a:solidFill>
                <a:latin typeface="Calibri"/>
              </a:defRPr>
            </a:pPr>
            <a:r>
              <a:rPr sz="1400" dirty="0"/>
              <a:t>Tuition fees</a:t>
            </a:r>
          </a:p>
          <a:p>
            <a:pPr algn="l">
              <a:spcBef>
                <a:spcPts val="100"/>
              </a:spcBef>
              <a:defRPr sz="1000">
                <a:solidFill>
                  <a:srgbClr val="333333"/>
                </a:solidFill>
                <a:latin typeface="Calibri"/>
              </a:defRPr>
            </a:pPr>
            <a:r>
              <a:rPr sz="1400" dirty="0"/>
              <a:t>Parental education</a:t>
            </a:r>
          </a:p>
        </p:txBody>
      </p:sp>
      <p:sp>
        <p:nvSpPr>
          <p:cNvPr id="7" name="Rounded Rectangle 6"/>
          <p:cNvSpPr/>
          <p:nvPr/>
        </p:nvSpPr>
        <p:spPr>
          <a:xfrm>
            <a:off x="8503920" y="3931920"/>
            <a:ext cx="2468880" cy="2286000"/>
          </a:xfrm>
          <a:prstGeom prst="roundRect">
            <a:avLst/>
          </a:prstGeom>
          <a:solidFill>
            <a:srgbClr val="FFFFFF"/>
          </a:solidFill>
          <a:ln w="25400">
            <a:solidFill>
              <a:srgbClr val="E24B4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E24B4A"/>
                </a:solidFill>
                <a:latin typeface="Calibri"/>
              </a:defRPr>
            </a:pPr>
            <a:r>
              <a:rPr dirty="0"/>
              <a:t>Performance</a:t>
            </a:r>
            <a:endParaRPr lang="vi-VN" dirty="0"/>
          </a:p>
          <a:p>
            <a:pPr algn="ctr">
              <a:defRPr sz="1300" b="1">
                <a:solidFill>
                  <a:srgbClr val="E24B4A"/>
                </a:solidFill>
                <a:latin typeface="Calibri"/>
              </a:defRPr>
            </a:pPr>
            <a:endParaRPr dirty="0"/>
          </a:p>
          <a:p>
            <a:pPr algn="l">
              <a:spcBef>
                <a:spcPts val="100"/>
              </a:spcBef>
              <a:defRPr sz="1000">
                <a:solidFill>
                  <a:srgbClr val="333333"/>
                </a:solidFill>
                <a:latin typeface="Calibri"/>
              </a:defRPr>
            </a:pPr>
            <a:r>
              <a:rPr sz="1400" dirty="0"/>
              <a:t>Units enrolled (</a:t>
            </a:r>
            <a:r>
              <a:rPr sz="1400" dirty="0" err="1"/>
              <a:t>sem</a:t>
            </a:r>
            <a:r>
              <a:rPr sz="1400" dirty="0"/>
              <a:t> 1 &amp; 2)</a:t>
            </a:r>
          </a:p>
          <a:p>
            <a:pPr algn="l">
              <a:spcBef>
                <a:spcPts val="100"/>
              </a:spcBef>
              <a:defRPr sz="1000">
                <a:solidFill>
                  <a:srgbClr val="333333"/>
                </a:solidFill>
                <a:latin typeface="Calibri"/>
              </a:defRPr>
            </a:pPr>
            <a:r>
              <a:rPr sz="1400" dirty="0"/>
              <a:t>Units approved (</a:t>
            </a:r>
            <a:r>
              <a:rPr sz="1400" dirty="0" err="1"/>
              <a:t>sem</a:t>
            </a:r>
            <a:r>
              <a:rPr sz="1400" dirty="0"/>
              <a:t> 1 &amp; 2)</a:t>
            </a:r>
          </a:p>
          <a:p>
            <a:pPr algn="l">
              <a:spcBef>
                <a:spcPts val="100"/>
              </a:spcBef>
              <a:defRPr sz="1000">
                <a:solidFill>
                  <a:srgbClr val="333333"/>
                </a:solidFill>
                <a:latin typeface="Calibri"/>
              </a:defRPr>
            </a:pPr>
            <a:r>
              <a:rPr sz="1400" dirty="0"/>
              <a:t>Grades (</a:t>
            </a:r>
            <a:r>
              <a:rPr sz="1400" dirty="0" err="1"/>
              <a:t>sem</a:t>
            </a:r>
            <a:r>
              <a:rPr sz="1400" dirty="0"/>
              <a:t> 1 &amp; 2)</a:t>
            </a:r>
          </a:p>
        </p:txBody>
      </p:sp>
      <p:sp>
        <p:nvSpPr>
          <p:cNvPr id="8" name="TextBox 7"/>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4 /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Data Warehouse Design — Star Schema</a:t>
            </a:r>
          </a:p>
        </p:txBody>
      </p:sp>
      <p:sp>
        <p:nvSpPr>
          <p:cNvPr id="3" name="Rounded Rectangle 2"/>
          <p:cNvSpPr/>
          <p:nvPr/>
        </p:nvSpPr>
        <p:spPr>
          <a:xfrm>
            <a:off x="4114800" y="2560320"/>
            <a:ext cx="3931920" cy="2286000"/>
          </a:xfrm>
          <a:prstGeom prst="roundRect">
            <a:avLst/>
          </a:prstGeom>
          <a:solidFill>
            <a:srgbClr val="FFFFFF"/>
          </a:solidFill>
          <a:ln w="25400">
            <a:solidFill>
              <a:srgbClr val="1B3A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B3A5C"/>
                </a:solidFill>
                <a:latin typeface="Calibri"/>
              </a:defRPr>
            </a:pPr>
            <a:r>
              <a:rPr dirty="0" err="1"/>
              <a:t>Student_Enrollment_Fact</a:t>
            </a:r>
            <a:endParaRPr dirty="0"/>
          </a:p>
          <a:p>
            <a:pPr algn="l">
              <a:spcBef>
                <a:spcPts val="100"/>
              </a:spcBef>
              <a:defRPr sz="1000">
                <a:solidFill>
                  <a:srgbClr val="333333"/>
                </a:solidFill>
                <a:latin typeface="Calibri"/>
              </a:defRPr>
            </a:pPr>
            <a:r>
              <a:rPr sz="1400" dirty="0" err="1"/>
              <a:t>student_id</a:t>
            </a:r>
            <a:r>
              <a:rPr sz="1400" dirty="0"/>
              <a:t> (PK)</a:t>
            </a:r>
          </a:p>
          <a:p>
            <a:pPr algn="l">
              <a:spcBef>
                <a:spcPts val="100"/>
              </a:spcBef>
              <a:defRPr sz="1000">
                <a:solidFill>
                  <a:srgbClr val="333333"/>
                </a:solidFill>
                <a:latin typeface="Calibri"/>
              </a:defRPr>
            </a:pPr>
            <a:r>
              <a:rPr sz="1400" dirty="0" err="1"/>
              <a:t>course_id</a:t>
            </a:r>
            <a:r>
              <a:rPr sz="1400" dirty="0"/>
              <a:t> (FK)</a:t>
            </a:r>
          </a:p>
          <a:p>
            <a:pPr algn="l">
              <a:spcBef>
                <a:spcPts val="100"/>
              </a:spcBef>
              <a:defRPr sz="1000">
                <a:solidFill>
                  <a:srgbClr val="333333"/>
                </a:solidFill>
                <a:latin typeface="Calibri"/>
              </a:defRPr>
            </a:pPr>
            <a:r>
              <a:rPr sz="1400" dirty="0"/>
              <a:t>sem1_grade, sem2_grade</a:t>
            </a:r>
          </a:p>
          <a:p>
            <a:pPr algn="l">
              <a:spcBef>
                <a:spcPts val="100"/>
              </a:spcBef>
              <a:defRPr sz="1000">
                <a:solidFill>
                  <a:srgbClr val="333333"/>
                </a:solidFill>
                <a:latin typeface="Calibri"/>
              </a:defRPr>
            </a:pPr>
            <a:r>
              <a:rPr sz="1400" dirty="0"/>
              <a:t>sem1_approved, sem2_approved</a:t>
            </a:r>
          </a:p>
          <a:p>
            <a:pPr algn="l">
              <a:spcBef>
                <a:spcPts val="100"/>
              </a:spcBef>
              <a:defRPr sz="1000">
                <a:solidFill>
                  <a:srgbClr val="333333"/>
                </a:solidFill>
                <a:latin typeface="Calibri"/>
              </a:defRPr>
            </a:pPr>
            <a:r>
              <a:rPr sz="1400" dirty="0" err="1"/>
              <a:t>target_outcome</a:t>
            </a:r>
            <a:endParaRPr sz="1400" dirty="0"/>
          </a:p>
        </p:txBody>
      </p:sp>
      <p:sp>
        <p:nvSpPr>
          <p:cNvPr id="4" name="Rounded Rectangle 3"/>
          <p:cNvSpPr/>
          <p:nvPr/>
        </p:nvSpPr>
        <p:spPr>
          <a:xfrm>
            <a:off x="365760" y="1371600"/>
            <a:ext cx="3017520" cy="182880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055A2"/>
                </a:solidFill>
                <a:latin typeface="Calibri"/>
              </a:defRPr>
            </a:pPr>
            <a:r>
              <a:rPr dirty="0" err="1"/>
              <a:t>Student_Dim</a:t>
            </a:r>
            <a:endParaRPr dirty="0"/>
          </a:p>
          <a:p>
            <a:pPr algn="l">
              <a:spcBef>
                <a:spcPts val="100"/>
              </a:spcBef>
              <a:defRPr sz="1000">
                <a:solidFill>
                  <a:srgbClr val="333333"/>
                </a:solidFill>
                <a:latin typeface="Calibri"/>
              </a:defRPr>
            </a:pPr>
            <a:r>
              <a:rPr sz="1400" dirty="0"/>
              <a:t>age</a:t>
            </a:r>
          </a:p>
          <a:p>
            <a:pPr algn="l">
              <a:spcBef>
                <a:spcPts val="100"/>
              </a:spcBef>
              <a:defRPr sz="1000">
                <a:solidFill>
                  <a:srgbClr val="333333"/>
                </a:solidFill>
                <a:latin typeface="Calibri"/>
              </a:defRPr>
            </a:pPr>
            <a:r>
              <a:rPr sz="1400" dirty="0"/>
              <a:t>gender</a:t>
            </a:r>
          </a:p>
          <a:p>
            <a:pPr algn="l">
              <a:spcBef>
                <a:spcPts val="100"/>
              </a:spcBef>
              <a:defRPr sz="1000">
                <a:solidFill>
                  <a:srgbClr val="333333"/>
                </a:solidFill>
                <a:latin typeface="Calibri"/>
              </a:defRPr>
            </a:pPr>
            <a:r>
              <a:rPr sz="1400" dirty="0" err="1"/>
              <a:t>marital_status</a:t>
            </a:r>
            <a:endParaRPr sz="1400" dirty="0"/>
          </a:p>
          <a:p>
            <a:pPr algn="l">
              <a:spcBef>
                <a:spcPts val="100"/>
              </a:spcBef>
              <a:defRPr sz="1000">
                <a:solidFill>
                  <a:srgbClr val="333333"/>
                </a:solidFill>
                <a:latin typeface="Calibri"/>
              </a:defRPr>
            </a:pPr>
            <a:r>
              <a:rPr sz="1400" dirty="0"/>
              <a:t>nationality</a:t>
            </a:r>
          </a:p>
        </p:txBody>
      </p:sp>
      <p:sp>
        <p:nvSpPr>
          <p:cNvPr id="5" name="Rounded Rectangle 4"/>
          <p:cNvSpPr/>
          <p:nvPr/>
        </p:nvSpPr>
        <p:spPr>
          <a:xfrm>
            <a:off x="8778240" y="1371600"/>
            <a:ext cx="3017520" cy="182880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055A2"/>
                </a:solidFill>
                <a:latin typeface="Calibri"/>
              </a:defRPr>
            </a:pPr>
            <a:r>
              <a:rPr dirty="0" err="1"/>
              <a:t>Academic_Dim</a:t>
            </a:r>
            <a:endParaRPr dirty="0"/>
          </a:p>
          <a:p>
            <a:pPr algn="l">
              <a:spcBef>
                <a:spcPts val="100"/>
              </a:spcBef>
              <a:defRPr sz="1000">
                <a:solidFill>
                  <a:srgbClr val="333333"/>
                </a:solidFill>
                <a:latin typeface="Calibri"/>
              </a:defRPr>
            </a:pPr>
            <a:r>
              <a:rPr sz="1400" dirty="0" err="1"/>
              <a:t>prev_qualification</a:t>
            </a:r>
            <a:endParaRPr sz="1400" dirty="0"/>
          </a:p>
          <a:p>
            <a:pPr algn="l">
              <a:spcBef>
                <a:spcPts val="100"/>
              </a:spcBef>
              <a:defRPr sz="1000">
                <a:solidFill>
                  <a:srgbClr val="333333"/>
                </a:solidFill>
                <a:latin typeface="Calibri"/>
              </a:defRPr>
            </a:pPr>
            <a:r>
              <a:rPr sz="1400" dirty="0" err="1"/>
              <a:t>application_mode</a:t>
            </a:r>
            <a:endParaRPr sz="1400" dirty="0"/>
          </a:p>
          <a:p>
            <a:pPr algn="l">
              <a:spcBef>
                <a:spcPts val="100"/>
              </a:spcBef>
              <a:defRPr sz="1000">
                <a:solidFill>
                  <a:srgbClr val="333333"/>
                </a:solidFill>
                <a:latin typeface="Calibri"/>
              </a:defRPr>
            </a:pPr>
            <a:r>
              <a:rPr sz="1400" dirty="0" err="1"/>
              <a:t>admission_grade</a:t>
            </a:r>
            <a:endParaRPr sz="1400" dirty="0"/>
          </a:p>
          <a:p>
            <a:pPr algn="l">
              <a:spcBef>
                <a:spcPts val="100"/>
              </a:spcBef>
              <a:defRPr sz="1000">
                <a:solidFill>
                  <a:srgbClr val="333333"/>
                </a:solidFill>
                <a:latin typeface="Calibri"/>
              </a:defRPr>
            </a:pPr>
            <a:r>
              <a:rPr sz="1400" dirty="0"/>
              <a:t>course</a:t>
            </a:r>
          </a:p>
        </p:txBody>
      </p:sp>
      <p:sp>
        <p:nvSpPr>
          <p:cNvPr id="6" name="Rounded Rectangle 5"/>
          <p:cNvSpPr/>
          <p:nvPr/>
        </p:nvSpPr>
        <p:spPr>
          <a:xfrm>
            <a:off x="365760" y="4389120"/>
            <a:ext cx="3017520" cy="182880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055A2"/>
                </a:solidFill>
                <a:latin typeface="Calibri"/>
              </a:defRPr>
            </a:pPr>
            <a:r>
              <a:rPr dirty="0" err="1"/>
              <a:t>Family_Dim</a:t>
            </a:r>
            <a:endParaRPr dirty="0"/>
          </a:p>
          <a:p>
            <a:pPr algn="l">
              <a:spcBef>
                <a:spcPts val="100"/>
              </a:spcBef>
              <a:defRPr sz="1000">
                <a:solidFill>
                  <a:srgbClr val="333333"/>
                </a:solidFill>
                <a:latin typeface="Calibri"/>
              </a:defRPr>
            </a:pPr>
            <a:r>
              <a:rPr sz="1400" dirty="0" err="1"/>
              <a:t>mother_qualification</a:t>
            </a:r>
            <a:endParaRPr sz="1400" dirty="0"/>
          </a:p>
          <a:p>
            <a:pPr algn="l">
              <a:spcBef>
                <a:spcPts val="100"/>
              </a:spcBef>
              <a:defRPr sz="1000">
                <a:solidFill>
                  <a:srgbClr val="333333"/>
                </a:solidFill>
                <a:latin typeface="Calibri"/>
              </a:defRPr>
            </a:pPr>
            <a:r>
              <a:rPr sz="1400" dirty="0" err="1"/>
              <a:t>father_qualification</a:t>
            </a:r>
            <a:endParaRPr sz="1400" dirty="0"/>
          </a:p>
          <a:p>
            <a:pPr algn="l">
              <a:spcBef>
                <a:spcPts val="100"/>
              </a:spcBef>
              <a:defRPr sz="1000">
                <a:solidFill>
                  <a:srgbClr val="333333"/>
                </a:solidFill>
                <a:latin typeface="Calibri"/>
              </a:defRPr>
            </a:pPr>
            <a:r>
              <a:rPr sz="1400" dirty="0" err="1"/>
              <a:t>mother_occupation</a:t>
            </a:r>
            <a:endParaRPr sz="1400" dirty="0"/>
          </a:p>
          <a:p>
            <a:pPr algn="l">
              <a:spcBef>
                <a:spcPts val="100"/>
              </a:spcBef>
              <a:defRPr sz="1000">
                <a:solidFill>
                  <a:srgbClr val="333333"/>
                </a:solidFill>
                <a:latin typeface="Calibri"/>
              </a:defRPr>
            </a:pPr>
            <a:r>
              <a:rPr sz="1400" dirty="0" err="1"/>
              <a:t>father_occupation</a:t>
            </a:r>
            <a:endParaRPr sz="1400" dirty="0"/>
          </a:p>
        </p:txBody>
      </p:sp>
      <p:sp>
        <p:nvSpPr>
          <p:cNvPr id="7" name="Rounded Rectangle 6"/>
          <p:cNvSpPr/>
          <p:nvPr/>
        </p:nvSpPr>
        <p:spPr>
          <a:xfrm>
            <a:off x="8778240" y="4389120"/>
            <a:ext cx="3017520" cy="182880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055A2"/>
                </a:solidFill>
                <a:latin typeface="Calibri"/>
              </a:defRPr>
            </a:pPr>
            <a:r>
              <a:rPr dirty="0" err="1"/>
              <a:t>Economic_Dim</a:t>
            </a:r>
            <a:endParaRPr dirty="0"/>
          </a:p>
          <a:p>
            <a:pPr algn="l">
              <a:spcBef>
                <a:spcPts val="100"/>
              </a:spcBef>
              <a:defRPr sz="1000">
                <a:solidFill>
                  <a:srgbClr val="333333"/>
                </a:solidFill>
                <a:latin typeface="Calibri"/>
              </a:defRPr>
            </a:pPr>
            <a:r>
              <a:rPr sz="1400" dirty="0"/>
              <a:t>scholarship</a:t>
            </a:r>
          </a:p>
          <a:p>
            <a:pPr algn="l">
              <a:spcBef>
                <a:spcPts val="100"/>
              </a:spcBef>
              <a:defRPr sz="1000">
                <a:solidFill>
                  <a:srgbClr val="333333"/>
                </a:solidFill>
                <a:latin typeface="Calibri"/>
              </a:defRPr>
            </a:pPr>
            <a:r>
              <a:rPr sz="1400" dirty="0"/>
              <a:t>debtor</a:t>
            </a:r>
          </a:p>
          <a:p>
            <a:pPr algn="l">
              <a:spcBef>
                <a:spcPts val="100"/>
              </a:spcBef>
              <a:defRPr sz="1000">
                <a:solidFill>
                  <a:srgbClr val="333333"/>
                </a:solidFill>
                <a:latin typeface="Calibri"/>
              </a:defRPr>
            </a:pPr>
            <a:r>
              <a:rPr sz="1400" dirty="0" err="1"/>
              <a:t>tuition_fees</a:t>
            </a:r>
            <a:endParaRPr sz="1400" dirty="0"/>
          </a:p>
          <a:p>
            <a:pPr algn="l">
              <a:spcBef>
                <a:spcPts val="100"/>
              </a:spcBef>
              <a:defRPr sz="1000">
                <a:solidFill>
                  <a:srgbClr val="333333"/>
                </a:solidFill>
                <a:latin typeface="Calibri"/>
              </a:defRPr>
            </a:pPr>
            <a:r>
              <a:rPr sz="1400" dirty="0" err="1"/>
              <a:t>unemployment_rate</a:t>
            </a:r>
            <a:r>
              <a:rPr sz="1400" dirty="0"/>
              <a:t>, GDP</a:t>
            </a:r>
          </a:p>
        </p:txBody>
      </p:sp>
      <p:cxnSp>
        <p:nvCxnSpPr>
          <p:cNvPr id="8" name="Connector 7"/>
          <p:cNvCxnSpPr/>
          <p:nvPr/>
        </p:nvCxnSpPr>
        <p:spPr>
          <a:xfrm>
            <a:off x="3383280" y="2286000"/>
            <a:ext cx="731520" cy="914400"/>
          </a:xfrm>
          <a:prstGeom prst="line">
            <a:avLst/>
          </a:prstGeom>
          <a:ln w="25400">
            <a:solidFill>
              <a:srgbClr val="0055A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046720" y="2286000"/>
            <a:ext cx="731520" cy="914400"/>
          </a:xfrm>
          <a:prstGeom prst="line">
            <a:avLst/>
          </a:prstGeom>
          <a:ln w="25400">
            <a:solidFill>
              <a:srgbClr val="0055A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383280" y="4114800"/>
            <a:ext cx="731520" cy="457200"/>
          </a:xfrm>
          <a:prstGeom prst="line">
            <a:avLst/>
          </a:prstGeom>
          <a:ln w="25400">
            <a:solidFill>
              <a:srgbClr val="0055A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8046720" y="4114800"/>
            <a:ext cx="731520" cy="1188720"/>
          </a:xfrm>
          <a:prstGeom prst="line">
            <a:avLst/>
          </a:prstGeom>
          <a:ln w="25400">
            <a:solidFill>
              <a:srgbClr val="0055A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00400" y="1097280"/>
            <a:ext cx="5760720" cy="457200"/>
          </a:xfrm>
          <a:prstGeom prst="rect">
            <a:avLst/>
          </a:prstGeom>
          <a:noFill/>
        </p:spPr>
        <p:txBody>
          <a:bodyPr wrap="none">
            <a:spAutoFit/>
          </a:bodyPr>
          <a:lstStyle/>
          <a:p>
            <a:pPr algn="ctr">
              <a:defRPr sz="1300" i="1">
                <a:solidFill>
                  <a:srgbClr val="333333"/>
                </a:solidFill>
                <a:latin typeface="Calibri"/>
              </a:defRPr>
            </a:pPr>
            <a:r>
              <a:rPr dirty="0"/>
              <a:t>ETL: Source DBs → Extract → Transform (encode, normalize) → Load → Star Schema</a:t>
            </a:r>
          </a:p>
        </p:txBody>
      </p:sp>
      <p:sp>
        <p:nvSpPr>
          <p:cNvPr id="13" name="TextBox 12"/>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5 /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Data Preprocessing Pipeline</a:t>
            </a:r>
          </a:p>
        </p:txBody>
      </p:sp>
      <p:sp>
        <p:nvSpPr>
          <p:cNvPr id="3" name="Rounded Rectangle 2"/>
          <p:cNvSpPr/>
          <p:nvPr/>
        </p:nvSpPr>
        <p:spPr>
          <a:xfrm>
            <a:off x="457200" y="2560320"/>
            <a:ext cx="2011680" cy="109728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400" b="1">
                <a:solidFill>
                  <a:srgbClr val="FFFFFF"/>
                </a:solidFill>
                <a:latin typeface="Calibri"/>
              </a:defRPr>
            </a:pPr>
            <a:r>
              <a:t>1. Inspection</a:t>
            </a:r>
          </a:p>
          <a:p>
            <a:pPr algn="ctr">
              <a:spcBef>
                <a:spcPts val="400"/>
              </a:spcBef>
              <a:defRPr sz="1100">
                <a:solidFill>
                  <a:srgbClr val="DDEEFF"/>
                </a:solidFill>
                <a:latin typeface="Calibri"/>
              </a:defRPr>
            </a:pPr>
            <a:r>
              <a:t>4,424 rows, 36 features, 0 missing values</a:t>
            </a:r>
          </a:p>
        </p:txBody>
      </p:sp>
      <p:sp>
        <p:nvSpPr>
          <p:cNvPr id="4" name="Right Arrow 3"/>
          <p:cNvSpPr/>
          <p:nvPr/>
        </p:nvSpPr>
        <p:spPr>
          <a:xfrm>
            <a:off x="2468880" y="2926079"/>
            <a:ext cx="274320"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43200" y="2560320"/>
            <a:ext cx="2011680" cy="109728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400" b="1">
                <a:solidFill>
                  <a:srgbClr val="FFFFFF"/>
                </a:solidFill>
                <a:latin typeface="Calibri"/>
              </a:defRPr>
            </a:pPr>
            <a:r>
              <a:t>2. Feature Typing</a:t>
            </a:r>
          </a:p>
          <a:p>
            <a:pPr algn="ctr">
              <a:spcBef>
                <a:spcPts val="400"/>
              </a:spcBef>
              <a:defRPr sz="1100">
                <a:solidFill>
                  <a:srgbClr val="DDEEFF"/>
                </a:solidFill>
                <a:latin typeface="Calibri"/>
              </a:defRPr>
            </a:pPr>
            <a:r>
              <a:t>Identified categorical (int-coded) vs continuous</a:t>
            </a:r>
          </a:p>
        </p:txBody>
      </p:sp>
      <p:sp>
        <p:nvSpPr>
          <p:cNvPr id="6" name="Right Arrow 5"/>
          <p:cNvSpPr/>
          <p:nvPr/>
        </p:nvSpPr>
        <p:spPr>
          <a:xfrm>
            <a:off x="4754880" y="2926079"/>
            <a:ext cx="274320"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0" y="2560320"/>
            <a:ext cx="2011680" cy="109728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400" b="1">
                <a:solidFill>
                  <a:srgbClr val="FFFFFF"/>
                </a:solidFill>
                <a:latin typeface="Calibri"/>
              </a:defRPr>
            </a:pPr>
            <a:r>
              <a:t>3. Target Encoding</a:t>
            </a:r>
          </a:p>
          <a:p>
            <a:pPr algn="ctr">
              <a:spcBef>
                <a:spcPts val="400"/>
              </a:spcBef>
              <a:defRPr sz="1100">
                <a:solidFill>
                  <a:srgbClr val="DDEEFF"/>
                </a:solidFill>
                <a:latin typeface="Calibri"/>
              </a:defRPr>
            </a:pPr>
            <a:r>
              <a:t>Dropout → 0, Enrolled → 1, Graduate → 2</a:t>
            </a:r>
          </a:p>
        </p:txBody>
      </p:sp>
      <p:sp>
        <p:nvSpPr>
          <p:cNvPr id="8" name="Right Arrow 7"/>
          <p:cNvSpPr/>
          <p:nvPr/>
        </p:nvSpPr>
        <p:spPr>
          <a:xfrm>
            <a:off x="7040880" y="2926079"/>
            <a:ext cx="274320"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0" y="2560320"/>
            <a:ext cx="2011680" cy="109728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400" b="1">
                <a:solidFill>
                  <a:srgbClr val="FFFFFF"/>
                </a:solidFill>
                <a:latin typeface="Calibri"/>
              </a:defRPr>
            </a:pPr>
            <a:r>
              <a:t>4. Normalization</a:t>
            </a:r>
          </a:p>
          <a:p>
            <a:pPr algn="ctr">
              <a:spcBef>
                <a:spcPts val="400"/>
              </a:spcBef>
              <a:defRPr sz="1100">
                <a:solidFill>
                  <a:srgbClr val="DDEEFF"/>
                </a:solidFill>
                <a:latin typeface="Calibri"/>
              </a:defRPr>
            </a:pPr>
            <a:r>
              <a:t>StandardScaler on all numeric features</a:t>
            </a:r>
          </a:p>
        </p:txBody>
      </p:sp>
      <p:sp>
        <p:nvSpPr>
          <p:cNvPr id="10" name="Right Arrow 9"/>
          <p:cNvSpPr/>
          <p:nvPr/>
        </p:nvSpPr>
        <p:spPr>
          <a:xfrm>
            <a:off x="9326880" y="2926079"/>
            <a:ext cx="274320" cy="32004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01200" y="2560320"/>
            <a:ext cx="2011680" cy="1097280"/>
          </a:xfrm>
          <a:prstGeom prst="roundRect">
            <a:avLst/>
          </a:prstGeom>
          <a:solidFill>
            <a:srgbClr val="0055A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400" b="1">
                <a:solidFill>
                  <a:srgbClr val="FFFFFF"/>
                </a:solidFill>
                <a:latin typeface="Calibri"/>
              </a:defRPr>
            </a:pPr>
            <a:r>
              <a:t>5. Stratified Split</a:t>
            </a:r>
          </a:p>
          <a:p>
            <a:pPr algn="ctr">
              <a:spcBef>
                <a:spcPts val="400"/>
              </a:spcBef>
              <a:defRPr sz="1100">
                <a:solidFill>
                  <a:srgbClr val="DDEEFF"/>
                </a:solidFill>
                <a:latin typeface="Calibri"/>
              </a:defRPr>
            </a:pPr>
            <a:r>
              <a:t>80% train (3,539) / 20% test (885)</a:t>
            </a:r>
          </a:p>
        </p:txBody>
      </p:sp>
      <p:sp>
        <p:nvSpPr>
          <p:cNvPr id="12" name="TextBox 11"/>
          <p:cNvSpPr txBox="1"/>
          <p:nvPr/>
        </p:nvSpPr>
        <p:spPr>
          <a:xfrm>
            <a:off x="548640" y="4389120"/>
            <a:ext cx="11064240" cy="938719"/>
          </a:xfrm>
          <a:prstGeom prst="rect">
            <a:avLst/>
          </a:prstGeom>
          <a:noFill/>
        </p:spPr>
        <p:txBody>
          <a:bodyPr wrap="square">
            <a:spAutoFit/>
          </a:bodyPr>
          <a:lstStyle/>
          <a:p>
            <a:pPr>
              <a:spcAft>
                <a:spcPts val="600"/>
              </a:spcAft>
              <a:defRPr sz="1500">
                <a:solidFill>
                  <a:srgbClr val="333333"/>
                </a:solidFill>
                <a:latin typeface="Calibri"/>
              </a:defRPr>
            </a:pPr>
            <a:r>
              <a:rPr b="1" dirty="0" err="1"/>
              <a:t>random_state</a:t>
            </a:r>
            <a:r>
              <a:rPr b="1" dirty="0"/>
              <a:t>=42 for full reproducibility across all operations</a:t>
            </a:r>
          </a:p>
          <a:p>
            <a:pPr>
              <a:spcAft>
                <a:spcPts val="600"/>
              </a:spcAft>
              <a:defRPr sz="1500">
                <a:solidFill>
                  <a:srgbClr val="333333"/>
                </a:solidFill>
                <a:latin typeface="Calibri"/>
              </a:defRPr>
            </a:pPr>
            <a:r>
              <a:rPr b="1" dirty="0"/>
              <a:t>Stratified split preserves class ratios in both train and test sets</a:t>
            </a:r>
          </a:p>
          <a:p>
            <a:pPr>
              <a:spcAft>
                <a:spcPts val="600"/>
              </a:spcAft>
              <a:defRPr sz="1500">
                <a:solidFill>
                  <a:srgbClr val="333333"/>
                </a:solidFill>
                <a:latin typeface="Calibri"/>
              </a:defRPr>
            </a:pPr>
            <a:r>
              <a:rPr b="1" dirty="0"/>
              <a:t>Unscaled copy saved separately for EDA visualizations</a:t>
            </a:r>
          </a:p>
        </p:txBody>
      </p:sp>
      <p:sp>
        <p:nvSpPr>
          <p:cNvPr id="13" name="TextBox 12"/>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6 / 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EDA — Class Distribution</a:t>
            </a:r>
          </a:p>
        </p:txBody>
      </p:sp>
      <p:pic>
        <p:nvPicPr>
          <p:cNvPr id="3" name="Picture 2" descr="class_distribution.png"/>
          <p:cNvPicPr>
            <a:picLocks noChangeAspect="1"/>
          </p:cNvPicPr>
          <p:nvPr/>
        </p:nvPicPr>
        <p:blipFill>
          <a:blip r:embed="rId3"/>
          <a:stretch>
            <a:fillRect/>
          </a:stretch>
        </p:blipFill>
        <p:spPr>
          <a:xfrm>
            <a:off x="365760" y="1280160"/>
            <a:ext cx="5486400" cy="3415099"/>
          </a:xfrm>
          <a:prstGeom prst="rect">
            <a:avLst/>
          </a:prstGeom>
        </p:spPr>
      </p:pic>
      <p:sp>
        <p:nvSpPr>
          <p:cNvPr id="4" name="TextBox 3"/>
          <p:cNvSpPr txBox="1"/>
          <p:nvPr/>
        </p:nvSpPr>
        <p:spPr>
          <a:xfrm>
            <a:off x="6400800" y="1645920"/>
            <a:ext cx="5029200" cy="3200400"/>
          </a:xfrm>
          <a:prstGeom prst="rect">
            <a:avLst/>
          </a:prstGeom>
          <a:noFill/>
        </p:spPr>
        <p:txBody>
          <a:bodyPr wrap="square">
            <a:spAutoFit/>
          </a:bodyPr>
          <a:lstStyle/>
          <a:p>
            <a:pPr>
              <a:spcAft>
                <a:spcPts val="600"/>
              </a:spcAft>
              <a:defRPr sz="1700">
                <a:solidFill>
                  <a:srgbClr val="333333"/>
                </a:solidFill>
                <a:latin typeface="Calibri"/>
              </a:defRPr>
            </a:pPr>
            <a:r>
              <a:rPr dirty="0"/>
              <a:t>Graduate: 2,209 students (49.9%)</a:t>
            </a:r>
          </a:p>
          <a:p>
            <a:pPr>
              <a:spcAft>
                <a:spcPts val="600"/>
              </a:spcAft>
              <a:defRPr sz="1700">
                <a:solidFill>
                  <a:srgbClr val="333333"/>
                </a:solidFill>
                <a:latin typeface="Calibri"/>
              </a:defRPr>
            </a:pPr>
            <a:r>
              <a:rPr dirty="0"/>
              <a:t>Dropout: 1,421 students (32.1%)</a:t>
            </a:r>
          </a:p>
          <a:p>
            <a:pPr>
              <a:spcAft>
                <a:spcPts val="600"/>
              </a:spcAft>
              <a:defRPr sz="1700">
                <a:solidFill>
                  <a:srgbClr val="333333"/>
                </a:solidFill>
                <a:latin typeface="Calibri"/>
              </a:defRPr>
            </a:pPr>
            <a:r>
              <a:rPr dirty="0"/>
              <a:t>Enrolled: 794 students (17.9%)</a:t>
            </a:r>
          </a:p>
          <a:p>
            <a:pPr>
              <a:spcAft>
                <a:spcPts val="600"/>
              </a:spcAft>
              <a:defRPr sz="1700">
                <a:solidFill>
                  <a:srgbClr val="333333"/>
                </a:solidFill>
                <a:latin typeface="Calibri"/>
              </a:defRPr>
            </a:pPr>
            <a:r>
              <a:rPr dirty="0"/>
              <a:t>Total: 4,424 students</a:t>
            </a:r>
          </a:p>
          <a:p>
            <a:pPr>
              <a:spcAft>
                <a:spcPts val="600"/>
              </a:spcAft>
              <a:defRPr sz="1700">
                <a:solidFill>
                  <a:srgbClr val="333333"/>
                </a:solidFill>
                <a:latin typeface="Calibri"/>
              </a:defRPr>
            </a:pPr>
            <a:r>
              <a:rPr dirty="0"/>
              <a:t>Notable imbalance — Enrolled class is underrepresented</a:t>
            </a:r>
          </a:p>
        </p:txBody>
      </p:sp>
      <p:sp>
        <p:nvSpPr>
          <p:cNvPr id="5" name="Rounded Rectangle 4"/>
          <p:cNvSpPr/>
          <p:nvPr/>
        </p:nvSpPr>
        <p:spPr>
          <a:xfrm>
            <a:off x="6400800" y="4754880"/>
            <a:ext cx="5029200" cy="73152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400" b="1">
                <a:solidFill>
                  <a:srgbClr val="FFFFFF"/>
                </a:solidFill>
                <a:latin typeface="Calibri"/>
              </a:defRPr>
            </a:pPr>
            <a:r>
              <a:t>Stratified sampling ensures all classes represented in train/test</a:t>
            </a:r>
          </a:p>
        </p:txBody>
      </p:sp>
      <p:sp>
        <p:nvSpPr>
          <p:cNvPr id="6" name="TextBox 5"/>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7 / 19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EDA — Feature Distributions &amp; Correlations</a:t>
            </a:r>
          </a:p>
        </p:txBody>
      </p:sp>
      <p:pic>
        <p:nvPicPr>
          <p:cNvPr id="3" name="Picture 2" descr="feature_distributions.png"/>
          <p:cNvPicPr>
            <a:picLocks noChangeAspect="1"/>
          </p:cNvPicPr>
          <p:nvPr/>
        </p:nvPicPr>
        <p:blipFill>
          <a:blip r:embed="rId3"/>
          <a:stretch>
            <a:fillRect/>
          </a:stretch>
        </p:blipFill>
        <p:spPr>
          <a:xfrm>
            <a:off x="274319" y="1188720"/>
            <a:ext cx="6128041" cy="4480560"/>
          </a:xfrm>
          <a:prstGeom prst="rect">
            <a:avLst/>
          </a:prstGeom>
        </p:spPr>
      </p:pic>
      <p:pic>
        <p:nvPicPr>
          <p:cNvPr id="4" name="Picture 3" descr="top_correlated_features.png"/>
          <p:cNvPicPr>
            <a:picLocks noChangeAspect="1"/>
          </p:cNvPicPr>
          <p:nvPr/>
        </p:nvPicPr>
        <p:blipFill>
          <a:blip r:embed="rId4"/>
          <a:stretch>
            <a:fillRect/>
          </a:stretch>
        </p:blipFill>
        <p:spPr>
          <a:xfrm>
            <a:off x="6309360" y="1188720"/>
            <a:ext cx="5486400" cy="3810205"/>
          </a:xfrm>
          <a:prstGeom prst="rect">
            <a:avLst/>
          </a:prstGeom>
        </p:spPr>
      </p:pic>
      <p:sp>
        <p:nvSpPr>
          <p:cNvPr id="5" name="Rounded Rectangle 4"/>
          <p:cNvSpPr/>
          <p:nvPr/>
        </p:nvSpPr>
        <p:spPr>
          <a:xfrm>
            <a:off x="563727" y="5806440"/>
            <a:ext cx="11064240" cy="64008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500" b="1">
                <a:solidFill>
                  <a:srgbClr val="FFFFFF"/>
                </a:solidFill>
                <a:latin typeface="Calibri"/>
              </a:defRPr>
            </a:pPr>
            <a:r>
              <a:rPr dirty="0"/>
              <a:t>Key Insight: Students who drop out have dramatically fewer approved curricular units in both semesters</a:t>
            </a:r>
          </a:p>
        </p:txBody>
      </p:sp>
      <p:sp>
        <p:nvSpPr>
          <p:cNvPr id="6" name="TextBox 5"/>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8 / 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EDA — Deeper Insights</a:t>
            </a:r>
          </a:p>
        </p:txBody>
      </p:sp>
      <p:pic>
        <p:nvPicPr>
          <p:cNvPr id="3" name="Picture 2" descr="boxplots_grades.png"/>
          <p:cNvPicPr>
            <a:picLocks noChangeAspect="1"/>
          </p:cNvPicPr>
          <p:nvPr/>
        </p:nvPicPr>
        <p:blipFill>
          <a:blip r:embed="rId3"/>
          <a:stretch>
            <a:fillRect/>
          </a:stretch>
        </p:blipFill>
        <p:spPr>
          <a:xfrm>
            <a:off x="182879" y="1188720"/>
            <a:ext cx="5175429" cy="2194283"/>
          </a:xfrm>
          <a:prstGeom prst="rect">
            <a:avLst/>
          </a:prstGeom>
        </p:spPr>
      </p:pic>
      <p:pic>
        <p:nvPicPr>
          <p:cNvPr id="4" name="Picture 3" descr="stacked_bar_binary.png"/>
          <p:cNvPicPr>
            <a:picLocks noChangeAspect="1"/>
          </p:cNvPicPr>
          <p:nvPr/>
        </p:nvPicPr>
        <p:blipFill>
          <a:blip r:embed="rId4"/>
          <a:stretch>
            <a:fillRect/>
          </a:stretch>
        </p:blipFill>
        <p:spPr>
          <a:xfrm>
            <a:off x="182880" y="3916510"/>
            <a:ext cx="5175428" cy="1713578"/>
          </a:xfrm>
          <a:prstGeom prst="rect">
            <a:avLst/>
          </a:prstGeom>
        </p:spPr>
      </p:pic>
      <p:pic>
        <p:nvPicPr>
          <p:cNvPr id="5" name="Picture 4" descr="pca_scatter.png"/>
          <p:cNvPicPr>
            <a:picLocks noChangeAspect="1"/>
          </p:cNvPicPr>
          <p:nvPr/>
        </p:nvPicPr>
        <p:blipFill>
          <a:blip r:embed="rId5"/>
          <a:stretch>
            <a:fillRect/>
          </a:stretch>
        </p:blipFill>
        <p:spPr>
          <a:xfrm>
            <a:off x="5936032" y="1270642"/>
            <a:ext cx="6072783" cy="4224722"/>
          </a:xfrm>
          <a:prstGeom prst="rect">
            <a:avLst/>
          </a:prstGeom>
        </p:spPr>
      </p:pic>
      <p:sp>
        <p:nvSpPr>
          <p:cNvPr id="6" name="TextBox 5"/>
          <p:cNvSpPr txBox="1"/>
          <p:nvPr/>
        </p:nvSpPr>
        <p:spPr>
          <a:xfrm>
            <a:off x="1170394" y="3431097"/>
            <a:ext cx="3200400" cy="365760"/>
          </a:xfrm>
          <a:prstGeom prst="rect">
            <a:avLst/>
          </a:prstGeom>
          <a:noFill/>
        </p:spPr>
        <p:txBody>
          <a:bodyPr wrap="none">
            <a:spAutoFit/>
          </a:bodyPr>
          <a:lstStyle/>
          <a:p>
            <a:pPr algn="ctr">
              <a:defRPr sz="1200" i="1">
                <a:solidFill>
                  <a:srgbClr val="333333"/>
                </a:solidFill>
                <a:latin typeface="Calibri"/>
              </a:defRPr>
            </a:pPr>
            <a:r>
              <a:t>Semester grades by outcome</a:t>
            </a:r>
          </a:p>
        </p:txBody>
      </p:sp>
      <p:sp>
        <p:nvSpPr>
          <p:cNvPr id="7" name="TextBox 6"/>
          <p:cNvSpPr txBox="1"/>
          <p:nvPr/>
        </p:nvSpPr>
        <p:spPr>
          <a:xfrm>
            <a:off x="1170393" y="5685088"/>
            <a:ext cx="3200400" cy="365760"/>
          </a:xfrm>
          <a:prstGeom prst="rect">
            <a:avLst/>
          </a:prstGeom>
          <a:noFill/>
        </p:spPr>
        <p:txBody>
          <a:bodyPr wrap="none">
            <a:spAutoFit/>
          </a:bodyPr>
          <a:lstStyle/>
          <a:p>
            <a:pPr algn="ctr">
              <a:defRPr sz="1200" i="1">
                <a:solidFill>
                  <a:srgbClr val="333333"/>
                </a:solidFill>
                <a:latin typeface="Calibri"/>
              </a:defRPr>
            </a:pPr>
            <a:r>
              <a:rPr dirty="0"/>
              <a:t>Financial factors vs outcome</a:t>
            </a:r>
          </a:p>
        </p:txBody>
      </p:sp>
      <p:sp>
        <p:nvSpPr>
          <p:cNvPr id="8" name="TextBox 7"/>
          <p:cNvSpPr txBox="1"/>
          <p:nvPr/>
        </p:nvSpPr>
        <p:spPr>
          <a:xfrm>
            <a:off x="7424871" y="5529752"/>
            <a:ext cx="3200400" cy="365760"/>
          </a:xfrm>
          <a:prstGeom prst="rect">
            <a:avLst/>
          </a:prstGeom>
          <a:noFill/>
        </p:spPr>
        <p:txBody>
          <a:bodyPr wrap="none">
            <a:spAutoFit/>
          </a:bodyPr>
          <a:lstStyle/>
          <a:p>
            <a:pPr algn="ctr">
              <a:defRPr sz="1200" i="1">
                <a:solidFill>
                  <a:srgbClr val="333333"/>
                </a:solidFill>
                <a:latin typeface="Calibri"/>
              </a:defRPr>
            </a:pPr>
            <a:r>
              <a:rPr dirty="0"/>
              <a:t>PCA 2D projection</a:t>
            </a:r>
          </a:p>
        </p:txBody>
      </p:sp>
      <p:sp>
        <p:nvSpPr>
          <p:cNvPr id="9" name="Rounded Rectangle 8"/>
          <p:cNvSpPr/>
          <p:nvPr/>
        </p:nvSpPr>
        <p:spPr>
          <a:xfrm>
            <a:off x="640080" y="6011132"/>
            <a:ext cx="11064240" cy="64008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500" b="1">
                <a:solidFill>
                  <a:srgbClr val="FFFFFF"/>
                </a:solidFill>
                <a:latin typeface="Calibri"/>
              </a:defRPr>
            </a:pPr>
            <a:r>
              <a:t>PCA shows moderate class separability; scholarship holders show significantly lower dropout rates</a:t>
            </a:r>
          </a:p>
        </p:txBody>
      </p:sp>
      <p:sp>
        <p:nvSpPr>
          <p:cNvPr id="10" name="TextBox 9"/>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9 / 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Visualization Techniques Summary</a:t>
            </a:r>
          </a:p>
        </p:txBody>
      </p:sp>
      <p:pic>
        <p:nvPicPr>
          <p:cNvPr id="3" name="Picture 2" descr="correlation_heatmap.png"/>
          <p:cNvPicPr>
            <a:picLocks noChangeAspect="1"/>
          </p:cNvPicPr>
          <p:nvPr/>
        </p:nvPicPr>
        <p:blipFill>
          <a:blip r:embed="rId3"/>
          <a:stretch>
            <a:fillRect/>
          </a:stretch>
        </p:blipFill>
        <p:spPr>
          <a:xfrm>
            <a:off x="365760" y="1280160"/>
            <a:ext cx="3474720" cy="1920240"/>
          </a:xfrm>
          <a:prstGeom prst="rect">
            <a:avLst/>
          </a:prstGeom>
        </p:spPr>
      </p:pic>
      <p:sp>
        <p:nvSpPr>
          <p:cNvPr id="4" name="TextBox 3"/>
          <p:cNvSpPr txBox="1"/>
          <p:nvPr/>
        </p:nvSpPr>
        <p:spPr>
          <a:xfrm>
            <a:off x="365760" y="3200400"/>
            <a:ext cx="3474720" cy="365760"/>
          </a:xfrm>
          <a:prstGeom prst="rect">
            <a:avLst/>
          </a:prstGeom>
          <a:noFill/>
        </p:spPr>
        <p:txBody>
          <a:bodyPr wrap="none">
            <a:spAutoFit/>
          </a:bodyPr>
          <a:lstStyle/>
          <a:p>
            <a:pPr algn="ctr">
              <a:defRPr sz="1200" b="1">
                <a:solidFill>
                  <a:srgbClr val="333333"/>
                </a:solidFill>
                <a:latin typeface="Calibri"/>
              </a:defRPr>
            </a:pPr>
            <a:r>
              <a:t>Correlation Heatmap</a:t>
            </a:r>
          </a:p>
        </p:txBody>
      </p:sp>
      <p:pic>
        <p:nvPicPr>
          <p:cNvPr id="5" name="Picture 4" descr="feature_distributions.png"/>
          <p:cNvPicPr>
            <a:picLocks noChangeAspect="1"/>
          </p:cNvPicPr>
          <p:nvPr/>
        </p:nvPicPr>
        <p:blipFill>
          <a:blip r:embed="rId4"/>
          <a:stretch>
            <a:fillRect/>
          </a:stretch>
        </p:blipFill>
        <p:spPr>
          <a:xfrm>
            <a:off x="4114800" y="1280160"/>
            <a:ext cx="3474720" cy="1920240"/>
          </a:xfrm>
          <a:prstGeom prst="rect">
            <a:avLst/>
          </a:prstGeom>
        </p:spPr>
      </p:pic>
      <p:sp>
        <p:nvSpPr>
          <p:cNvPr id="6" name="TextBox 5"/>
          <p:cNvSpPr txBox="1"/>
          <p:nvPr/>
        </p:nvSpPr>
        <p:spPr>
          <a:xfrm>
            <a:off x="4114800" y="3200400"/>
            <a:ext cx="3474720" cy="365760"/>
          </a:xfrm>
          <a:prstGeom prst="rect">
            <a:avLst/>
          </a:prstGeom>
          <a:noFill/>
        </p:spPr>
        <p:txBody>
          <a:bodyPr wrap="none">
            <a:spAutoFit/>
          </a:bodyPr>
          <a:lstStyle/>
          <a:p>
            <a:pPr algn="ctr">
              <a:defRPr sz="1200" b="1">
                <a:solidFill>
                  <a:srgbClr val="333333"/>
                </a:solidFill>
                <a:latin typeface="Calibri"/>
              </a:defRPr>
            </a:pPr>
            <a:r>
              <a:t>KDE Distributions</a:t>
            </a:r>
          </a:p>
        </p:txBody>
      </p:sp>
      <p:pic>
        <p:nvPicPr>
          <p:cNvPr id="7" name="Picture 6" descr="boxplots_grades.png"/>
          <p:cNvPicPr>
            <a:picLocks noChangeAspect="1"/>
          </p:cNvPicPr>
          <p:nvPr/>
        </p:nvPicPr>
        <p:blipFill>
          <a:blip r:embed="rId5"/>
          <a:stretch>
            <a:fillRect/>
          </a:stretch>
        </p:blipFill>
        <p:spPr>
          <a:xfrm>
            <a:off x="7863840" y="1280160"/>
            <a:ext cx="3474720" cy="1920240"/>
          </a:xfrm>
          <a:prstGeom prst="rect">
            <a:avLst/>
          </a:prstGeom>
        </p:spPr>
      </p:pic>
      <p:sp>
        <p:nvSpPr>
          <p:cNvPr id="8" name="TextBox 7"/>
          <p:cNvSpPr txBox="1"/>
          <p:nvPr/>
        </p:nvSpPr>
        <p:spPr>
          <a:xfrm>
            <a:off x="7863840" y="3200400"/>
            <a:ext cx="3474720" cy="365760"/>
          </a:xfrm>
          <a:prstGeom prst="rect">
            <a:avLst/>
          </a:prstGeom>
          <a:noFill/>
        </p:spPr>
        <p:txBody>
          <a:bodyPr wrap="none">
            <a:spAutoFit/>
          </a:bodyPr>
          <a:lstStyle/>
          <a:p>
            <a:pPr algn="ctr">
              <a:defRPr sz="1200" b="1">
                <a:solidFill>
                  <a:srgbClr val="333333"/>
                </a:solidFill>
                <a:latin typeface="Calibri"/>
              </a:defRPr>
            </a:pPr>
            <a:r>
              <a:t>Boxplots</a:t>
            </a:r>
          </a:p>
        </p:txBody>
      </p:sp>
      <p:pic>
        <p:nvPicPr>
          <p:cNvPr id="9" name="Picture 8" descr="stacked_bar_binary.png"/>
          <p:cNvPicPr>
            <a:picLocks noChangeAspect="1"/>
          </p:cNvPicPr>
          <p:nvPr/>
        </p:nvPicPr>
        <p:blipFill>
          <a:blip r:embed="rId6"/>
          <a:stretch>
            <a:fillRect/>
          </a:stretch>
        </p:blipFill>
        <p:spPr>
          <a:xfrm>
            <a:off x="365760" y="3474720"/>
            <a:ext cx="3474720" cy="1920240"/>
          </a:xfrm>
          <a:prstGeom prst="rect">
            <a:avLst/>
          </a:prstGeom>
        </p:spPr>
      </p:pic>
      <p:sp>
        <p:nvSpPr>
          <p:cNvPr id="10" name="TextBox 9"/>
          <p:cNvSpPr txBox="1"/>
          <p:nvPr/>
        </p:nvSpPr>
        <p:spPr>
          <a:xfrm>
            <a:off x="365760" y="5394960"/>
            <a:ext cx="3474720" cy="365760"/>
          </a:xfrm>
          <a:prstGeom prst="rect">
            <a:avLst/>
          </a:prstGeom>
          <a:noFill/>
        </p:spPr>
        <p:txBody>
          <a:bodyPr wrap="none">
            <a:spAutoFit/>
          </a:bodyPr>
          <a:lstStyle/>
          <a:p>
            <a:pPr algn="ctr">
              <a:defRPr sz="1200" b="1">
                <a:solidFill>
                  <a:srgbClr val="333333"/>
                </a:solidFill>
                <a:latin typeface="Calibri"/>
              </a:defRPr>
            </a:pPr>
            <a:r>
              <a:t>Stacked Bar Charts</a:t>
            </a:r>
          </a:p>
        </p:txBody>
      </p:sp>
      <p:pic>
        <p:nvPicPr>
          <p:cNvPr id="11" name="Picture 10" descr="pca_scatter.png"/>
          <p:cNvPicPr>
            <a:picLocks noChangeAspect="1"/>
          </p:cNvPicPr>
          <p:nvPr/>
        </p:nvPicPr>
        <p:blipFill>
          <a:blip r:embed="rId7"/>
          <a:stretch>
            <a:fillRect/>
          </a:stretch>
        </p:blipFill>
        <p:spPr>
          <a:xfrm>
            <a:off x="4114800" y="3474720"/>
            <a:ext cx="3474720" cy="1920240"/>
          </a:xfrm>
          <a:prstGeom prst="rect">
            <a:avLst/>
          </a:prstGeom>
        </p:spPr>
      </p:pic>
      <p:sp>
        <p:nvSpPr>
          <p:cNvPr id="12" name="TextBox 11"/>
          <p:cNvSpPr txBox="1"/>
          <p:nvPr/>
        </p:nvSpPr>
        <p:spPr>
          <a:xfrm>
            <a:off x="4114800" y="5394960"/>
            <a:ext cx="3474720" cy="365760"/>
          </a:xfrm>
          <a:prstGeom prst="rect">
            <a:avLst/>
          </a:prstGeom>
          <a:noFill/>
        </p:spPr>
        <p:txBody>
          <a:bodyPr wrap="none">
            <a:spAutoFit/>
          </a:bodyPr>
          <a:lstStyle/>
          <a:p>
            <a:pPr algn="ctr">
              <a:defRPr sz="1200" b="1">
                <a:solidFill>
                  <a:srgbClr val="333333"/>
                </a:solidFill>
                <a:latin typeface="Calibri"/>
              </a:defRPr>
            </a:pPr>
            <a:r>
              <a:t>PCA Scatter Plot</a:t>
            </a:r>
          </a:p>
        </p:txBody>
      </p:sp>
      <p:pic>
        <p:nvPicPr>
          <p:cNvPr id="13" name="Picture 12" descr="rf_feature_importance.png"/>
          <p:cNvPicPr>
            <a:picLocks noChangeAspect="1"/>
          </p:cNvPicPr>
          <p:nvPr/>
        </p:nvPicPr>
        <p:blipFill>
          <a:blip r:embed="rId8"/>
          <a:stretch>
            <a:fillRect/>
          </a:stretch>
        </p:blipFill>
        <p:spPr>
          <a:xfrm>
            <a:off x="7863840" y="3474720"/>
            <a:ext cx="3474720" cy="1920240"/>
          </a:xfrm>
          <a:prstGeom prst="rect">
            <a:avLst/>
          </a:prstGeom>
        </p:spPr>
      </p:pic>
      <p:sp>
        <p:nvSpPr>
          <p:cNvPr id="14" name="TextBox 13"/>
          <p:cNvSpPr txBox="1"/>
          <p:nvPr/>
        </p:nvSpPr>
        <p:spPr>
          <a:xfrm>
            <a:off x="7863840" y="5394960"/>
            <a:ext cx="3474720" cy="365760"/>
          </a:xfrm>
          <a:prstGeom prst="rect">
            <a:avLst/>
          </a:prstGeom>
          <a:noFill/>
        </p:spPr>
        <p:txBody>
          <a:bodyPr wrap="none">
            <a:spAutoFit/>
          </a:bodyPr>
          <a:lstStyle/>
          <a:p>
            <a:pPr algn="ctr">
              <a:defRPr sz="1200" b="1">
                <a:solidFill>
                  <a:srgbClr val="333333"/>
                </a:solidFill>
                <a:latin typeface="Calibri"/>
              </a:defRPr>
            </a:pPr>
            <a:r>
              <a:t>Feature Importance</a:t>
            </a:r>
          </a:p>
        </p:txBody>
      </p:sp>
      <p:sp>
        <p:nvSpPr>
          <p:cNvPr id="15" name="TextBox 14"/>
          <p:cNvSpPr txBox="1"/>
          <p:nvPr/>
        </p:nvSpPr>
        <p:spPr>
          <a:xfrm>
            <a:off x="548640" y="6035040"/>
            <a:ext cx="11064240" cy="457200"/>
          </a:xfrm>
          <a:prstGeom prst="rect">
            <a:avLst/>
          </a:prstGeom>
          <a:noFill/>
        </p:spPr>
        <p:txBody>
          <a:bodyPr wrap="none">
            <a:spAutoFit/>
          </a:bodyPr>
          <a:lstStyle/>
          <a:p>
            <a:pPr algn="ctr">
              <a:defRPr sz="1300" i="1">
                <a:solidFill>
                  <a:srgbClr val="333333"/>
                </a:solidFill>
                <a:latin typeface="Calibri"/>
              </a:defRPr>
            </a:pPr>
            <a:r>
              <a:t>All visualizations generated with Matplotlib &amp; Seaborn  |  Consistent color coding: Red = Dropout, Amber = Enrolled, Green = Graduate</a:t>
            </a:r>
          </a:p>
        </p:txBody>
      </p:sp>
      <p:sp>
        <p:nvSpPr>
          <p:cNvPr id="16" name="TextBox 15"/>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10 / 19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Classification Models — Overview</a:t>
            </a:r>
          </a:p>
        </p:txBody>
      </p:sp>
      <p:sp>
        <p:nvSpPr>
          <p:cNvPr id="3" name="Rounded Rectangle 2"/>
          <p:cNvSpPr/>
          <p:nvPr/>
        </p:nvSpPr>
        <p:spPr>
          <a:xfrm>
            <a:off x="457200" y="1371600"/>
            <a:ext cx="3474720" cy="164592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800" b="1">
                <a:solidFill>
                  <a:srgbClr val="0055A2"/>
                </a:solidFill>
                <a:latin typeface="Calibri"/>
              </a:defRPr>
            </a:pPr>
            <a:r>
              <a:rPr dirty="0"/>
              <a:t>Decision Tree</a:t>
            </a:r>
          </a:p>
          <a:p>
            <a:pPr>
              <a:spcBef>
                <a:spcPts val="600"/>
              </a:spcBef>
              <a:defRPr sz="1300">
                <a:solidFill>
                  <a:srgbClr val="333333"/>
                </a:solidFill>
                <a:latin typeface="Calibri"/>
              </a:defRPr>
            </a:pPr>
            <a:r>
              <a:rPr sz="1600" dirty="0" err="1"/>
              <a:t>max_depth</a:t>
            </a:r>
            <a:r>
              <a:rPr sz="1600" dirty="0"/>
              <a:t>=10</a:t>
            </a:r>
          </a:p>
        </p:txBody>
      </p:sp>
      <p:sp>
        <p:nvSpPr>
          <p:cNvPr id="4" name="Rounded Rectangle 3"/>
          <p:cNvSpPr/>
          <p:nvPr/>
        </p:nvSpPr>
        <p:spPr>
          <a:xfrm>
            <a:off x="4297680" y="1371600"/>
            <a:ext cx="3474720" cy="164592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800" b="1">
                <a:solidFill>
                  <a:srgbClr val="0055A2"/>
                </a:solidFill>
                <a:latin typeface="Calibri"/>
              </a:defRPr>
            </a:pPr>
            <a:r>
              <a:rPr dirty="0"/>
              <a:t>Random Forest</a:t>
            </a:r>
          </a:p>
          <a:p>
            <a:pPr>
              <a:spcBef>
                <a:spcPts val="600"/>
              </a:spcBef>
              <a:defRPr sz="1300">
                <a:solidFill>
                  <a:srgbClr val="333333"/>
                </a:solidFill>
                <a:latin typeface="Calibri"/>
              </a:defRPr>
            </a:pPr>
            <a:r>
              <a:rPr sz="1600" dirty="0" err="1"/>
              <a:t>n_estimators</a:t>
            </a:r>
            <a:r>
              <a:rPr sz="1600" dirty="0"/>
              <a:t>=200</a:t>
            </a:r>
          </a:p>
        </p:txBody>
      </p:sp>
      <p:sp>
        <p:nvSpPr>
          <p:cNvPr id="5" name="Rounded Rectangle 4"/>
          <p:cNvSpPr/>
          <p:nvPr/>
        </p:nvSpPr>
        <p:spPr>
          <a:xfrm>
            <a:off x="8138160" y="1371600"/>
            <a:ext cx="3474720" cy="164592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800" b="1">
                <a:solidFill>
                  <a:srgbClr val="0055A2"/>
                </a:solidFill>
                <a:latin typeface="Calibri"/>
              </a:defRPr>
            </a:pPr>
            <a:r>
              <a:rPr dirty="0"/>
              <a:t>KNN</a:t>
            </a:r>
          </a:p>
          <a:p>
            <a:pPr>
              <a:spcBef>
                <a:spcPts val="600"/>
              </a:spcBef>
              <a:defRPr sz="1300">
                <a:solidFill>
                  <a:srgbClr val="333333"/>
                </a:solidFill>
                <a:latin typeface="Calibri"/>
              </a:defRPr>
            </a:pPr>
            <a:r>
              <a:rPr sz="1600" dirty="0"/>
              <a:t>best k=11 (tuned via accuracy)</a:t>
            </a:r>
          </a:p>
        </p:txBody>
      </p:sp>
      <p:sp>
        <p:nvSpPr>
          <p:cNvPr id="6" name="Rounded Rectangle 5"/>
          <p:cNvSpPr/>
          <p:nvPr/>
        </p:nvSpPr>
        <p:spPr>
          <a:xfrm>
            <a:off x="457200" y="3383280"/>
            <a:ext cx="3474720" cy="164592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800" b="1">
                <a:solidFill>
                  <a:srgbClr val="0055A2"/>
                </a:solidFill>
                <a:latin typeface="Calibri"/>
              </a:defRPr>
            </a:pPr>
            <a:r>
              <a:rPr dirty="0"/>
              <a:t>Logistic Regression</a:t>
            </a:r>
          </a:p>
          <a:p>
            <a:pPr>
              <a:spcBef>
                <a:spcPts val="600"/>
              </a:spcBef>
              <a:defRPr sz="1300">
                <a:solidFill>
                  <a:srgbClr val="333333"/>
                </a:solidFill>
                <a:latin typeface="Calibri"/>
              </a:defRPr>
            </a:pPr>
            <a:r>
              <a:rPr sz="1600" dirty="0"/>
              <a:t>multinomial, </a:t>
            </a:r>
            <a:r>
              <a:rPr sz="1600" dirty="0" err="1"/>
              <a:t>max_iter</a:t>
            </a:r>
            <a:r>
              <a:rPr sz="1600" dirty="0"/>
              <a:t>=1000</a:t>
            </a:r>
          </a:p>
        </p:txBody>
      </p:sp>
      <p:sp>
        <p:nvSpPr>
          <p:cNvPr id="7" name="Rounded Rectangle 6"/>
          <p:cNvSpPr/>
          <p:nvPr/>
        </p:nvSpPr>
        <p:spPr>
          <a:xfrm>
            <a:off x="4297680" y="3383280"/>
            <a:ext cx="3474720" cy="164592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800" b="1">
                <a:solidFill>
                  <a:srgbClr val="0055A2"/>
                </a:solidFill>
                <a:latin typeface="Calibri"/>
              </a:defRPr>
            </a:pPr>
            <a:r>
              <a:rPr dirty="0"/>
              <a:t>SVM</a:t>
            </a:r>
          </a:p>
          <a:p>
            <a:pPr>
              <a:spcBef>
                <a:spcPts val="600"/>
              </a:spcBef>
              <a:defRPr sz="1300">
                <a:solidFill>
                  <a:srgbClr val="333333"/>
                </a:solidFill>
                <a:latin typeface="Calibri"/>
              </a:defRPr>
            </a:pPr>
            <a:r>
              <a:rPr sz="1600" dirty="0"/>
              <a:t>RBF kernel, probability=True</a:t>
            </a:r>
          </a:p>
        </p:txBody>
      </p:sp>
      <p:sp>
        <p:nvSpPr>
          <p:cNvPr id="8" name="Rounded Rectangle 7"/>
          <p:cNvSpPr/>
          <p:nvPr/>
        </p:nvSpPr>
        <p:spPr>
          <a:xfrm>
            <a:off x="8138160" y="3383280"/>
            <a:ext cx="3474720" cy="1645920"/>
          </a:xfrm>
          <a:prstGeom prst="roundRect">
            <a:avLst/>
          </a:prstGeom>
          <a:solidFill>
            <a:srgbClr val="FFFFFF"/>
          </a:solidFill>
          <a:ln w="25400">
            <a:solidFill>
              <a:srgbClr val="0055A2"/>
            </a:solidFill>
          </a:ln>
        </p:spPr>
        <p:style>
          <a:lnRef idx="1">
            <a:schemeClr val="accent1"/>
          </a:lnRef>
          <a:fillRef idx="3">
            <a:schemeClr val="accent1"/>
          </a:fillRef>
          <a:effectRef idx="2">
            <a:schemeClr val="accent1"/>
          </a:effectRef>
          <a:fontRef idx="minor">
            <a:schemeClr val="lt1"/>
          </a:fontRef>
        </p:style>
        <p:txBody>
          <a:bodyPr wrap="square" lIns="137160" tIns="137160" rIns="137160" rtlCol="0" anchor="ctr"/>
          <a:lstStyle/>
          <a:p>
            <a:pPr algn="ctr">
              <a:defRPr sz="1800" b="1">
                <a:solidFill>
                  <a:srgbClr val="0055A2"/>
                </a:solidFill>
                <a:latin typeface="Calibri"/>
              </a:defRPr>
            </a:pPr>
            <a:r>
              <a:rPr dirty="0" err="1"/>
              <a:t>XGBoost</a:t>
            </a:r>
            <a:endParaRPr dirty="0"/>
          </a:p>
          <a:p>
            <a:pPr>
              <a:spcBef>
                <a:spcPts val="600"/>
              </a:spcBef>
              <a:defRPr sz="1300">
                <a:solidFill>
                  <a:srgbClr val="333333"/>
                </a:solidFill>
                <a:latin typeface="Calibri"/>
              </a:defRPr>
            </a:pPr>
            <a:r>
              <a:rPr sz="1600" dirty="0" err="1"/>
              <a:t>n_estimators</a:t>
            </a:r>
            <a:r>
              <a:rPr sz="1600" dirty="0"/>
              <a:t>=200, </a:t>
            </a:r>
            <a:r>
              <a:rPr sz="1600" dirty="0" err="1"/>
              <a:t>max_depth</a:t>
            </a:r>
            <a:r>
              <a:rPr sz="1600" dirty="0"/>
              <a:t>=6, </a:t>
            </a:r>
            <a:r>
              <a:rPr sz="1600" dirty="0" err="1"/>
              <a:t>lr</a:t>
            </a:r>
            <a:r>
              <a:rPr sz="1600" dirty="0"/>
              <a:t>=0.1</a:t>
            </a:r>
          </a:p>
        </p:txBody>
      </p:sp>
      <p:sp>
        <p:nvSpPr>
          <p:cNvPr id="9" name="Rounded Rectangle 8"/>
          <p:cNvSpPr/>
          <p:nvPr/>
        </p:nvSpPr>
        <p:spPr>
          <a:xfrm>
            <a:off x="548640" y="5806440"/>
            <a:ext cx="11064240" cy="64008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400" b="1">
                <a:solidFill>
                  <a:srgbClr val="FFFFFF"/>
                </a:solidFill>
                <a:latin typeface="Calibri"/>
              </a:defRPr>
            </a:pPr>
            <a:r>
              <a:rPr dirty="0"/>
              <a:t>All models: </a:t>
            </a:r>
            <a:r>
              <a:rPr dirty="0" err="1"/>
              <a:t>random_state</a:t>
            </a:r>
            <a:r>
              <a:rPr dirty="0"/>
              <a:t>=42  |  80/20 stratified split  |  5-fold cross-validation  |  F1-macro as primary metric</a:t>
            </a:r>
          </a:p>
        </p:txBody>
      </p:sp>
      <p:sp>
        <p:nvSpPr>
          <p:cNvPr id="10" name="TextBox 9"/>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11 / 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Classification Results — Best vs Worst</a:t>
            </a:r>
          </a:p>
        </p:txBody>
      </p:sp>
      <p:pic>
        <p:nvPicPr>
          <p:cNvPr id="3" name="Picture 2" descr="xgb_cm.png"/>
          <p:cNvPicPr>
            <a:picLocks noChangeAspect="1"/>
          </p:cNvPicPr>
          <p:nvPr/>
        </p:nvPicPr>
        <p:blipFill>
          <a:blip r:embed="rId3"/>
          <a:stretch>
            <a:fillRect/>
          </a:stretch>
        </p:blipFill>
        <p:spPr>
          <a:xfrm>
            <a:off x="274320" y="1188720"/>
            <a:ext cx="3383280" cy="2560320"/>
          </a:xfrm>
          <a:prstGeom prst="rect">
            <a:avLst/>
          </a:prstGeom>
        </p:spPr>
      </p:pic>
      <p:pic>
        <p:nvPicPr>
          <p:cNvPr id="4" name="Picture 3" descr="xgb_roc.png"/>
          <p:cNvPicPr>
            <a:picLocks noChangeAspect="1"/>
          </p:cNvPicPr>
          <p:nvPr/>
        </p:nvPicPr>
        <p:blipFill>
          <a:blip r:embed="rId4"/>
          <a:stretch>
            <a:fillRect/>
          </a:stretch>
        </p:blipFill>
        <p:spPr>
          <a:xfrm>
            <a:off x="274320" y="3840480"/>
            <a:ext cx="3383280" cy="2560320"/>
          </a:xfrm>
          <a:prstGeom prst="rect">
            <a:avLst/>
          </a:prstGeom>
        </p:spPr>
      </p:pic>
      <p:pic>
        <p:nvPicPr>
          <p:cNvPr id="5" name="Picture 4" descr="lr_cm.png"/>
          <p:cNvPicPr>
            <a:picLocks noChangeAspect="1"/>
          </p:cNvPicPr>
          <p:nvPr/>
        </p:nvPicPr>
        <p:blipFill>
          <a:blip r:embed="rId5"/>
          <a:stretch>
            <a:fillRect/>
          </a:stretch>
        </p:blipFill>
        <p:spPr>
          <a:xfrm>
            <a:off x="3931920" y="1188720"/>
            <a:ext cx="3383280" cy="2560320"/>
          </a:xfrm>
          <a:prstGeom prst="rect">
            <a:avLst/>
          </a:prstGeom>
        </p:spPr>
      </p:pic>
      <p:pic>
        <p:nvPicPr>
          <p:cNvPr id="6" name="Picture 5" descr="lr_roc.png"/>
          <p:cNvPicPr>
            <a:picLocks noChangeAspect="1"/>
          </p:cNvPicPr>
          <p:nvPr/>
        </p:nvPicPr>
        <p:blipFill>
          <a:blip r:embed="rId6"/>
          <a:stretch>
            <a:fillRect/>
          </a:stretch>
        </p:blipFill>
        <p:spPr>
          <a:xfrm>
            <a:off x="3931920" y="3840480"/>
            <a:ext cx="3383280" cy="2560320"/>
          </a:xfrm>
          <a:prstGeom prst="rect">
            <a:avLst/>
          </a:prstGeom>
        </p:spPr>
      </p:pic>
      <p:pic>
        <p:nvPicPr>
          <p:cNvPr id="7" name="Picture 6" descr="knn_cm.png"/>
          <p:cNvPicPr>
            <a:picLocks noChangeAspect="1"/>
          </p:cNvPicPr>
          <p:nvPr/>
        </p:nvPicPr>
        <p:blipFill>
          <a:blip r:embed="rId7"/>
          <a:stretch>
            <a:fillRect/>
          </a:stretch>
        </p:blipFill>
        <p:spPr>
          <a:xfrm>
            <a:off x="7589520" y="1188720"/>
            <a:ext cx="3383280" cy="2560320"/>
          </a:xfrm>
          <a:prstGeom prst="rect">
            <a:avLst/>
          </a:prstGeom>
        </p:spPr>
      </p:pic>
      <p:pic>
        <p:nvPicPr>
          <p:cNvPr id="8" name="Picture 7" descr="knn_roc.png"/>
          <p:cNvPicPr>
            <a:picLocks noChangeAspect="1"/>
          </p:cNvPicPr>
          <p:nvPr/>
        </p:nvPicPr>
        <p:blipFill>
          <a:blip r:embed="rId8"/>
          <a:stretch>
            <a:fillRect/>
          </a:stretch>
        </p:blipFill>
        <p:spPr>
          <a:xfrm>
            <a:off x="7589520" y="3840480"/>
            <a:ext cx="3383280" cy="2560320"/>
          </a:xfrm>
          <a:prstGeom prst="rect">
            <a:avLst/>
          </a:prstGeom>
        </p:spPr>
      </p:pic>
      <p:sp>
        <p:nvSpPr>
          <p:cNvPr id="9" name="TextBox 8"/>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12 / 19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Clustering Analysis</a:t>
            </a:r>
          </a:p>
        </p:txBody>
      </p:sp>
      <p:pic>
        <p:nvPicPr>
          <p:cNvPr id="3" name="Picture 2" descr="kmeans_elbow_silhouette.png"/>
          <p:cNvPicPr>
            <a:picLocks noChangeAspect="1"/>
          </p:cNvPicPr>
          <p:nvPr/>
        </p:nvPicPr>
        <p:blipFill>
          <a:blip r:embed="rId3"/>
          <a:stretch>
            <a:fillRect/>
          </a:stretch>
        </p:blipFill>
        <p:spPr>
          <a:xfrm>
            <a:off x="274320" y="1188720"/>
            <a:ext cx="5486400" cy="2377440"/>
          </a:xfrm>
          <a:prstGeom prst="rect">
            <a:avLst/>
          </a:prstGeom>
        </p:spPr>
      </p:pic>
      <p:pic>
        <p:nvPicPr>
          <p:cNvPr id="4" name="Picture 3" descr="kmeans_crosstab.png"/>
          <p:cNvPicPr>
            <a:picLocks noChangeAspect="1"/>
          </p:cNvPicPr>
          <p:nvPr/>
        </p:nvPicPr>
        <p:blipFill>
          <a:blip r:embed="rId4"/>
          <a:stretch>
            <a:fillRect/>
          </a:stretch>
        </p:blipFill>
        <p:spPr>
          <a:xfrm>
            <a:off x="274320" y="3749039"/>
            <a:ext cx="5029200" cy="2560320"/>
          </a:xfrm>
          <a:prstGeom prst="rect">
            <a:avLst/>
          </a:prstGeom>
        </p:spPr>
      </p:pic>
      <p:pic>
        <p:nvPicPr>
          <p:cNvPr id="5" name="Picture 4" descr="hierarchical_dendrogram.png"/>
          <p:cNvPicPr>
            <a:picLocks noChangeAspect="1"/>
          </p:cNvPicPr>
          <p:nvPr/>
        </p:nvPicPr>
        <p:blipFill>
          <a:blip r:embed="rId5"/>
          <a:stretch>
            <a:fillRect/>
          </a:stretch>
        </p:blipFill>
        <p:spPr>
          <a:xfrm>
            <a:off x="5943600" y="1188720"/>
            <a:ext cx="5760720" cy="2377440"/>
          </a:xfrm>
          <a:prstGeom prst="rect">
            <a:avLst/>
          </a:prstGeom>
        </p:spPr>
      </p:pic>
      <p:sp>
        <p:nvSpPr>
          <p:cNvPr id="6" name="TextBox 5"/>
          <p:cNvSpPr txBox="1"/>
          <p:nvPr/>
        </p:nvSpPr>
        <p:spPr>
          <a:xfrm>
            <a:off x="6217920" y="3840480"/>
            <a:ext cx="5029200" cy="1615827"/>
          </a:xfrm>
          <a:prstGeom prst="rect">
            <a:avLst/>
          </a:prstGeom>
          <a:noFill/>
        </p:spPr>
        <p:txBody>
          <a:bodyPr wrap="square">
            <a:spAutoFit/>
          </a:bodyPr>
          <a:lstStyle/>
          <a:p>
            <a:pPr>
              <a:spcAft>
                <a:spcPts val="600"/>
              </a:spcAft>
              <a:defRPr sz="1500">
                <a:solidFill>
                  <a:srgbClr val="333333"/>
                </a:solidFill>
                <a:latin typeface="Calibri"/>
              </a:defRPr>
            </a:pPr>
            <a:r>
              <a:rPr sz="1600" dirty="0"/>
              <a:t>K-Means (k=3): Silhouette = 0.2145</a:t>
            </a:r>
          </a:p>
          <a:p>
            <a:pPr>
              <a:spcAft>
                <a:spcPts val="600"/>
              </a:spcAft>
              <a:defRPr sz="1500">
                <a:solidFill>
                  <a:srgbClr val="333333"/>
                </a:solidFill>
                <a:latin typeface="Calibri"/>
              </a:defRPr>
            </a:pPr>
            <a:r>
              <a:rPr sz="1600" dirty="0"/>
              <a:t>Clusters partially recover outcome classes</a:t>
            </a:r>
          </a:p>
          <a:p>
            <a:pPr>
              <a:spcAft>
                <a:spcPts val="600"/>
              </a:spcAft>
              <a:defRPr sz="1500">
                <a:solidFill>
                  <a:srgbClr val="333333"/>
                </a:solidFill>
                <a:latin typeface="Calibri"/>
              </a:defRPr>
            </a:pPr>
            <a:r>
              <a:rPr sz="1600" dirty="0"/>
              <a:t>Hierarchical (Ward): Silhouette = 0.1158</a:t>
            </a:r>
          </a:p>
          <a:p>
            <a:pPr>
              <a:spcAft>
                <a:spcPts val="600"/>
              </a:spcAft>
              <a:defRPr sz="1500">
                <a:solidFill>
                  <a:srgbClr val="333333"/>
                </a:solidFill>
                <a:latin typeface="Calibri"/>
              </a:defRPr>
            </a:pPr>
            <a:r>
              <a:rPr sz="1600" dirty="0"/>
              <a:t>Low scores confirm hard boundary problem</a:t>
            </a:r>
          </a:p>
          <a:p>
            <a:pPr>
              <a:spcAft>
                <a:spcPts val="600"/>
              </a:spcAft>
              <a:defRPr sz="1500">
                <a:solidFill>
                  <a:srgbClr val="333333"/>
                </a:solidFill>
                <a:latin typeface="Calibri"/>
              </a:defRPr>
            </a:pPr>
            <a:r>
              <a:rPr sz="1600" dirty="0"/>
              <a:t>Supervision needed for reliable prediction</a:t>
            </a:r>
          </a:p>
        </p:txBody>
      </p:sp>
      <p:sp>
        <p:nvSpPr>
          <p:cNvPr id="7" name="TextBox 6"/>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13 / 19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Association Rule Mining (Apriori)</a:t>
            </a:r>
          </a:p>
        </p:txBody>
      </p:sp>
      <p:sp>
        <p:nvSpPr>
          <p:cNvPr id="3" name="TextBox 2"/>
          <p:cNvSpPr txBox="1"/>
          <p:nvPr/>
        </p:nvSpPr>
        <p:spPr>
          <a:xfrm>
            <a:off x="548640" y="1280160"/>
            <a:ext cx="10972800" cy="984885"/>
          </a:xfrm>
          <a:prstGeom prst="rect">
            <a:avLst/>
          </a:prstGeom>
          <a:noFill/>
        </p:spPr>
        <p:txBody>
          <a:bodyPr wrap="square">
            <a:spAutoFit/>
          </a:bodyPr>
          <a:lstStyle/>
          <a:p>
            <a:pPr>
              <a:spcAft>
                <a:spcPts val="600"/>
              </a:spcAft>
              <a:defRPr sz="1600">
                <a:solidFill>
                  <a:srgbClr val="333333"/>
                </a:solidFill>
                <a:latin typeface="Calibri"/>
              </a:defRPr>
            </a:pPr>
            <a:r>
              <a:rPr dirty="0"/>
              <a:t>Binned numeric features into categorical ranges</a:t>
            </a:r>
          </a:p>
          <a:p>
            <a:pPr>
              <a:spcAft>
                <a:spcPts val="600"/>
              </a:spcAft>
              <a:defRPr sz="1600">
                <a:solidFill>
                  <a:srgbClr val="333333"/>
                </a:solidFill>
                <a:latin typeface="Calibri"/>
              </a:defRPr>
            </a:pPr>
            <a:r>
              <a:rPr dirty="0"/>
              <a:t>Applied </a:t>
            </a:r>
            <a:r>
              <a:rPr dirty="0" err="1"/>
              <a:t>Apriori</a:t>
            </a:r>
            <a:r>
              <a:rPr dirty="0"/>
              <a:t>: </a:t>
            </a:r>
            <a:r>
              <a:rPr dirty="0" err="1"/>
              <a:t>min_support</a:t>
            </a:r>
            <a:r>
              <a:rPr dirty="0"/>
              <a:t>=0.05, </a:t>
            </a:r>
            <a:r>
              <a:rPr dirty="0" err="1"/>
              <a:t>min_confidence</a:t>
            </a:r>
            <a:r>
              <a:rPr dirty="0"/>
              <a:t>=0.60</a:t>
            </a:r>
          </a:p>
          <a:p>
            <a:pPr>
              <a:spcAft>
                <a:spcPts val="600"/>
              </a:spcAft>
              <a:defRPr sz="1600">
                <a:solidFill>
                  <a:srgbClr val="333333"/>
                </a:solidFill>
                <a:latin typeface="Calibri"/>
              </a:defRPr>
            </a:pPr>
            <a:r>
              <a:rPr dirty="0"/>
              <a:t>189 frequent </a:t>
            </a:r>
            <a:r>
              <a:rPr dirty="0" err="1"/>
              <a:t>itemsets</a:t>
            </a:r>
            <a:r>
              <a:rPr dirty="0"/>
              <a:t> → 334 rules → 85 with Target as consequent</a:t>
            </a:r>
          </a:p>
        </p:txBody>
      </p:sp>
      <p:graphicFrame>
        <p:nvGraphicFramePr>
          <p:cNvPr id="4" name="Table 3"/>
          <p:cNvGraphicFramePr>
            <a:graphicFrameLocks noGrp="1"/>
          </p:cNvGraphicFramePr>
          <p:nvPr/>
        </p:nvGraphicFramePr>
        <p:xfrm>
          <a:off x="457200" y="2926080"/>
          <a:ext cx="9966960" cy="283899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91885">
                <a:tc>
                  <a:txBody>
                    <a:bodyPr/>
                    <a:lstStyle/>
                    <a:p>
                      <a:pPr algn="ctr">
                        <a:defRPr sz="1400" b="1">
                          <a:solidFill>
                            <a:srgbClr val="FFFFFF"/>
                          </a:solidFill>
                          <a:latin typeface="Calibri"/>
                        </a:defRPr>
                      </a:pPr>
                      <a:r>
                        <a:t>Antecedent</a:t>
                      </a:r>
                    </a:p>
                  </a:txBody>
                  <a:tcPr anchor="ctr">
                    <a:solidFill>
                      <a:srgbClr val="1B3A5C"/>
                    </a:solidFill>
                  </a:tcPr>
                </a:tc>
                <a:tc>
                  <a:txBody>
                    <a:bodyPr/>
                    <a:lstStyle/>
                    <a:p>
                      <a:pPr algn="ctr">
                        <a:defRPr sz="1400" b="1">
                          <a:solidFill>
                            <a:srgbClr val="FFFFFF"/>
                          </a:solidFill>
                          <a:latin typeface="Calibri"/>
                        </a:defRPr>
                      </a:pPr>
                      <a:r>
                        <a:t>Consequent</a:t>
                      </a:r>
                    </a:p>
                  </a:txBody>
                  <a:tcPr anchor="ctr">
                    <a:solidFill>
                      <a:srgbClr val="1B3A5C"/>
                    </a:solidFill>
                  </a:tcPr>
                </a:tc>
                <a:tc>
                  <a:txBody>
                    <a:bodyPr/>
                    <a:lstStyle/>
                    <a:p>
                      <a:pPr algn="ctr">
                        <a:defRPr sz="1400" b="1">
                          <a:solidFill>
                            <a:srgbClr val="FFFFFF"/>
                          </a:solidFill>
                          <a:latin typeface="Calibri"/>
                        </a:defRPr>
                      </a:pPr>
                      <a:r>
                        <a:t>Support</a:t>
                      </a:r>
                    </a:p>
                  </a:txBody>
                  <a:tcPr anchor="ctr">
                    <a:solidFill>
                      <a:srgbClr val="1B3A5C"/>
                    </a:solidFill>
                  </a:tcPr>
                </a:tc>
                <a:tc>
                  <a:txBody>
                    <a:bodyPr/>
                    <a:lstStyle/>
                    <a:p>
                      <a:pPr algn="ctr">
                        <a:defRPr sz="1400" b="1">
                          <a:solidFill>
                            <a:srgbClr val="FFFFFF"/>
                          </a:solidFill>
                          <a:latin typeface="Calibri"/>
                        </a:defRPr>
                      </a:pPr>
                      <a:r>
                        <a:t>Conf.</a:t>
                      </a:r>
                    </a:p>
                  </a:txBody>
                  <a:tcPr anchor="ctr">
                    <a:solidFill>
                      <a:srgbClr val="1B3A5C"/>
                    </a:solidFill>
                  </a:tcPr>
                </a:tc>
                <a:tc>
                  <a:txBody>
                    <a:bodyPr/>
                    <a:lstStyle/>
                    <a:p>
                      <a:pPr algn="ctr">
                        <a:defRPr sz="1400" b="1">
                          <a:solidFill>
                            <a:srgbClr val="FFFFFF"/>
                          </a:solidFill>
                          <a:latin typeface="Calibri"/>
                        </a:defRPr>
                      </a:pPr>
                      <a:r>
                        <a:t>Lift</a:t>
                      </a:r>
                    </a:p>
                  </a:txBody>
                  <a:tcPr anchor="ctr">
                    <a:solidFill>
                      <a:srgbClr val="1B3A5C"/>
                    </a:solidFill>
                  </a:tcPr>
                </a:tc>
                <a:extLst>
                  <a:ext uri="{0D108BD9-81ED-4DB2-BD59-A6C34878D82A}">
                    <a16:rowId xmlns:a16="http://schemas.microsoft.com/office/drawing/2014/main" val="10000"/>
                  </a:ext>
                </a:extLst>
              </a:tr>
              <a:tr h="391885">
                <a:tc>
                  <a:txBody>
                    <a:bodyPr/>
                    <a:lstStyle/>
                    <a:p>
                      <a:pPr algn="l">
                        <a:defRPr sz="1300">
                          <a:solidFill>
                            <a:srgbClr val="333333"/>
                          </a:solidFill>
                          <a:latin typeface="Calibri"/>
                        </a:defRPr>
                      </a:pPr>
                      <a:r>
                        <a:t>CU1_Low, Age_Mid</a:t>
                      </a:r>
                    </a:p>
                  </a:txBody>
                  <a:tcPr anchor="ctr">
                    <a:solidFill>
                      <a:srgbClr val="F2F2F2"/>
                    </a:solidFill>
                  </a:tcPr>
                </a:tc>
                <a:tc>
                  <a:txBody>
                    <a:bodyPr/>
                    <a:lstStyle/>
                    <a:p>
                      <a:pPr algn="ctr">
                        <a:defRPr sz="1300">
                          <a:solidFill>
                            <a:srgbClr val="333333"/>
                          </a:solidFill>
                          <a:latin typeface="Calibri"/>
                        </a:defRPr>
                      </a:pPr>
                      <a:r>
                        <a:t>Target_Dropout</a:t>
                      </a:r>
                    </a:p>
                  </a:txBody>
                  <a:tcPr anchor="ctr">
                    <a:solidFill>
                      <a:srgbClr val="F2F2F2"/>
                    </a:solidFill>
                  </a:tcPr>
                </a:tc>
                <a:tc>
                  <a:txBody>
                    <a:bodyPr/>
                    <a:lstStyle/>
                    <a:p>
                      <a:pPr algn="ctr">
                        <a:defRPr sz="1300">
                          <a:solidFill>
                            <a:srgbClr val="333333"/>
                          </a:solidFill>
                          <a:latin typeface="Calibri"/>
                        </a:defRPr>
                      </a:pPr>
                      <a:r>
                        <a:t>0.058</a:t>
                      </a:r>
                    </a:p>
                  </a:txBody>
                  <a:tcPr anchor="ctr">
                    <a:solidFill>
                      <a:srgbClr val="F2F2F2"/>
                    </a:solidFill>
                  </a:tcPr>
                </a:tc>
                <a:tc>
                  <a:txBody>
                    <a:bodyPr/>
                    <a:lstStyle/>
                    <a:p>
                      <a:pPr algn="ctr">
                        <a:defRPr sz="1300">
                          <a:solidFill>
                            <a:srgbClr val="333333"/>
                          </a:solidFill>
                          <a:latin typeface="Calibri"/>
                        </a:defRPr>
                      </a:pPr>
                      <a:r>
                        <a:t>0.874</a:t>
                      </a:r>
                    </a:p>
                  </a:txBody>
                  <a:tcPr anchor="ctr">
                    <a:solidFill>
                      <a:srgbClr val="F2F2F2"/>
                    </a:solidFill>
                  </a:tcPr>
                </a:tc>
                <a:tc>
                  <a:txBody>
                    <a:bodyPr/>
                    <a:lstStyle/>
                    <a:p>
                      <a:pPr algn="ctr">
                        <a:defRPr sz="1300">
                          <a:solidFill>
                            <a:srgbClr val="333333"/>
                          </a:solidFill>
                          <a:latin typeface="Calibri"/>
                        </a:defRPr>
                      </a:pPr>
                      <a:r>
                        <a:t>2.72</a:t>
                      </a:r>
                    </a:p>
                  </a:txBody>
                  <a:tcPr anchor="ctr">
                    <a:solidFill>
                      <a:srgbClr val="F2F2F2"/>
                    </a:solidFill>
                  </a:tcPr>
                </a:tc>
                <a:extLst>
                  <a:ext uri="{0D108BD9-81ED-4DB2-BD59-A6C34878D82A}">
                    <a16:rowId xmlns:a16="http://schemas.microsoft.com/office/drawing/2014/main" val="10001"/>
                  </a:ext>
                </a:extLst>
              </a:tr>
              <a:tr h="391885">
                <a:tc>
                  <a:txBody>
                    <a:bodyPr/>
                    <a:lstStyle/>
                    <a:p>
                      <a:pPr algn="l">
                        <a:defRPr sz="1300">
                          <a:solidFill>
                            <a:srgbClr val="333333"/>
                          </a:solidFill>
                          <a:latin typeface="Calibri"/>
                        </a:defRPr>
                      </a:pPr>
                      <a:r>
                        <a:t>AdmGrade_Low, CU1_Low</a:t>
                      </a:r>
                    </a:p>
                  </a:txBody>
                  <a:tcPr anchor="ctr">
                    <a:solidFill>
                      <a:srgbClr val="FFFFFF"/>
                    </a:solidFill>
                  </a:tcPr>
                </a:tc>
                <a:tc>
                  <a:txBody>
                    <a:bodyPr/>
                    <a:lstStyle/>
                    <a:p>
                      <a:pPr algn="ctr">
                        <a:defRPr sz="1300">
                          <a:solidFill>
                            <a:srgbClr val="333333"/>
                          </a:solidFill>
                          <a:latin typeface="Calibri"/>
                        </a:defRPr>
                      </a:pPr>
                      <a:r>
                        <a:t>Target_Dropout</a:t>
                      </a:r>
                    </a:p>
                  </a:txBody>
                  <a:tcPr anchor="ctr">
                    <a:solidFill>
                      <a:srgbClr val="FFFFFF"/>
                    </a:solidFill>
                  </a:tcPr>
                </a:tc>
                <a:tc>
                  <a:txBody>
                    <a:bodyPr/>
                    <a:lstStyle/>
                    <a:p>
                      <a:pPr algn="ctr">
                        <a:defRPr sz="1300">
                          <a:solidFill>
                            <a:srgbClr val="333333"/>
                          </a:solidFill>
                          <a:latin typeface="Calibri"/>
                        </a:defRPr>
                      </a:pPr>
                      <a:r>
                        <a:t>0.069</a:t>
                      </a:r>
                    </a:p>
                  </a:txBody>
                  <a:tcPr anchor="ctr">
                    <a:solidFill>
                      <a:srgbClr val="FFFFFF"/>
                    </a:solidFill>
                  </a:tcPr>
                </a:tc>
                <a:tc>
                  <a:txBody>
                    <a:bodyPr/>
                    <a:lstStyle/>
                    <a:p>
                      <a:pPr algn="ctr">
                        <a:defRPr sz="1300">
                          <a:solidFill>
                            <a:srgbClr val="333333"/>
                          </a:solidFill>
                          <a:latin typeface="Calibri"/>
                        </a:defRPr>
                      </a:pPr>
                      <a:r>
                        <a:t>0.860</a:t>
                      </a:r>
                    </a:p>
                  </a:txBody>
                  <a:tcPr anchor="ctr">
                    <a:solidFill>
                      <a:srgbClr val="FFFFFF"/>
                    </a:solidFill>
                  </a:tcPr>
                </a:tc>
                <a:tc>
                  <a:txBody>
                    <a:bodyPr/>
                    <a:lstStyle/>
                    <a:p>
                      <a:pPr algn="ctr">
                        <a:defRPr sz="1300">
                          <a:solidFill>
                            <a:srgbClr val="333333"/>
                          </a:solidFill>
                          <a:latin typeface="Calibri"/>
                        </a:defRPr>
                      </a:pPr>
                      <a:r>
                        <a:t>2.68</a:t>
                      </a:r>
                    </a:p>
                  </a:txBody>
                  <a:tcPr anchor="ctr">
                    <a:solidFill>
                      <a:srgbClr val="FFFFFF"/>
                    </a:solidFill>
                  </a:tcPr>
                </a:tc>
                <a:extLst>
                  <a:ext uri="{0D108BD9-81ED-4DB2-BD59-A6C34878D82A}">
                    <a16:rowId xmlns:a16="http://schemas.microsoft.com/office/drawing/2014/main" val="10002"/>
                  </a:ext>
                </a:extLst>
              </a:tr>
              <a:tr h="391885">
                <a:tc>
                  <a:txBody>
                    <a:bodyPr/>
                    <a:lstStyle/>
                    <a:p>
                      <a:pPr algn="l">
                        <a:defRPr sz="1300">
                          <a:solidFill>
                            <a:srgbClr val="333333"/>
                          </a:solidFill>
                          <a:latin typeface="Calibri"/>
                        </a:defRPr>
                      </a:pPr>
                      <a:r>
                        <a:t>CU1_Low</a:t>
                      </a:r>
                    </a:p>
                  </a:txBody>
                  <a:tcPr anchor="ctr">
                    <a:solidFill>
                      <a:srgbClr val="F2F2F2"/>
                    </a:solidFill>
                  </a:tcPr>
                </a:tc>
                <a:tc>
                  <a:txBody>
                    <a:bodyPr/>
                    <a:lstStyle/>
                    <a:p>
                      <a:pPr algn="ctr">
                        <a:defRPr sz="1300">
                          <a:solidFill>
                            <a:srgbClr val="333333"/>
                          </a:solidFill>
                          <a:latin typeface="Calibri"/>
                        </a:defRPr>
                      </a:pPr>
                      <a:r>
                        <a:t>Target_Dropout</a:t>
                      </a:r>
                    </a:p>
                  </a:txBody>
                  <a:tcPr anchor="ctr">
                    <a:solidFill>
                      <a:srgbClr val="F2F2F2"/>
                    </a:solidFill>
                  </a:tcPr>
                </a:tc>
                <a:tc>
                  <a:txBody>
                    <a:bodyPr/>
                    <a:lstStyle/>
                    <a:p>
                      <a:pPr algn="ctr">
                        <a:defRPr sz="1300">
                          <a:solidFill>
                            <a:srgbClr val="333333"/>
                          </a:solidFill>
                          <a:latin typeface="Calibri"/>
                        </a:defRPr>
                      </a:pPr>
                      <a:r>
                        <a:t>0.175</a:t>
                      </a:r>
                    </a:p>
                  </a:txBody>
                  <a:tcPr anchor="ctr">
                    <a:solidFill>
                      <a:srgbClr val="F2F2F2"/>
                    </a:solidFill>
                  </a:tcPr>
                </a:tc>
                <a:tc>
                  <a:txBody>
                    <a:bodyPr/>
                    <a:lstStyle/>
                    <a:p>
                      <a:pPr algn="ctr">
                        <a:defRPr sz="1300">
                          <a:solidFill>
                            <a:srgbClr val="333333"/>
                          </a:solidFill>
                          <a:latin typeface="Calibri"/>
                        </a:defRPr>
                      </a:pPr>
                      <a:r>
                        <a:t>0.771</a:t>
                      </a:r>
                    </a:p>
                  </a:txBody>
                  <a:tcPr anchor="ctr">
                    <a:solidFill>
                      <a:srgbClr val="F2F2F2"/>
                    </a:solidFill>
                  </a:tcPr>
                </a:tc>
                <a:tc>
                  <a:txBody>
                    <a:bodyPr/>
                    <a:lstStyle/>
                    <a:p>
                      <a:pPr algn="ctr">
                        <a:defRPr sz="1300">
                          <a:solidFill>
                            <a:srgbClr val="333333"/>
                          </a:solidFill>
                          <a:latin typeface="Calibri"/>
                        </a:defRPr>
                      </a:pPr>
                      <a:r>
                        <a:t>2.40</a:t>
                      </a:r>
                    </a:p>
                  </a:txBody>
                  <a:tcPr anchor="ctr">
                    <a:solidFill>
                      <a:srgbClr val="F2F2F2"/>
                    </a:solidFill>
                  </a:tcPr>
                </a:tc>
                <a:extLst>
                  <a:ext uri="{0D108BD9-81ED-4DB2-BD59-A6C34878D82A}">
                    <a16:rowId xmlns:a16="http://schemas.microsoft.com/office/drawing/2014/main" val="10003"/>
                  </a:ext>
                </a:extLst>
              </a:tr>
              <a:tr h="391885">
                <a:tc>
                  <a:txBody>
                    <a:bodyPr/>
                    <a:lstStyle/>
                    <a:p>
                      <a:pPr algn="l">
                        <a:defRPr sz="1300">
                          <a:solidFill>
                            <a:srgbClr val="333333"/>
                          </a:solidFill>
                          <a:latin typeface="Calibri"/>
                        </a:defRPr>
                      </a:pPr>
                      <a:r>
                        <a:t>CU1_Low, AdmGrade_Med</a:t>
                      </a:r>
                    </a:p>
                  </a:txBody>
                  <a:tcPr anchor="ctr">
                    <a:solidFill>
                      <a:srgbClr val="FFFFFF"/>
                    </a:solidFill>
                  </a:tcPr>
                </a:tc>
                <a:tc>
                  <a:txBody>
                    <a:bodyPr/>
                    <a:lstStyle/>
                    <a:p>
                      <a:pPr algn="ctr">
                        <a:defRPr sz="1300">
                          <a:solidFill>
                            <a:srgbClr val="333333"/>
                          </a:solidFill>
                          <a:latin typeface="Calibri"/>
                        </a:defRPr>
                      </a:pPr>
                      <a:r>
                        <a:t>Target_Dropout</a:t>
                      </a:r>
                    </a:p>
                  </a:txBody>
                  <a:tcPr anchor="ctr">
                    <a:solidFill>
                      <a:srgbClr val="FFFFFF"/>
                    </a:solidFill>
                  </a:tcPr>
                </a:tc>
                <a:tc>
                  <a:txBody>
                    <a:bodyPr/>
                    <a:lstStyle/>
                    <a:p>
                      <a:pPr algn="ctr">
                        <a:defRPr sz="1300">
                          <a:solidFill>
                            <a:srgbClr val="333333"/>
                          </a:solidFill>
                          <a:latin typeface="Calibri"/>
                        </a:defRPr>
                      </a:pPr>
                      <a:r>
                        <a:t>0.084</a:t>
                      </a:r>
                    </a:p>
                  </a:txBody>
                  <a:tcPr anchor="ctr">
                    <a:solidFill>
                      <a:srgbClr val="FFFFFF"/>
                    </a:solidFill>
                  </a:tcPr>
                </a:tc>
                <a:tc>
                  <a:txBody>
                    <a:bodyPr/>
                    <a:lstStyle/>
                    <a:p>
                      <a:pPr algn="ctr">
                        <a:defRPr sz="1300">
                          <a:solidFill>
                            <a:srgbClr val="333333"/>
                          </a:solidFill>
                          <a:latin typeface="Calibri"/>
                        </a:defRPr>
                      </a:pPr>
                      <a:r>
                        <a:t>0.764</a:t>
                      </a:r>
                    </a:p>
                  </a:txBody>
                  <a:tcPr anchor="ctr">
                    <a:solidFill>
                      <a:srgbClr val="FFFFFF"/>
                    </a:solidFill>
                  </a:tcPr>
                </a:tc>
                <a:tc>
                  <a:txBody>
                    <a:bodyPr/>
                    <a:lstStyle/>
                    <a:p>
                      <a:pPr algn="ctr">
                        <a:defRPr sz="1300">
                          <a:solidFill>
                            <a:srgbClr val="333333"/>
                          </a:solidFill>
                          <a:latin typeface="Calibri"/>
                        </a:defRPr>
                      </a:pPr>
                      <a:r>
                        <a:t>2.38</a:t>
                      </a:r>
                    </a:p>
                  </a:txBody>
                  <a:tcPr anchor="ctr">
                    <a:solidFill>
                      <a:srgbClr val="FFFFFF"/>
                    </a:solidFill>
                  </a:tcPr>
                </a:tc>
                <a:extLst>
                  <a:ext uri="{0D108BD9-81ED-4DB2-BD59-A6C34878D82A}">
                    <a16:rowId xmlns:a16="http://schemas.microsoft.com/office/drawing/2014/main" val="10004"/>
                  </a:ext>
                </a:extLst>
              </a:tr>
              <a:tr h="391885">
                <a:tc>
                  <a:txBody>
                    <a:bodyPr/>
                    <a:lstStyle/>
                    <a:p>
                      <a:pPr algn="l">
                        <a:defRPr sz="1300">
                          <a:solidFill>
                            <a:srgbClr val="333333"/>
                          </a:solidFill>
                          <a:latin typeface="Calibri"/>
                        </a:defRPr>
                      </a:pPr>
                      <a:r>
                        <a:t>TuitionUpToDate, CU1_Low</a:t>
                      </a:r>
                    </a:p>
                  </a:txBody>
                  <a:tcPr anchor="ctr">
                    <a:solidFill>
                      <a:srgbClr val="F2F2F2"/>
                    </a:solidFill>
                  </a:tcPr>
                </a:tc>
                <a:tc>
                  <a:txBody>
                    <a:bodyPr/>
                    <a:lstStyle/>
                    <a:p>
                      <a:pPr algn="ctr">
                        <a:defRPr sz="1300">
                          <a:solidFill>
                            <a:srgbClr val="333333"/>
                          </a:solidFill>
                          <a:latin typeface="Calibri"/>
                        </a:defRPr>
                      </a:pPr>
                      <a:r>
                        <a:t>Target_Dropout</a:t>
                      </a:r>
                    </a:p>
                  </a:txBody>
                  <a:tcPr anchor="ctr">
                    <a:solidFill>
                      <a:srgbClr val="F2F2F2"/>
                    </a:solidFill>
                  </a:tcPr>
                </a:tc>
                <a:tc>
                  <a:txBody>
                    <a:bodyPr/>
                    <a:lstStyle/>
                    <a:p>
                      <a:pPr algn="ctr">
                        <a:defRPr sz="1300">
                          <a:solidFill>
                            <a:srgbClr val="333333"/>
                          </a:solidFill>
                          <a:latin typeface="Calibri"/>
                        </a:defRPr>
                      </a:pPr>
                      <a:r>
                        <a:t>0.115</a:t>
                      </a:r>
                    </a:p>
                  </a:txBody>
                  <a:tcPr anchor="ctr">
                    <a:solidFill>
                      <a:srgbClr val="F2F2F2"/>
                    </a:solidFill>
                  </a:tcPr>
                </a:tc>
                <a:tc>
                  <a:txBody>
                    <a:bodyPr/>
                    <a:lstStyle/>
                    <a:p>
                      <a:pPr algn="ctr">
                        <a:defRPr sz="1300">
                          <a:solidFill>
                            <a:srgbClr val="333333"/>
                          </a:solidFill>
                          <a:latin typeface="Calibri"/>
                        </a:defRPr>
                      </a:pPr>
                      <a:r>
                        <a:t>0.696</a:t>
                      </a:r>
                    </a:p>
                  </a:txBody>
                  <a:tcPr anchor="ctr">
                    <a:solidFill>
                      <a:srgbClr val="F2F2F2"/>
                    </a:solidFill>
                  </a:tcPr>
                </a:tc>
                <a:tc>
                  <a:txBody>
                    <a:bodyPr/>
                    <a:lstStyle/>
                    <a:p>
                      <a:pPr algn="ctr">
                        <a:defRPr sz="1300">
                          <a:solidFill>
                            <a:srgbClr val="333333"/>
                          </a:solidFill>
                          <a:latin typeface="Calibri"/>
                        </a:defRPr>
                      </a:pPr>
                      <a:r>
                        <a:t>2.17</a:t>
                      </a:r>
                    </a:p>
                  </a:txBody>
                  <a:tcPr anchor="ctr">
                    <a:solidFill>
                      <a:srgbClr val="F2F2F2"/>
                    </a:solidFill>
                  </a:tcPr>
                </a:tc>
                <a:extLst>
                  <a:ext uri="{0D108BD9-81ED-4DB2-BD59-A6C34878D82A}">
                    <a16:rowId xmlns:a16="http://schemas.microsoft.com/office/drawing/2014/main" val="10005"/>
                  </a:ext>
                </a:extLst>
              </a:tr>
              <a:tr h="391890">
                <a:tc>
                  <a:txBody>
                    <a:bodyPr/>
                    <a:lstStyle/>
                    <a:p>
                      <a:pPr algn="l">
                        <a:defRPr sz="1300">
                          <a:solidFill>
                            <a:srgbClr val="333333"/>
                          </a:solidFill>
                          <a:latin typeface="Calibri"/>
                        </a:defRPr>
                      </a:pPr>
                      <a:r>
                        <a:t>TuitionUpToDate, CU1_High, Scholarship, AdmGrade_Med</a:t>
                      </a:r>
                    </a:p>
                  </a:txBody>
                  <a:tcPr anchor="ctr">
                    <a:solidFill>
                      <a:srgbClr val="FFFFFF"/>
                    </a:solidFill>
                  </a:tcPr>
                </a:tc>
                <a:tc>
                  <a:txBody>
                    <a:bodyPr/>
                    <a:lstStyle/>
                    <a:p>
                      <a:pPr algn="ctr">
                        <a:defRPr sz="1300">
                          <a:solidFill>
                            <a:srgbClr val="333333"/>
                          </a:solidFill>
                          <a:latin typeface="Calibri"/>
                        </a:defRPr>
                      </a:pPr>
                      <a:r>
                        <a:t>Age_Young, Target_Graduate</a:t>
                      </a:r>
                    </a:p>
                  </a:txBody>
                  <a:tcPr anchor="ctr">
                    <a:solidFill>
                      <a:srgbClr val="FFFFFF"/>
                    </a:solidFill>
                  </a:tcPr>
                </a:tc>
                <a:tc>
                  <a:txBody>
                    <a:bodyPr/>
                    <a:lstStyle/>
                    <a:p>
                      <a:pPr algn="ctr">
                        <a:defRPr sz="1300">
                          <a:solidFill>
                            <a:srgbClr val="333333"/>
                          </a:solidFill>
                          <a:latin typeface="Calibri"/>
                        </a:defRPr>
                      </a:pPr>
                      <a:r>
                        <a:t>0.078</a:t>
                      </a:r>
                    </a:p>
                  </a:txBody>
                  <a:tcPr anchor="ctr">
                    <a:solidFill>
                      <a:srgbClr val="FFFFFF"/>
                    </a:solidFill>
                  </a:tcPr>
                </a:tc>
                <a:tc>
                  <a:txBody>
                    <a:bodyPr/>
                    <a:lstStyle/>
                    <a:p>
                      <a:pPr algn="ctr">
                        <a:defRPr sz="1300">
                          <a:solidFill>
                            <a:srgbClr val="333333"/>
                          </a:solidFill>
                          <a:latin typeface="Calibri"/>
                        </a:defRPr>
                      </a:pPr>
                      <a:r>
                        <a:t>0.801</a:t>
                      </a:r>
                    </a:p>
                  </a:txBody>
                  <a:tcPr anchor="ctr">
                    <a:solidFill>
                      <a:srgbClr val="FFFFFF"/>
                    </a:solidFill>
                  </a:tcPr>
                </a:tc>
                <a:tc>
                  <a:txBody>
                    <a:bodyPr/>
                    <a:lstStyle/>
                    <a:p>
                      <a:pPr algn="ctr">
                        <a:defRPr sz="1300">
                          <a:solidFill>
                            <a:srgbClr val="333333"/>
                          </a:solidFill>
                          <a:latin typeface="Calibri"/>
                        </a:defRPr>
                      </a:pPr>
                      <a:r>
                        <a:t>2.09</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548640" y="5852160"/>
            <a:ext cx="11064240" cy="54864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400" b="1">
                <a:solidFill>
                  <a:srgbClr val="FFFFFF"/>
                </a:solidFill>
                <a:latin typeface="Calibri"/>
              </a:defRPr>
            </a:pPr>
            <a:r>
              <a:t>Top finding: Low 1st-semester approved units + Mid age → Dropout (confidence = 87.4%, lift = 2.72)</a:t>
            </a:r>
          </a:p>
        </p:txBody>
      </p:sp>
      <p:sp>
        <p:nvSpPr>
          <p:cNvPr id="6" name="TextBox 5"/>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14 / 19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Model Comparison — Results Summary</a:t>
            </a:r>
          </a:p>
        </p:txBody>
      </p:sp>
      <p:graphicFrame>
        <p:nvGraphicFramePr>
          <p:cNvPr id="3" name="Table 2"/>
          <p:cNvGraphicFramePr>
            <a:graphicFrameLocks noGrp="1"/>
          </p:cNvGraphicFramePr>
          <p:nvPr/>
        </p:nvGraphicFramePr>
        <p:xfrm>
          <a:off x="457200" y="1280160"/>
          <a:ext cx="6858000" cy="349649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96388">
                <a:tc>
                  <a:txBody>
                    <a:bodyPr/>
                    <a:lstStyle/>
                    <a:p>
                      <a:pPr algn="ctr">
                        <a:defRPr sz="1400" b="1">
                          <a:solidFill>
                            <a:srgbClr val="FFFFFF"/>
                          </a:solidFill>
                          <a:latin typeface="Calibri"/>
                        </a:defRPr>
                      </a:pPr>
                      <a:r>
                        <a:t>Model</a:t>
                      </a:r>
                    </a:p>
                  </a:txBody>
                  <a:tcPr anchor="ctr">
                    <a:solidFill>
                      <a:srgbClr val="1B3A5C"/>
                    </a:solidFill>
                  </a:tcPr>
                </a:tc>
                <a:tc>
                  <a:txBody>
                    <a:bodyPr/>
                    <a:lstStyle/>
                    <a:p>
                      <a:pPr algn="ctr">
                        <a:defRPr sz="1400" b="1">
                          <a:solidFill>
                            <a:srgbClr val="FFFFFF"/>
                          </a:solidFill>
                          <a:latin typeface="Calibri"/>
                        </a:defRPr>
                      </a:pPr>
                      <a:r>
                        <a:t>Accuracy</a:t>
                      </a:r>
                    </a:p>
                  </a:txBody>
                  <a:tcPr anchor="ctr">
                    <a:solidFill>
                      <a:srgbClr val="1B3A5C"/>
                    </a:solidFill>
                  </a:tcPr>
                </a:tc>
                <a:tc>
                  <a:txBody>
                    <a:bodyPr/>
                    <a:lstStyle/>
                    <a:p>
                      <a:pPr algn="ctr">
                        <a:defRPr sz="1400" b="1">
                          <a:solidFill>
                            <a:srgbClr val="FFFFFF"/>
                          </a:solidFill>
                          <a:latin typeface="Calibri"/>
                        </a:defRPr>
                      </a:pPr>
                      <a:r>
                        <a:t>F1 (Macro)</a:t>
                      </a:r>
                    </a:p>
                  </a:txBody>
                  <a:tcPr anchor="ctr">
                    <a:solidFill>
                      <a:srgbClr val="1B3A5C"/>
                    </a:solidFill>
                  </a:tcPr>
                </a:tc>
                <a:tc>
                  <a:txBody>
                    <a:bodyPr/>
                    <a:lstStyle/>
                    <a:p>
                      <a:pPr algn="ctr">
                        <a:defRPr sz="1400" b="1">
                          <a:solidFill>
                            <a:srgbClr val="FFFFFF"/>
                          </a:solidFill>
                          <a:latin typeface="Calibri"/>
                        </a:defRPr>
                      </a:pPr>
                      <a:r>
                        <a:t>F1 (Weighted)</a:t>
                      </a:r>
                    </a:p>
                  </a:txBody>
                  <a:tcPr anchor="ctr">
                    <a:solidFill>
                      <a:srgbClr val="1B3A5C"/>
                    </a:solidFill>
                  </a:tcPr>
                </a:tc>
                <a:tc>
                  <a:txBody>
                    <a:bodyPr/>
                    <a:lstStyle/>
                    <a:p>
                      <a:pPr algn="ctr">
                        <a:defRPr sz="1400" b="1">
                          <a:solidFill>
                            <a:srgbClr val="FFFFFF"/>
                          </a:solidFill>
                          <a:latin typeface="Calibri"/>
                        </a:defRPr>
                      </a:pPr>
                      <a:r>
                        <a:t>CV F1 Mean ± Std</a:t>
                      </a:r>
                    </a:p>
                  </a:txBody>
                  <a:tcPr anchor="ctr">
                    <a:solidFill>
                      <a:srgbClr val="1B3A5C"/>
                    </a:solidFill>
                  </a:tcPr>
                </a:tc>
                <a:extLst>
                  <a:ext uri="{0D108BD9-81ED-4DB2-BD59-A6C34878D82A}">
                    <a16:rowId xmlns:a16="http://schemas.microsoft.com/office/drawing/2014/main" val="10000"/>
                  </a:ext>
                </a:extLst>
              </a:tr>
              <a:tr h="496388">
                <a:tc>
                  <a:txBody>
                    <a:bodyPr/>
                    <a:lstStyle/>
                    <a:p>
                      <a:pPr algn="l">
                        <a:defRPr sz="1300" b="1">
                          <a:solidFill>
                            <a:srgbClr val="1D9E75"/>
                          </a:solidFill>
                          <a:latin typeface="Calibri"/>
                        </a:defRPr>
                      </a:pPr>
                      <a:r>
                        <a:t>XGBoost</a:t>
                      </a:r>
                    </a:p>
                  </a:txBody>
                  <a:tcPr anchor="ctr">
                    <a:solidFill>
                      <a:srgbClr val="F2F2F2"/>
                    </a:solidFill>
                  </a:tcPr>
                </a:tc>
                <a:tc>
                  <a:txBody>
                    <a:bodyPr/>
                    <a:lstStyle/>
                    <a:p>
                      <a:pPr algn="ctr">
                        <a:defRPr sz="1300" b="1">
                          <a:solidFill>
                            <a:srgbClr val="1D9E75"/>
                          </a:solidFill>
                          <a:latin typeface="Calibri"/>
                        </a:defRPr>
                      </a:pPr>
                      <a:r>
                        <a:t>77.0%</a:t>
                      </a:r>
                    </a:p>
                  </a:txBody>
                  <a:tcPr anchor="ctr">
                    <a:solidFill>
                      <a:srgbClr val="F2F2F2"/>
                    </a:solidFill>
                  </a:tcPr>
                </a:tc>
                <a:tc>
                  <a:txBody>
                    <a:bodyPr/>
                    <a:lstStyle/>
                    <a:p>
                      <a:pPr algn="ctr">
                        <a:defRPr sz="1300" b="1">
                          <a:solidFill>
                            <a:srgbClr val="1D9E75"/>
                          </a:solidFill>
                          <a:latin typeface="Calibri"/>
                        </a:defRPr>
                      </a:pPr>
                      <a:r>
                        <a:t>0.7056</a:t>
                      </a:r>
                    </a:p>
                  </a:txBody>
                  <a:tcPr anchor="ctr">
                    <a:solidFill>
                      <a:srgbClr val="F2F2F2"/>
                    </a:solidFill>
                  </a:tcPr>
                </a:tc>
                <a:tc>
                  <a:txBody>
                    <a:bodyPr/>
                    <a:lstStyle/>
                    <a:p>
                      <a:pPr algn="ctr">
                        <a:defRPr sz="1300" b="1">
                          <a:solidFill>
                            <a:srgbClr val="1D9E75"/>
                          </a:solidFill>
                          <a:latin typeface="Calibri"/>
                        </a:defRPr>
                      </a:pPr>
                      <a:r>
                        <a:t>0.7634</a:t>
                      </a:r>
                    </a:p>
                  </a:txBody>
                  <a:tcPr anchor="ctr">
                    <a:solidFill>
                      <a:srgbClr val="F2F2F2"/>
                    </a:solidFill>
                  </a:tcPr>
                </a:tc>
                <a:tc>
                  <a:txBody>
                    <a:bodyPr/>
                    <a:lstStyle/>
                    <a:p>
                      <a:pPr algn="ctr">
                        <a:defRPr sz="1300" b="1">
                          <a:solidFill>
                            <a:srgbClr val="1D9E75"/>
                          </a:solidFill>
                          <a:latin typeface="Calibri"/>
                        </a:defRPr>
                      </a:pPr>
                      <a:r>
                        <a:t>0.7136 ± 0.0131</a:t>
                      </a:r>
                    </a:p>
                  </a:txBody>
                  <a:tcPr anchor="ctr">
                    <a:solidFill>
                      <a:srgbClr val="F2F2F2"/>
                    </a:solidFill>
                  </a:tcPr>
                </a:tc>
                <a:extLst>
                  <a:ext uri="{0D108BD9-81ED-4DB2-BD59-A6C34878D82A}">
                    <a16:rowId xmlns:a16="http://schemas.microsoft.com/office/drawing/2014/main" val="10001"/>
                  </a:ext>
                </a:extLst>
              </a:tr>
              <a:tr h="496388">
                <a:tc>
                  <a:txBody>
                    <a:bodyPr/>
                    <a:lstStyle/>
                    <a:p>
                      <a:pPr algn="l">
                        <a:defRPr sz="1300">
                          <a:solidFill>
                            <a:srgbClr val="333333"/>
                          </a:solidFill>
                          <a:latin typeface="Calibri"/>
                        </a:defRPr>
                      </a:pPr>
                      <a:r>
                        <a:t>Random Forest</a:t>
                      </a:r>
                    </a:p>
                  </a:txBody>
                  <a:tcPr anchor="ctr">
                    <a:solidFill>
                      <a:srgbClr val="FFFFFF"/>
                    </a:solidFill>
                  </a:tcPr>
                </a:tc>
                <a:tc>
                  <a:txBody>
                    <a:bodyPr/>
                    <a:lstStyle/>
                    <a:p>
                      <a:pPr algn="ctr">
                        <a:defRPr sz="1300" b="1">
                          <a:solidFill>
                            <a:srgbClr val="1D9E75"/>
                          </a:solidFill>
                          <a:latin typeface="Calibri"/>
                        </a:defRPr>
                      </a:pPr>
                      <a:r>
                        <a:t>77.1%</a:t>
                      </a:r>
                    </a:p>
                  </a:txBody>
                  <a:tcPr anchor="ctr">
                    <a:solidFill>
                      <a:srgbClr val="FFFFFF"/>
                    </a:solidFill>
                  </a:tcPr>
                </a:tc>
                <a:tc>
                  <a:txBody>
                    <a:bodyPr/>
                    <a:lstStyle/>
                    <a:p>
                      <a:pPr algn="ctr">
                        <a:defRPr sz="1300">
                          <a:solidFill>
                            <a:srgbClr val="333333"/>
                          </a:solidFill>
                          <a:latin typeface="Calibri"/>
                        </a:defRPr>
                      </a:pPr>
                      <a:r>
                        <a:t>0.6887</a:t>
                      </a:r>
                    </a:p>
                  </a:txBody>
                  <a:tcPr anchor="ctr">
                    <a:solidFill>
                      <a:srgbClr val="FFFFFF"/>
                    </a:solidFill>
                  </a:tcPr>
                </a:tc>
                <a:tc>
                  <a:txBody>
                    <a:bodyPr/>
                    <a:lstStyle/>
                    <a:p>
                      <a:pPr algn="ctr">
                        <a:defRPr sz="1300">
                          <a:solidFill>
                            <a:srgbClr val="333333"/>
                          </a:solidFill>
                          <a:latin typeface="Calibri"/>
                        </a:defRPr>
                      </a:pPr>
                      <a:r>
                        <a:t>0.7548</a:t>
                      </a:r>
                    </a:p>
                  </a:txBody>
                  <a:tcPr anchor="ctr">
                    <a:solidFill>
                      <a:srgbClr val="FFFFFF"/>
                    </a:solidFill>
                  </a:tcPr>
                </a:tc>
                <a:tc>
                  <a:txBody>
                    <a:bodyPr/>
                    <a:lstStyle/>
                    <a:p>
                      <a:pPr algn="ctr">
                        <a:defRPr sz="1300">
                          <a:solidFill>
                            <a:srgbClr val="333333"/>
                          </a:solidFill>
                          <a:latin typeface="Calibri"/>
                        </a:defRPr>
                      </a:pPr>
                      <a:r>
                        <a:t>0.6956 ± 0.0087</a:t>
                      </a:r>
                    </a:p>
                  </a:txBody>
                  <a:tcPr anchor="ctr">
                    <a:solidFill>
                      <a:srgbClr val="FFFFFF"/>
                    </a:solidFill>
                  </a:tcPr>
                </a:tc>
                <a:extLst>
                  <a:ext uri="{0D108BD9-81ED-4DB2-BD59-A6C34878D82A}">
                    <a16:rowId xmlns:a16="http://schemas.microsoft.com/office/drawing/2014/main" val="10002"/>
                  </a:ext>
                </a:extLst>
              </a:tr>
              <a:tr h="496388">
                <a:tc>
                  <a:txBody>
                    <a:bodyPr/>
                    <a:lstStyle/>
                    <a:p>
                      <a:pPr algn="l">
                        <a:defRPr sz="1300">
                          <a:solidFill>
                            <a:srgbClr val="333333"/>
                          </a:solidFill>
                          <a:latin typeface="Calibri"/>
                        </a:defRPr>
                      </a:pPr>
                      <a:r>
                        <a:t>Logistic Regression</a:t>
                      </a:r>
                    </a:p>
                  </a:txBody>
                  <a:tcPr anchor="ctr">
                    <a:solidFill>
                      <a:srgbClr val="F2F2F2"/>
                    </a:solidFill>
                  </a:tcPr>
                </a:tc>
                <a:tc>
                  <a:txBody>
                    <a:bodyPr/>
                    <a:lstStyle/>
                    <a:p>
                      <a:pPr algn="ctr">
                        <a:defRPr sz="1300">
                          <a:solidFill>
                            <a:srgbClr val="333333"/>
                          </a:solidFill>
                          <a:latin typeface="Calibri"/>
                        </a:defRPr>
                      </a:pPr>
                      <a:r>
                        <a:t>76.8%</a:t>
                      </a:r>
                    </a:p>
                  </a:txBody>
                  <a:tcPr anchor="ctr">
                    <a:solidFill>
                      <a:srgbClr val="F2F2F2"/>
                    </a:solidFill>
                  </a:tcPr>
                </a:tc>
                <a:tc>
                  <a:txBody>
                    <a:bodyPr/>
                    <a:lstStyle/>
                    <a:p>
                      <a:pPr algn="ctr">
                        <a:defRPr sz="1300">
                          <a:solidFill>
                            <a:srgbClr val="333333"/>
                          </a:solidFill>
                          <a:latin typeface="Calibri"/>
                        </a:defRPr>
                      </a:pPr>
                      <a:r>
                        <a:t>0.6826</a:t>
                      </a:r>
                    </a:p>
                  </a:txBody>
                  <a:tcPr anchor="ctr">
                    <a:solidFill>
                      <a:srgbClr val="F2F2F2"/>
                    </a:solidFill>
                  </a:tcPr>
                </a:tc>
                <a:tc>
                  <a:txBody>
                    <a:bodyPr/>
                    <a:lstStyle/>
                    <a:p>
                      <a:pPr algn="ctr">
                        <a:defRPr sz="1300">
                          <a:solidFill>
                            <a:srgbClr val="333333"/>
                          </a:solidFill>
                          <a:latin typeface="Calibri"/>
                        </a:defRPr>
                      </a:pPr>
                      <a:r>
                        <a:t>0.7531</a:t>
                      </a:r>
                    </a:p>
                  </a:txBody>
                  <a:tcPr anchor="ctr">
                    <a:solidFill>
                      <a:srgbClr val="F2F2F2"/>
                    </a:solidFill>
                  </a:tcPr>
                </a:tc>
                <a:tc>
                  <a:txBody>
                    <a:bodyPr/>
                    <a:lstStyle/>
                    <a:p>
                      <a:pPr algn="ctr">
                        <a:defRPr sz="1300">
                          <a:solidFill>
                            <a:srgbClr val="333333"/>
                          </a:solidFill>
                          <a:latin typeface="Calibri"/>
                        </a:defRPr>
                      </a:pPr>
                      <a:r>
                        <a:t>0.6782 ± 0.0089</a:t>
                      </a:r>
                    </a:p>
                  </a:txBody>
                  <a:tcPr anchor="ctr">
                    <a:solidFill>
                      <a:srgbClr val="F2F2F2"/>
                    </a:solidFill>
                  </a:tcPr>
                </a:tc>
                <a:extLst>
                  <a:ext uri="{0D108BD9-81ED-4DB2-BD59-A6C34878D82A}">
                    <a16:rowId xmlns:a16="http://schemas.microsoft.com/office/drawing/2014/main" val="10003"/>
                  </a:ext>
                </a:extLst>
              </a:tr>
              <a:tr h="496388">
                <a:tc>
                  <a:txBody>
                    <a:bodyPr/>
                    <a:lstStyle/>
                    <a:p>
                      <a:pPr algn="l">
                        <a:defRPr sz="1300">
                          <a:solidFill>
                            <a:srgbClr val="333333"/>
                          </a:solidFill>
                          <a:latin typeface="Calibri"/>
                        </a:defRPr>
                      </a:pPr>
                      <a:r>
                        <a:t>SVM</a:t>
                      </a:r>
                    </a:p>
                  </a:txBody>
                  <a:tcPr anchor="ctr">
                    <a:solidFill>
                      <a:srgbClr val="FFFFFF"/>
                    </a:solidFill>
                  </a:tcPr>
                </a:tc>
                <a:tc>
                  <a:txBody>
                    <a:bodyPr/>
                    <a:lstStyle/>
                    <a:p>
                      <a:pPr algn="ctr">
                        <a:defRPr sz="1300">
                          <a:solidFill>
                            <a:srgbClr val="333333"/>
                          </a:solidFill>
                          <a:latin typeface="Calibri"/>
                        </a:defRPr>
                      </a:pPr>
                      <a:r>
                        <a:t>75.9%</a:t>
                      </a:r>
                    </a:p>
                  </a:txBody>
                  <a:tcPr anchor="ctr">
                    <a:solidFill>
                      <a:srgbClr val="FFFFFF"/>
                    </a:solidFill>
                  </a:tcPr>
                </a:tc>
                <a:tc>
                  <a:txBody>
                    <a:bodyPr/>
                    <a:lstStyle/>
                    <a:p>
                      <a:pPr algn="ctr">
                        <a:defRPr sz="1300">
                          <a:solidFill>
                            <a:srgbClr val="333333"/>
                          </a:solidFill>
                          <a:latin typeface="Calibri"/>
                        </a:defRPr>
                      </a:pPr>
                      <a:r>
                        <a:t>0.6797</a:t>
                      </a:r>
                    </a:p>
                  </a:txBody>
                  <a:tcPr anchor="ctr">
                    <a:solidFill>
                      <a:srgbClr val="FFFFFF"/>
                    </a:solidFill>
                  </a:tcPr>
                </a:tc>
                <a:tc>
                  <a:txBody>
                    <a:bodyPr/>
                    <a:lstStyle/>
                    <a:p>
                      <a:pPr algn="ctr">
                        <a:defRPr sz="1300">
                          <a:solidFill>
                            <a:srgbClr val="333333"/>
                          </a:solidFill>
                          <a:latin typeface="Calibri"/>
                        </a:defRPr>
                      </a:pPr>
                      <a:r>
                        <a:t>0.7466</a:t>
                      </a:r>
                    </a:p>
                  </a:txBody>
                  <a:tcPr anchor="ctr">
                    <a:solidFill>
                      <a:srgbClr val="FFFFFF"/>
                    </a:solidFill>
                  </a:tcPr>
                </a:tc>
                <a:tc>
                  <a:txBody>
                    <a:bodyPr/>
                    <a:lstStyle/>
                    <a:p>
                      <a:pPr algn="ctr">
                        <a:defRPr sz="1300">
                          <a:solidFill>
                            <a:srgbClr val="333333"/>
                          </a:solidFill>
                          <a:latin typeface="Calibri"/>
                        </a:defRPr>
                      </a:pPr>
                      <a:r>
                        <a:t>0.6798 ± 0.0220</a:t>
                      </a:r>
                    </a:p>
                  </a:txBody>
                  <a:tcPr anchor="ctr">
                    <a:solidFill>
                      <a:srgbClr val="FFFFFF"/>
                    </a:solidFill>
                  </a:tcPr>
                </a:tc>
                <a:extLst>
                  <a:ext uri="{0D108BD9-81ED-4DB2-BD59-A6C34878D82A}">
                    <a16:rowId xmlns:a16="http://schemas.microsoft.com/office/drawing/2014/main" val="10004"/>
                  </a:ext>
                </a:extLst>
              </a:tr>
              <a:tr h="496388">
                <a:tc>
                  <a:txBody>
                    <a:bodyPr/>
                    <a:lstStyle/>
                    <a:p>
                      <a:pPr algn="l">
                        <a:defRPr sz="1300">
                          <a:solidFill>
                            <a:srgbClr val="333333"/>
                          </a:solidFill>
                          <a:latin typeface="Calibri"/>
                        </a:defRPr>
                      </a:pPr>
                      <a:r>
                        <a:t>Decision Tree</a:t>
                      </a:r>
                    </a:p>
                  </a:txBody>
                  <a:tcPr anchor="ctr">
                    <a:solidFill>
                      <a:srgbClr val="F2F2F2"/>
                    </a:solidFill>
                  </a:tcPr>
                </a:tc>
                <a:tc>
                  <a:txBody>
                    <a:bodyPr/>
                    <a:lstStyle/>
                    <a:p>
                      <a:pPr algn="ctr">
                        <a:defRPr sz="1300">
                          <a:solidFill>
                            <a:srgbClr val="333333"/>
                          </a:solidFill>
                          <a:latin typeface="Calibri"/>
                        </a:defRPr>
                      </a:pPr>
                      <a:r>
                        <a:t>71.2%</a:t>
                      </a:r>
                    </a:p>
                  </a:txBody>
                  <a:tcPr anchor="ctr">
                    <a:solidFill>
                      <a:srgbClr val="F2F2F2"/>
                    </a:solidFill>
                  </a:tcPr>
                </a:tc>
                <a:tc>
                  <a:txBody>
                    <a:bodyPr/>
                    <a:lstStyle/>
                    <a:p>
                      <a:pPr algn="ctr">
                        <a:defRPr sz="1300">
                          <a:solidFill>
                            <a:srgbClr val="333333"/>
                          </a:solidFill>
                          <a:latin typeface="Calibri"/>
                        </a:defRPr>
                      </a:pPr>
                      <a:r>
                        <a:t>0.6346</a:t>
                      </a:r>
                    </a:p>
                  </a:txBody>
                  <a:tcPr anchor="ctr">
                    <a:solidFill>
                      <a:srgbClr val="F2F2F2"/>
                    </a:solidFill>
                  </a:tcPr>
                </a:tc>
                <a:tc>
                  <a:txBody>
                    <a:bodyPr/>
                    <a:lstStyle/>
                    <a:p>
                      <a:pPr algn="ctr">
                        <a:defRPr sz="1300">
                          <a:solidFill>
                            <a:srgbClr val="333333"/>
                          </a:solidFill>
                          <a:latin typeface="Calibri"/>
                        </a:defRPr>
                      </a:pPr>
                      <a:r>
                        <a:t>0.7052</a:t>
                      </a:r>
                    </a:p>
                  </a:txBody>
                  <a:tcPr anchor="ctr">
                    <a:solidFill>
                      <a:srgbClr val="F2F2F2"/>
                    </a:solidFill>
                  </a:tcPr>
                </a:tc>
                <a:tc>
                  <a:txBody>
                    <a:bodyPr/>
                    <a:lstStyle/>
                    <a:p>
                      <a:pPr algn="ctr">
                        <a:defRPr sz="1300">
                          <a:solidFill>
                            <a:srgbClr val="333333"/>
                          </a:solidFill>
                          <a:latin typeface="Calibri"/>
                        </a:defRPr>
                      </a:pPr>
                      <a:r>
                        <a:t>0.6443 ± 0.0101</a:t>
                      </a:r>
                    </a:p>
                  </a:txBody>
                  <a:tcPr anchor="ctr">
                    <a:solidFill>
                      <a:srgbClr val="F2F2F2"/>
                    </a:solidFill>
                  </a:tcPr>
                </a:tc>
                <a:extLst>
                  <a:ext uri="{0D108BD9-81ED-4DB2-BD59-A6C34878D82A}">
                    <a16:rowId xmlns:a16="http://schemas.microsoft.com/office/drawing/2014/main" val="10005"/>
                  </a:ext>
                </a:extLst>
              </a:tr>
              <a:tr h="496392">
                <a:tc>
                  <a:txBody>
                    <a:bodyPr/>
                    <a:lstStyle/>
                    <a:p>
                      <a:pPr algn="l">
                        <a:defRPr sz="1300">
                          <a:solidFill>
                            <a:srgbClr val="333333"/>
                          </a:solidFill>
                          <a:latin typeface="Calibri"/>
                        </a:defRPr>
                      </a:pPr>
                      <a:r>
                        <a:t>KNN (k=11)</a:t>
                      </a:r>
                    </a:p>
                  </a:txBody>
                  <a:tcPr anchor="ctr">
                    <a:solidFill>
                      <a:srgbClr val="FFFFFF"/>
                    </a:solidFill>
                  </a:tcPr>
                </a:tc>
                <a:tc>
                  <a:txBody>
                    <a:bodyPr/>
                    <a:lstStyle/>
                    <a:p>
                      <a:pPr algn="ctr">
                        <a:defRPr sz="1300">
                          <a:solidFill>
                            <a:srgbClr val="333333"/>
                          </a:solidFill>
                          <a:latin typeface="Calibri"/>
                        </a:defRPr>
                      </a:pPr>
                      <a:r>
                        <a:t>69.5%</a:t>
                      </a:r>
                    </a:p>
                  </a:txBody>
                  <a:tcPr anchor="ctr">
                    <a:solidFill>
                      <a:srgbClr val="FFFFFF"/>
                    </a:solidFill>
                  </a:tcPr>
                </a:tc>
                <a:tc>
                  <a:txBody>
                    <a:bodyPr/>
                    <a:lstStyle/>
                    <a:p>
                      <a:pPr algn="ctr">
                        <a:defRPr sz="1300">
                          <a:solidFill>
                            <a:srgbClr val="333333"/>
                          </a:solidFill>
                          <a:latin typeface="Calibri"/>
                        </a:defRPr>
                      </a:pPr>
                      <a:r>
                        <a:t>0.5860</a:t>
                      </a:r>
                    </a:p>
                  </a:txBody>
                  <a:tcPr anchor="ctr">
                    <a:solidFill>
                      <a:srgbClr val="FFFFFF"/>
                    </a:solidFill>
                  </a:tcPr>
                </a:tc>
                <a:tc>
                  <a:txBody>
                    <a:bodyPr/>
                    <a:lstStyle/>
                    <a:p>
                      <a:pPr algn="ctr">
                        <a:defRPr sz="1300">
                          <a:solidFill>
                            <a:srgbClr val="333333"/>
                          </a:solidFill>
                          <a:latin typeface="Calibri"/>
                        </a:defRPr>
                      </a:pPr>
                      <a:r>
                        <a:t>0.6694</a:t>
                      </a:r>
                    </a:p>
                  </a:txBody>
                  <a:tcPr anchor="ctr">
                    <a:solidFill>
                      <a:srgbClr val="FFFFFF"/>
                    </a:solidFill>
                  </a:tcPr>
                </a:tc>
                <a:tc>
                  <a:txBody>
                    <a:bodyPr/>
                    <a:lstStyle/>
                    <a:p>
                      <a:pPr algn="ctr">
                        <a:defRPr sz="1300">
                          <a:solidFill>
                            <a:srgbClr val="333333"/>
                          </a:solidFill>
                          <a:latin typeface="Calibri"/>
                        </a:defRPr>
                      </a:pPr>
                      <a:r>
                        <a:t>0.6036 ± 0.0094</a:t>
                      </a:r>
                    </a:p>
                  </a:txBody>
                  <a:tcPr anchor="ctr">
                    <a:solidFill>
                      <a:srgbClr val="FFFFFF"/>
                    </a:solidFill>
                  </a:tcPr>
                </a:tc>
                <a:extLst>
                  <a:ext uri="{0D108BD9-81ED-4DB2-BD59-A6C34878D82A}">
                    <a16:rowId xmlns:a16="http://schemas.microsoft.com/office/drawing/2014/main" val="10006"/>
                  </a:ext>
                </a:extLst>
              </a:tr>
            </a:tbl>
          </a:graphicData>
        </a:graphic>
      </p:graphicFrame>
      <p:pic>
        <p:nvPicPr>
          <p:cNvPr id="4" name="Picture 3" descr="model_comparison.png"/>
          <p:cNvPicPr>
            <a:picLocks noChangeAspect="1"/>
          </p:cNvPicPr>
          <p:nvPr/>
        </p:nvPicPr>
        <p:blipFill>
          <a:blip r:embed="rId3"/>
          <a:stretch>
            <a:fillRect/>
          </a:stretch>
        </p:blipFill>
        <p:spPr>
          <a:xfrm>
            <a:off x="7589520" y="1280160"/>
            <a:ext cx="4206240" cy="3200400"/>
          </a:xfrm>
          <a:prstGeom prst="rect">
            <a:avLst/>
          </a:prstGeom>
        </p:spPr>
      </p:pic>
      <p:sp>
        <p:nvSpPr>
          <p:cNvPr id="5" name="Rounded Rectangle 4"/>
          <p:cNvSpPr/>
          <p:nvPr/>
        </p:nvSpPr>
        <p:spPr>
          <a:xfrm>
            <a:off x="548640" y="5303520"/>
            <a:ext cx="11064240" cy="91440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400" b="1">
                <a:solidFill>
                  <a:srgbClr val="FFFFFF"/>
                </a:solidFill>
                <a:latin typeface="Calibri"/>
              </a:defRPr>
            </a:pPr>
            <a:r>
              <a:t>XGBoost achieves the highest F1-macro (0.7056) with strong cross-validation (0.7136 ± 0.0131)</a:t>
            </a:r>
            <a:br/>
            <a:r>
              <a:t>Random Forest leads in accuracy (77.1%) with the most stable CV (± 0.0087)</a:t>
            </a:r>
          </a:p>
        </p:txBody>
      </p:sp>
      <p:sp>
        <p:nvSpPr>
          <p:cNvPr id="6" name="TextBox 5"/>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15 / 19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Feature Importance &amp; Key Findings</a:t>
            </a:r>
          </a:p>
        </p:txBody>
      </p:sp>
      <p:pic>
        <p:nvPicPr>
          <p:cNvPr id="3" name="Picture 2" descr="feature_importance.png"/>
          <p:cNvPicPr>
            <a:picLocks noChangeAspect="1"/>
          </p:cNvPicPr>
          <p:nvPr/>
        </p:nvPicPr>
        <p:blipFill>
          <a:blip r:embed="rId3"/>
          <a:stretch>
            <a:fillRect/>
          </a:stretch>
        </p:blipFill>
        <p:spPr>
          <a:xfrm>
            <a:off x="182880" y="1188720"/>
            <a:ext cx="7315200" cy="4114800"/>
          </a:xfrm>
          <a:prstGeom prst="rect">
            <a:avLst/>
          </a:prstGeom>
        </p:spPr>
      </p:pic>
      <p:sp>
        <p:nvSpPr>
          <p:cNvPr id="4" name="TextBox 3"/>
          <p:cNvSpPr txBox="1"/>
          <p:nvPr/>
        </p:nvSpPr>
        <p:spPr>
          <a:xfrm>
            <a:off x="7772400" y="1371600"/>
            <a:ext cx="3931920" cy="3200400"/>
          </a:xfrm>
          <a:prstGeom prst="rect">
            <a:avLst/>
          </a:prstGeom>
          <a:noFill/>
        </p:spPr>
        <p:txBody>
          <a:bodyPr wrap="square">
            <a:spAutoFit/>
          </a:bodyPr>
          <a:lstStyle/>
          <a:p>
            <a:pPr>
              <a:spcAft>
                <a:spcPts val="600"/>
              </a:spcAft>
              <a:defRPr sz="1500">
                <a:solidFill>
                  <a:srgbClr val="333333"/>
                </a:solidFill>
                <a:latin typeface="Calibri"/>
              </a:defRPr>
            </a:pPr>
            <a:r>
              <a:rPr sz="1500" b="1">
                <a:solidFill>
                  <a:srgbClr val="333333"/>
                </a:solidFill>
                <a:latin typeface="Calibri"/>
              </a:rPr>
              <a:t>#1:</a:t>
            </a:r>
            <a:r>
              <a:rPr sz="1500">
                <a:solidFill>
                  <a:srgbClr val="333333"/>
                </a:solidFill>
                <a:latin typeface="Calibri"/>
              </a:rPr>
              <a:t> Curricular units 2nd sem (approved)</a:t>
            </a:r>
          </a:p>
          <a:p>
            <a:pPr>
              <a:spcAft>
                <a:spcPts val="600"/>
              </a:spcAft>
              <a:defRPr sz="1500">
                <a:solidFill>
                  <a:srgbClr val="333333"/>
                </a:solidFill>
                <a:latin typeface="Calibri"/>
              </a:defRPr>
            </a:pPr>
            <a:r>
              <a:rPr sz="1500" b="1">
                <a:solidFill>
                  <a:srgbClr val="333333"/>
                </a:solidFill>
                <a:latin typeface="Calibri"/>
              </a:rPr>
              <a:t>#2:</a:t>
            </a:r>
            <a:r>
              <a:rPr sz="1500">
                <a:solidFill>
                  <a:srgbClr val="333333"/>
                </a:solidFill>
                <a:latin typeface="Calibri"/>
              </a:rPr>
              <a:t> Curricular units 2nd sem (grade)</a:t>
            </a:r>
          </a:p>
          <a:p>
            <a:pPr>
              <a:spcAft>
                <a:spcPts val="600"/>
              </a:spcAft>
              <a:defRPr sz="1500">
                <a:solidFill>
                  <a:srgbClr val="333333"/>
                </a:solidFill>
                <a:latin typeface="Calibri"/>
              </a:defRPr>
            </a:pPr>
            <a:r>
              <a:rPr sz="1500" b="1">
                <a:solidFill>
                  <a:srgbClr val="333333"/>
                </a:solidFill>
                <a:latin typeface="Calibri"/>
              </a:rPr>
              <a:t>#3:</a:t>
            </a:r>
            <a:r>
              <a:rPr sz="1500">
                <a:solidFill>
                  <a:srgbClr val="333333"/>
                </a:solidFill>
                <a:latin typeface="Calibri"/>
              </a:rPr>
              <a:t> Curricular units 1st sem (approved)</a:t>
            </a:r>
          </a:p>
          <a:p>
            <a:pPr>
              <a:spcAft>
                <a:spcPts val="600"/>
              </a:spcAft>
              <a:defRPr sz="1500">
                <a:solidFill>
                  <a:srgbClr val="333333"/>
                </a:solidFill>
                <a:latin typeface="Calibri"/>
              </a:defRPr>
            </a:pPr>
            <a:r>
              <a:rPr sz="1500" b="1">
                <a:solidFill>
                  <a:srgbClr val="333333"/>
                </a:solidFill>
                <a:latin typeface="Calibri"/>
              </a:rPr>
              <a:t>#4:</a:t>
            </a:r>
            <a:r>
              <a:rPr sz="1500">
                <a:solidFill>
                  <a:srgbClr val="333333"/>
                </a:solidFill>
                <a:latin typeface="Calibri"/>
              </a:rPr>
              <a:t> Tuition fees up to date</a:t>
            </a:r>
          </a:p>
          <a:p>
            <a:pPr>
              <a:spcAft>
                <a:spcPts val="600"/>
              </a:spcAft>
              <a:defRPr sz="1500">
                <a:solidFill>
                  <a:srgbClr val="333333"/>
                </a:solidFill>
                <a:latin typeface="Calibri"/>
              </a:defRPr>
            </a:pPr>
            <a:r>
              <a:rPr sz="1500" b="1">
                <a:solidFill>
                  <a:srgbClr val="333333"/>
                </a:solidFill>
                <a:latin typeface="Calibri"/>
              </a:rPr>
              <a:t>#5:</a:t>
            </a:r>
            <a:r>
              <a:rPr sz="1500">
                <a:solidFill>
                  <a:srgbClr val="333333"/>
                </a:solidFill>
                <a:latin typeface="Calibri"/>
              </a:rPr>
              <a:t> Age at enrollment</a:t>
            </a:r>
          </a:p>
        </p:txBody>
      </p:sp>
      <p:sp>
        <p:nvSpPr>
          <p:cNvPr id="5" name="Rounded Rectangle 4"/>
          <p:cNvSpPr/>
          <p:nvPr/>
        </p:nvSpPr>
        <p:spPr>
          <a:xfrm>
            <a:off x="7772400" y="4389120"/>
            <a:ext cx="3931920" cy="164592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400" b="1">
                <a:solidFill>
                  <a:srgbClr val="FFFFFF"/>
                </a:solidFill>
                <a:latin typeface="Calibri"/>
              </a:defRPr>
            </a:pPr>
            <a:r>
              <a:t>Both Random Forest and XGBoost</a:t>
            </a:r>
            <a:br/>
            <a:r>
              <a:t>agree: semester performance is</a:t>
            </a:r>
            <a:br/>
            <a:r>
              <a:t>the dominant predictor of</a:t>
            </a:r>
            <a:br/>
            <a:r>
              <a:t>student outcomes</a:t>
            </a:r>
          </a:p>
        </p:txBody>
      </p:sp>
      <p:sp>
        <p:nvSpPr>
          <p:cNvPr id="6" name="TextBox 5"/>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16 / 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Conclusions</a:t>
            </a:r>
          </a:p>
        </p:txBody>
      </p:sp>
      <p:sp>
        <p:nvSpPr>
          <p:cNvPr id="3" name="TextBox 2"/>
          <p:cNvSpPr txBox="1"/>
          <p:nvPr/>
        </p:nvSpPr>
        <p:spPr>
          <a:xfrm>
            <a:off x="548640" y="1371600"/>
            <a:ext cx="10972800" cy="3200400"/>
          </a:xfrm>
          <a:prstGeom prst="rect">
            <a:avLst/>
          </a:prstGeom>
          <a:noFill/>
        </p:spPr>
        <p:txBody>
          <a:bodyPr wrap="square">
            <a:spAutoFit/>
          </a:bodyPr>
          <a:lstStyle/>
          <a:p>
            <a:pPr>
              <a:spcAft>
                <a:spcPts val="600"/>
              </a:spcAft>
              <a:defRPr sz="1700">
                <a:solidFill>
                  <a:srgbClr val="333333"/>
                </a:solidFill>
                <a:latin typeface="Calibri"/>
              </a:defRPr>
            </a:pPr>
            <a:r>
              <a:t>XGBoost achieved the highest F1-macro of 0.7056, outperforming all other models including Random Forest (0.6887) and Logistic Regression (0.6826)</a:t>
            </a:r>
          </a:p>
          <a:p>
            <a:pPr>
              <a:spcAft>
                <a:spcPts val="600"/>
              </a:spcAft>
              <a:defRPr sz="1700">
                <a:solidFill>
                  <a:srgbClr val="333333"/>
                </a:solidFill>
                <a:latin typeface="Calibri"/>
              </a:defRPr>
            </a:pPr>
            <a:r>
              <a:t>1st and 2nd semester academic performance (approved units, grades) are the dominant predictors of student outcome</a:t>
            </a:r>
          </a:p>
          <a:p>
            <a:pPr>
              <a:spcAft>
                <a:spcPts val="600"/>
              </a:spcAft>
              <a:defRPr sz="1700">
                <a:solidFill>
                  <a:srgbClr val="333333"/>
                </a:solidFill>
                <a:latin typeface="Calibri"/>
              </a:defRPr>
            </a:pPr>
            <a:r>
              <a:t>Association rules reveal: students with ≤2 approved units in semester 1 have a 77% dropout probability (lift = 2.4×)</a:t>
            </a:r>
          </a:p>
          <a:p>
            <a:pPr>
              <a:spcAft>
                <a:spcPts val="600"/>
              </a:spcAft>
              <a:defRPr sz="1700">
                <a:solidFill>
                  <a:srgbClr val="333333"/>
                </a:solidFill>
                <a:latin typeface="Calibri"/>
              </a:defRPr>
            </a:pPr>
            <a:r>
              <a:t>K-Means clustering reveals natural risk profiles that partially align with outcome labels (silhouette = 0.21)</a:t>
            </a:r>
          </a:p>
        </p:txBody>
      </p:sp>
      <p:sp>
        <p:nvSpPr>
          <p:cNvPr id="4" name="Rounded Rectangle 3"/>
          <p:cNvSpPr/>
          <p:nvPr/>
        </p:nvSpPr>
        <p:spPr>
          <a:xfrm>
            <a:off x="914400" y="4572000"/>
            <a:ext cx="10332720" cy="914400"/>
          </a:xfrm>
          <a:prstGeom prst="round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700" b="1">
                <a:solidFill>
                  <a:srgbClr val="FFFFFF"/>
                </a:solidFill>
                <a:latin typeface="Calibri"/>
              </a:defRPr>
            </a:pPr>
            <a:r>
              <a:t>Recommendation: Universities should flag students with fewer than 3 approved units after semester 1 for immediate academic advising intervention</a:t>
            </a:r>
          </a:p>
        </p:txBody>
      </p:sp>
      <p:sp>
        <p:nvSpPr>
          <p:cNvPr id="5" name="TextBox 4"/>
          <p:cNvSpPr txBox="1"/>
          <p:nvPr/>
        </p:nvSpPr>
        <p:spPr>
          <a:xfrm>
            <a:off x="914400" y="5760720"/>
            <a:ext cx="10332720" cy="548640"/>
          </a:xfrm>
          <a:prstGeom prst="rect">
            <a:avLst/>
          </a:prstGeom>
          <a:noFill/>
        </p:spPr>
        <p:txBody>
          <a:bodyPr wrap="none">
            <a:spAutoFit/>
          </a:bodyPr>
          <a:lstStyle/>
          <a:p>
            <a:pPr algn="ctr">
              <a:defRPr sz="1600" i="1">
                <a:solidFill>
                  <a:srgbClr val="0055A2"/>
                </a:solidFill>
                <a:latin typeface="Calibri"/>
              </a:defRPr>
            </a:pPr>
            <a:r>
              <a:t>"Data mining techniques can reliably identify at-risk students early enough for meaningful intervention."</a:t>
            </a:r>
          </a:p>
        </p:txBody>
      </p:sp>
      <p:sp>
        <p:nvSpPr>
          <p:cNvPr id="6" name="TextBox 5"/>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17 / 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wrap="square" lIns="548640" tIns="137160" rtlCol="0" anchor="ctr"/>
          <a:lstStyle/>
          <a:p>
            <a:pPr algn="l">
              <a:defRPr sz="3000" b="1">
                <a:solidFill>
                  <a:srgbClr val="FFFFFF"/>
                </a:solidFill>
                <a:latin typeface="Calibri"/>
              </a:defRPr>
            </a:pPr>
            <a:r>
              <a:t>Future Work</a:t>
            </a:r>
          </a:p>
        </p:txBody>
      </p:sp>
      <p:sp>
        <p:nvSpPr>
          <p:cNvPr id="3" name="TextBox 2"/>
          <p:cNvSpPr txBox="1"/>
          <p:nvPr/>
        </p:nvSpPr>
        <p:spPr>
          <a:xfrm>
            <a:off x="548640" y="1371600"/>
            <a:ext cx="10972800" cy="4572000"/>
          </a:xfrm>
          <a:prstGeom prst="rect">
            <a:avLst/>
          </a:prstGeom>
          <a:noFill/>
        </p:spPr>
        <p:txBody>
          <a:bodyPr wrap="square">
            <a:spAutoFit/>
          </a:bodyPr>
          <a:lstStyle/>
          <a:p>
            <a:pPr>
              <a:spcAft>
                <a:spcPts val="600"/>
              </a:spcAft>
              <a:defRPr sz="1800">
                <a:solidFill>
                  <a:srgbClr val="333333"/>
                </a:solidFill>
                <a:latin typeface="Calibri"/>
              </a:defRPr>
            </a:pPr>
            <a:r>
              <a:rPr sz="1800" b="1">
                <a:solidFill>
                  <a:srgbClr val="333333"/>
                </a:solidFill>
                <a:latin typeface="Calibri"/>
              </a:rPr>
              <a:t>Real-time prediction:</a:t>
            </a:r>
            <a:r>
              <a:rPr sz="1800">
                <a:solidFill>
                  <a:srgbClr val="333333"/>
                </a:solidFill>
                <a:latin typeface="Calibri"/>
              </a:rPr>
              <a:t> Incorporate live semester data for dynamic risk scoring throughout the academic year</a:t>
            </a:r>
          </a:p>
          <a:p>
            <a:pPr>
              <a:spcAft>
                <a:spcPts val="600"/>
              </a:spcAft>
              <a:defRPr sz="1800">
                <a:solidFill>
                  <a:srgbClr val="333333"/>
                </a:solidFill>
                <a:latin typeface="Calibri"/>
              </a:defRPr>
            </a:pPr>
            <a:r>
              <a:rPr sz="1800" b="1">
                <a:solidFill>
                  <a:srgbClr val="333333"/>
                </a:solidFill>
                <a:latin typeface="Calibri"/>
              </a:rPr>
              <a:t>Deployment:</a:t>
            </a:r>
            <a:r>
              <a:rPr sz="1800">
                <a:solidFill>
                  <a:srgbClr val="333333"/>
                </a:solidFill>
                <a:latin typeface="Calibri"/>
              </a:rPr>
              <a:t> Build a web dashboard (Streamlit/Flask) for academic advisors to query student risk in real time</a:t>
            </a:r>
          </a:p>
          <a:p>
            <a:pPr>
              <a:spcAft>
                <a:spcPts val="600"/>
              </a:spcAft>
              <a:defRPr sz="1800">
                <a:solidFill>
                  <a:srgbClr val="333333"/>
                </a:solidFill>
                <a:latin typeface="Calibri"/>
              </a:defRPr>
            </a:pPr>
            <a:r>
              <a:rPr sz="1800" b="1">
                <a:solidFill>
                  <a:srgbClr val="333333"/>
                </a:solidFill>
                <a:latin typeface="Calibri"/>
              </a:rPr>
              <a:t>Multi-institution validation:</a:t>
            </a:r>
            <a:r>
              <a:rPr sz="1800">
                <a:solidFill>
                  <a:srgbClr val="333333"/>
                </a:solidFill>
                <a:latin typeface="Calibri"/>
              </a:rPr>
              <a:t> Test model generalizability across universities in different countries</a:t>
            </a:r>
          </a:p>
          <a:p>
            <a:pPr>
              <a:spcAft>
                <a:spcPts val="600"/>
              </a:spcAft>
              <a:defRPr sz="1800">
                <a:solidFill>
                  <a:srgbClr val="333333"/>
                </a:solidFill>
                <a:latin typeface="Calibri"/>
              </a:defRPr>
            </a:pPr>
            <a:r>
              <a:rPr sz="1800" b="1">
                <a:solidFill>
                  <a:srgbClr val="333333"/>
                </a:solidFill>
                <a:latin typeface="Calibri"/>
              </a:rPr>
              <a:t>Deep learning:</a:t>
            </a:r>
            <a:r>
              <a:rPr sz="1800">
                <a:solidFill>
                  <a:srgbClr val="333333"/>
                </a:solidFill>
                <a:latin typeface="Calibri"/>
              </a:rPr>
              <a:t> Explore neural network architectures (e.g., TabNet) for potential performance gains</a:t>
            </a:r>
          </a:p>
          <a:p>
            <a:pPr>
              <a:spcAft>
                <a:spcPts val="600"/>
              </a:spcAft>
              <a:defRPr sz="1800">
                <a:solidFill>
                  <a:srgbClr val="333333"/>
                </a:solidFill>
                <a:latin typeface="Calibri"/>
              </a:defRPr>
            </a:pPr>
            <a:r>
              <a:rPr sz="1800" b="1">
                <a:solidFill>
                  <a:srgbClr val="333333"/>
                </a:solidFill>
                <a:latin typeface="Calibri"/>
              </a:rPr>
              <a:t>Temporal modeling:</a:t>
            </a:r>
            <a:r>
              <a:rPr sz="1800">
                <a:solidFill>
                  <a:srgbClr val="333333"/>
                </a:solidFill>
                <a:latin typeface="Calibri"/>
              </a:rPr>
              <a:t> Apply sequence models to track how student risk evolves semester by semester</a:t>
            </a:r>
          </a:p>
        </p:txBody>
      </p:sp>
      <p:sp>
        <p:nvSpPr>
          <p:cNvPr id="4" name="TextBox 3"/>
          <p:cNvSpPr txBox="1"/>
          <p:nvPr/>
        </p:nvSpPr>
        <p:spPr>
          <a:xfrm>
            <a:off x="548640" y="5669280"/>
            <a:ext cx="10972800" cy="457200"/>
          </a:xfrm>
          <a:prstGeom prst="rect">
            <a:avLst/>
          </a:prstGeom>
          <a:noFill/>
        </p:spPr>
        <p:txBody>
          <a:bodyPr wrap="none">
            <a:spAutoFit/>
          </a:bodyPr>
          <a:lstStyle/>
          <a:p>
            <a:pPr>
              <a:defRPr sz="1400" i="1">
                <a:solidFill>
                  <a:srgbClr val="333333"/>
                </a:solidFill>
                <a:latin typeface="Calibri"/>
              </a:defRPr>
            </a:pPr>
            <a:r>
              <a:t>Limitations → Opportunities: Each future direction addresses a current constraint</a:t>
            </a:r>
          </a:p>
        </p:txBody>
      </p:sp>
      <p:sp>
        <p:nvSpPr>
          <p:cNvPr id="5" name="TextBox 4"/>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18 / 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0" y="3017520"/>
            <a:ext cx="5760720" cy="54864"/>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26049" y="1645920"/>
            <a:ext cx="4909422" cy="1323439"/>
          </a:xfrm>
          <a:prstGeom prst="rect">
            <a:avLst/>
          </a:prstGeom>
          <a:noFill/>
        </p:spPr>
        <p:txBody>
          <a:bodyPr wrap="none">
            <a:spAutoFit/>
          </a:bodyPr>
          <a:lstStyle/>
          <a:p>
            <a:pPr algn="ctr">
              <a:defRPr sz="4800" b="1">
                <a:solidFill>
                  <a:srgbClr val="FFFFFF"/>
                </a:solidFill>
                <a:latin typeface="Calibri"/>
              </a:defRPr>
            </a:pPr>
            <a:r>
              <a:rPr sz="8000" dirty="0"/>
              <a:t>Thank You!</a:t>
            </a:r>
          </a:p>
        </p:txBody>
      </p:sp>
      <p:sp>
        <p:nvSpPr>
          <p:cNvPr id="5" name="TextBox 4"/>
          <p:cNvSpPr txBox="1"/>
          <p:nvPr/>
        </p:nvSpPr>
        <p:spPr>
          <a:xfrm>
            <a:off x="1828800" y="3419857"/>
            <a:ext cx="8503920" cy="731520"/>
          </a:xfrm>
          <a:prstGeom prst="rect">
            <a:avLst/>
          </a:prstGeom>
          <a:noFill/>
        </p:spPr>
        <p:txBody>
          <a:bodyPr wrap="none">
            <a:spAutoFit/>
          </a:bodyPr>
          <a:lstStyle/>
          <a:p>
            <a:pPr algn="ctr">
              <a:defRPr sz="3200">
                <a:solidFill>
                  <a:srgbClr val="1D9E75"/>
                </a:solidFill>
                <a:latin typeface="Calibri"/>
              </a:defRPr>
            </a:pPr>
            <a:r>
              <a:t>Questions?</a:t>
            </a:r>
          </a:p>
        </p:txBody>
      </p:sp>
      <p:sp>
        <p:nvSpPr>
          <p:cNvPr id="6" name="TextBox 5"/>
          <p:cNvSpPr txBox="1"/>
          <p:nvPr/>
        </p:nvSpPr>
        <p:spPr>
          <a:xfrm>
            <a:off x="1828800" y="4389120"/>
            <a:ext cx="8503920" cy="1415772"/>
          </a:xfrm>
          <a:prstGeom prst="rect">
            <a:avLst/>
          </a:prstGeom>
          <a:noFill/>
        </p:spPr>
        <p:txBody>
          <a:bodyPr wrap="square">
            <a:spAutoFit/>
          </a:bodyPr>
          <a:lstStyle/>
          <a:p>
            <a:pPr algn="ctr">
              <a:spcAft>
                <a:spcPts val="300"/>
              </a:spcAft>
              <a:defRPr sz="1600">
                <a:solidFill>
                  <a:srgbClr val="BBCCDD"/>
                </a:solidFill>
                <a:latin typeface="Calibri"/>
              </a:defRPr>
            </a:pPr>
            <a:r>
              <a:rPr dirty="0"/>
              <a:t>Lam Nguyen (018229432)  •  Tri Ngo</a:t>
            </a:r>
            <a:r>
              <a:rPr lang="vi-VN" dirty="0"/>
              <a:t> (015712749)</a:t>
            </a:r>
            <a:endParaRPr dirty="0"/>
          </a:p>
          <a:p>
            <a:pPr algn="ctr">
              <a:spcAft>
                <a:spcPts val="300"/>
              </a:spcAft>
              <a:defRPr sz="1600">
                <a:solidFill>
                  <a:srgbClr val="BBCCDD"/>
                </a:solidFill>
                <a:latin typeface="Calibri"/>
              </a:defRPr>
            </a:pPr>
            <a:r>
              <a:rPr dirty="0"/>
              <a:t>CMPE 255 — Data Mining  |  Spring 2026</a:t>
            </a:r>
          </a:p>
          <a:p>
            <a:pPr algn="ctr">
              <a:spcAft>
                <a:spcPts val="300"/>
              </a:spcAft>
              <a:defRPr sz="1600">
                <a:solidFill>
                  <a:srgbClr val="BBCCDD"/>
                </a:solidFill>
                <a:latin typeface="Calibri"/>
              </a:defRPr>
            </a:pPr>
            <a:r>
              <a:rPr dirty="0"/>
              <a:t>San José State University</a:t>
            </a:r>
          </a:p>
          <a:p>
            <a:pPr algn="ctr">
              <a:spcAft>
                <a:spcPts val="300"/>
              </a:spcAft>
              <a:defRPr sz="1400">
                <a:solidFill>
                  <a:srgbClr val="BBCCDD"/>
                </a:solidFill>
                <a:latin typeface="Calibri"/>
              </a:defRPr>
            </a:pPr>
            <a:endParaRPr dirty="0"/>
          </a:p>
          <a:p>
            <a:pPr algn="ctr">
              <a:spcAft>
                <a:spcPts val="300"/>
              </a:spcAft>
              <a:defRPr sz="1400">
                <a:solidFill>
                  <a:srgbClr val="BBCCDD"/>
                </a:solidFill>
                <a:latin typeface="Calibri"/>
              </a:defRPr>
            </a:pPr>
            <a:r>
              <a:rPr dirty="0" err="1"/>
              <a:t>github.com</a:t>
            </a:r>
            <a:r>
              <a:rPr dirty="0"/>
              <a:t>/duylam1407/CMPE255-Student-Dropout-Prediction</a:t>
            </a:r>
          </a:p>
        </p:txBody>
      </p:sp>
      <p:sp>
        <p:nvSpPr>
          <p:cNvPr id="7" name="TextBox 6"/>
          <p:cNvSpPr txBox="1"/>
          <p:nvPr/>
        </p:nvSpPr>
        <p:spPr>
          <a:xfrm>
            <a:off x="11094415" y="6446520"/>
            <a:ext cx="914400" cy="320040"/>
          </a:xfrm>
          <a:prstGeom prst="rect">
            <a:avLst/>
          </a:prstGeom>
          <a:noFill/>
        </p:spPr>
        <p:txBody>
          <a:bodyPr wrap="none">
            <a:spAutoFit/>
          </a:bodyPr>
          <a:lstStyle/>
          <a:p>
            <a:pPr algn="r">
              <a:defRPr sz="1100">
                <a:solidFill>
                  <a:srgbClr val="333333"/>
                </a:solidFill>
                <a:latin typeface="Calibri"/>
              </a:defRPr>
            </a:pPr>
            <a: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2404</Words>
  <Application>Microsoft Macintosh PowerPoint</Application>
  <PresentationFormat>Widescreen</PresentationFormat>
  <Paragraphs>271</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Lam Nguyen</cp:lastModifiedBy>
  <cp:revision>5</cp:revision>
  <dcterms:created xsi:type="dcterms:W3CDTF">2013-01-27T09:14:16Z</dcterms:created>
  <dcterms:modified xsi:type="dcterms:W3CDTF">2026-04-30T01:27:55Z</dcterms:modified>
  <cp:category/>
</cp:coreProperties>
</file>