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6" r:id="rId11"/>
    <p:sldId id="275" r:id="rId12"/>
    <p:sldId id="267" r:id="rId13"/>
    <p:sldId id="268" r:id="rId14"/>
    <p:sldId id="269" r:id="rId15"/>
    <p:sldId id="270" r:id="rId16"/>
    <p:sldId id="271" r:id="rId17"/>
    <p:sldId id="272" r:id="rId18"/>
    <p:sldId id="273" r:id="rId19"/>
    <p:sldId id="274" r:id="rId2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p:scale>
          <a:sx n="47" d="100"/>
          <a:sy n="47" d="100"/>
        </p:scale>
        <p:origin x="1184" y="1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9879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presenting our CMPE 255 project on predicting student dropout. We analyzed over 4,400 students from a Portuguese university to identify key risk factors and build predictive models. I'm Lam, and Tri will be co-presenting.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dropout is costly, both for students who invest time and money, and for universities that lose funding and reputation. In our dataset, nearly one-third of students dropped out before graduating. Our goal is simple: use data mining to build an early warning system that flags at-risk students so advisors can intervene before it's too late.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research question is whether we can predict student outcomes using data available at enrollment time and after the first semesters. This is a multi-class problem with three outcomes: dropout, still enrolled, or graduated. The class imbalance is a key challenge — Enrolled students make up only 18% of the data, which makes them the hardest class to predict correctly.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dataset comes from the UCI Machine Learning Repository, dataset 697, originally compiled from institutional databases at a Portuguese polytechnic. It has 4,424 student records with 36 features spanning demographics, prior academics, socio-economic factors, and semester performance. There are no missing values, so we could focus on modeling rather than imputation.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conceptual star schema we designed for the analytical layer. The central fact table stores each student's enrollment record with semester grades and outcome. Four dimension tables capture student demographics, academic background, family information, and economic factors. Our ETL pipeline extracts from source databases, encodes categorical features, normalizes numerics, and loads into this schema.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preprocessing pipeline has six steps. We start with inspection — confirming no missing values. We identify feature types, encode the target numerically, standardize all features with StandardScaler, and perform a stratified 80/20 split that preserves class ratios. Random state 42 keeps everything reproducible.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class distribution. About half the students graduated, a third dropped out, and only 18% remain enrolled. This moderate imbalance affects model performance, particularly for the Enrolled class. We use stratified splitting and F1-macro scoring to keep the smaller classes from getting drowned out.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feature distributions. The KDE plot on the left shows clear separation — dropout students cluster near zero approved curricular units, while graduates spread across higher values. The Spearman correlation chart on the right confirms that 2nd semester approved units is the single strongest predictor of student outcome. This finding will keep coming 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more EDA views. Boxplots of semester grades show dramatic separation by outcome. The middle chart reveals that being a debtor or not having tuition up to date increases dropout risk significantly. PCA projects all 36 features down to 2D — we see clusters with overlap, suggesting a non-trivial classification problem.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six classification models covering five algorithm families: tree-based, ensemble, instance-based, linear, kernel, and boosting. Everything uses random_state 42 for reproducibility. KNN's k was tuned by grid search and 11 won. We evaluate all models using F1-macro because it accounts for class imbalance.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six classification models covering five algorithm families: tree-based, ensemble, instance-based, linear, kernel, and boosting. Everything uses random_state 42 for reproducibility. KNN's k was tuned by grid search and 11 won. We evaluate all models using F1-macro because it accounts for class imbalance.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our best model XGBoost with F1-macro 0.706, our mid-range Logistic Regression at 0.683, and our weakest KNN at 0.586. The confusion matrices reveal a consistent story — all models struggle most with the Enrolled class because it has fewer training examples. Dropout and Graduate are predicted reliably.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tried unsupervised clustering. K-Means with k=3 gave the best silhouette score, but only 0.21 — the boundaries between clusters are soft and overlapping. Hierarchical clustering with Ward linkage scored even lower at 0.12. The takeaway: unsupervised methods alone can't reliably predict outcomes, which justifies our supervised classification approach.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ran association rule mining with Apriori. After binning numeric features, we got 189 frequent itemsets and 334 rules, of which 85 had Target as the consequent. The strongest rule says: students with low first-semester approved units who are mid-age have an 87% probability of dropping out, with a lift of 2.72 — meaning they're nearly three times more likely to drop out than the baseline. This is actionable intelligence for advisors.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headline results table. XGBoost achieves the best F1-macro at 0.7056, which is our primary metric. Random Forest narrowly leads on raw accuracy at 77.1% with the most stable cross-validation. KNN and Decision Tree trail behind. The cross-validation standard deviations are tight, confirming these models generalize well — performance is consistent, not lucky.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from both Random Forest and XGBoost converges on 2nd semester approved units as the dominant predictor. Random Forest leans on grade variables for its top five — both semesters' grades and admission grade. XGBoost weighs financial signals more heavily — tuition fees up to date and scholarship holder both make its top five. Both views agree that early semester performance is the most reliable signal.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XGBoost is our best model by F1-macro. Semester performance is the strongest predictor across the board. Association rules give us actionable thresholds — students with two or fewer approved units in semester one have a 77% dropout probability. Our recommendation to universities is simple and concrete: flag students with fewer than three approved units after semester one for immediate academic advising.</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the most impactful next step is building a real-time advisor dashboard so this work actually reaches students who need it. We'd also like to validate across multiple institutions to test generalizability. Deep learning approaches like TabNet could improve performance on tabular data, and temporal sequence models could track how student risk evolves semester by semester.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We're happy to take any questions about our methodology, results, or potential applications. The full code, notebooks, and figures are available at the GitHub repository shown.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8288000" cy="8677275"/>
          </a:xfrm>
          <a:prstGeom prst="rect">
            <a:avLst/>
          </a:prstGeom>
          <a:solidFill>
            <a:srgbClr val="0E3A53"/>
          </a:solidFill>
          <a:ln/>
        </p:spPr>
        <p:txBody>
          <a:bodyPr/>
          <a:lstStyle/>
          <a:p>
            <a:endParaRPr lang="en-US"/>
          </a:p>
        </p:txBody>
      </p:sp>
      <p:sp>
        <p:nvSpPr>
          <p:cNvPr id="3" name="Shape 1"/>
          <p:cNvSpPr/>
          <p:nvPr/>
        </p:nvSpPr>
        <p:spPr>
          <a:xfrm>
            <a:off x="1143000" y="1237506"/>
            <a:ext cx="533400" cy="19050"/>
          </a:xfrm>
          <a:prstGeom prst="rect">
            <a:avLst/>
          </a:prstGeom>
          <a:solidFill>
            <a:srgbClr val="FFFFFF">
              <a:alpha val="60000"/>
            </a:srgbClr>
          </a:solidFill>
          <a:ln/>
        </p:spPr>
        <p:txBody>
          <a:bodyPr/>
          <a:lstStyle/>
          <a:p>
            <a:endParaRPr lang="en-US"/>
          </a:p>
        </p:txBody>
      </p:sp>
      <p:sp>
        <p:nvSpPr>
          <p:cNvPr id="4" name="Text 2"/>
          <p:cNvSpPr/>
          <p:nvPr/>
        </p:nvSpPr>
        <p:spPr>
          <a:xfrm>
            <a:off x="1847850" y="1143000"/>
            <a:ext cx="6612489"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FFFFFF">
                    <a:alpha val="60000"/>
                  </a:srgbClr>
                </a:solidFill>
                <a:latin typeface="Courier New" pitchFamily="34" charset="0"/>
                <a:ea typeface="Courier New" pitchFamily="34" charset="-122"/>
                <a:cs typeface="Courier New" pitchFamily="34" charset="-120"/>
              </a:rPr>
              <a:t>CMPE 255 · DATA MINING · SPRING 2026</a:t>
            </a:r>
            <a:endParaRPr lang="en-US" sz="1800" dirty="0"/>
          </a:p>
        </p:txBody>
      </p:sp>
      <p:sp>
        <p:nvSpPr>
          <p:cNvPr id="5" name="Text 3"/>
          <p:cNvSpPr/>
          <p:nvPr/>
        </p:nvSpPr>
        <p:spPr>
          <a:xfrm>
            <a:off x="1143000" y="2162175"/>
            <a:ext cx="14716125" cy="3238500"/>
          </a:xfrm>
          <a:prstGeom prst="rect">
            <a:avLst/>
          </a:prstGeom>
          <a:noFill/>
          <a:ln/>
        </p:spPr>
        <p:txBody>
          <a:bodyPr wrap="square" lIns="25400" tIns="25400" rIns="25400" bIns="25400" rtlCol="0" anchor="t">
            <a:normAutofit/>
          </a:bodyPr>
          <a:lstStyle/>
          <a:p>
            <a:pPr marL="0" indent="0" algn="l">
              <a:lnSpc>
                <a:spcPct val="104000"/>
              </a:lnSpc>
              <a:buNone/>
            </a:pPr>
            <a:r>
              <a:rPr lang="en-US" sz="8100" kern="0" spc="-122" dirty="0">
                <a:solidFill>
                  <a:srgbClr val="FFFFFF"/>
                </a:solidFill>
                <a:latin typeface="Georgia" pitchFamily="34" charset="0"/>
                <a:ea typeface="Georgia" pitchFamily="34" charset="-122"/>
                <a:cs typeface="Georgia" pitchFamily="34" charset="-120"/>
              </a:rPr>
              <a:t>Predicting Student Dropout &amp; Academic Success</a:t>
            </a:r>
            <a:endParaRPr lang="en-US" sz="8100" dirty="0"/>
          </a:p>
        </p:txBody>
      </p:sp>
      <p:sp>
        <p:nvSpPr>
          <p:cNvPr id="6" name="Text 4"/>
          <p:cNvSpPr/>
          <p:nvPr/>
        </p:nvSpPr>
        <p:spPr>
          <a:xfrm>
            <a:off x="1143000" y="5705475"/>
            <a:ext cx="12753975" cy="552450"/>
          </a:xfrm>
          <a:prstGeom prst="rect">
            <a:avLst/>
          </a:prstGeom>
          <a:noFill/>
          <a:ln/>
        </p:spPr>
        <p:txBody>
          <a:bodyPr wrap="square" lIns="25400" tIns="25400" rIns="25400" bIns="25400" rtlCol="0" anchor="t">
            <a:normAutofit lnSpcReduction="10000"/>
          </a:bodyPr>
          <a:lstStyle/>
          <a:p>
            <a:pPr marL="0" indent="0" algn="l">
              <a:buNone/>
            </a:pPr>
            <a:r>
              <a:rPr lang="en-US" sz="3300" kern="0" spc="-16" dirty="0">
                <a:solidFill>
                  <a:srgbClr val="FFFFFF">
                    <a:alpha val="78000"/>
                  </a:srgbClr>
                </a:solidFill>
                <a:latin typeface="Arial" pitchFamily="34" charset="0"/>
                <a:ea typeface="Arial" pitchFamily="34" charset="-122"/>
                <a:cs typeface="Arial" pitchFamily="34" charset="-120"/>
              </a:rPr>
              <a:t>A data-mining study of 4,424 university students</a:t>
            </a:r>
            <a:endParaRPr lang="en-US" sz="3300" dirty="0"/>
          </a:p>
        </p:txBody>
      </p:sp>
      <p:sp>
        <p:nvSpPr>
          <p:cNvPr id="7" name="Text 5"/>
          <p:cNvSpPr/>
          <p:nvPr/>
        </p:nvSpPr>
        <p:spPr>
          <a:xfrm>
            <a:off x="1143000" y="6219825"/>
            <a:ext cx="3196005" cy="4381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b="1" dirty="0">
                <a:solidFill>
                  <a:srgbClr val="FFFFFF"/>
                </a:solidFill>
                <a:latin typeface="-apple-system" pitchFamily="34" charset="0"/>
                <a:ea typeface="-apple-system" pitchFamily="34" charset="-122"/>
                <a:cs typeface="-apple-system" pitchFamily="34" charset="-120"/>
              </a:rPr>
              <a:t>Lam Nguyen</a:t>
            </a:r>
            <a:r>
              <a:rPr lang="en-US" sz="2100" dirty="0">
                <a:solidFill>
                  <a:srgbClr val="FFFFFF">
                    <a:alpha val="55000"/>
                  </a:srgbClr>
                </a:solidFill>
                <a:latin typeface="-apple-system" pitchFamily="34" charset="0"/>
                <a:ea typeface="-apple-system" pitchFamily="34" charset="-122"/>
                <a:cs typeface="-apple-system" pitchFamily="34" charset="-120"/>
              </a:rPr>
              <a:t>· 018229432</a:t>
            </a:r>
            <a:endParaRPr lang="en-US" sz="2100" dirty="0"/>
          </a:p>
        </p:txBody>
      </p:sp>
      <p:sp>
        <p:nvSpPr>
          <p:cNvPr id="8" name="Text 6"/>
          <p:cNvSpPr/>
          <p:nvPr/>
        </p:nvSpPr>
        <p:spPr>
          <a:xfrm>
            <a:off x="1143000" y="6619875"/>
            <a:ext cx="3196005" cy="4381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b="1" dirty="0">
                <a:solidFill>
                  <a:srgbClr val="FFFFFF"/>
                </a:solidFill>
                <a:latin typeface="-apple-system" pitchFamily="34" charset="0"/>
                <a:ea typeface="-apple-system" pitchFamily="34" charset="-122"/>
                <a:cs typeface="-apple-system" pitchFamily="34" charset="-120"/>
              </a:rPr>
              <a:t>Tri Ngo</a:t>
            </a:r>
            <a:r>
              <a:rPr lang="en-US" sz="2100" dirty="0">
                <a:solidFill>
                  <a:srgbClr val="FFFFFF">
                    <a:alpha val="55000"/>
                  </a:srgbClr>
                </a:solidFill>
                <a:latin typeface="-apple-system" pitchFamily="34" charset="0"/>
                <a:ea typeface="-apple-system" pitchFamily="34" charset="-122"/>
                <a:cs typeface="-apple-system" pitchFamily="34" charset="-120"/>
              </a:rPr>
              <a:t>· 015712749</a:t>
            </a:r>
            <a:endParaRPr lang="en-US" sz="2100" dirty="0"/>
          </a:p>
        </p:txBody>
      </p:sp>
      <p:sp>
        <p:nvSpPr>
          <p:cNvPr id="9" name="Text 7"/>
          <p:cNvSpPr/>
          <p:nvPr/>
        </p:nvSpPr>
        <p:spPr>
          <a:xfrm>
            <a:off x="1143000" y="7134225"/>
            <a:ext cx="3196005" cy="4381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dirty="0">
                <a:solidFill>
                  <a:srgbClr val="FFFFFF">
                    <a:alpha val="65000"/>
                  </a:srgbClr>
                </a:solidFill>
                <a:latin typeface="-apple-system" pitchFamily="34" charset="0"/>
                <a:ea typeface="-apple-system" pitchFamily="34" charset="-122"/>
                <a:cs typeface="-apple-system" pitchFamily="34" charset="-120"/>
              </a:rPr>
              <a:t>San José State University</a:t>
            </a:r>
            <a:endParaRPr lang="en-US" sz="2100" dirty="0"/>
          </a:p>
        </p:txBody>
      </p:sp>
      <p:sp>
        <p:nvSpPr>
          <p:cNvPr id="10" name="Text 8"/>
          <p:cNvSpPr/>
          <p:nvPr/>
        </p:nvSpPr>
        <p:spPr>
          <a:xfrm>
            <a:off x="15468302" y="7277100"/>
            <a:ext cx="1676698" cy="295275"/>
          </a:xfrm>
          <a:prstGeom prst="rect">
            <a:avLst/>
          </a:prstGeom>
          <a:noFill/>
          <a:ln/>
        </p:spPr>
        <p:txBody>
          <a:bodyPr wrap="square" lIns="25400" tIns="25400" rIns="25400" bIns="25400" rtlCol="0" anchor="t">
            <a:normAutofit fontScale="92500" lnSpcReduction="10000"/>
          </a:bodyPr>
          <a:lstStyle/>
          <a:p>
            <a:pPr marL="0" indent="0" algn="r">
              <a:buNone/>
            </a:pPr>
            <a:r>
              <a:rPr lang="en-US" sz="1800" kern="0" spc="180" dirty="0">
                <a:solidFill>
                  <a:srgbClr val="FFFFFF">
                    <a:alpha val="55000"/>
                  </a:srgbClr>
                </a:solidFill>
                <a:latin typeface="Courier New" pitchFamily="34" charset="0"/>
                <a:ea typeface="Courier New" pitchFamily="34" charset="-122"/>
                <a:cs typeface="Courier New" pitchFamily="34" charset="-120"/>
              </a:rPr>
              <a:t>APRIL 2026</a:t>
            </a:r>
            <a:endParaRPr lang="en-US" sz="1800" dirty="0"/>
          </a:p>
        </p:txBody>
      </p:sp>
      <p:sp>
        <p:nvSpPr>
          <p:cNvPr id="11" name="Text 9"/>
          <p:cNvSpPr/>
          <p:nvPr/>
        </p:nvSpPr>
        <p:spPr>
          <a:xfrm>
            <a:off x="16692116" y="8039100"/>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FFFFFF">
                    <a:alpha val="50000"/>
                  </a:srgbClr>
                </a:solidFill>
                <a:latin typeface="Courier New" pitchFamily="34" charset="0"/>
                <a:ea typeface="Courier New" pitchFamily="34" charset="-122"/>
                <a:cs typeface="Courier New" pitchFamily="34" charset="-120"/>
              </a:rPr>
              <a:t>01/19</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275520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01 · MOTIVATION</a:t>
            </a:r>
            <a:endParaRPr lang="en-US" sz="1800" dirty="0"/>
          </a:p>
        </p:txBody>
      </p:sp>
      <p:sp>
        <p:nvSpPr>
          <p:cNvPr id="4" name="Text 2"/>
          <p:cNvSpPr/>
          <p:nvPr/>
        </p:nvSpPr>
        <p:spPr>
          <a:xfrm>
            <a:off x="952500" y="1704975"/>
            <a:ext cx="7946708" cy="12954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Why student dropout matters</a:t>
            </a:r>
            <a:endParaRPr lang="en-US" sz="4800" dirty="0"/>
          </a:p>
        </p:txBody>
      </p:sp>
      <p:sp>
        <p:nvSpPr>
          <p:cNvPr id="5" name="Text 3"/>
          <p:cNvSpPr/>
          <p:nvPr/>
        </p:nvSpPr>
        <p:spPr>
          <a:xfrm>
            <a:off x="952500" y="3343275"/>
            <a:ext cx="7456170" cy="190500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550" dirty="0">
                <a:solidFill>
                  <a:srgbClr val="4B4845"/>
                </a:solidFill>
                <a:latin typeface="-apple-system" pitchFamily="34" charset="0"/>
                <a:ea typeface="-apple-system" pitchFamily="34" charset="-122"/>
                <a:cs typeface="-apple-system" pitchFamily="34" charset="-120"/>
              </a:rPr>
              <a:t>Dropout costs students years of investment and costs universities funding, reputation, and capacity. Early identification of at-risk students unlocks targeted academic advising before it's too late.</a:t>
            </a:r>
            <a:endParaRPr lang="en-US" sz="2550" dirty="0"/>
          </a:p>
        </p:txBody>
      </p:sp>
      <p:sp>
        <p:nvSpPr>
          <p:cNvPr id="6" name="Text 4"/>
          <p:cNvSpPr/>
          <p:nvPr/>
        </p:nvSpPr>
        <p:spPr>
          <a:xfrm>
            <a:off x="9620250" y="1704975"/>
            <a:ext cx="7946708" cy="1409700"/>
          </a:xfrm>
          <a:prstGeom prst="rect">
            <a:avLst/>
          </a:prstGeom>
          <a:noFill/>
          <a:ln/>
        </p:spPr>
        <p:txBody>
          <a:bodyPr wrap="square" lIns="25400" tIns="25400" rIns="25400" bIns="25400" rtlCol="0" anchor="t">
            <a:normAutofit fontScale="92500" lnSpcReduction="10000"/>
          </a:bodyPr>
          <a:lstStyle/>
          <a:p>
            <a:pPr marL="0" indent="0" algn="l">
              <a:lnSpc>
                <a:spcPct val="90000"/>
              </a:lnSpc>
              <a:buNone/>
            </a:pPr>
            <a:r>
              <a:rPr lang="en-US" sz="12000" b="1" kern="0" spc="-240" dirty="0">
                <a:solidFill>
                  <a:srgbClr val="E24B4A"/>
                </a:solidFill>
                <a:latin typeface="Georgia" pitchFamily="34" charset="0"/>
                <a:ea typeface="Georgia" pitchFamily="34" charset="-122"/>
                <a:cs typeface="Georgia" pitchFamily="34" charset="-120"/>
              </a:rPr>
              <a:t>32.1</a:t>
            </a:r>
            <a:r>
              <a:rPr lang="en-US" sz="5700" b="1" kern="0" spc="-240" dirty="0">
                <a:solidFill>
                  <a:srgbClr val="E24B4A"/>
                </a:solidFill>
                <a:latin typeface="Georgia" pitchFamily="34" charset="0"/>
                <a:ea typeface="Georgia" pitchFamily="34" charset="-122"/>
                <a:cs typeface="Georgia" pitchFamily="34" charset="-120"/>
              </a:rPr>
              <a:t>%</a:t>
            </a:r>
            <a:endParaRPr lang="en-US" sz="12000" dirty="0"/>
          </a:p>
        </p:txBody>
      </p:sp>
      <p:sp>
        <p:nvSpPr>
          <p:cNvPr id="7" name="Text 5"/>
          <p:cNvSpPr/>
          <p:nvPr/>
        </p:nvSpPr>
        <p:spPr>
          <a:xfrm>
            <a:off x="9620250" y="3391958"/>
            <a:ext cx="7946708" cy="352425"/>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4B4845"/>
                </a:solidFill>
                <a:latin typeface="-apple-system" pitchFamily="34" charset="0"/>
                <a:ea typeface="-apple-system" pitchFamily="34" charset="-122"/>
                <a:cs typeface="-apple-system" pitchFamily="34" charset="-120"/>
              </a:rPr>
              <a:t>of students in our dataset dropped out before graduating</a:t>
            </a:r>
            <a:endParaRPr lang="en-US" sz="2100" dirty="0"/>
          </a:p>
        </p:txBody>
      </p:sp>
      <p:sp>
        <p:nvSpPr>
          <p:cNvPr id="8" name="Shape 6"/>
          <p:cNvSpPr/>
          <p:nvPr/>
        </p:nvSpPr>
        <p:spPr>
          <a:xfrm>
            <a:off x="9620250" y="4352925"/>
            <a:ext cx="3016746" cy="19050"/>
          </a:xfrm>
          <a:prstGeom prst="rect">
            <a:avLst/>
          </a:prstGeom>
          <a:solidFill>
            <a:srgbClr val="1C1B1A"/>
          </a:solidFill>
          <a:ln/>
        </p:spPr>
        <p:txBody>
          <a:bodyPr/>
          <a:lstStyle/>
          <a:p>
            <a:endParaRPr lang="en-US"/>
          </a:p>
        </p:txBody>
      </p:sp>
      <p:sp>
        <p:nvSpPr>
          <p:cNvPr id="9" name="Text 7"/>
          <p:cNvSpPr/>
          <p:nvPr/>
        </p:nvSpPr>
        <p:spPr>
          <a:xfrm>
            <a:off x="9829800" y="3943350"/>
            <a:ext cx="2688148"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650" b="1" kern="0" spc="165" dirty="0">
                <a:solidFill>
                  <a:srgbClr val="807C76"/>
                </a:solidFill>
                <a:latin typeface="Arial" pitchFamily="34" charset="0"/>
                <a:ea typeface="Arial" pitchFamily="34" charset="-122"/>
                <a:cs typeface="Arial" pitchFamily="34" charset="-120"/>
              </a:rPr>
              <a:t>OUTCOME</a:t>
            </a:r>
            <a:endParaRPr lang="en-US" sz="1650" dirty="0"/>
          </a:p>
        </p:txBody>
      </p:sp>
      <p:sp>
        <p:nvSpPr>
          <p:cNvPr id="10" name="Shape 8"/>
          <p:cNvSpPr/>
          <p:nvPr/>
        </p:nvSpPr>
        <p:spPr>
          <a:xfrm>
            <a:off x="12636996" y="4352925"/>
            <a:ext cx="2362795" cy="19050"/>
          </a:xfrm>
          <a:prstGeom prst="rect">
            <a:avLst/>
          </a:prstGeom>
          <a:solidFill>
            <a:srgbClr val="1C1B1A"/>
          </a:solidFill>
          <a:ln/>
        </p:spPr>
        <p:txBody>
          <a:bodyPr/>
          <a:lstStyle/>
          <a:p>
            <a:endParaRPr lang="en-US"/>
          </a:p>
        </p:txBody>
      </p:sp>
      <p:sp>
        <p:nvSpPr>
          <p:cNvPr id="11" name="Text 9"/>
          <p:cNvSpPr/>
          <p:nvPr/>
        </p:nvSpPr>
        <p:spPr>
          <a:xfrm>
            <a:off x="12770346" y="3943350"/>
            <a:ext cx="2019895"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COUNT</a:t>
            </a:r>
            <a:endParaRPr lang="en-US" sz="1650" dirty="0"/>
          </a:p>
        </p:txBody>
      </p:sp>
      <p:sp>
        <p:nvSpPr>
          <p:cNvPr id="12" name="Shape 10"/>
          <p:cNvSpPr/>
          <p:nvPr/>
        </p:nvSpPr>
        <p:spPr>
          <a:xfrm>
            <a:off x="14999791" y="4352925"/>
            <a:ext cx="2335857" cy="19050"/>
          </a:xfrm>
          <a:prstGeom prst="rect">
            <a:avLst/>
          </a:prstGeom>
          <a:solidFill>
            <a:srgbClr val="1C1B1A"/>
          </a:solidFill>
          <a:ln/>
        </p:spPr>
        <p:txBody>
          <a:bodyPr/>
          <a:lstStyle/>
          <a:p>
            <a:endParaRPr lang="en-US"/>
          </a:p>
        </p:txBody>
      </p:sp>
      <p:sp>
        <p:nvSpPr>
          <p:cNvPr id="13" name="Text 11"/>
          <p:cNvSpPr/>
          <p:nvPr/>
        </p:nvSpPr>
        <p:spPr>
          <a:xfrm>
            <a:off x="15133141" y="3943350"/>
            <a:ext cx="1992957"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SHARE</a:t>
            </a:r>
            <a:endParaRPr lang="en-US" sz="1650" dirty="0"/>
          </a:p>
        </p:txBody>
      </p:sp>
      <p:sp>
        <p:nvSpPr>
          <p:cNvPr id="14" name="Shape 12"/>
          <p:cNvSpPr/>
          <p:nvPr/>
        </p:nvSpPr>
        <p:spPr>
          <a:xfrm>
            <a:off x="9620250" y="5043488"/>
            <a:ext cx="3016746" cy="9525"/>
          </a:xfrm>
          <a:prstGeom prst="rect">
            <a:avLst/>
          </a:prstGeom>
          <a:solidFill>
            <a:srgbClr val="D9D3C5"/>
          </a:solidFill>
          <a:ln/>
        </p:spPr>
        <p:txBody>
          <a:bodyPr/>
          <a:lstStyle/>
          <a:p>
            <a:endParaRPr lang="en-US"/>
          </a:p>
        </p:txBody>
      </p:sp>
      <p:sp>
        <p:nvSpPr>
          <p:cNvPr id="15" name="Text 13"/>
          <p:cNvSpPr/>
          <p:nvPr/>
        </p:nvSpPr>
        <p:spPr>
          <a:xfrm>
            <a:off x="9829800" y="4543425"/>
            <a:ext cx="2688148" cy="366712"/>
          </a:xfrm>
          <a:prstGeom prst="rect">
            <a:avLst/>
          </a:prstGeom>
          <a:noFill/>
          <a:ln/>
        </p:spPr>
        <p:txBody>
          <a:bodyPr wrap="square" lIns="25400" tIns="25400" rIns="25400" bIns="25400" rtlCol="0" anchor="ctr">
            <a:normAutofit lnSpcReduction="10000"/>
          </a:bodyPr>
          <a:lstStyle/>
          <a:p>
            <a:pPr marL="0" indent="0" algn="l">
              <a:buNone/>
            </a:pPr>
            <a:r>
              <a:rPr lang="en-US" sz="2100" b="1" dirty="0">
                <a:solidFill>
                  <a:srgbClr val="E24B4A"/>
                </a:solidFill>
                <a:latin typeface="Arial" pitchFamily="34" charset="0"/>
                <a:ea typeface="Arial" pitchFamily="34" charset="-122"/>
                <a:cs typeface="Arial" pitchFamily="34" charset="-120"/>
              </a:rPr>
              <a:t>Dropout</a:t>
            </a:r>
            <a:endParaRPr lang="en-US" sz="2100" dirty="0"/>
          </a:p>
        </p:txBody>
      </p:sp>
      <p:sp>
        <p:nvSpPr>
          <p:cNvPr id="16" name="Shape 14"/>
          <p:cNvSpPr/>
          <p:nvPr/>
        </p:nvSpPr>
        <p:spPr>
          <a:xfrm>
            <a:off x="12636996" y="5043488"/>
            <a:ext cx="2362795" cy="9525"/>
          </a:xfrm>
          <a:prstGeom prst="rect">
            <a:avLst/>
          </a:prstGeom>
          <a:solidFill>
            <a:srgbClr val="D9D3C5"/>
          </a:solidFill>
          <a:ln/>
        </p:spPr>
        <p:txBody>
          <a:bodyPr/>
          <a:lstStyle/>
          <a:p>
            <a:endParaRPr lang="en-US"/>
          </a:p>
        </p:txBody>
      </p:sp>
      <p:sp>
        <p:nvSpPr>
          <p:cNvPr id="17" name="Text 15"/>
          <p:cNvSpPr/>
          <p:nvPr/>
        </p:nvSpPr>
        <p:spPr>
          <a:xfrm>
            <a:off x="12770346" y="4543425"/>
            <a:ext cx="2019895" cy="366712"/>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1,421</a:t>
            </a:r>
            <a:endParaRPr lang="en-US" sz="2100" dirty="0"/>
          </a:p>
        </p:txBody>
      </p:sp>
      <p:sp>
        <p:nvSpPr>
          <p:cNvPr id="18" name="Shape 16"/>
          <p:cNvSpPr/>
          <p:nvPr/>
        </p:nvSpPr>
        <p:spPr>
          <a:xfrm>
            <a:off x="14999791" y="5043488"/>
            <a:ext cx="2335857" cy="9525"/>
          </a:xfrm>
          <a:prstGeom prst="rect">
            <a:avLst/>
          </a:prstGeom>
          <a:solidFill>
            <a:srgbClr val="D9D3C5"/>
          </a:solidFill>
          <a:ln/>
        </p:spPr>
        <p:txBody>
          <a:bodyPr/>
          <a:lstStyle/>
          <a:p>
            <a:endParaRPr lang="en-US"/>
          </a:p>
        </p:txBody>
      </p:sp>
      <p:sp>
        <p:nvSpPr>
          <p:cNvPr id="19" name="Text 17"/>
          <p:cNvSpPr/>
          <p:nvPr/>
        </p:nvSpPr>
        <p:spPr>
          <a:xfrm>
            <a:off x="15133141" y="4543425"/>
            <a:ext cx="1992957" cy="366712"/>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32.1%</a:t>
            </a:r>
            <a:endParaRPr lang="en-US" sz="2100" dirty="0"/>
          </a:p>
        </p:txBody>
      </p:sp>
      <p:sp>
        <p:nvSpPr>
          <p:cNvPr id="20" name="Shape 18"/>
          <p:cNvSpPr/>
          <p:nvPr/>
        </p:nvSpPr>
        <p:spPr>
          <a:xfrm>
            <a:off x="9620250" y="5719763"/>
            <a:ext cx="3016746" cy="9525"/>
          </a:xfrm>
          <a:prstGeom prst="rect">
            <a:avLst/>
          </a:prstGeom>
          <a:solidFill>
            <a:srgbClr val="D9D3C5"/>
          </a:solidFill>
          <a:ln/>
        </p:spPr>
        <p:txBody>
          <a:bodyPr/>
          <a:lstStyle/>
          <a:p>
            <a:endParaRPr lang="en-US"/>
          </a:p>
        </p:txBody>
      </p:sp>
      <p:sp>
        <p:nvSpPr>
          <p:cNvPr id="21" name="Text 19"/>
          <p:cNvSpPr/>
          <p:nvPr/>
        </p:nvSpPr>
        <p:spPr>
          <a:xfrm>
            <a:off x="9829800" y="5224463"/>
            <a:ext cx="2688148" cy="361950"/>
          </a:xfrm>
          <a:prstGeom prst="rect">
            <a:avLst/>
          </a:prstGeom>
          <a:noFill/>
          <a:ln/>
        </p:spPr>
        <p:txBody>
          <a:bodyPr wrap="square" lIns="25400" tIns="25400" rIns="25400" bIns="25400" rtlCol="0" anchor="ctr">
            <a:normAutofit lnSpcReduction="10000"/>
          </a:bodyPr>
          <a:lstStyle/>
          <a:p>
            <a:pPr marL="0" indent="0" algn="l">
              <a:buNone/>
            </a:pPr>
            <a:r>
              <a:rPr lang="en-US" sz="2100" b="1" dirty="0">
                <a:solidFill>
                  <a:srgbClr val="EF9F27"/>
                </a:solidFill>
                <a:latin typeface="Arial" pitchFamily="34" charset="0"/>
                <a:ea typeface="Arial" pitchFamily="34" charset="-122"/>
                <a:cs typeface="Arial" pitchFamily="34" charset="-120"/>
              </a:rPr>
              <a:t>Enrolled</a:t>
            </a:r>
            <a:endParaRPr lang="en-US" sz="2100" dirty="0"/>
          </a:p>
        </p:txBody>
      </p:sp>
      <p:sp>
        <p:nvSpPr>
          <p:cNvPr id="22" name="Shape 20"/>
          <p:cNvSpPr/>
          <p:nvPr/>
        </p:nvSpPr>
        <p:spPr>
          <a:xfrm>
            <a:off x="12636996" y="5719763"/>
            <a:ext cx="2362795" cy="9525"/>
          </a:xfrm>
          <a:prstGeom prst="rect">
            <a:avLst/>
          </a:prstGeom>
          <a:solidFill>
            <a:srgbClr val="D9D3C5"/>
          </a:solidFill>
          <a:ln/>
        </p:spPr>
        <p:txBody>
          <a:bodyPr/>
          <a:lstStyle/>
          <a:p>
            <a:endParaRPr lang="en-US"/>
          </a:p>
        </p:txBody>
      </p:sp>
      <p:sp>
        <p:nvSpPr>
          <p:cNvPr id="23" name="Text 21"/>
          <p:cNvSpPr/>
          <p:nvPr/>
        </p:nvSpPr>
        <p:spPr>
          <a:xfrm>
            <a:off x="12770346" y="5224463"/>
            <a:ext cx="2019895"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794</a:t>
            </a:r>
            <a:endParaRPr lang="en-US" sz="2100" dirty="0"/>
          </a:p>
        </p:txBody>
      </p:sp>
      <p:sp>
        <p:nvSpPr>
          <p:cNvPr id="24" name="Shape 22"/>
          <p:cNvSpPr/>
          <p:nvPr/>
        </p:nvSpPr>
        <p:spPr>
          <a:xfrm>
            <a:off x="14999791" y="5719763"/>
            <a:ext cx="2335857" cy="9525"/>
          </a:xfrm>
          <a:prstGeom prst="rect">
            <a:avLst/>
          </a:prstGeom>
          <a:solidFill>
            <a:srgbClr val="D9D3C5"/>
          </a:solidFill>
          <a:ln/>
        </p:spPr>
        <p:txBody>
          <a:bodyPr/>
          <a:lstStyle/>
          <a:p>
            <a:endParaRPr lang="en-US"/>
          </a:p>
        </p:txBody>
      </p:sp>
      <p:sp>
        <p:nvSpPr>
          <p:cNvPr id="25" name="Text 23"/>
          <p:cNvSpPr/>
          <p:nvPr/>
        </p:nvSpPr>
        <p:spPr>
          <a:xfrm>
            <a:off x="15133141" y="5224463"/>
            <a:ext cx="1992957"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17.9%</a:t>
            </a:r>
            <a:endParaRPr lang="en-US" sz="2100" dirty="0"/>
          </a:p>
        </p:txBody>
      </p:sp>
      <p:sp>
        <p:nvSpPr>
          <p:cNvPr id="26" name="Shape 24"/>
          <p:cNvSpPr/>
          <p:nvPr/>
        </p:nvSpPr>
        <p:spPr>
          <a:xfrm>
            <a:off x="9620250" y="6400800"/>
            <a:ext cx="3016746" cy="9525"/>
          </a:xfrm>
          <a:prstGeom prst="rect">
            <a:avLst/>
          </a:prstGeom>
          <a:solidFill>
            <a:srgbClr val="D9D3C5"/>
          </a:solidFill>
          <a:ln/>
        </p:spPr>
        <p:txBody>
          <a:bodyPr/>
          <a:lstStyle/>
          <a:p>
            <a:endParaRPr lang="en-US"/>
          </a:p>
        </p:txBody>
      </p:sp>
      <p:sp>
        <p:nvSpPr>
          <p:cNvPr id="27" name="Text 25"/>
          <p:cNvSpPr/>
          <p:nvPr/>
        </p:nvSpPr>
        <p:spPr>
          <a:xfrm>
            <a:off x="9829800" y="5900738"/>
            <a:ext cx="2688148" cy="366712"/>
          </a:xfrm>
          <a:prstGeom prst="rect">
            <a:avLst/>
          </a:prstGeom>
          <a:noFill/>
          <a:ln/>
        </p:spPr>
        <p:txBody>
          <a:bodyPr wrap="square" lIns="25400" tIns="25400" rIns="25400" bIns="25400" rtlCol="0" anchor="ctr">
            <a:normAutofit lnSpcReduction="10000"/>
          </a:bodyPr>
          <a:lstStyle/>
          <a:p>
            <a:pPr marL="0" indent="0" algn="l">
              <a:buNone/>
            </a:pPr>
            <a:r>
              <a:rPr lang="en-US" sz="2100" b="1" dirty="0">
                <a:solidFill>
                  <a:srgbClr val="1D9E75"/>
                </a:solidFill>
                <a:latin typeface="Arial" pitchFamily="34" charset="0"/>
                <a:ea typeface="Arial" pitchFamily="34" charset="-122"/>
                <a:cs typeface="Arial" pitchFamily="34" charset="-120"/>
              </a:rPr>
              <a:t>Graduate</a:t>
            </a:r>
            <a:endParaRPr lang="en-US" sz="2100" dirty="0"/>
          </a:p>
        </p:txBody>
      </p:sp>
      <p:sp>
        <p:nvSpPr>
          <p:cNvPr id="28" name="Shape 26"/>
          <p:cNvSpPr/>
          <p:nvPr/>
        </p:nvSpPr>
        <p:spPr>
          <a:xfrm>
            <a:off x="12636996" y="6400800"/>
            <a:ext cx="2362795" cy="9525"/>
          </a:xfrm>
          <a:prstGeom prst="rect">
            <a:avLst/>
          </a:prstGeom>
          <a:solidFill>
            <a:srgbClr val="D9D3C5"/>
          </a:solidFill>
          <a:ln/>
        </p:spPr>
        <p:txBody>
          <a:bodyPr/>
          <a:lstStyle/>
          <a:p>
            <a:endParaRPr lang="en-US"/>
          </a:p>
        </p:txBody>
      </p:sp>
      <p:sp>
        <p:nvSpPr>
          <p:cNvPr id="29" name="Text 27"/>
          <p:cNvSpPr/>
          <p:nvPr/>
        </p:nvSpPr>
        <p:spPr>
          <a:xfrm>
            <a:off x="12770346" y="5900738"/>
            <a:ext cx="2019895" cy="366712"/>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2,209</a:t>
            </a:r>
            <a:endParaRPr lang="en-US" sz="2100" dirty="0"/>
          </a:p>
        </p:txBody>
      </p:sp>
      <p:sp>
        <p:nvSpPr>
          <p:cNvPr id="30" name="Shape 28"/>
          <p:cNvSpPr/>
          <p:nvPr/>
        </p:nvSpPr>
        <p:spPr>
          <a:xfrm>
            <a:off x="14999791" y="6400800"/>
            <a:ext cx="2335857" cy="9525"/>
          </a:xfrm>
          <a:prstGeom prst="rect">
            <a:avLst/>
          </a:prstGeom>
          <a:solidFill>
            <a:srgbClr val="D9D3C5"/>
          </a:solidFill>
          <a:ln/>
        </p:spPr>
        <p:txBody>
          <a:bodyPr/>
          <a:lstStyle/>
          <a:p>
            <a:endParaRPr lang="en-US"/>
          </a:p>
        </p:txBody>
      </p:sp>
      <p:sp>
        <p:nvSpPr>
          <p:cNvPr id="31" name="Text 29"/>
          <p:cNvSpPr/>
          <p:nvPr/>
        </p:nvSpPr>
        <p:spPr>
          <a:xfrm>
            <a:off x="15133141" y="5900738"/>
            <a:ext cx="1992957" cy="366712"/>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49.9%</a:t>
            </a:r>
            <a:endParaRPr lang="en-US" sz="2100" dirty="0"/>
          </a:p>
        </p:txBody>
      </p:sp>
      <p:sp>
        <p:nvSpPr>
          <p:cNvPr id="32" name="Shape 30"/>
          <p:cNvSpPr/>
          <p:nvPr/>
        </p:nvSpPr>
        <p:spPr>
          <a:xfrm>
            <a:off x="9620250" y="6410325"/>
            <a:ext cx="7715250" cy="19050"/>
          </a:xfrm>
          <a:prstGeom prst="rect">
            <a:avLst/>
          </a:prstGeom>
          <a:solidFill>
            <a:srgbClr val="1C1B1A"/>
          </a:solidFill>
          <a:ln/>
        </p:spPr>
        <p:txBody>
          <a:bodyPr/>
          <a:lstStyle/>
          <a:p>
            <a:endParaRPr lang="en-US"/>
          </a:p>
        </p:txBody>
      </p:sp>
      <p:sp>
        <p:nvSpPr>
          <p:cNvPr id="33" name="Shape 31"/>
          <p:cNvSpPr/>
          <p:nvPr/>
        </p:nvSpPr>
        <p:spPr>
          <a:xfrm>
            <a:off x="9620250" y="7081838"/>
            <a:ext cx="3016746" cy="9525"/>
          </a:xfrm>
          <a:prstGeom prst="rect">
            <a:avLst/>
          </a:prstGeom>
          <a:solidFill>
            <a:srgbClr val="D9D3C5"/>
          </a:solidFill>
          <a:ln/>
        </p:spPr>
        <p:txBody>
          <a:bodyPr/>
          <a:lstStyle/>
          <a:p>
            <a:endParaRPr lang="en-US"/>
          </a:p>
        </p:txBody>
      </p:sp>
      <p:sp>
        <p:nvSpPr>
          <p:cNvPr id="34" name="Text 32"/>
          <p:cNvSpPr/>
          <p:nvPr/>
        </p:nvSpPr>
        <p:spPr>
          <a:xfrm>
            <a:off x="9829800" y="6581775"/>
            <a:ext cx="2688148" cy="366712"/>
          </a:xfrm>
          <a:prstGeom prst="rect">
            <a:avLst/>
          </a:prstGeom>
          <a:noFill/>
          <a:ln/>
        </p:spPr>
        <p:txBody>
          <a:bodyPr wrap="square" lIns="25400" tIns="25400" rIns="25400" bIns="25400" rtlCol="0" anchor="ctr">
            <a:normAutofit lnSpcReduction="10000"/>
          </a:bodyPr>
          <a:lstStyle/>
          <a:p>
            <a:pPr marL="0" indent="0" algn="l">
              <a:buNone/>
            </a:pPr>
            <a:r>
              <a:rPr lang="en-US" sz="2100" b="1" dirty="0">
                <a:solidFill>
                  <a:srgbClr val="1C1B1A"/>
                </a:solidFill>
                <a:latin typeface="Arial" pitchFamily="34" charset="0"/>
                <a:ea typeface="Arial" pitchFamily="34" charset="-122"/>
                <a:cs typeface="Arial" pitchFamily="34" charset="-120"/>
              </a:rPr>
              <a:t>Total</a:t>
            </a:r>
            <a:endParaRPr lang="en-US" sz="2100" dirty="0"/>
          </a:p>
        </p:txBody>
      </p:sp>
      <p:sp>
        <p:nvSpPr>
          <p:cNvPr id="35" name="Shape 33"/>
          <p:cNvSpPr/>
          <p:nvPr/>
        </p:nvSpPr>
        <p:spPr>
          <a:xfrm>
            <a:off x="12636996" y="7081838"/>
            <a:ext cx="2362795" cy="9525"/>
          </a:xfrm>
          <a:prstGeom prst="rect">
            <a:avLst/>
          </a:prstGeom>
          <a:solidFill>
            <a:srgbClr val="D9D3C5"/>
          </a:solidFill>
          <a:ln/>
        </p:spPr>
        <p:txBody>
          <a:bodyPr/>
          <a:lstStyle/>
          <a:p>
            <a:endParaRPr lang="en-US"/>
          </a:p>
        </p:txBody>
      </p:sp>
      <p:sp>
        <p:nvSpPr>
          <p:cNvPr id="36" name="Text 34"/>
          <p:cNvSpPr/>
          <p:nvPr/>
        </p:nvSpPr>
        <p:spPr>
          <a:xfrm>
            <a:off x="12770346" y="6581775"/>
            <a:ext cx="2019895" cy="366712"/>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4,424</a:t>
            </a:r>
            <a:endParaRPr lang="en-US" sz="2100" dirty="0"/>
          </a:p>
        </p:txBody>
      </p:sp>
      <p:sp>
        <p:nvSpPr>
          <p:cNvPr id="37" name="Shape 35"/>
          <p:cNvSpPr/>
          <p:nvPr/>
        </p:nvSpPr>
        <p:spPr>
          <a:xfrm>
            <a:off x="14999791" y="7081838"/>
            <a:ext cx="2335857" cy="9525"/>
          </a:xfrm>
          <a:prstGeom prst="rect">
            <a:avLst/>
          </a:prstGeom>
          <a:solidFill>
            <a:srgbClr val="D9D3C5"/>
          </a:solidFill>
          <a:ln/>
        </p:spPr>
        <p:txBody>
          <a:bodyPr/>
          <a:lstStyle/>
          <a:p>
            <a:endParaRPr lang="en-US"/>
          </a:p>
        </p:txBody>
      </p:sp>
      <p:sp>
        <p:nvSpPr>
          <p:cNvPr id="38" name="Text 36"/>
          <p:cNvSpPr/>
          <p:nvPr/>
        </p:nvSpPr>
        <p:spPr>
          <a:xfrm>
            <a:off x="15133141" y="6581775"/>
            <a:ext cx="1992957" cy="366712"/>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100%</a:t>
            </a:r>
            <a:endParaRPr lang="en-US" sz="2100" dirty="0"/>
          </a:p>
        </p:txBody>
      </p:sp>
      <p:sp>
        <p:nvSpPr>
          <p:cNvPr id="39" name="Text 37"/>
          <p:cNvSpPr/>
          <p:nvPr/>
        </p:nvSpPr>
        <p:spPr>
          <a:xfrm>
            <a:off x="9620250" y="7362825"/>
            <a:ext cx="794670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807C76"/>
                </a:solidFill>
                <a:latin typeface="Courier New" pitchFamily="34" charset="0"/>
                <a:ea typeface="Courier New" pitchFamily="34" charset="-122"/>
                <a:cs typeface="Courier New" pitchFamily="34" charset="-120"/>
              </a:rPr>
              <a:t>Source: UCI ML Repository, Dataset 697 (Realinho et al., 2021)</a:t>
            </a:r>
            <a:endParaRPr lang="en-US" sz="1350" dirty="0"/>
          </a:p>
        </p:txBody>
      </p:sp>
      <p:sp>
        <p:nvSpPr>
          <p:cNvPr id="40" name="Text 38"/>
          <p:cNvSpPr/>
          <p:nvPr/>
        </p:nvSpPr>
        <p:spPr>
          <a:xfrm>
            <a:off x="16692116" y="7677150"/>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02/19</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4040967"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02 · PROBLEM STATEMENT</a:t>
            </a:r>
            <a:endParaRPr lang="en-US" sz="1800" dirty="0"/>
          </a:p>
        </p:txBody>
      </p:sp>
      <p:sp>
        <p:nvSpPr>
          <p:cNvPr id="4" name="Text 2"/>
          <p:cNvSpPr/>
          <p:nvPr/>
        </p:nvSpPr>
        <p:spPr>
          <a:xfrm>
            <a:off x="952500" y="1704975"/>
            <a:ext cx="14716125" cy="12954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Can we predict a student's outcome from enrollment-time data?</a:t>
            </a:r>
            <a:endParaRPr lang="en-US" sz="4800" dirty="0"/>
          </a:p>
        </p:txBody>
      </p:sp>
      <p:sp>
        <p:nvSpPr>
          <p:cNvPr id="5" name="Shape 3"/>
          <p:cNvSpPr/>
          <p:nvPr/>
        </p:nvSpPr>
        <p:spPr>
          <a:xfrm>
            <a:off x="952500" y="3495675"/>
            <a:ext cx="5308550" cy="2305050"/>
          </a:xfrm>
          <a:prstGeom prst="rect">
            <a:avLst/>
          </a:prstGeom>
          <a:solidFill>
            <a:srgbClr val="FFFFFF"/>
          </a:solidFill>
          <a:ln w="9525">
            <a:solidFill>
              <a:srgbClr val="D9D3C5"/>
            </a:solidFill>
            <a:prstDash val="solid"/>
          </a:ln>
        </p:spPr>
        <p:txBody>
          <a:bodyPr/>
          <a:lstStyle/>
          <a:p>
            <a:endParaRPr lang="en-US"/>
          </a:p>
        </p:txBody>
      </p:sp>
      <p:sp>
        <p:nvSpPr>
          <p:cNvPr id="6" name="Text 4"/>
          <p:cNvSpPr/>
          <p:nvPr/>
        </p:nvSpPr>
        <p:spPr>
          <a:xfrm>
            <a:off x="1304925" y="3810000"/>
            <a:ext cx="4741811"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0E3A53"/>
                </a:solidFill>
                <a:latin typeface="Courier New" pitchFamily="34" charset="0"/>
                <a:ea typeface="Courier New" pitchFamily="34" charset="-122"/>
                <a:cs typeface="Courier New" pitchFamily="34" charset="-120"/>
              </a:rPr>
              <a:t>TASK</a:t>
            </a:r>
            <a:endParaRPr lang="en-US" sz="1350" dirty="0"/>
          </a:p>
        </p:txBody>
      </p:sp>
      <p:sp>
        <p:nvSpPr>
          <p:cNvPr id="7" name="Text 5"/>
          <p:cNvSpPr/>
          <p:nvPr/>
        </p:nvSpPr>
        <p:spPr>
          <a:xfrm>
            <a:off x="1304925" y="4133850"/>
            <a:ext cx="474181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kern="0" spc="-63" dirty="0">
                <a:solidFill>
                  <a:srgbClr val="1C1B1A"/>
                </a:solidFill>
                <a:latin typeface="Georgia" pitchFamily="34" charset="0"/>
                <a:ea typeface="Georgia" pitchFamily="34" charset="-122"/>
                <a:cs typeface="Georgia" pitchFamily="34" charset="-120"/>
              </a:rPr>
              <a:t>3-class</a:t>
            </a:r>
            <a:endParaRPr lang="en-US" sz="4200" dirty="0"/>
          </a:p>
        </p:txBody>
      </p:sp>
      <p:sp>
        <p:nvSpPr>
          <p:cNvPr id="8" name="Text 6"/>
          <p:cNvSpPr/>
          <p:nvPr/>
        </p:nvSpPr>
        <p:spPr>
          <a:xfrm>
            <a:off x="1304925" y="4800600"/>
            <a:ext cx="4741811" cy="7239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4B4845"/>
                </a:solidFill>
                <a:latin typeface="-apple-system" pitchFamily="34" charset="0"/>
                <a:ea typeface="-apple-system" pitchFamily="34" charset="-122"/>
                <a:cs typeface="-apple-system" pitchFamily="34" charset="-120"/>
              </a:rPr>
              <a:t>Supervised classification: Dropout / Enrolled / Graduate</a:t>
            </a:r>
            <a:endParaRPr lang="en-US" sz="1950" dirty="0"/>
          </a:p>
        </p:txBody>
      </p:sp>
      <p:sp>
        <p:nvSpPr>
          <p:cNvPr id="9" name="Shape 7"/>
          <p:cNvSpPr/>
          <p:nvPr/>
        </p:nvSpPr>
        <p:spPr>
          <a:xfrm>
            <a:off x="6489650" y="3495675"/>
            <a:ext cx="5308550" cy="2305050"/>
          </a:xfrm>
          <a:prstGeom prst="rect">
            <a:avLst/>
          </a:prstGeom>
          <a:solidFill>
            <a:srgbClr val="FFFFFF"/>
          </a:solidFill>
          <a:ln w="9525">
            <a:solidFill>
              <a:srgbClr val="D9D3C5"/>
            </a:solidFill>
            <a:prstDash val="solid"/>
          </a:ln>
        </p:spPr>
        <p:txBody>
          <a:bodyPr/>
          <a:lstStyle/>
          <a:p>
            <a:endParaRPr lang="en-US"/>
          </a:p>
        </p:txBody>
      </p:sp>
      <p:sp>
        <p:nvSpPr>
          <p:cNvPr id="10" name="Text 8"/>
          <p:cNvSpPr/>
          <p:nvPr/>
        </p:nvSpPr>
        <p:spPr>
          <a:xfrm>
            <a:off x="6842075" y="3810000"/>
            <a:ext cx="4741811"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0E3A53"/>
                </a:solidFill>
                <a:latin typeface="Courier New" pitchFamily="34" charset="0"/>
                <a:ea typeface="Courier New" pitchFamily="34" charset="-122"/>
                <a:cs typeface="Courier New" pitchFamily="34" charset="-120"/>
              </a:rPr>
              <a:t>APPROACH</a:t>
            </a:r>
            <a:endParaRPr lang="en-US" sz="1350" dirty="0"/>
          </a:p>
        </p:txBody>
      </p:sp>
      <p:sp>
        <p:nvSpPr>
          <p:cNvPr id="11" name="Text 9"/>
          <p:cNvSpPr/>
          <p:nvPr/>
        </p:nvSpPr>
        <p:spPr>
          <a:xfrm>
            <a:off x="6842075" y="4133850"/>
            <a:ext cx="474181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kern="0" spc="-63" dirty="0">
                <a:solidFill>
                  <a:srgbClr val="1C1B1A"/>
                </a:solidFill>
                <a:latin typeface="Georgia" pitchFamily="34" charset="0"/>
                <a:ea typeface="Georgia" pitchFamily="34" charset="-122"/>
                <a:cs typeface="Georgia" pitchFamily="34" charset="-120"/>
              </a:rPr>
              <a:t>Sup. + Unsup.</a:t>
            </a:r>
            <a:endParaRPr lang="en-US" sz="4200" dirty="0"/>
          </a:p>
        </p:txBody>
      </p:sp>
      <p:sp>
        <p:nvSpPr>
          <p:cNvPr id="12" name="Text 10"/>
          <p:cNvSpPr/>
          <p:nvPr/>
        </p:nvSpPr>
        <p:spPr>
          <a:xfrm>
            <a:off x="6842075" y="4800600"/>
            <a:ext cx="4741811" cy="7239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4B4845"/>
                </a:solidFill>
                <a:latin typeface="-apple-system" pitchFamily="34" charset="0"/>
                <a:ea typeface="-apple-system" pitchFamily="34" charset="-122"/>
                <a:cs typeface="-apple-system" pitchFamily="34" charset="-120"/>
              </a:rPr>
              <a:t>Classification, clustering, and association rule mining</a:t>
            </a:r>
            <a:endParaRPr lang="en-US" sz="1950" dirty="0"/>
          </a:p>
        </p:txBody>
      </p:sp>
      <p:sp>
        <p:nvSpPr>
          <p:cNvPr id="13" name="Shape 11"/>
          <p:cNvSpPr/>
          <p:nvPr/>
        </p:nvSpPr>
        <p:spPr>
          <a:xfrm>
            <a:off x="12026801" y="3495675"/>
            <a:ext cx="5308699" cy="2305050"/>
          </a:xfrm>
          <a:prstGeom prst="rect">
            <a:avLst/>
          </a:prstGeom>
          <a:solidFill>
            <a:srgbClr val="FFFFFF"/>
          </a:solidFill>
          <a:ln w="9525">
            <a:solidFill>
              <a:srgbClr val="D9D3C5"/>
            </a:solidFill>
            <a:prstDash val="solid"/>
          </a:ln>
        </p:spPr>
        <p:txBody>
          <a:bodyPr/>
          <a:lstStyle/>
          <a:p>
            <a:endParaRPr lang="en-US"/>
          </a:p>
        </p:txBody>
      </p:sp>
      <p:sp>
        <p:nvSpPr>
          <p:cNvPr id="14" name="Text 12"/>
          <p:cNvSpPr/>
          <p:nvPr/>
        </p:nvSpPr>
        <p:spPr>
          <a:xfrm>
            <a:off x="12379226" y="3810000"/>
            <a:ext cx="474196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E24B4A"/>
                </a:solidFill>
                <a:latin typeface="Courier New" pitchFamily="34" charset="0"/>
                <a:ea typeface="Courier New" pitchFamily="34" charset="-122"/>
                <a:cs typeface="Courier New" pitchFamily="34" charset="-120"/>
              </a:rPr>
              <a:t>CHALLENGE</a:t>
            </a:r>
            <a:endParaRPr lang="en-US" sz="1350" dirty="0"/>
          </a:p>
        </p:txBody>
      </p:sp>
      <p:sp>
        <p:nvSpPr>
          <p:cNvPr id="15" name="Text 13"/>
          <p:cNvSpPr/>
          <p:nvPr/>
        </p:nvSpPr>
        <p:spPr>
          <a:xfrm>
            <a:off x="12379226" y="4133850"/>
            <a:ext cx="4741965"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b="1" kern="0" spc="-63" dirty="0">
                <a:solidFill>
                  <a:srgbClr val="1C1B1A"/>
                </a:solidFill>
                <a:latin typeface="Georgia" pitchFamily="34" charset="0"/>
                <a:ea typeface="Georgia" pitchFamily="34" charset="-122"/>
                <a:cs typeface="Georgia" pitchFamily="34" charset="-120"/>
              </a:rPr>
              <a:t>Imbalance</a:t>
            </a:r>
            <a:endParaRPr lang="en-US" sz="4200" dirty="0"/>
          </a:p>
        </p:txBody>
      </p:sp>
      <p:sp>
        <p:nvSpPr>
          <p:cNvPr id="16" name="Text 14"/>
          <p:cNvSpPr/>
          <p:nvPr/>
        </p:nvSpPr>
        <p:spPr>
          <a:xfrm>
            <a:off x="12379226" y="4800600"/>
            <a:ext cx="4741965" cy="7239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950" dirty="0">
                <a:solidFill>
                  <a:srgbClr val="4B4845"/>
                </a:solidFill>
                <a:latin typeface="-apple-system" pitchFamily="34" charset="0"/>
                <a:ea typeface="-apple-system" pitchFamily="34" charset="-122"/>
                <a:cs typeface="-apple-system" pitchFamily="34" charset="-120"/>
              </a:rPr>
              <a:t>Graduate 2,209 (49.9%) · Dropout 1,421 (32.1%) · Enrolled 794 (17.9%)</a:t>
            </a:r>
            <a:endParaRPr lang="en-US" sz="1950" dirty="0"/>
          </a:p>
        </p:txBody>
      </p:sp>
      <p:sp>
        <p:nvSpPr>
          <p:cNvPr id="17" name="Text 15"/>
          <p:cNvSpPr/>
          <p:nvPr/>
        </p:nvSpPr>
        <p:spPr>
          <a:xfrm>
            <a:off x="952500" y="6415088"/>
            <a:ext cx="1413718"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kern="0" spc="270" dirty="0">
                <a:solidFill>
                  <a:srgbClr val="807C76"/>
                </a:solidFill>
                <a:latin typeface="Courier New" pitchFamily="34" charset="0"/>
                <a:ea typeface="Courier New" pitchFamily="34" charset="-122"/>
                <a:cs typeface="Courier New" pitchFamily="34" charset="-120"/>
              </a:rPr>
              <a:t>OUTCOME →</a:t>
            </a:r>
            <a:endParaRPr lang="en-US" sz="1500" dirty="0"/>
          </a:p>
        </p:txBody>
      </p:sp>
      <p:sp>
        <p:nvSpPr>
          <p:cNvPr id="18" name="Text 16"/>
          <p:cNvSpPr/>
          <p:nvPr/>
        </p:nvSpPr>
        <p:spPr>
          <a:xfrm>
            <a:off x="2480518" y="6334125"/>
            <a:ext cx="10286111" cy="419100"/>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1C1B1A"/>
                </a:solidFill>
                <a:latin typeface="-apple-system" pitchFamily="34" charset="0"/>
                <a:ea typeface="-apple-system" pitchFamily="34" charset="-122"/>
                <a:cs typeface="-apple-system" pitchFamily="34" charset="-120"/>
              </a:rPr>
              <a:t>An early-warning framework that flags at-risk students for intervention</a:t>
            </a:r>
            <a:endParaRPr lang="en-US" sz="2550" dirty="0"/>
          </a:p>
        </p:txBody>
      </p:sp>
      <p:sp>
        <p:nvSpPr>
          <p:cNvPr id="19" name="Text 17"/>
          <p:cNvSpPr/>
          <p:nvPr/>
        </p:nvSpPr>
        <p:spPr>
          <a:xfrm>
            <a:off x="16692116" y="6838950"/>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03/19</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221616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03 · DATASET</a:t>
            </a:r>
            <a:endParaRPr lang="en-US" sz="1800" dirty="0"/>
          </a:p>
        </p:txBody>
      </p:sp>
      <p:sp>
        <p:nvSpPr>
          <p:cNvPr id="4" name="Text 2"/>
          <p:cNvSpPr/>
          <p:nvPr/>
        </p:nvSpPr>
        <p:spPr>
          <a:xfrm>
            <a:off x="952500" y="1704975"/>
            <a:ext cx="6703961" cy="12954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UCI Repository Dataset 697</a:t>
            </a:r>
            <a:endParaRPr lang="en-US" sz="4800" dirty="0"/>
          </a:p>
        </p:txBody>
      </p:sp>
      <p:sp>
        <p:nvSpPr>
          <p:cNvPr id="5" name="Shape 3"/>
          <p:cNvSpPr/>
          <p:nvPr/>
        </p:nvSpPr>
        <p:spPr>
          <a:xfrm>
            <a:off x="952500" y="3895725"/>
            <a:ext cx="6508700" cy="9525"/>
          </a:xfrm>
          <a:prstGeom prst="rect">
            <a:avLst/>
          </a:prstGeom>
          <a:solidFill>
            <a:srgbClr val="D9D3C5"/>
          </a:solidFill>
          <a:ln/>
        </p:spPr>
        <p:txBody>
          <a:bodyPr/>
          <a:lstStyle/>
          <a:p>
            <a:endParaRPr lang="en-US"/>
          </a:p>
        </p:txBody>
      </p:sp>
      <p:sp>
        <p:nvSpPr>
          <p:cNvPr id="6" name="Text 4"/>
          <p:cNvSpPr/>
          <p:nvPr/>
        </p:nvSpPr>
        <p:spPr>
          <a:xfrm>
            <a:off x="952500" y="3486150"/>
            <a:ext cx="1396603"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165" dirty="0">
                <a:solidFill>
                  <a:srgbClr val="807C76"/>
                </a:solidFill>
                <a:latin typeface="Courier New" pitchFamily="34" charset="0"/>
                <a:ea typeface="Courier New" pitchFamily="34" charset="-122"/>
                <a:cs typeface="Courier New" pitchFamily="34" charset="-120"/>
              </a:rPr>
              <a:t>INSTANCES</a:t>
            </a:r>
            <a:endParaRPr lang="en-US" sz="1650" dirty="0"/>
          </a:p>
        </p:txBody>
      </p:sp>
      <p:sp>
        <p:nvSpPr>
          <p:cNvPr id="7" name="Text 5"/>
          <p:cNvSpPr/>
          <p:nvPr/>
        </p:nvSpPr>
        <p:spPr>
          <a:xfrm>
            <a:off x="4542020" y="3343275"/>
            <a:ext cx="2995381"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4,424 students</a:t>
            </a:r>
            <a:endParaRPr lang="en-US" sz="2400" dirty="0"/>
          </a:p>
        </p:txBody>
      </p:sp>
      <p:sp>
        <p:nvSpPr>
          <p:cNvPr id="8" name="Shape 6"/>
          <p:cNvSpPr/>
          <p:nvPr/>
        </p:nvSpPr>
        <p:spPr>
          <a:xfrm>
            <a:off x="952500" y="4667250"/>
            <a:ext cx="6508700" cy="9525"/>
          </a:xfrm>
          <a:prstGeom prst="rect">
            <a:avLst/>
          </a:prstGeom>
          <a:solidFill>
            <a:srgbClr val="D9D3C5"/>
          </a:solidFill>
          <a:ln/>
        </p:spPr>
        <p:txBody>
          <a:bodyPr/>
          <a:lstStyle/>
          <a:p>
            <a:endParaRPr lang="en-US"/>
          </a:p>
        </p:txBody>
      </p:sp>
      <p:sp>
        <p:nvSpPr>
          <p:cNvPr id="9" name="Text 7"/>
          <p:cNvSpPr/>
          <p:nvPr/>
        </p:nvSpPr>
        <p:spPr>
          <a:xfrm>
            <a:off x="952500" y="4257675"/>
            <a:ext cx="1249859"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165" dirty="0">
                <a:solidFill>
                  <a:srgbClr val="807C76"/>
                </a:solidFill>
                <a:latin typeface="Courier New" pitchFamily="34" charset="0"/>
                <a:ea typeface="Courier New" pitchFamily="34" charset="-122"/>
                <a:cs typeface="Courier New" pitchFamily="34" charset="-120"/>
              </a:rPr>
              <a:t>FEATURES</a:t>
            </a:r>
            <a:endParaRPr lang="en-US" sz="1650" dirty="0"/>
          </a:p>
        </p:txBody>
      </p:sp>
      <p:sp>
        <p:nvSpPr>
          <p:cNvPr id="10" name="Text 8"/>
          <p:cNvSpPr/>
          <p:nvPr/>
        </p:nvSpPr>
        <p:spPr>
          <a:xfrm>
            <a:off x="4542019" y="4114800"/>
            <a:ext cx="2995381"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36 + 1 target</a:t>
            </a:r>
            <a:endParaRPr lang="en-US" sz="2400" dirty="0"/>
          </a:p>
        </p:txBody>
      </p:sp>
      <p:sp>
        <p:nvSpPr>
          <p:cNvPr id="11" name="Shape 9"/>
          <p:cNvSpPr/>
          <p:nvPr/>
        </p:nvSpPr>
        <p:spPr>
          <a:xfrm>
            <a:off x="952500" y="5438775"/>
            <a:ext cx="6508700" cy="9525"/>
          </a:xfrm>
          <a:prstGeom prst="rect">
            <a:avLst/>
          </a:prstGeom>
          <a:solidFill>
            <a:srgbClr val="D9D3C5"/>
          </a:solidFill>
          <a:ln/>
        </p:spPr>
        <p:txBody>
          <a:bodyPr/>
          <a:lstStyle/>
          <a:p>
            <a:endParaRPr lang="en-US"/>
          </a:p>
        </p:txBody>
      </p:sp>
      <p:sp>
        <p:nvSpPr>
          <p:cNvPr id="12" name="Text 10"/>
          <p:cNvSpPr/>
          <p:nvPr/>
        </p:nvSpPr>
        <p:spPr>
          <a:xfrm>
            <a:off x="952500" y="5029200"/>
            <a:ext cx="2130177"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165" dirty="0">
                <a:solidFill>
                  <a:srgbClr val="807C76"/>
                </a:solidFill>
                <a:latin typeface="Courier New" pitchFamily="34" charset="0"/>
                <a:ea typeface="Courier New" pitchFamily="34" charset="-122"/>
                <a:cs typeface="Courier New" pitchFamily="34" charset="-120"/>
              </a:rPr>
              <a:t>MISSING VALUES</a:t>
            </a:r>
            <a:endParaRPr lang="en-US" sz="1650" dirty="0"/>
          </a:p>
        </p:txBody>
      </p:sp>
      <p:sp>
        <p:nvSpPr>
          <p:cNvPr id="13" name="Text 11"/>
          <p:cNvSpPr/>
          <p:nvPr/>
        </p:nvSpPr>
        <p:spPr>
          <a:xfrm>
            <a:off x="4542019" y="4886325"/>
            <a:ext cx="2995381"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None</a:t>
            </a:r>
            <a:endParaRPr lang="en-US" sz="2400" dirty="0"/>
          </a:p>
        </p:txBody>
      </p:sp>
      <p:sp>
        <p:nvSpPr>
          <p:cNvPr id="14" name="Shape 12"/>
          <p:cNvSpPr/>
          <p:nvPr/>
        </p:nvSpPr>
        <p:spPr>
          <a:xfrm>
            <a:off x="952500" y="6210300"/>
            <a:ext cx="6508700" cy="9525"/>
          </a:xfrm>
          <a:prstGeom prst="rect">
            <a:avLst/>
          </a:prstGeom>
          <a:solidFill>
            <a:srgbClr val="D9D3C5"/>
          </a:solidFill>
          <a:ln/>
        </p:spPr>
        <p:txBody>
          <a:bodyPr/>
          <a:lstStyle/>
          <a:p>
            <a:endParaRPr lang="en-US"/>
          </a:p>
        </p:txBody>
      </p:sp>
      <p:sp>
        <p:nvSpPr>
          <p:cNvPr id="15" name="Text 13"/>
          <p:cNvSpPr/>
          <p:nvPr/>
        </p:nvSpPr>
        <p:spPr>
          <a:xfrm>
            <a:off x="952500" y="5800725"/>
            <a:ext cx="1103263"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165" dirty="0">
                <a:solidFill>
                  <a:srgbClr val="807C76"/>
                </a:solidFill>
                <a:latin typeface="Courier New" pitchFamily="34" charset="0"/>
                <a:ea typeface="Courier New" pitchFamily="34" charset="-122"/>
                <a:cs typeface="Courier New" pitchFamily="34" charset="-120"/>
              </a:rPr>
              <a:t>LICENSE</a:t>
            </a:r>
            <a:endParaRPr lang="en-US" sz="1650" dirty="0"/>
          </a:p>
        </p:txBody>
      </p:sp>
      <p:sp>
        <p:nvSpPr>
          <p:cNvPr id="16" name="Text 14"/>
          <p:cNvSpPr/>
          <p:nvPr/>
        </p:nvSpPr>
        <p:spPr>
          <a:xfrm>
            <a:off x="4542020" y="5657850"/>
            <a:ext cx="2995382"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CC BY 4.0</a:t>
            </a:r>
            <a:endParaRPr lang="en-US" sz="2400" dirty="0"/>
          </a:p>
        </p:txBody>
      </p:sp>
      <p:sp>
        <p:nvSpPr>
          <p:cNvPr id="17" name="Text 15"/>
          <p:cNvSpPr/>
          <p:nvPr/>
        </p:nvSpPr>
        <p:spPr>
          <a:xfrm>
            <a:off x="952500" y="6562725"/>
            <a:ext cx="6703961" cy="5524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350" dirty="0">
                <a:solidFill>
                  <a:srgbClr val="807C76"/>
                </a:solidFill>
                <a:latin typeface="Courier New" pitchFamily="34" charset="0"/>
                <a:ea typeface="Courier New" pitchFamily="34" charset="-122"/>
                <a:cs typeface="Courier New" pitchFamily="34" charset="-120"/>
              </a:rPr>
              <a:t>Source: Instituto Politécnico de Portalegre, PT Citation: Realinho et al., 2021</a:t>
            </a:r>
            <a:endParaRPr lang="en-US" sz="1350" dirty="0"/>
          </a:p>
        </p:txBody>
      </p:sp>
      <p:sp>
        <p:nvSpPr>
          <p:cNvPr id="18" name="Text 16"/>
          <p:cNvSpPr/>
          <p:nvPr/>
        </p:nvSpPr>
        <p:spPr>
          <a:xfrm>
            <a:off x="8223200" y="1704975"/>
            <a:ext cx="4496543"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0E3A53"/>
                </a:solidFill>
                <a:latin typeface="Courier New" pitchFamily="34" charset="0"/>
                <a:ea typeface="Courier New" pitchFamily="34" charset="-122"/>
                <a:cs typeface="Courier New" pitchFamily="34" charset="-120"/>
              </a:rPr>
              <a:t>DEMOGRAPHIC</a:t>
            </a:r>
            <a:endParaRPr lang="en-US" sz="1350" dirty="0"/>
          </a:p>
        </p:txBody>
      </p:sp>
      <p:sp>
        <p:nvSpPr>
          <p:cNvPr id="19" name="Text 17"/>
          <p:cNvSpPr/>
          <p:nvPr/>
        </p:nvSpPr>
        <p:spPr>
          <a:xfrm>
            <a:off x="8049845" y="2047875"/>
            <a:ext cx="4615130" cy="165735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Marital status</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Nationality</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Gender</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Age at enrollment</a:t>
            </a:r>
            <a:endParaRPr lang="en-US" sz="1950" dirty="0"/>
          </a:p>
        </p:txBody>
      </p:sp>
      <p:sp>
        <p:nvSpPr>
          <p:cNvPr id="20" name="Text 18"/>
          <p:cNvSpPr/>
          <p:nvPr/>
        </p:nvSpPr>
        <p:spPr>
          <a:xfrm>
            <a:off x="12969776" y="1704975"/>
            <a:ext cx="449669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0E3A53"/>
                </a:solidFill>
                <a:latin typeface="Courier New" pitchFamily="34" charset="0"/>
                <a:ea typeface="Courier New" pitchFamily="34" charset="-122"/>
                <a:cs typeface="Courier New" pitchFamily="34" charset="-120"/>
              </a:rPr>
              <a:t>ACADEMIC BACKGROUND</a:t>
            </a:r>
            <a:endParaRPr lang="en-US" sz="1350" dirty="0"/>
          </a:p>
        </p:txBody>
      </p:sp>
      <p:sp>
        <p:nvSpPr>
          <p:cNvPr id="21" name="Text 19"/>
          <p:cNvSpPr/>
          <p:nvPr/>
        </p:nvSpPr>
        <p:spPr>
          <a:xfrm>
            <a:off x="12796421" y="2047875"/>
            <a:ext cx="4615279" cy="165735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Previous qualification</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Admission grade</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Course</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Application mode</a:t>
            </a:r>
            <a:endParaRPr lang="en-US" sz="1950" dirty="0"/>
          </a:p>
        </p:txBody>
      </p:sp>
      <p:sp>
        <p:nvSpPr>
          <p:cNvPr id="22" name="Text 20"/>
          <p:cNvSpPr/>
          <p:nvPr/>
        </p:nvSpPr>
        <p:spPr>
          <a:xfrm>
            <a:off x="8223200" y="4010025"/>
            <a:ext cx="4496543"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0E3A53"/>
                </a:solidFill>
                <a:latin typeface="Courier New" pitchFamily="34" charset="0"/>
                <a:ea typeface="Courier New" pitchFamily="34" charset="-122"/>
                <a:cs typeface="Courier New" pitchFamily="34" charset="-120"/>
              </a:rPr>
              <a:t>SOCIO-ECONOMIC</a:t>
            </a:r>
            <a:endParaRPr lang="en-US" sz="1350" dirty="0"/>
          </a:p>
        </p:txBody>
      </p:sp>
      <p:sp>
        <p:nvSpPr>
          <p:cNvPr id="23" name="Text 21"/>
          <p:cNvSpPr/>
          <p:nvPr/>
        </p:nvSpPr>
        <p:spPr>
          <a:xfrm>
            <a:off x="8049845" y="4352925"/>
            <a:ext cx="4615130" cy="165735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Scholarship holder</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Debtor</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Tuition fees up to date</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Parental education / occupation</a:t>
            </a:r>
            <a:endParaRPr lang="en-US" sz="1950" dirty="0"/>
          </a:p>
        </p:txBody>
      </p:sp>
      <p:sp>
        <p:nvSpPr>
          <p:cNvPr id="24" name="Text 22"/>
          <p:cNvSpPr/>
          <p:nvPr/>
        </p:nvSpPr>
        <p:spPr>
          <a:xfrm>
            <a:off x="12969776" y="4010025"/>
            <a:ext cx="449669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0E3A53"/>
                </a:solidFill>
                <a:latin typeface="Courier New" pitchFamily="34" charset="0"/>
                <a:ea typeface="Courier New" pitchFamily="34" charset="-122"/>
                <a:cs typeface="Courier New" pitchFamily="34" charset="-120"/>
              </a:rPr>
              <a:t>PERFORMANCE (SEM 1 &amp; 2)</a:t>
            </a:r>
            <a:endParaRPr lang="en-US" sz="1350" dirty="0"/>
          </a:p>
        </p:txBody>
      </p:sp>
      <p:sp>
        <p:nvSpPr>
          <p:cNvPr id="25" name="Text 23"/>
          <p:cNvSpPr/>
          <p:nvPr/>
        </p:nvSpPr>
        <p:spPr>
          <a:xfrm>
            <a:off x="12796421" y="4352925"/>
            <a:ext cx="4615279" cy="1657350"/>
          </a:xfrm>
          <a:prstGeom prst="rect">
            <a:avLst/>
          </a:prstGeom>
          <a:noFill/>
          <a:ln/>
        </p:spPr>
        <p:txBody>
          <a:bodyPr wrap="square" lIns="25400" tIns="25400" rIns="25400" bIns="25400" rtlCol="0" anchor="t">
            <a:normAutofit/>
          </a:bodyPr>
          <a:lstStyle/>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Units enrolled</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Units approved</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Semester grade</a:t>
            </a:r>
            <a:endParaRPr lang="en-US" sz="1950" dirty="0"/>
          </a:p>
          <a:p>
            <a:pPr marL="0" indent="0" algn="l">
              <a:lnSpc>
                <a:spcPct val="135000"/>
              </a:lnSpc>
              <a:buNone/>
            </a:pPr>
            <a:r>
              <a:rPr lang="en-US" sz="1950" dirty="0">
                <a:solidFill>
                  <a:srgbClr val="4B4845"/>
                </a:solidFill>
                <a:latin typeface="-apple-system" pitchFamily="34" charset="0"/>
                <a:ea typeface="-apple-system" pitchFamily="34" charset="-122"/>
                <a:cs typeface="-apple-system" pitchFamily="34" charset="-120"/>
              </a:rPr>
              <a:t>Evaluations taken</a:t>
            </a:r>
            <a:endParaRPr lang="en-US" sz="1950" dirty="0"/>
          </a:p>
        </p:txBody>
      </p:sp>
      <p:sp>
        <p:nvSpPr>
          <p:cNvPr id="26" name="Text 24"/>
          <p:cNvSpPr/>
          <p:nvPr/>
        </p:nvSpPr>
        <p:spPr>
          <a:xfrm>
            <a:off x="16692116" y="7200900"/>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04/19</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348992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04 · DATA WAREHOUSE</a:t>
            </a:r>
            <a:endParaRPr lang="en-US" sz="1800" dirty="0"/>
          </a:p>
        </p:txBody>
      </p:sp>
      <p:sp>
        <p:nvSpPr>
          <p:cNvPr id="4" name="Text 2"/>
          <p:cNvSpPr/>
          <p:nvPr/>
        </p:nvSpPr>
        <p:spPr>
          <a:xfrm>
            <a:off x="952500" y="1704975"/>
            <a:ext cx="16874490" cy="66675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Star schema for the analytical layer</a:t>
            </a:r>
            <a:endParaRPr lang="en-US" sz="4800" dirty="0"/>
          </a:p>
        </p:txBody>
      </p:sp>
      <p:sp>
        <p:nvSpPr>
          <p:cNvPr id="5" name="Shape 3"/>
          <p:cNvSpPr/>
          <p:nvPr/>
        </p:nvSpPr>
        <p:spPr>
          <a:xfrm>
            <a:off x="952500" y="2809875"/>
            <a:ext cx="4802832" cy="1704975"/>
          </a:xfrm>
          <a:prstGeom prst="rect">
            <a:avLst/>
          </a:prstGeom>
          <a:solidFill>
            <a:srgbClr val="FFFFFF"/>
          </a:solidFill>
          <a:ln w="9525">
            <a:solidFill>
              <a:srgbClr val="D9D3C5"/>
            </a:solidFill>
            <a:prstDash val="solid"/>
          </a:ln>
        </p:spPr>
        <p:txBody>
          <a:bodyPr/>
          <a:lstStyle/>
          <a:p>
            <a:endParaRPr lang="en-US"/>
          </a:p>
        </p:txBody>
      </p:sp>
      <p:sp>
        <p:nvSpPr>
          <p:cNvPr id="6" name="Text 4"/>
          <p:cNvSpPr/>
          <p:nvPr/>
        </p:nvSpPr>
        <p:spPr>
          <a:xfrm>
            <a:off x="1171575" y="3028950"/>
            <a:ext cx="4495623" cy="257175"/>
          </a:xfrm>
          <a:prstGeom prst="rect">
            <a:avLst/>
          </a:prstGeom>
          <a:noFill/>
          <a:ln/>
        </p:spPr>
        <p:txBody>
          <a:bodyPr wrap="square" lIns="25400" tIns="25400" rIns="25400" bIns="25400" rtlCol="0" anchor="t">
            <a:normAutofit/>
          </a:bodyPr>
          <a:lstStyle/>
          <a:p>
            <a:pPr marL="0" indent="0" algn="l">
              <a:buNone/>
            </a:pPr>
            <a:r>
              <a:rPr lang="en-US" sz="1350" b="1" kern="0" spc="135" dirty="0">
                <a:solidFill>
                  <a:srgbClr val="0E3A53"/>
                </a:solidFill>
                <a:latin typeface="Courier New" pitchFamily="34" charset="0"/>
                <a:ea typeface="Courier New" pitchFamily="34" charset="-122"/>
                <a:cs typeface="Courier New" pitchFamily="34" charset="-120"/>
              </a:rPr>
              <a:t>STUDENT_DIM</a:t>
            </a:r>
            <a:endParaRPr lang="en-US" sz="1350" dirty="0"/>
          </a:p>
        </p:txBody>
      </p:sp>
      <p:sp>
        <p:nvSpPr>
          <p:cNvPr id="7" name="Text 5"/>
          <p:cNvSpPr/>
          <p:nvPr/>
        </p:nvSpPr>
        <p:spPr>
          <a:xfrm>
            <a:off x="1051560" y="3362325"/>
            <a:ext cx="4560897" cy="971550"/>
          </a:xfrm>
          <a:prstGeom prst="rect">
            <a:avLst/>
          </a:prstGeom>
          <a:noFill/>
          <a:ln/>
        </p:spPr>
        <p:txBody>
          <a:bodyPr wrap="square" lIns="25400" tIns="25400" rIns="25400" bIns="25400" rtlCol="0" anchor="t">
            <a:normAutofit/>
          </a:bodyPr>
          <a:lstStyle/>
          <a:p>
            <a:pPr marL="0" indent="0" algn="l">
              <a:buNone/>
            </a:pPr>
            <a:r>
              <a:rPr lang="en-US" sz="1350" dirty="0">
                <a:solidFill>
                  <a:srgbClr val="4B4845"/>
                </a:solidFill>
                <a:latin typeface="Courier New" pitchFamily="34" charset="0"/>
                <a:ea typeface="Courier New" pitchFamily="34" charset="-122"/>
                <a:cs typeface="Courier New" pitchFamily="34" charset="-120"/>
              </a:rPr>
              <a:t>age</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gender</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marital_status</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nationality</a:t>
            </a:r>
            <a:endParaRPr lang="en-US" sz="1350" dirty="0"/>
          </a:p>
        </p:txBody>
      </p:sp>
      <p:sp>
        <p:nvSpPr>
          <p:cNvPr id="8" name="Shape 6"/>
          <p:cNvSpPr/>
          <p:nvPr/>
        </p:nvSpPr>
        <p:spPr>
          <a:xfrm>
            <a:off x="952500" y="4743450"/>
            <a:ext cx="4802832" cy="1704975"/>
          </a:xfrm>
          <a:prstGeom prst="rect">
            <a:avLst/>
          </a:prstGeom>
          <a:solidFill>
            <a:srgbClr val="FFFFFF"/>
          </a:solidFill>
          <a:ln w="9525">
            <a:solidFill>
              <a:srgbClr val="D9D3C5"/>
            </a:solidFill>
            <a:prstDash val="solid"/>
          </a:ln>
        </p:spPr>
        <p:txBody>
          <a:bodyPr/>
          <a:lstStyle/>
          <a:p>
            <a:endParaRPr lang="en-US"/>
          </a:p>
        </p:txBody>
      </p:sp>
      <p:sp>
        <p:nvSpPr>
          <p:cNvPr id="9" name="Text 7"/>
          <p:cNvSpPr/>
          <p:nvPr/>
        </p:nvSpPr>
        <p:spPr>
          <a:xfrm>
            <a:off x="1171575" y="4962525"/>
            <a:ext cx="4495623" cy="257175"/>
          </a:xfrm>
          <a:prstGeom prst="rect">
            <a:avLst/>
          </a:prstGeom>
          <a:noFill/>
          <a:ln/>
        </p:spPr>
        <p:txBody>
          <a:bodyPr wrap="square" lIns="25400" tIns="25400" rIns="25400" bIns="25400" rtlCol="0" anchor="t">
            <a:normAutofit/>
          </a:bodyPr>
          <a:lstStyle/>
          <a:p>
            <a:pPr marL="0" indent="0" algn="l">
              <a:buNone/>
            </a:pPr>
            <a:r>
              <a:rPr lang="en-US" sz="1350" b="1" kern="0" spc="135" dirty="0">
                <a:solidFill>
                  <a:srgbClr val="0E3A53"/>
                </a:solidFill>
                <a:latin typeface="Courier New" pitchFamily="34" charset="0"/>
                <a:ea typeface="Courier New" pitchFamily="34" charset="-122"/>
                <a:cs typeface="Courier New" pitchFamily="34" charset="-120"/>
              </a:rPr>
              <a:t>FAMILY_DIM</a:t>
            </a:r>
            <a:endParaRPr lang="en-US" sz="1350" dirty="0"/>
          </a:p>
        </p:txBody>
      </p:sp>
      <p:sp>
        <p:nvSpPr>
          <p:cNvPr id="10" name="Text 8"/>
          <p:cNvSpPr/>
          <p:nvPr/>
        </p:nvSpPr>
        <p:spPr>
          <a:xfrm>
            <a:off x="1051560" y="5295900"/>
            <a:ext cx="4560897" cy="971550"/>
          </a:xfrm>
          <a:prstGeom prst="rect">
            <a:avLst/>
          </a:prstGeom>
          <a:noFill/>
          <a:ln/>
        </p:spPr>
        <p:txBody>
          <a:bodyPr wrap="square" lIns="25400" tIns="25400" rIns="25400" bIns="25400" rtlCol="0" anchor="t">
            <a:normAutofit/>
          </a:bodyPr>
          <a:lstStyle/>
          <a:p>
            <a:pPr marL="0" indent="0" algn="l">
              <a:buNone/>
            </a:pPr>
            <a:r>
              <a:rPr lang="en-US" sz="1350" dirty="0">
                <a:solidFill>
                  <a:srgbClr val="4B4845"/>
                </a:solidFill>
                <a:latin typeface="Courier New" pitchFamily="34" charset="0"/>
                <a:ea typeface="Courier New" pitchFamily="34" charset="-122"/>
                <a:cs typeface="Courier New" pitchFamily="34" charset="-120"/>
              </a:rPr>
              <a:t>mother_qualification</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father_qualification</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mother_occupation</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father_occupation</a:t>
            </a:r>
            <a:endParaRPr lang="en-US" sz="1350" dirty="0"/>
          </a:p>
        </p:txBody>
      </p:sp>
      <p:sp>
        <p:nvSpPr>
          <p:cNvPr id="11" name="Shape 9"/>
          <p:cNvSpPr/>
          <p:nvPr/>
        </p:nvSpPr>
        <p:spPr>
          <a:xfrm>
            <a:off x="6022032" y="3095625"/>
            <a:ext cx="6243786" cy="3067050"/>
          </a:xfrm>
          <a:prstGeom prst="rect">
            <a:avLst/>
          </a:prstGeom>
          <a:solidFill>
            <a:srgbClr val="0E3A53"/>
          </a:solidFill>
          <a:ln w="19050">
            <a:solidFill>
              <a:srgbClr val="0E3A53"/>
            </a:solidFill>
            <a:prstDash val="solid"/>
          </a:ln>
        </p:spPr>
        <p:txBody>
          <a:bodyPr/>
          <a:lstStyle/>
          <a:p>
            <a:endParaRPr lang="en-US"/>
          </a:p>
        </p:txBody>
      </p:sp>
      <p:sp>
        <p:nvSpPr>
          <p:cNvPr id="12" name="Text 10"/>
          <p:cNvSpPr/>
          <p:nvPr/>
        </p:nvSpPr>
        <p:spPr>
          <a:xfrm>
            <a:off x="6307782" y="3419475"/>
            <a:ext cx="5842455" cy="285750"/>
          </a:xfrm>
          <a:prstGeom prst="rect">
            <a:avLst/>
          </a:prstGeom>
          <a:noFill/>
          <a:ln/>
        </p:spPr>
        <p:txBody>
          <a:bodyPr wrap="square" lIns="25400" tIns="25400" rIns="25400" bIns="25400" rtlCol="0" anchor="t">
            <a:normAutofit/>
          </a:bodyPr>
          <a:lstStyle/>
          <a:p>
            <a:pPr marL="0" indent="0" algn="l">
              <a:buNone/>
            </a:pPr>
            <a:r>
              <a:rPr lang="en-US" sz="1500" b="1" kern="0" spc="150" dirty="0">
                <a:solidFill>
                  <a:srgbClr val="FFFFFF">
                    <a:alpha val="70000"/>
                  </a:srgbClr>
                </a:solidFill>
                <a:latin typeface="Courier New" pitchFamily="34" charset="0"/>
                <a:ea typeface="Courier New" pitchFamily="34" charset="-122"/>
                <a:cs typeface="Courier New" pitchFamily="34" charset="-120"/>
              </a:rPr>
              <a:t>FACT</a:t>
            </a:r>
            <a:endParaRPr lang="en-US" sz="1500" dirty="0"/>
          </a:p>
        </p:txBody>
      </p:sp>
      <p:sp>
        <p:nvSpPr>
          <p:cNvPr id="13" name="Text 11"/>
          <p:cNvSpPr/>
          <p:nvPr/>
        </p:nvSpPr>
        <p:spPr>
          <a:xfrm>
            <a:off x="6307782" y="3819525"/>
            <a:ext cx="5842455" cy="39052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2700" b="1" dirty="0">
                <a:solidFill>
                  <a:srgbClr val="FFFFFF"/>
                </a:solidFill>
                <a:latin typeface="Georgia" pitchFamily="34" charset="0"/>
                <a:ea typeface="Georgia" pitchFamily="34" charset="-122"/>
                <a:cs typeface="Georgia" pitchFamily="34" charset="-120"/>
              </a:rPr>
              <a:t>Student_Enrollment_Fact</a:t>
            </a:r>
            <a:endParaRPr lang="en-US" sz="2700" dirty="0"/>
          </a:p>
        </p:txBody>
      </p:sp>
      <p:sp>
        <p:nvSpPr>
          <p:cNvPr id="14" name="Text 12"/>
          <p:cNvSpPr/>
          <p:nvPr/>
        </p:nvSpPr>
        <p:spPr>
          <a:xfrm>
            <a:off x="6161097" y="4343400"/>
            <a:ext cx="5895171" cy="1533525"/>
          </a:xfrm>
          <a:prstGeom prst="rect">
            <a:avLst/>
          </a:prstGeom>
          <a:noFill/>
          <a:ln/>
        </p:spPr>
        <p:txBody>
          <a:bodyPr wrap="square" lIns="25400" tIns="25400" rIns="25400" bIns="25400" rtlCol="0" anchor="t">
            <a:normAutofit/>
          </a:bodyPr>
          <a:lstStyle/>
          <a:p>
            <a:pPr marL="0" indent="0" algn="l">
              <a:buNone/>
            </a:pPr>
            <a:r>
              <a:rPr lang="en-US" sz="1650" dirty="0">
                <a:solidFill>
                  <a:srgbClr val="FFFFFF">
                    <a:alpha val="92000"/>
                  </a:srgbClr>
                </a:solidFill>
                <a:latin typeface="Courier New" pitchFamily="34" charset="0"/>
                <a:ea typeface="Courier New" pitchFamily="34" charset="-122"/>
                <a:cs typeface="Courier New" pitchFamily="34" charset="-120"/>
              </a:rPr>
              <a:t>student_id PK</a:t>
            </a:r>
            <a:endParaRPr lang="en-US" sz="1650" dirty="0"/>
          </a:p>
          <a:p>
            <a:pPr marL="0" indent="0" algn="l">
              <a:buNone/>
            </a:pPr>
            <a:r>
              <a:rPr lang="en-US" sz="1650" dirty="0">
                <a:solidFill>
                  <a:srgbClr val="FFFFFF">
                    <a:alpha val="92000"/>
                  </a:srgbClr>
                </a:solidFill>
                <a:latin typeface="Courier New" pitchFamily="34" charset="0"/>
                <a:ea typeface="Courier New" pitchFamily="34" charset="-122"/>
                <a:cs typeface="Courier New" pitchFamily="34" charset="-120"/>
              </a:rPr>
              <a:t>course_id FK</a:t>
            </a:r>
            <a:endParaRPr lang="en-US" sz="1650" dirty="0"/>
          </a:p>
          <a:p>
            <a:pPr marL="0" indent="0" algn="l">
              <a:buNone/>
            </a:pPr>
            <a:r>
              <a:rPr lang="en-US" sz="1650" dirty="0">
                <a:solidFill>
                  <a:srgbClr val="FFFFFF">
                    <a:alpha val="92000"/>
                  </a:srgbClr>
                </a:solidFill>
                <a:latin typeface="Courier New" pitchFamily="34" charset="0"/>
                <a:ea typeface="Courier New" pitchFamily="34" charset="-122"/>
                <a:cs typeface="Courier New" pitchFamily="34" charset="-120"/>
              </a:rPr>
              <a:t>sem1_grade · sem1_approved</a:t>
            </a:r>
            <a:endParaRPr lang="en-US" sz="1650" dirty="0"/>
          </a:p>
          <a:p>
            <a:pPr marL="0" indent="0" algn="l">
              <a:buNone/>
            </a:pPr>
            <a:r>
              <a:rPr lang="en-US" sz="1650" dirty="0">
                <a:solidFill>
                  <a:srgbClr val="FFFFFF">
                    <a:alpha val="92000"/>
                  </a:srgbClr>
                </a:solidFill>
                <a:latin typeface="Courier New" pitchFamily="34" charset="0"/>
                <a:ea typeface="Courier New" pitchFamily="34" charset="-122"/>
                <a:cs typeface="Courier New" pitchFamily="34" charset="-120"/>
              </a:rPr>
              <a:t>sem2_grade · sem2_approved</a:t>
            </a:r>
            <a:endParaRPr lang="en-US" sz="1650" dirty="0"/>
          </a:p>
          <a:p>
            <a:pPr marL="0" indent="0" algn="l">
              <a:buNone/>
            </a:pPr>
            <a:r>
              <a:rPr lang="en-US" sz="1650" dirty="0">
                <a:solidFill>
                  <a:srgbClr val="FFFFFF">
                    <a:alpha val="92000"/>
                  </a:srgbClr>
                </a:solidFill>
                <a:latin typeface="Courier New" pitchFamily="34" charset="0"/>
                <a:ea typeface="Courier New" pitchFamily="34" charset="-122"/>
                <a:cs typeface="Courier New" pitchFamily="34" charset="-120"/>
              </a:rPr>
              <a:t>target_outcome</a:t>
            </a:r>
            <a:endParaRPr lang="en-US" sz="1650" dirty="0"/>
          </a:p>
        </p:txBody>
      </p:sp>
      <p:sp>
        <p:nvSpPr>
          <p:cNvPr id="15" name="Shape 13"/>
          <p:cNvSpPr/>
          <p:nvPr/>
        </p:nvSpPr>
        <p:spPr>
          <a:xfrm>
            <a:off x="12532519" y="2809875"/>
            <a:ext cx="4802981" cy="1704975"/>
          </a:xfrm>
          <a:prstGeom prst="rect">
            <a:avLst/>
          </a:prstGeom>
          <a:solidFill>
            <a:srgbClr val="FFFFFF"/>
          </a:solidFill>
          <a:ln w="9525">
            <a:solidFill>
              <a:srgbClr val="D9D3C5"/>
            </a:solidFill>
            <a:prstDash val="solid"/>
          </a:ln>
        </p:spPr>
        <p:txBody>
          <a:bodyPr/>
          <a:lstStyle/>
          <a:p>
            <a:endParaRPr lang="en-US"/>
          </a:p>
        </p:txBody>
      </p:sp>
      <p:sp>
        <p:nvSpPr>
          <p:cNvPr id="16" name="Text 14"/>
          <p:cNvSpPr/>
          <p:nvPr/>
        </p:nvSpPr>
        <p:spPr>
          <a:xfrm>
            <a:off x="12751594" y="3028950"/>
            <a:ext cx="4495776" cy="257175"/>
          </a:xfrm>
          <a:prstGeom prst="rect">
            <a:avLst/>
          </a:prstGeom>
          <a:noFill/>
          <a:ln/>
        </p:spPr>
        <p:txBody>
          <a:bodyPr wrap="square" lIns="25400" tIns="25400" rIns="25400" bIns="25400" rtlCol="0" anchor="t">
            <a:normAutofit/>
          </a:bodyPr>
          <a:lstStyle/>
          <a:p>
            <a:pPr marL="0" indent="0" algn="l">
              <a:buNone/>
            </a:pPr>
            <a:r>
              <a:rPr lang="en-US" sz="1350" b="1" kern="0" spc="135" dirty="0">
                <a:solidFill>
                  <a:srgbClr val="0E3A53"/>
                </a:solidFill>
                <a:latin typeface="Courier New" pitchFamily="34" charset="0"/>
                <a:ea typeface="Courier New" pitchFamily="34" charset="-122"/>
                <a:cs typeface="Courier New" pitchFamily="34" charset="-120"/>
              </a:rPr>
              <a:t>ACADEMIC_DIM</a:t>
            </a:r>
            <a:endParaRPr lang="en-US" sz="1350" dirty="0"/>
          </a:p>
        </p:txBody>
      </p:sp>
      <p:sp>
        <p:nvSpPr>
          <p:cNvPr id="17" name="Text 15"/>
          <p:cNvSpPr/>
          <p:nvPr/>
        </p:nvSpPr>
        <p:spPr>
          <a:xfrm>
            <a:off x="12631579" y="3362325"/>
            <a:ext cx="4561046" cy="971550"/>
          </a:xfrm>
          <a:prstGeom prst="rect">
            <a:avLst/>
          </a:prstGeom>
          <a:noFill/>
          <a:ln/>
        </p:spPr>
        <p:txBody>
          <a:bodyPr wrap="square" lIns="25400" tIns="25400" rIns="25400" bIns="25400" rtlCol="0" anchor="t">
            <a:normAutofit/>
          </a:bodyPr>
          <a:lstStyle/>
          <a:p>
            <a:pPr marL="0" indent="0" algn="l">
              <a:buNone/>
            </a:pPr>
            <a:r>
              <a:rPr lang="en-US" sz="1350" dirty="0">
                <a:solidFill>
                  <a:srgbClr val="4B4845"/>
                </a:solidFill>
                <a:latin typeface="Courier New" pitchFamily="34" charset="0"/>
                <a:ea typeface="Courier New" pitchFamily="34" charset="-122"/>
                <a:cs typeface="Courier New" pitchFamily="34" charset="-120"/>
              </a:rPr>
              <a:t>prev_qualification</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application_mode</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admission_grade</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course</a:t>
            </a:r>
            <a:endParaRPr lang="en-US" sz="1350" dirty="0"/>
          </a:p>
        </p:txBody>
      </p:sp>
      <p:sp>
        <p:nvSpPr>
          <p:cNvPr id="18" name="Shape 16"/>
          <p:cNvSpPr/>
          <p:nvPr/>
        </p:nvSpPr>
        <p:spPr>
          <a:xfrm>
            <a:off x="12532519" y="4743450"/>
            <a:ext cx="4802981" cy="1704975"/>
          </a:xfrm>
          <a:prstGeom prst="rect">
            <a:avLst/>
          </a:prstGeom>
          <a:solidFill>
            <a:srgbClr val="FFFFFF"/>
          </a:solidFill>
          <a:ln w="9525">
            <a:solidFill>
              <a:srgbClr val="D9D3C5"/>
            </a:solidFill>
            <a:prstDash val="solid"/>
          </a:ln>
        </p:spPr>
        <p:txBody>
          <a:bodyPr/>
          <a:lstStyle/>
          <a:p>
            <a:endParaRPr lang="en-US"/>
          </a:p>
        </p:txBody>
      </p:sp>
      <p:sp>
        <p:nvSpPr>
          <p:cNvPr id="19" name="Text 17"/>
          <p:cNvSpPr/>
          <p:nvPr/>
        </p:nvSpPr>
        <p:spPr>
          <a:xfrm>
            <a:off x="12751594" y="4962525"/>
            <a:ext cx="4495776" cy="257175"/>
          </a:xfrm>
          <a:prstGeom prst="rect">
            <a:avLst/>
          </a:prstGeom>
          <a:noFill/>
          <a:ln/>
        </p:spPr>
        <p:txBody>
          <a:bodyPr wrap="square" lIns="25400" tIns="25400" rIns="25400" bIns="25400" rtlCol="0" anchor="t">
            <a:normAutofit/>
          </a:bodyPr>
          <a:lstStyle/>
          <a:p>
            <a:pPr marL="0" indent="0" algn="l">
              <a:buNone/>
            </a:pPr>
            <a:r>
              <a:rPr lang="en-US" sz="1350" b="1" kern="0" spc="135" dirty="0">
                <a:solidFill>
                  <a:srgbClr val="0E3A53"/>
                </a:solidFill>
                <a:latin typeface="Courier New" pitchFamily="34" charset="0"/>
                <a:ea typeface="Courier New" pitchFamily="34" charset="-122"/>
                <a:cs typeface="Courier New" pitchFamily="34" charset="-120"/>
              </a:rPr>
              <a:t>ECONOMIC_DIM</a:t>
            </a:r>
            <a:endParaRPr lang="en-US" sz="1350" dirty="0"/>
          </a:p>
        </p:txBody>
      </p:sp>
      <p:sp>
        <p:nvSpPr>
          <p:cNvPr id="20" name="Text 18"/>
          <p:cNvSpPr/>
          <p:nvPr/>
        </p:nvSpPr>
        <p:spPr>
          <a:xfrm>
            <a:off x="12631579" y="5295900"/>
            <a:ext cx="4561046" cy="971550"/>
          </a:xfrm>
          <a:prstGeom prst="rect">
            <a:avLst/>
          </a:prstGeom>
          <a:noFill/>
          <a:ln/>
        </p:spPr>
        <p:txBody>
          <a:bodyPr wrap="square" lIns="25400" tIns="25400" rIns="25400" bIns="25400" rtlCol="0" anchor="t">
            <a:normAutofit/>
          </a:bodyPr>
          <a:lstStyle/>
          <a:p>
            <a:pPr marL="0" indent="0" algn="l">
              <a:buNone/>
            </a:pPr>
            <a:r>
              <a:rPr lang="en-US" sz="1350" dirty="0">
                <a:solidFill>
                  <a:srgbClr val="4B4845"/>
                </a:solidFill>
                <a:latin typeface="Courier New" pitchFamily="34" charset="0"/>
                <a:ea typeface="Courier New" pitchFamily="34" charset="-122"/>
                <a:cs typeface="Courier New" pitchFamily="34" charset="-120"/>
              </a:rPr>
              <a:t>scholarship</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debtor</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tuition_fees</a:t>
            </a:r>
            <a:endParaRPr lang="en-US" sz="1350" dirty="0"/>
          </a:p>
          <a:p>
            <a:pPr marL="0" indent="0" algn="l">
              <a:buNone/>
            </a:pPr>
            <a:r>
              <a:rPr lang="en-US" sz="1350" dirty="0">
                <a:solidFill>
                  <a:srgbClr val="4B4845"/>
                </a:solidFill>
                <a:latin typeface="Courier New" pitchFamily="34" charset="0"/>
                <a:ea typeface="Courier New" pitchFamily="34" charset="-122"/>
                <a:cs typeface="Courier New" pitchFamily="34" charset="-120"/>
              </a:rPr>
              <a:t>unemployment_rate · GDP</a:t>
            </a:r>
            <a:endParaRPr lang="en-US" sz="1350" dirty="0"/>
          </a:p>
        </p:txBody>
      </p:sp>
      <p:sp>
        <p:nvSpPr>
          <p:cNvPr id="21" name="Text 19"/>
          <p:cNvSpPr/>
          <p:nvPr/>
        </p:nvSpPr>
        <p:spPr>
          <a:xfrm>
            <a:off x="952500" y="6943725"/>
            <a:ext cx="746968"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66" dirty="0">
                <a:solidFill>
                  <a:srgbClr val="807C76"/>
                </a:solidFill>
                <a:latin typeface="Courier New" pitchFamily="34" charset="0"/>
                <a:ea typeface="Courier New" pitchFamily="34" charset="-122"/>
                <a:cs typeface="Courier New" pitchFamily="34" charset="-120"/>
              </a:rPr>
              <a:t>ETL ›</a:t>
            </a:r>
            <a:endParaRPr lang="en-US" sz="1650" dirty="0"/>
          </a:p>
        </p:txBody>
      </p:sp>
      <p:sp>
        <p:nvSpPr>
          <p:cNvPr id="22" name="Text 20"/>
          <p:cNvSpPr/>
          <p:nvPr/>
        </p:nvSpPr>
        <p:spPr>
          <a:xfrm>
            <a:off x="1775668" y="6943725"/>
            <a:ext cx="1417588"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66" dirty="0">
                <a:solidFill>
                  <a:srgbClr val="4B4845"/>
                </a:solidFill>
                <a:latin typeface="Courier New" pitchFamily="34" charset="0"/>
                <a:ea typeface="Courier New" pitchFamily="34" charset="-122"/>
                <a:cs typeface="Courier New" pitchFamily="34" charset="-120"/>
              </a:rPr>
              <a:t>Source DBs</a:t>
            </a:r>
            <a:endParaRPr lang="en-US" sz="1650" dirty="0"/>
          </a:p>
        </p:txBody>
      </p:sp>
      <p:sp>
        <p:nvSpPr>
          <p:cNvPr id="23" name="Text 21"/>
          <p:cNvSpPr/>
          <p:nvPr/>
        </p:nvSpPr>
        <p:spPr>
          <a:xfrm>
            <a:off x="3269456" y="6943725"/>
            <a:ext cx="210443"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66" dirty="0">
                <a:solidFill>
                  <a:srgbClr val="807C76"/>
                </a:solidFill>
                <a:latin typeface="Courier New" pitchFamily="34" charset="0"/>
                <a:ea typeface="Courier New" pitchFamily="34" charset="-122"/>
                <a:cs typeface="Courier New" pitchFamily="34" charset="-120"/>
              </a:rPr>
              <a:t>→</a:t>
            </a:r>
            <a:endParaRPr lang="en-US" sz="1650" dirty="0"/>
          </a:p>
        </p:txBody>
      </p:sp>
      <p:sp>
        <p:nvSpPr>
          <p:cNvPr id="24" name="Text 22"/>
          <p:cNvSpPr/>
          <p:nvPr/>
        </p:nvSpPr>
        <p:spPr>
          <a:xfrm>
            <a:off x="3556099" y="6943725"/>
            <a:ext cx="1015157"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66" dirty="0">
                <a:solidFill>
                  <a:srgbClr val="4B4845"/>
                </a:solidFill>
                <a:latin typeface="Courier New" pitchFamily="34" charset="0"/>
                <a:ea typeface="Courier New" pitchFamily="34" charset="-122"/>
                <a:cs typeface="Courier New" pitchFamily="34" charset="-120"/>
              </a:rPr>
              <a:t>Extract</a:t>
            </a:r>
            <a:endParaRPr lang="en-US" sz="1650" dirty="0"/>
          </a:p>
        </p:txBody>
      </p:sp>
      <p:sp>
        <p:nvSpPr>
          <p:cNvPr id="25" name="Text 23"/>
          <p:cNvSpPr/>
          <p:nvPr/>
        </p:nvSpPr>
        <p:spPr>
          <a:xfrm>
            <a:off x="4647456" y="6943725"/>
            <a:ext cx="210443"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66" dirty="0">
                <a:solidFill>
                  <a:srgbClr val="807C76"/>
                </a:solidFill>
                <a:latin typeface="Courier New" pitchFamily="34" charset="0"/>
                <a:ea typeface="Courier New" pitchFamily="34" charset="-122"/>
                <a:cs typeface="Courier New" pitchFamily="34" charset="-120"/>
              </a:rPr>
              <a:t>→</a:t>
            </a:r>
            <a:endParaRPr lang="en-US" sz="1650" dirty="0"/>
          </a:p>
        </p:txBody>
      </p:sp>
      <p:sp>
        <p:nvSpPr>
          <p:cNvPr id="26" name="Text 24"/>
          <p:cNvSpPr/>
          <p:nvPr/>
        </p:nvSpPr>
        <p:spPr>
          <a:xfrm>
            <a:off x="4934099" y="6943725"/>
            <a:ext cx="414473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66" dirty="0">
                <a:solidFill>
                  <a:srgbClr val="4B4845"/>
                </a:solidFill>
                <a:latin typeface="Courier New" pitchFamily="34" charset="0"/>
                <a:ea typeface="Courier New" pitchFamily="34" charset="-122"/>
                <a:cs typeface="Courier New" pitchFamily="34" charset="-120"/>
              </a:rPr>
              <a:t>Transform</a:t>
            </a:r>
            <a:r>
              <a:rPr lang="en-US" sz="1650" kern="0" spc="66" dirty="0">
                <a:solidFill>
                  <a:srgbClr val="807C76"/>
                </a:solidFill>
                <a:latin typeface="Courier New" pitchFamily="34" charset="0"/>
                <a:ea typeface="Courier New" pitchFamily="34" charset="-122"/>
                <a:cs typeface="Courier New" pitchFamily="34" charset="-120"/>
              </a:rPr>
              <a:t>(encode · normalize)</a:t>
            </a:r>
            <a:endParaRPr lang="en-US" sz="1650" dirty="0"/>
          </a:p>
        </p:txBody>
      </p:sp>
      <p:sp>
        <p:nvSpPr>
          <p:cNvPr id="27" name="Text 25"/>
          <p:cNvSpPr/>
          <p:nvPr/>
        </p:nvSpPr>
        <p:spPr>
          <a:xfrm>
            <a:off x="9110514" y="6943725"/>
            <a:ext cx="210443"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66" dirty="0">
                <a:solidFill>
                  <a:srgbClr val="807C76"/>
                </a:solidFill>
                <a:latin typeface="Courier New" pitchFamily="34" charset="0"/>
                <a:ea typeface="Courier New" pitchFamily="34" charset="-122"/>
                <a:cs typeface="Courier New" pitchFamily="34" charset="-120"/>
              </a:rPr>
              <a:t>→</a:t>
            </a:r>
            <a:endParaRPr lang="en-US" sz="1650" dirty="0"/>
          </a:p>
        </p:txBody>
      </p:sp>
      <p:sp>
        <p:nvSpPr>
          <p:cNvPr id="28" name="Text 26"/>
          <p:cNvSpPr/>
          <p:nvPr/>
        </p:nvSpPr>
        <p:spPr>
          <a:xfrm>
            <a:off x="9397157" y="6943725"/>
            <a:ext cx="612874"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66" dirty="0">
                <a:solidFill>
                  <a:srgbClr val="4B4845"/>
                </a:solidFill>
                <a:latin typeface="Courier New" pitchFamily="34" charset="0"/>
                <a:ea typeface="Courier New" pitchFamily="34" charset="-122"/>
                <a:cs typeface="Courier New" pitchFamily="34" charset="-120"/>
              </a:rPr>
              <a:t>Load</a:t>
            </a:r>
            <a:endParaRPr lang="en-US" sz="1650" dirty="0"/>
          </a:p>
        </p:txBody>
      </p:sp>
      <p:sp>
        <p:nvSpPr>
          <p:cNvPr id="29" name="Text 27"/>
          <p:cNvSpPr/>
          <p:nvPr/>
        </p:nvSpPr>
        <p:spPr>
          <a:xfrm>
            <a:off x="10086231" y="6943725"/>
            <a:ext cx="210443"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66" dirty="0">
                <a:solidFill>
                  <a:srgbClr val="807C76"/>
                </a:solidFill>
                <a:latin typeface="Courier New" pitchFamily="34" charset="0"/>
                <a:ea typeface="Courier New" pitchFamily="34" charset="-122"/>
                <a:cs typeface="Courier New" pitchFamily="34" charset="-120"/>
              </a:rPr>
              <a:t>→</a:t>
            </a:r>
            <a:endParaRPr lang="en-US" sz="1650" dirty="0"/>
          </a:p>
        </p:txBody>
      </p:sp>
      <p:sp>
        <p:nvSpPr>
          <p:cNvPr id="30" name="Text 28"/>
          <p:cNvSpPr/>
          <p:nvPr/>
        </p:nvSpPr>
        <p:spPr>
          <a:xfrm>
            <a:off x="10372874" y="6924675"/>
            <a:ext cx="1615529" cy="314325"/>
          </a:xfrm>
          <a:prstGeom prst="rect">
            <a:avLst/>
          </a:prstGeom>
          <a:noFill/>
          <a:ln/>
        </p:spPr>
        <p:txBody>
          <a:bodyPr wrap="square" lIns="25400" tIns="25400" rIns="25400" bIns="25400" rtlCol="0" anchor="t">
            <a:normAutofit/>
          </a:bodyPr>
          <a:lstStyle/>
          <a:p>
            <a:pPr marL="0" indent="0" algn="l">
              <a:buNone/>
            </a:pPr>
            <a:r>
              <a:rPr lang="en-US" sz="1650" b="1" kern="0" spc="66" dirty="0">
                <a:solidFill>
                  <a:srgbClr val="0E3A53"/>
                </a:solidFill>
                <a:latin typeface="Courier New" pitchFamily="34" charset="0"/>
                <a:ea typeface="Courier New" pitchFamily="34" charset="-122"/>
                <a:cs typeface="Courier New" pitchFamily="34" charset="-120"/>
              </a:rPr>
              <a:t>Star Schema</a:t>
            </a:r>
            <a:endParaRPr lang="en-US" sz="1650" dirty="0"/>
          </a:p>
        </p:txBody>
      </p:sp>
      <p:sp>
        <p:nvSpPr>
          <p:cNvPr id="31" name="Text 29"/>
          <p:cNvSpPr/>
          <p:nvPr/>
        </p:nvSpPr>
        <p:spPr>
          <a:xfrm>
            <a:off x="16692116" y="7324725"/>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05/19</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330624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05 · PREPROCESSING</a:t>
            </a:r>
            <a:endParaRPr lang="en-US" sz="1800" dirty="0"/>
          </a:p>
        </p:txBody>
      </p:sp>
      <p:sp>
        <p:nvSpPr>
          <p:cNvPr id="4" name="Text 2"/>
          <p:cNvSpPr/>
          <p:nvPr/>
        </p:nvSpPr>
        <p:spPr>
          <a:xfrm>
            <a:off x="952500" y="1704975"/>
            <a:ext cx="16874490" cy="66675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From raw CSV to model-ready matrix</a:t>
            </a:r>
            <a:endParaRPr lang="en-US" sz="4800" dirty="0"/>
          </a:p>
        </p:txBody>
      </p:sp>
      <p:sp>
        <p:nvSpPr>
          <p:cNvPr id="5" name="Shape 3"/>
          <p:cNvSpPr/>
          <p:nvPr/>
        </p:nvSpPr>
        <p:spPr>
          <a:xfrm>
            <a:off x="952500" y="2790825"/>
            <a:ext cx="609600" cy="609600"/>
          </a:xfrm>
          <a:prstGeom prst="ellipse">
            <a:avLst/>
          </a:prstGeom>
          <a:solidFill>
            <a:srgbClr val="0E3A53"/>
          </a:solidFill>
          <a:ln/>
        </p:spPr>
        <p:txBody>
          <a:bodyPr/>
          <a:lstStyle/>
          <a:p>
            <a:endParaRPr lang="en-US"/>
          </a:p>
        </p:txBody>
      </p:sp>
      <p:sp>
        <p:nvSpPr>
          <p:cNvPr id="6" name="Text 4"/>
          <p:cNvSpPr/>
          <p:nvPr/>
        </p:nvSpPr>
        <p:spPr>
          <a:xfrm>
            <a:off x="914400" y="2790825"/>
            <a:ext cx="685800" cy="647700"/>
          </a:xfrm>
          <a:prstGeom prst="rect">
            <a:avLst/>
          </a:prstGeom>
          <a:noFill/>
          <a:ln/>
        </p:spPr>
        <p:txBody>
          <a:bodyPr wrap="square" lIns="25400" tIns="25400" rIns="25400" bIns="25400" rtlCol="0" anchor="ctr">
            <a:normAutofit/>
          </a:bodyPr>
          <a:lstStyle/>
          <a:p>
            <a:pPr marL="0" indent="0" algn="ctr">
              <a:buNone/>
            </a:pPr>
            <a:r>
              <a:rPr lang="en-US" sz="2250" b="1" dirty="0">
                <a:solidFill>
                  <a:srgbClr val="FFFFFF"/>
                </a:solidFill>
                <a:latin typeface="Georgia" pitchFamily="34" charset="0"/>
                <a:ea typeface="Georgia" pitchFamily="34" charset="-122"/>
                <a:cs typeface="Georgia" pitchFamily="34" charset="-120"/>
              </a:rPr>
              <a:t>1</a:t>
            </a:r>
            <a:endParaRPr lang="en-US" sz="2250" dirty="0"/>
          </a:p>
        </p:txBody>
      </p:sp>
      <p:sp>
        <p:nvSpPr>
          <p:cNvPr id="7" name="Text 5"/>
          <p:cNvSpPr/>
          <p:nvPr/>
        </p:nvSpPr>
        <p:spPr>
          <a:xfrm>
            <a:off x="1771650" y="2847975"/>
            <a:ext cx="7201091"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C1B1A"/>
                </a:solidFill>
                <a:latin typeface="Arial" pitchFamily="34" charset="0"/>
                <a:ea typeface="Arial" pitchFamily="34" charset="-122"/>
                <a:cs typeface="Arial" pitchFamily="34" charset="-120"/>
              </a:rPr>
              <a:t>Inspection</a:t>
            </a:r>
            <a:endParaRPr lang="en-US" sz="2250" dirty="0"/>
          </a:p>
        </p:txBody>
      </p:sp>
      <p:sp>
        <p:nvSpPr>
          <p:cNvPr id="8" name="Text 6"/>
          <p:cNvSpPr/>
          <p:nvPr/>
        </p:nvSpPr>
        <p:spPr>
          <a:xfrm>
            <a:off x="1771650" y="3248025"/>
            <a:ext cx="7201091" cy="352425"/>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B4845"/>
                </a:solidFill>
                <a:latin typeface="Courier New" pitchFamily="34" charset="0"/>
                <a:ea typeface="Courier New" pitchFamily="34" charset="-122"/>
                <a:cs typeface="Courier New" pitchFamily="34" charset="-120"/>
              </a:rPr>
              <a:t>4,424 rows · 36 features · 0 missing values</a:t>
            </a:r>
            <a:endParaRPr lang="en-US" sz="1800" dirty="0"/>
          </a:p>
        </p:txBody>
      </p:sp>
      <p:sp>
        <p:nvSpPr>
          <p:cNvPr id="9" name="Shape 7"/>
          <p:cNvSpPr/>
          <p:nvPr/>
        </p:nvSpPr>
        <p:spPr>
          <a:xfrm>
            <a:off x="9525000" y="2790825"/>
            <a:ext cx="609600" cy="609600"/>
          </a:xfrm>
          <a:prstGeom prst="ellipse">
            <a:avLst/>
          </a:prstGeom>
          <a:solidFill>
            <a:srgbClr val="0E3A53"/>
          </a:solidFill>
          <a:ln/>
        </p:spPr>
        <p:txBody>
          <a:bodyPr/>
          <a:lstStyle/>
          <a:p>
            <a:endParaRPr lang="en-US"/>
          </a:p>
        </p:txBody>
      </p:sp>
      <p:sp>
        <p:nvSpPr>
          <p:cNvPr id="10" name="Text 8"/>
          <p:cNvSpPr/>
          <p:nvPr/>
        </p:nvSpPr>
        <p:spPr>
          <a:xfrm>
            <a:off x="9486900" y="2790825"/>
            <a:ext cx="685800" cy="647700"/>
          </a:xfrm>
          <a:prstGeom prst="rect">
            <a:avLst/>
          </a:prstGeom>
          <a:noFill/>
          <a:ln/>
        </p:spPr>
        <p:txBody>
          <a:bodyPr wrap="square" lIns="25400" tIns="25400" rIns="25400" bIns="25400" rtlCol="0" anchor="ctr">
            <a:normAutofit/>
          </a:bodyPr>
          <a:lstStyle/>
          <a:p>
            <a:pPr marL="0" indent="0" algn="ctr">
              <a:buNone/>
            </a:pPr>
            <a:r>
              <a:rPr lang="en-US" sz="2250" b="1" dirty="0">
                <a:solidFill>
                  <a:srgbClr val="FFFFFF"/>
                </a:solidFill>
                <a:latin typeface="Georgia" pitchFamily="34" charset="0"/>
                <a:ea typeface="Georgia" pitchFamily="34" charset="-122"/>
                <a:cs typeface="Georgia" pitchFamily="34" charset="-120"/>
              </a:rPr>
              <a:t>2</a:t>
            </a:r>
            <a:endParaRPr lang="en-US" sz="2250" dirty="0"/>
          </a:p>
        </p:txBody>
      </p:sp>
      <p:sp>
        <p:nvSpPr>
          <p:cNvPr id="11" name="Text 9"/>
          <p:cNvSpPr/>
          <p:nvPr/>
        </p:nvSpPr>
        <p:spPr>
          <a:xfrm>
            <a:off x="10344150" y="2847975"/>
            <a:ext cx="7201091"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C1B1A"/>
                </a:solidFill>
                <a:latin typeface="Arial" pitchFamily="34" charset="0"/>
                <a:ea typeface="Arial" pitchFamily="34" charset="-122"/>
                <a:cs typeface="Arial" pitchFamily="34" charset="-120"/>
              </a:rPr>
              <a:t>Feature typing</a:t>
            </a:r>
            <a:endParaRPr lang="en-US" sz="2250" dirty="0"/>
          </a:p>
        </p:txBody>
      </p:sp>
      <p:sp>
        <p:nvSpPr>
          <p:cNvPr id="12" name="Text 10"/>
          <p:cNvSpPr/>
          <p:nvPr/>
        </p:nvSpPr>
        <p:spPr>
          <a:xfrm>
            <a:off x="10344150" y="3248025"/>
            <a:ext cx="7201091" cy="352425"/>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B4845"/>
                </a:solidFill>
                <a:latin typeface="Courier New" pitchFamily="34" charset="0"/>
                <a:ea typeface="Courier New" pitchFamily="34" charset="-122"/>
                <a:cs typeface="Courier New" pitchFamily="34" charset="-120"/>
              </a:rPr>
              <a:t>Categorical (int-coded) vs continuous</a:t>
            </a:r>
            <a:endParaRPr lang="en-US" sz="1800" dirty="0"/>
          </a:p>
        </p:txBody>
      </p:sp>
      <p:sp>
        <p:nvSpPr>
          <p:cNvPr id="13" name="Shape 11"/>
          <p:cNvSpPr/>
          <p:nvPr/>
        </p:nvSpPr>
        <p:spPr>
          <a:xfrm>
            <a:off x="952500" y="3924300"/>
            <a:ext cx="609600" cy="609600"/>
          </a:xfrm>
          <a:prstGeom prst="ellipse">
            <a:avLst/>
          </a:prstGeom>
          <a:solidFill>
            <a:srgbClr val="0E3A53"/>
          </a:solidFill>
          <a:ln/>
        </p:spPr>
        <p:txBody>
          <a:bodyPr/>
          <a:lstStyle/>
          <a:p>
            <a:endParaRPr lang="en-US"/>
          </a:p>
        </p:txBody>
      </p:sp>
      <p:sp>
        <p:nvSpPr>
          <p:cNvPr id="14" name="Text 12"/>
          <p:cNvSpPr/>
          <p:nvPr/>
        </p:nvSpPr>
        <p:spPr>
          <a:xfrm>
            <a:off x="914400" y="3924300"/>
            <a:ext cx="685800" cy="647700"/>
          </a:xfrm>
          <a:prstGeom prst="rect">
            <a:avLst/>
          </a:prstGeom>
          <a:noFill/>
          <a:ln/>
        </p:spPr>
        <p:txBody>
          <a:bodyPr wrap="square" lIns="25400" tIns="25400" rIns="25400" bIns="25400" rtlCol="0" anchor="ctr">
            <a:normAutofit/>
          </a:bodyPr>
          <a:lstStyle/>
          <a:p>
            <a:pPr marL="0" indent="0" algn="ctr">
              <a:buNone/>
            </a:pPr>
            <a:r>
              <a:rPr lang="en-US" sz="2250" b="1" dirty="0">
                <a:solidFill>
                  <a:srgbClr val="FFFFFF"/>
                </a:solidFill>
                <a:latin typeface="Georgia" pitchFamily="34" charset="0"/>
                <a:ea typeface="Georgia" pitchFamily="34" charset="-122"/>
                <a:cs typeface="Georgia" pitchFamily="34" charset="-120"/>
              </a:rPr>
              <a:t>3</a:t>
            </a:r>
            <a:endParaRPr lang="en-US" sz="2250" dirty="0"/>
          </a:p>
        </p:txBody>
      </p:sp>
      <p:sp>
        <p:nvSpPr>
          <p:cNvPr id="15" name="Text 13"/>
          <p:cNvSpPr/>
          <p:nvPr/>
        </p:nvSpPr>
        <p:spPr>
          <a:xfrm>
            <a:off x="1771650" y="3981450"/>
            <a:ext cx="7201091"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C1B1A"/>
                </a:solidFill>
                <a:latin typeface="Arial" pitchFamily="34" charset="0"/>
                <a:ea typeface="Arial" pitchFamily="34" charset="-122"/>
                <a:cs typeface="Arial" pitchFamily="34" charset="-120"/>
              </a:rPr>
              <a:t>Target encoding</a:t>
            </a:r>
            <a:endParaRPr lang="en-US" sz="2250" dirty="0"/>
          </a:p>
        </p:txBody>
      </p:sp>
      <p:sp>
        <p:nvSpPr>
          <p:cNvPr id="16" name="Text 14"/>
          <p:cNvSpPr/>
          <p:nvPr/>
        </p:nvSpPr>
        <p:spPr>
          <a:xfrm>
            <a:off x="1771650" y="4381500"/>
            <a:ext cx="7201091" cy="352425"/>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B4845"/>
                </a:solidFill>
                <a:latin typeface="Courier New" pitchFamily="34" charset="0"/>
                <a:ea typeface="Courier New" pitchFamily="34" charset="-122"/>
                <a:cs typeface="Courier New" pitchFamily="34" charset="-120"/>
              </a:rPr>
              <a:t>Dropout 0 · Enrolled 1 · Graduate 2</a:t>
            </a:r>
            <a:endParaRPr lang="en-US" sz="1800" dirty="0"/>
          </a:p>
        </p:txBody>
      </p:sp>
      <p:sp>
        <p:nvSpPr>
          <p:cNvPr id="17" name="Shape 15"/>
          <p:cNvSpPr/>
          <p:nvPr/>
        </p:nvSpPr>
        <p:spPr>
          <a:xfrm>
            <a:off x="9525000" y="3924300"/>
            <a:ext cx="609600" cy="609600"/>
          </a:xfrm>
          <a:prstGeom prst="ellipse">
            <a:avLst/>
          </a:prstGeom>
          <a:solidFill>
            <a:srgbClr val="0E3A53"/>
          </a:solidFill>
          <a:ln/>
        </p:spPr>
        <p:txBody>
          <a:bodyPr/>
          <a:lstStyle/>
          <a:p>
            <a:endParaRPr lang="en-US"/>
          </a:p>
        </p:txBody>
      </p:sp>
      <p:sp>
        <p:nvSpPr>
          <p:cNvPr id="18" name="Text 16"/>
          <p:cNvSpPr/>
          <p:nvPr/>
        </p:nvSpPr>
        <p:spPr>
          <a:xfrm>
            <a:off x="9486900" y="3924300"/>
            <a:ext cx="685800" cy="647700"/>
          </a:xfrm>
          <a:prstGeom prst="rect">
            <a:avLst/>
          </a:prstGeom>
          <a:noFill/>
          <a:ln/>
        </p:spPr>
        <p:txBody>
          <a:bodyPr wrap="square" lIns="25400" tIns="25400" rIns="25400" bIns="25400" rtlCol="0" anchor="ctr">
            <a:normAutofit/>
          </a:bodyPr>
          <a:lstStyle/>
          <a:p>
            <a:pPr marL="0" indent="0" algn="ctr">
              <a:buNone/>
            </a:pPr>
            <a:r>
              <a:rPr lang="en-US" sz="2250" b="1" dirty="0">
                <a:solidFill>
                  <a:srgbClr val="FFFFFF"/>
                </a:solidFill>
                <a:latin typeface="Georgia" pitchFamily="34" charset="0"/>
                <a:ea typeface="Georgia" pitchFamily="34" charset="-122"/>
                <a:cs typeface="Georgia" pitchFamily="34" charset="-120"/>
              </a:rPr>
              <a:t>4</a:t>
            </a:r>
            <a:endParaRPr lang="en-US" sz="2250" dirty="0"/>
          </a:p>
        </p:txBody>
      </p:sp>
      <p:sp>
        <p:nvSpPr>
          <p:cNvPr id="19" name="Text 17"/>
          <p:cNvSpPr/>
          <p:nvPr/>
        </p:nvSpPr>
        <p:spPr>
          <a:xfrm>
            <a:off x="10344150" y="3981450"/>
            <a:ext cx="7201091"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C1B1A"/>
                </a:solidFill>
                <a:latin typeface="Arial" pitchFamily="34" charset="0"/>
                <a:ea typeface="Arial" pitchFamily="34" charset="-122"/>
                <a:cs typeface="Arial" pitchFamily="34" charset="-120"/>
              </a:rPr>
              <a:t>Normalization</a:t>
            </a:r>
            <a:endParaRPr lang="en-US" sz="2250" dirty="0"/>
          </a:p>
        </p:txBody>
      </p:sp>
      <p:sp>
        <p:nvSpPr>
          <p:cNvPr id="20" name="Text 18"/>
          <p:cNvSpPr/>
          <p:nvPr/>
        </p:nvSpPr>
        <p:spPr>
          <a:xfrm>
            <a:off x="10344150" y="4381500"/>
            <a:ext cx="7201091" cy="352425"/>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B4845"/>
                </a:solidFill>
                <a:latin typeface="Courier New" pitchFamily="34" charset="0"/>
                <a:ea typeface="Courier New" pitchFamily="34" charset="-122"/>
                <a:cs typeface="Courier New" pitchFamily="34" charset="-120"/>
              </a:rPr>
              <a:t>StandardScaler on all numeric features</a:t>
            </a:r>
            <a:endParaRPr lang="en-US" sz="1800" dirty="0"/>
          </a:p>
        </p:txBody>
      </p:sp>
      <p:sp>
        <p:nvSpPr>
          <p:cNvPr id="21" name="Shape 19"/>
          <p:cNvSpPr/>
          <p:nvPr/>
        </p:nvSpPr>
        <p:spPr>
          <a:xfrm>
            <a:off x="952500" y="5057775"/>
            <a:ext cx="609600" cy="609600"/>
          </a:xfrm>
          <a:prstGeom prst="ellipse">
            <a:avLst/>
          </a:prstGeom>
          <a:solidFill>
            <a:srgbClr val="0E3A53"/>
          </a:solidFill>
          <a:ln/>
        </p:spPr>
        <p:txBody>
          <a:bodyPr/>
          <a:lstStyle/>
          <a:p>
            <a:endParaRPr lang="en-US"/>
          </a:p>
        </p:txBody>
      </p:sp>
      <p:sp>
        <p:nvSpPr>
          <p:cNvPr id="22" name="Text 20"/>
          <p:cNvSpPr/>
          <p:nvPr/>
        </p:nvSpPr>
        <p:spPr>
          <a:xfrm>
            <a:off x="914400" y="5057775"/>
            <a:ext cx="685800" cy="647700"/>
          </a:xfrm>
          <a:prstGeom prst="rect">
            <a:avLst/>
          </a:prstGeom>
          <a:noFill/>
          <a:ln/>
        </p:spPr>
        <p:txBody>
          <a:bodyPr wrap="square" lIns="25400" tIns="25400" rIns="25400" bIns="25400" rtlCol="0" anchor="ctr">
            <a:normAutofit/>
          </a:bodyPr>
          <a:lstStyle/>
          <a:p>
            <a:pPr marL="0" indent="0" algn="ctr">
              <a:buNone/>
            </a:pPr>
            <a:r>
              <a:rPr lang="en-US" sz="2250" b="1" dirty="0">
                <a:solidFill>
                  <a:srgbClr val="FFFFFF"/>
                </a:solidFill>
                <a:latin typeface="Georgia" pitchFamily="34" charset="0"/>
                <a:ea typeface="Georgia" pitchFamily="34" charset="-122"/>
                <a:cs typeface="Georgia" pitchFamily="34" charset="-120"/>
              </a:rPr>
              <a:t>5</a:t>
            </a:r>
            <a:endParaRPr lang="en-US" sz="2250" dirty="0"/>
          </a:p>
        </p:txBody>
      </p:sp>
      <p:sp>
        <p:nvSpPr>
          <p:cNvPr id="23" name="Text 21"/>
          <p:cNvSpPr/>
          <p:nvPr/>
        </p:nvSpPr>
        <p:spPr>
          <a:xfrm>
            <a:off x="1771650" y="5114925"/>
            <a:ext cx="7201091"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C1B1A"/>
                </a:solidFill>
                <a:latin typeface="Arial" pitchFamily="34" charset="0"/>
                <a:ea typeface="Arial" pitchFamily="34" charset="-122"/>
                <a:cs typeface="Arial" pitchFamily="34" charset="-120"/>
              </a:rPr>
              <a:t>Stratified split</a:t>
            </a:r>
            <a:endParaRPr lang="en-US" sz="2250" dirty="0"/>
          </a:p>
        </p:txBody>
      </p:sp>
      <p:sp>
        <p:nvSpPr>
          <p:cNvPr id="24" name="Text 22"/>
          <p:cNvSpPr/>
          <p:nvPr/>
        </p:nvSpPr>
        <p:spPr>
          <a:xfrm>
            <a:off x="1771650" y="5514975"/>
            <a:ext cx="7201091" cy="352425"/>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B4845"/>
                </a:solidFill>
                <a:latin typeface="Courier New" pitchFamily="34" charset="0"/>
                <a:ea typeface="Courier New" pitchFamily="34" charset="-122"/>
                <a:cs typeface="Courier New" pitchFamily="34" charset="-120"/>
              </a:rPr>
              <a:t>80% train (3,539) · 20% test (885)</a:t>
            </a:r>
            <a:endParaRPr lang="en-US" sz="1800" dirty="0"/>
          </a:p>
        </p:txBody>
      </p:sp>
      <p:sp>
        <p:nvSpPr>
          <p:cNvPr id="25" name="Shape 23"/>
          <p:cNvSpPr/>
          <p:nvPr/>
        </p:nvSpPr>
        <p:spPr>
          <a:xfrm>
            <a:off x="9525000" y="5057775"/>
            <a:ext cx="609600" cy="609600"/>
          </a:xfrm>
          <a:prstGeom prst="ellipse">
            <a:avLst/>
          </a:prstGeom>
          <a:solidFill>
            <a:srgbClr val="0E3A53"/>
          </a:solidFill>
          <a:ln/>
        </p:spPr>
        <p:txBody>
          <a:bodyPr/>
          <a:lstStyle/>
          <a:p>
            <a:endParaRPr lang="en-US"/>
          </a:p>
        </p:txBody>
      </p:sp>
      <p:sp>
        <p:nvSpPr>
          <p:cNvPr id="26" name="Text 24"/>
          <p:cNvSpPr/>
          <p:nvPr/>
        </p:nvSpPr>
        <p:spPr>
          <a:xfrm>
            <a:off x="9486900" y="5057775"/>
            <a:ext cx="685800" cy="647700"/>
          </a:xfrm>
          <a:prstGeom prst="rect">
            <a:avLst/>
          </a:prstGeom>
          <a:noFill/>
          <a:ln/>
        </p:spPr>
        <p:txBody>
          <a:bodyPr wrap="square" lIns="25400" tIns="25400" rIns="25400" bIns="25400" rtlCol="0" anchor="ctr">
            <a:normAutofit/>
          </a:bodyPr>
          <a:lstStyle/>
          <a:p>
            <a:pPr marL="0" indent="0" algn="ctr">
              <a:buNone/>
            </a:pPr>
            <a:r>
              <a:rPr lang="en-US" sz="2250" b="1" dirty="0">
                <a:solidFill>
                  <a:srgbClr val="FFFFFF"/>
                </a:solidFill>
                <a:latin typeface="Georgia" pitchFamily="34" charset="0"/>
                <a:ea typeface="Georgia" pitchFamily="34" charset="-122"/>
                <a:cs typeface="Georgia" pitchFamily="34" charset="-120"/>
              </a:rPr>
              <a:t>6</a:t>
            </a:r>
            <a:endParaRPr lang="en-US" sz="2250" dirty="0"/>
          </a:p>
        </p:txBody>
      </p:sp>
      <p:sp>
        <p:nvSpPr>
          <p:cNvPr id="27" name="Text 25"/>
          <p:cNvSpPr/>
          <p:nvPr/>
        </p:nvSpPr>
        <p:spPr>
          <a:xfrm>
            <a:off x="10344150" y="5114925"/>
            <a:ext cx="7201091"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C1B1A"/>
                </a:solidFill>
                <a:latin typeface="Arial" pitchFamily="34" charset="0"/>
                <a:ea typeface="Arial" pitchFamily="34" charset="-122"/>
                <a:cs typeface="Arial" pitchFamily="34" charset="-120"/>
              </a:rPr>
              <a:t>Reproducibility</a:t>
            </a:r>
            <a:endParaRPr lang="en-US" sz="2250" dirty="0"/>
          </a:p>
        </p:txBody>
      </p:sp>
      <p:sp>
        <p:nvSpPr>
          <p:cNvPr id="28" name="Text 26"/>
          <p:cNvSpPr/>
          <p:nvPr/>
        </p:nvSpPr>
        <p:spPr>
          <a:xfrm>
            <a:off x="10344150" y="5514975"/>
            <a:ext cx="7201091" cy="352425"/>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B4845"/>
                </a:solidFill>
                <a:latin typeface="Courier New" pitchFamily="34" charset="0"/>
                <a:ea typeface="Courier New" pitchFamily="34" charset="-122"/>
                <a:cs typeface="Courier New" pitchFamily="34" charset="-120"/>
              </a:rPr>
              <a:t>random_state=42 across all operations</a:t>
            </a:r>
            <a:endParaRPr lang="en-US" sz="1800" dirty="0"/>
          </a:p>
        </p:txBody>
      </p:sp>
      <p:sp>
        <p:nvSpPr>
          <p:cNvPr id="29" name="Shape 27"/>
          <p:cNvSpPr/>
          <p:nvPr/>
        </p:nvSpPr>
        <p:spPr>
          <a:xfrm>
            <a:off x="952500" y="6362700"/>
            <a:ext cx="16383000" cy="666750"/>
          </a:xfrm>
          <a:prstGeom prst="rect">
            <a:avLst/>
          </a:prstGeom>
          <a:solidFill>
            <a:srgbClr val="F2EEE6"/>
          </a:solidFill>
          <a:ln/>
        </p:spPr>
        <p:txBody>
          <a:bodyPr/>
          <a:lstStyle/>
          <a:p>
            <a:endParaRPr lang="en-US"/>
          </a:p>
        </p:txBody>
      </p:sp>
      <p:sp>
        <p:nvSpPr>
          <p:cNvPr id="30" name="Shape 28"/>
          <p:cNvSpPr/>
          <p:nvPr/>
        </p:nvSpPr>
        <p:spPr>
          <a:xfrm>
            <a:off x="952500" y="6362700"/>
            <a:ext cx="38100" cy="666750"/>
          </a:xfrm>
          <a:prstGeom prst="rect">
            <a:avLst/>
          </a:prstGeom>
          <a:solidFill>
            <a:srgbClr val="EF9F27"/>
          </a:solidFill>
          <a:ln/>
        </p:spPr>
        <p:txBody>
          <a:bodyPr/>
          <a:lstStyle/>
          <a:p>
            <a:endParaRPr lang="en-US"/>
          </a:p>
        </p:txBody>
      </p:sp>
      <p:sp>
        <p:nvSpPr>
          <p:cNvPr id="31" name="Text 29"/>
          <p:cNvSpPr/>
          <p:nvPr/>
        </p:nvSpPr>
        <p:spPr>
          <a:xfrm>
            <a:off x="1257300" y="6553200"/>
            <a:ext cx="16302990" cy="323850"/>
          </a:xfrm>
          <a:prstGeom prst="rect">
            <a:avLst/>
          </a:prstGeom>
          <a:noFill/>
          <a:ln/>
        </p:spPr>
        <p:txBody>
          <a:bodyPr wrap="square" lIns="25400" tIns="25400" rIns="25400" bIns="25400" rtlCol="0" anchor="t">
            <a:normAutofit lnSpcReduction="10000"/>
          </a:bodyPr>
          <a:lstStyle/>
          <a:p>
            <a:pPr marL="0" indent="0" algn="l">
              <a:buNone/>
            </a:pPr>
            <a:r>
              <a:rPr lang="en-US" sz="1950" i="1" dirty="0">
                <a:solidFill>
                  <a:srgbClr val="4B4845"/>
                </a:solidFill>
                <a:latin typeface="-apple-system" pitchFamily="34" charset="0"/>
                <a:ea typeface="-apple-system" pitchFamily="34" charset="-122"/>
                <a:cs typeface="-apple-system" pitchFamily="34" charset="-120"/>
              </a:rPr>
              <a:t>Stratified split preserves class ratios in both train and test sets. An unscaled copy is kept for EDA.</a:t>
            </a:r>
            <a:endParaRPr lang="en-US" sz="1950" dirty="0"/>
          </a:p>
        </p:txBody>
      </p:sp>
      <p:sp>
        <p:nvSpPr>
          <p:cNvPr id="32" name="Text 30"/>
          <p:cNvSpPr/>
          <p:nvPr/>
        </p:nvSpPr>
        <p:spPr>
          <a:xfrm>
            <a:off x="16692116" y="7153275"/>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06/19</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5510408"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06 · EDA — TARGET DISTRIBUTION</a:t>
            </a:r>
            <a:endParaRPr lang="en-US" sz="1800" dirty="0"/>
          </a:p>
        </p:txBody>
      </p:sp>
      <p:sp>
        <p:nvSpPr>
          <p:cNvPr id="4" name="Text 2"/>
          <p:cNvSpPr/>
          <p:nvPr/>
        </p:nvSpPr>
        <p:spPr>
          <a:xfrm>
            <a:off x="952500" y="1704975"/>
            <a:ext cx="6295896" cy="12954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Three classes, uneven sizes</a:t>
            </a:r>
            <a:endParaRPr lang="en-US" sz="4800" dirty="0"/>
          </a:p>
        </p:txBody>
      </p:sp>
      <p:sp>
        <p:nvSpPr>
          <p:cNvPr id="5" name="Text 3"/>
          <p:cNvSpPr/>
          <p:nvPr/>
        </p:nvSpPr>
        <p:spPr>
          <a:xfrm>
            <a:off x="952500" y="3343275"/>
            <a:ext cx="6295896" cy="1152525"/>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9750" b="1" kern="0" spc="-195" dirty="0">
                <a:solidFill>
                  <a:srgbClr val="1C1B1A"/>
                </a:solidFill>
                <a:latin typeface="Georgia" pitchFamily="34" charset="0"/>
                <a:ea typeface="Georgia" pitchFamily="34" charset="-122"/>
                <a:cs typeface="Georgia" pitchFamily="34" charset="-120"/>
              </a:rPr>
              <a:t>4,424</a:t>
            </a:r>
            <a:endParaRPr lang="en-US" sz="9750" dirty="0"/>
          </a:p>
        </p:txBody>
      </p:sp>
      <p:sp>
        <p:nvSpPr>
          <p:cNvPr id="6" name="Text 4"/>
          <p:cNvSpPr/>
          <p:nvPr/>
        </p:nvSpPr>
        <p:spPr>
          <a:xfrm>
            <a:off x="952500" y="4591050"/>
            <a:ext cx="6295896" cy="352425"/>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4B4845"/>
                </a:solidFill>
                <a:latin typeface="-apple-system" pitchFamily="34" charset="0"/>
                <a:ea typeface="-apple-system" pitchFamily="34" charset="-122"/>
                <a:cs typeface="-apple-system" pitchFamily="34" charset="-120"/>
              </a:rPr>
              <a:t>students total</a:t>
            </a:r>
            <a:endParaRPr lang="en-US" sz="2100" dirty="0"/>
          </a:p>
        </p:txBody>
      </p:sp>
      <p:sp>
        <p:nvSpPr>
          <p:cNvPr id="7" name="Shape 5"/>
          <p:cNvSpPr/>
          <p:nvPr/>
        </p:nvSpPr>
        <p:spPr>
          <a:xfrm>
            <a:off x="952500" y="5248275"/>
            <a:ext cx="6112520" cy="990600"/>
          </a:xfrm>
          <a:prstGeom prst="rect">
            <a:avLst/>
          </a:prstGeom>
          <a:solidFill>
            <a:srgbClr val="F2EEE6"/>
          </a:solidFill>
          <a:ln/>
        </p:spPr>
        <p:txBody>
          <a:bodyPr/>
          <a:lstStyle/>
          <a:p>
            <a:endParaRPr lang="en-US"/>
          </a:p>
        </p:txBody>
      </p:sp>
      <p:sp>
        <p:nvSpPr>
          <p:cNvPr id="8" name="Shape 6"/>
          <p:cNvSpPr/>
          <p:nvPr/>
        </p:nvSpPr>
        <p:spPr>
          <a:xfrm>
            <a:off x="952500" y="5248275"/>
            <a:ext cx="38100" cy="990600"/>
          </a:xfrm>
          <a:prstGeom prst="rect">
            <a:avLst/>
          </a:prstGeom>
          <a:solidFill>
            <a:srgbClr val="EF9F27"/>
          </a:solidFill>
          <a:ln/>
        </p:spPr>
        <p:txBody>
          <a:bodyPr/>
          <a:lstStyle/>
          <a:p>
            <a:endParaRPr lang="en-US"/>
          </a:p>
        </p:txBody>
      </p:sp>
      <p:sp>
        <p:nvSpPr>
          <p:cNvPr id="9" name="Text 7"/>
          <p:cNvSpPr/>
          <p:nvPr/>
        </p:nvSpPr>
        <p:spPr>
          <a:xfrm>
            <a:off x="1219200" y="5419725"/>
            <a:ext cx="5800596" cy="68580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i="1" dirty="0">
                <a:solidFill>
                  <a:srgbClr val="4B4845"/>
                </a:solidFill>
                <a:latin typeface="-apple-system" pitchFamily="34" charset="0"/>
                <a:ea typeface="-apple-system" pitchFamily="34" charset="-122"/>
                <a:cs typeface="-apple-system" pitchFamily="34" charset="-120"/>
              </a:rPr>
              <a:t>Enrolled is the underrepresented class — stratified sampling and F1-macro keep it visible.</a:t>
            </a:r>
            <a:endParaRPr lang="en-US" sz="1800" dirty="0"/>
          </a:p>
        </p:txBody>
      </p:sp>
      <p:sp>
        <p:nvSpPr>
          <p:cNvPr id="10" name="Text 8"/>
          <p:cNvSpPr/>
          <p:nvPr/>
        </p:nvSpPr>
        <p:spPr>
          <a:xfrm>
            <a:off x="7827020" y="2981325"/>
            <a:ext cx="1981200" cy="419100"/>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1C1B1A"/>
                </a:solidFill>
                <a:latin typeface="-apple-system" pitchFamily="34" charset="0"/>
                <a:ea typeface="-apple-system" pitchFamily="34" charset="-122"/>
                <a:cs typeface="-apple-system" pitchFamily="34" charset="-120"/>
              </a:rPr>
              <a:t>Graduate</a:t>
            </a:r>
            <a:endParaRPr lang="en-US" sz="2550" dirty="0"/>
          </a:p>
        </p:txBody>
      </p:sp>
      <p:sp>
        <p:nvSpPr>
          <p:cNvPr id="11" name="Shape 9"/>
          <p:cNvSpPr/>
          <p:nvPr/>
        </p:nvSpPr>
        <p:spPr>
          <a:xfrm>
            <a:off x="9960620" y="2905125"/>
            <a:ext cx="4860280" cy="533400"/>
          </a:xfrm>
          <a:prstGeom prst="rect">
            <a:avLst/>
          </a:prstGeom>
          <a:solidFill>
            <a:srgbClr val="F2EEE6"/>
          </a:solidFill>
          <a:ln w="9525">
            <a:solidFill>
              <a:srgbClr val="D9D3C5"/>
            </a:solidFill>
            <a:prstDash val="solid"/>
          </a:ln>
        </p:spPr>
        <p:txBody>
          <a:bodyPr/>
          <a:lstStyle/>
          <a:p>
            <a:endParaRPr lang="en-US"/>
          </a:p>
        </p:txBody>
      </p:sp>
      <p:sp>
        <p:nvSpPr>
          <p:cNvPr id="12" name="Shape 10"/>
          <p:cNvSpPr/>
          <p:nvPr/>
        </p:nvSpPr>
        <p:spPr>
          <a:xfrm>
            <a:off x="9970145" y="2914650"/>
            <a:ext cx="4841230" cy="514350"/>
          </a:xfrm>
          <a:prstGeom prst="rect">
            <a:avLst/>
          </a:prstGeom>
          <a:solidFill>
            <a:srgbClr val="1D9E75"/>
          </a:solidFill>
          <a:ln/>
        </p:spPr>
        <p:txBody>
          <a:bodyPr/>
          <a:lstStyle/>
          <a:p>
            <a:endParaRPr lang="en-US"/>
          </a:p>
        </p:txBody>
      </p:sp>
      <p:sp>
        <p:nvSpPr>
          <p:cNvPr id="13" name="Text 11"/>
          <p:cNvSpPr/>
          <p:nvPr/>
        </p:nvSpPr>
        <p:spPr>
          <a:xfrm>
            <a:off x="14973300" y="2914650"/>
            <a:ext cx="2362200" cy="552450"/>
          </a:xfrm>
          <a:prstGeom prst="rect">
            <a:avLst/>
          </a:prstGeom>
          <a:noFill/>
          <a:ln/>
        </p:spPr>
        <p:txBody>
          <a:bodyPr wrap="square" lIns="25400" tIns="25400" rIns="25400" bIns="25400" rtlCol="0" anchor="t">
            <a:normAutofit/>
          </a:bodyPr>
          <a:lstStyle/>
          <a:p>
            <a:pPr marL="0" indent="0" algn="r">
              <a:buNone/>
            </a:pPr>
            <a:r>
              <a:rPr lang="en-US" sz="3000" b="1" dirty="0">
                <a:solidFill>
                  <a:srgbClr val="1C1B1A"/>
                </a:solidFill>
                <a:latin typeface="Georgia" pitchFamily="34" charset="0"/>
                <a:ea typeface="Georgia" pitchFamily="34" charset="-122"/>
                <a:cs typeface="Georgia" pitchFamily="34" charset="-120"/>
              </a:rPr>
              <a:t>2,209 </a:t>
            </a:r>
            <a:r>
              <a:rPr lang="en-US" sz="1800" dirty="0">
                <a:solidFill>
                  <a:srgbClr val="807C76"/>
                </a:solidFill>
                <a:latin typeface="Georgia" pitchFamily="34" charset="0"/>
                <a:ea typeface="Georgia" pitchFamily="34" charset="-122"/>
                <a:cs typeface="Georgia" pitchFamily="34" charset="-120"/>
              </a:rPr>
              <a:t>49.9%</a:t>
            </a:r>
            <a:endParaRPr lang="en-US" sz="3000" dirty="0"/>
          </a:p>
        </p:txBody>
      </p:sp>
      <p:sp>
        <p:nvSpPr>
          <p:cNvPr id="14" name="Text 12"/>
          <p:cNvSpPr/>
          <p:nvPr/>
        </p:nvSpPr>
        <p:spPr>
          <a:xfrm>
            <a:off x="7827020" y="3781425"/>
            <a:ext cx="1981200" cy="419100"/>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1C1B1A"/>
                </a:solidFill>
                <a:latin typeface="-apple-system" pitchFamily="34" charset="0"/>
                <a:ea typeface="-apple-system" pitchFamily="34" charset="-122"/>
                <a:cs typeface="-apple-system" pitchFamily="34" charset="-120"/>
              </a:rPr>
              <a:t>Dropout</a:t>
            </a:r>
            <a:endParaRPr lang="en-US" sz="2550" dirty="0"/>
          </a:p>
        </p:txBody>
      </p:sp>
      <p:sp>
        <p:nvSpPr>
          <p:cNvPr id="15" name="Shape 13"/>
          <p:cNvSpPr/>
          <p:nvPr/>
        </p:nvSpPr>
        <p:spPr>
          <a:xfrm>
            <a:off x="9960620" y="3705225"/>
            <a:ext cx="4860280" cy="533400"/>
          </a:xfrm>
          <a:prstGeom prst="rect">
            <a:avLst/>
          </a:prstGeom>
          <a:solidFill>
            <a:srgbClr val="F2EEE6"/>
          </a:solidFill>
          <a:ln w="9525">
            <a:solidFill>
              <a:srgbClr val="D9D3C5"/>
            </a:solidFill>
            <a:prstDash val="solid"/>
          </a:ln>
        </p:spPr>
        <p:txBody>
          <a:bodyPr/>
          <a:lstStyle/>
          <a:p>
            <a:endParaRPr lang="en-US"/>
          </a:p>
        </p:txBody>
      </p:sp>
      <p:sp>
        <p:nvSpPr>
          <p:cNvPr id="16" name="Shape 14"/>
          <p:cNvSpPr/>
          <p:nvPr/>
        </p:nvSpPr>
        <p:spPr>
          <a:xfrm>
            <a:off x="9970145" y="3714750"/>
            <a:ext cx="3114229" cy="514350"/>
          </a:xfrm>
          <a:prstGeom prst="rect">
            <a:avLst/>
          </a:prstGeom>
          <a:solidFill>
            <a:srgbClr val="E24B4A"/>
          </a:solidFill>
          <a:ln/>
        </p:spPr>
        <p:txBody>
          <a:bodyPr/>
          <a:lstStyle/>
          <a:p>
            <a:endParaRPr lang="en-US"/>
          </a:p>
        </p:txBody>
      </p:sp>
      <p:sp>
        <p:nvSpPr>
          <p:cNvPr id="17" name="Text 15"/>
          <p:cNvSpPr/>
          <p:nvPr/>
        </p:nvSpPr>
        <p:spPr>
          <a:xfrm>
            <a:off x="14973300" y="3714750"/>
            <a:ext cx="2362200" cy="552450"/>
          </a:xfrm>
          <a:prstGeom prst="rect">
            <a:avLst/>
          </a:prstGeom>
          <a:noFill/>
          <a:ln/>
        </p:spPr>
        <p:txBody>
          <a:bodyPr wrap="square" lIns="25400" tIns="25400" rIns="25400" bIns="25400" rtlCol="0" anchor="t">
            <a:normAutofit/>
          </a:bodyPr>
          <a:lstStyle/>
          <a:p>
            <a:pPr marL="0" indent="0" algn="r">
              <a:buNone/>
            </a:pPr>
            <a:r>
              <a:rPr lang="en-US" sz="3000" b="1" dirty="0">
                <a:solidFill>
                  <a:srgbClr val="1C1B1A"/>
                </a:solidFill>
                <a:latin typeface="Georgia" pitchFamily="34" charset="0"/>
                <a:ea typeface="Georgia" pitchFamily="34" charset="-122"/>
                <a:cs typeface="Georgia" pitchFamily="34" charset="-120"/>
              </a:rPr>
              <a:t>1,421 </a:t>
            </a:r>
            <a:r>
              <a:rPr lang="en-US" sz="1800" dirty="0">
                <a:solidFill>
                  <a:srgbClr val="807C76"/>
                </a:solidFill>
                <a:latin typeface="Georgia" pitchFamily="34" charset="0"/>
                <a:ea typeface="Georgia" pitchFamily="34" charset="-122"/>
                <a:cs typeface="Georgia" pitchFamily="34" charset="-120"/>
              </a:rPr>
              <a:t>32.1%</a:t>
            </a:r>
            <a:endParaRPr lang="en-US" sz="3000" dirty="0"/>
          </a:p>
        </p:txBody>
      </p:sp>
      <p:sp>
        <p:nvSpPr>
          <p:cNvPr id="18" name="Text 16"/>
          <p:cNvSpPr/>
          <p:nvPr/>
        </p:nvSpPr>
        <p:spPr>
          <a:xfrm>
            <a:off x="7827020" y="4581525"/>
            <a:ext cx="1981200" cy="419100"/>
          </a:xfrm>
          <a:prstGeom prst="rect">
            <a:avLst/>
          </a:prstGeom>
          <a:noFill/>
          <a:ln/>
        </p:spPr>
        <p:txBody>
          <a:bodyPr wrap="square" lIns="25400" tIns="25400" rIns="25400" bIns="25400" rtlCol="0" anchor="t">
            <a:normAutofit lnSpcReduction="10000"/>
          </a:bodyPr>
          <a:lstStyle/>
          <a:p>
            <a:pPr marL="0" indent="0" algn="l">
              <a:buNone/>
            </a:pPr>
            <a:r>
              <a:rPr lang="en-US" sz="2550" dirty="0">
                <a:solidFill>
                  <a:srgbClr val="1C1B1A"/>
                </a:solidFill>
                <a:latin typeface="-apple-system" pitchFamily="34" charset="0"/>
                <a:ea typeface="-apple-system" pitchFamily="34" charset="-122"/>
                <a:cs typeface="-apple-system" pitchFamily="34" charset="-120"/>
              </a:rPr>
              <a:t>Enrolled</a:t>
            </a:r>
            <a:endParaRPr lang="en-US" sz="2550" dirty="0"/>
          </a:p>
        </p:txBody>
      </p:sp>
      <p:sp>
        <p:nvSpPr>
          <p:cNvPr id="19" name="Shape 17"/>
          <p:cNvSpPr/>
          <p:nvPr/>
        </p:nvSpPr>
        <p:spPr>
          <a:xfrm>
            <a:off x="9960620" y="4505325"/>
            <a:ext cx="4860280" cy="533400"/>
          </a:xfrm>
          <a:prstGeom prst="rect">
            <a:avLst/>
          </a:prstGeom>
          <a:solidFill>
            <a:srgbClr val="F2EEE6"/>
          </a:solidFill>
          <a:ln w="9525">
            <a:solidFill>
              <a:srgbClr val="D9D3C5"/>
            </a:solidFill>
            <a:prstDash val="solid"/>
          </a:ln>
        </p:spPr>
        <p:txBody>
          <a:bodyPr/>
          <a:lstStyle/>
          <a:p>
            <a:endParaRPr lang="en-US"/>
          </a:p>
        </p:txBody>
      </p:sp>
      <p:sp>
        <p:nvSpPr>
          <p:cNvPr id="20" name="Shape 18"/>
          <p:cNvSpPr/>
          <p:nvPr/>
        </p:nvSpPr>
        <p:spPr>
          <a:xfrm>
            <a:off x="9970145" y="4514850"/>
            <a:ext cx="1740098" cy="514350"/>
          </a:xfrm>
          <a:prstGeom prst="rect">
            <a:avLst/>
          </a:prstGeom>
          <a:solidFill>
            <a:srgbClr val="EF9F27"/>
          </a:solidFill>
          <a:ln/>
        </p:spPr>
        <p:txBody>
          <a:bodyPr/>
          <a:lstStyle/>
          <a:p>
            <a:endParaRPr lang="en-US"/>
          </a:p>
        </p:txBody>
      </p:sp>
      <p:sp>
        <p:nvSpPr>
          <p:cNvPr id="21" name="Text 19"/>
          <p:cNvSpPr/>
          <p:nvPr/>
        </p:nvSpPr>
        <p:spPr>
          <a:xfrm>
            <a:off x="14973300" y="4514850"/>
            <a:ext cx="2362200" cy="552450"/>
          </a:xfrm>
          <a:prstGeom prst="rect">
            <a:avLst/>
          </a:prstGeom>
          <a:noFill/>
          <a:ln/>
        </p:spPr>
        <p:txBody>
          <a:bodyPr wrap="square" lIns="25400" tIns="25400" rIns="25400" bIns="25400" rtlCol="0" anchor="t">
            <a:normAutofit/>
          </a:bodyPr>
          <a:lstStyle/>
          <a:p>
            <a:pPr marL="0" indent="0" algn="r">
              <a:buNone/>
            </a:pPr>
            <a:r>
              <a:rPr lang="en-US" sz="3000" b="1" dirty="0">
                <a:solidFill>
                  <a:srgbClr val="1C1B1A"/>
                </a:solidFill>
                <a:latin typeface="Georgia" pitchFamily="34" charset="0"/>
                <a:ea typeface="Georgia" pitchFamily="34" charset="-122"/>
                <a:cs typeface="Georgia" pitchFamily="34" charset="-120"/>
              </a:rPr>
              <a:t>794 </a:t>
            </a:r>
            <a:r>
              <a:rPr lang="en-US" sz="1800" dirty="0">
                <a:solidFill>
                  <a:srgbClr val="807C76"/>
                </a:solidFill>
                <a:latin typeface="Georgia" pitchFamily="34" charset="0"/>
                <a:ea typeface="Georgia" pitchFamily="34" charset="-122"/>
                <a:cs typeface="Georgia" pitchFamily="34" charset="-120"/>
              </a:rPr>
              <a:t>17.9%</a:t>
            </a:r>
            <a:endParaRPr lang="en-US" sz="3000" dirty="0"/>
          </a:p>
        </p:txBody>
      </p:sp>
      <p:sp>
        <p:nvSpPr>
          <p:cNvPr id="22" name="Text 20"/>
          <p:cNvSpPr/>
          <p:nvPr/>
        </p:nvSpPr>
        <p:spPr>
          <a:xfrm>
            <a:off x="16692116" y="6362700"/>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07/19</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4408327"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07 · EDA — DISTRIBUTIONS</a:t>
            </a:r>
            <a:endParaRPr lang="en-US" sz="1800" dirty="0"/>
          </a:p>
        </p:txBody>
      </p:sp>
      <p:sp>
        <p:nvSpPr>
          <p:cNvPr id="4" name="Text 2"/>
          <p:cNvSpPr/>
          <p:nvPr/>
        </p:nvSpPr>
        <p:spPr>
          <a:xfrm>
            <a:off x="952500" y="1704975"/>
            <a:ext cx="16874490" cy="66675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Approved curricular units separate the classes</a:t>
            </a:r>
            <a:endParaRPr lang="en-US" sz="4800" dirty="0"/>
          </a:p>
        </p:txBody>
      </p:sp>
      <p:sp>
        <p:nvSpPr>
          <p:cNvPr id="5" name="Shape 3"/>
          <p:cNvSpPr/>
          <p:nvPr/>
        </p:nvSpPr>
        <p:spPr>
          <a:xfrm>
            <a:off x="952500" y="2638425"/>
            <a:ext cx="8401943" cy="6315075"/>
          </a:xfrm>
          <a:prstGeom prst="rect">
            <a:avLst/>
          </a:prstGeom>
          <a:solidFill>
            <a:srgbClr val="FFFFFF"/>
          </a:solidFill>
          <a:ln w="9525">
            <a:solidFill>
              <a:srgbClr val="D9D3C5"/>
            </a:solidFill>
            <a:prstDash val="solid"/>
          </a:ln>
        </p:spPr>
        <p:txBody>
          <a:bodyPr/>
          <a:lstStyle/>
          <a:p>
            <a:endParaRPr lang="en-US"/>
          </a:p>
        </p:txBody>
      </p:sp>
      <p:pic>
        <p:nvPicPr>
          <p:cNvPr id="6" name="Image 0" descr="preencoded.png"/>
          <p:cNvPicPr>
            <a:picLocks noChangeAspect="1"/>
          </p:cNvPicPr>
          <p:nvPr/>
        </p:nvPicPr>
        <p:blipFill>
          <a:blip r:embed="rId3"/>
          <a:srcRect/>
          <a:stretch/>
        </p:blipFill>
        <p:spPr>
          <a:xfrm>
            <a:off x="1114425" y="2842766"/>
            <a:ext cx="8078093" cy="5906244"/>
          </a:xfrm>
          <a:prstGeom prst="rect">
            <a:avLst/>
          </a:prstGeom>
        </p:spPr>
      </p:pic>
      <p:sp>
        <p:nvSpPr>
          <p:cNvPr id="7" name="Text 4"/>
          <p:cNvSpPr/>
          <p:nvPr/>
        </p:nvSpPr>
        <p:spPr>
          <a:xfrm>
            <a:off x="9697343" y="2638425"/>
            <a:ext cx="7867302"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4B4845"/>
                </a:solidFill>
                <a:latin typeface="Courier New" pitchFamily="34" charset="0"/>
                <a:ea typeface="Courier New" pitchFamily="34" charset="-122"/>
                <a:cs typeface="Courier New" pitchFamily="34" charset="-120"/>
              </a:rPr>
              <a:t>SPEARMAN Ρ VS TARGET (TOP 9 BY |Ρ|)</a:t>
            </a:r>
            <a:endParaRPr lang="en-US" sz="1350" dirty="0"/>
          </a:p>
        </p:txBody>
      </p:sp>
      <p:sp>
        <p:nvSpPr>
          <p:cNvPr id="8" name="Shape 5"/>
          <p:cNvSpPr/>
          <p:nvPr/>
        </p:nvSpPr>
        <p:spPr>
          <a:xfrm>
            <a:off x="9697343" y="3524250"/>
            <a:ext cx="6013103" cy="19050"/>
          </a:xfrm>
          <a:prstGeom prst="rect">
            <a:avLst/>
          </a:prstGeom>
          <a:solidFill>
            <a:srgbClr val="1C1B1A"/>
          </a:solidFill>
          <a:ln/>
        </p:spPr>
        <p:txBody>
          <a:bodyPr/>
          <a:lstStyle/>
          <a:p>
            <a:endParaRPr lang="en-US"/>
          </a:p>
        </p:txBody>
      </p:sp>
      <p:sp>
        <p:nvSpPr>
          <p:cNvPr id="9" name="Text 6"/>
          <p:cNvSpPr/>
          <p:nvPr/>
        </p:nvSpPr>
        <p:spPr>
          <a:xfrm>
            <a:off x="9906893" y="3114675"/>
            <a:ext cx="5774396"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650" b="1" kern="0" spc="165" dirty="0">
                <a:solidFill>
                  <a:srgbClr val="807C76"/>
                </a:solidFill>
                <a:latin typeface="Arial" pitchFamily="34" charset="0"/>
                <a:ea typeface="Arial" pitchFamily="34" charset="-122"/>
                <a:cs typeface="Arial" pitchFamily="34" charset="-120"/>
              </a:rPr>
              <a:t>FEATURE</a:t>
            </a:r>
            <a:endParaRPr lang="en-US" sz="1650" dirty="0"/>
          </a:p>
        </p:txBody>
      </p:sp>
      <p:sp>
        <p:nvSpPr>
          <p:cNvPr id="10" name="Shape 7"/>
          <p:cNvSpPr/>
          <p:nvPr/>
        </p:nvSpPr>
        <p:spPr>
          <a:xfrm>
            <a:off x="15710446" y="3524250"/>
            <a:ext cx="1625203" cy="19050"/>
          </a:xfrm>
          <a:prstGeom prst="rect">
            <a:avLst/>
          </a:prstGeom>
          <a:solidFill>
            <a:srgbClr val="1C1B1A"/>
          </a:solidFill>
          <a:ln/>
        </p:spPr>
        <p:txBody>
          <a:bodyPr/>
          <a:lstStyle/>
          <a:p>
            <a:endParaRPr lang="en-US"/>
          </a:p>
        </p:txBody>
      </p:sp>
      <p:sp>
        <p:nvSpPr>
          <p:cNvPr id="11" name="Text 8"/>
          <p:cNvSpPr/>
          <p:nvPr/>
        </p:nvSpPr>
        <p:spPr>
          <a:xfrm>
            <a:off x="15843796" y="3114675"/>
            <a:ext cx="1282303"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Ρ</a:t>
            </a:r>
            <a:endParaRPr lang="en-US" sz="1650" dirty="0"/>
          </a:p>
        </p:txBody>
      </p:sp>
      <p:sp>
        <p:nvSpPr>
          <p:cNvPr id="12" name="Shape 9"/>
          <p:cNvSpPr/>
          <p:nvPr/>
        </p:nvSpPr>
        <p:spPr>
          <a:xfrm>
            <a:off x="9697343" y="3543300"/>
            <a:ext cx="6013103" cy="604838"/>
          </a:xfrm>
          <a:prstGeom prst="rect">
            <a:avLst/>
          </a:prstGeom>
          <a:solidFill>
            <a:srgbClr val="1D9E75">
              <a:alpha val="8000"/>
            </a:srgbClr>
          </a:solidFill>
          <a:ln/>
        </p:spPr>
        <p:txBody>
          <a:bodyPr/>
          <a:lstStyle/>
          <a:p>
            <a:endParaRPr lang="en-US"/>
          </a:p>
        </p:txBody>
      </p:sp>
      <p:sp>
        <p:nvSpPr>
          <p:cNvPr id="13" name="Shape 10"/>
          <p:cNvSpPr/>
          <p:nvPr/>
        </p:nvSpPr>
        <p:spPr>
          <a:xfrm>
            <a:off x="9697343" y="4138613"/>
            <a:ext cx="6013103" cy="9525"/>
          </a:xfrm>
          <a:prstGeom prst="rect">
            <a:avLst/>
          </a:prstGeom>
          <a:solidFill>
            <a:srgbClr val="D9D3C5"/>
          </a:solidFill>
          <a:ln/>
        </p:spPr>
        <p:txBody>
          <a:bodyPr/>
          <a:lstStyle/>
          <a:p>
            <a:endParaRPr lang="en-US"/>
          </a:p>
        </p:txBody>
      </p:sp>
      <p:sp>
        <p:nvSpPr>
          <p:cNvPr id="14" name="Text 11"/>
          <p:cNvSpPr/>
          <p:nvPr/>
        </p:nvSpPr>
        <p:spPr>
          <a:xfrm>
            <a:off x="9906893" y="3714750"/>
            <a:ext cx="5774396" cy="290513"/>
          </a:xfrm>
          <a:prstGeom prst="rect">
            <a:avLst/>
          </a:prstGeom>
          <a:noFill/>
          <a:ln/>
        </p:spPr>
        <p:txBody>
          <a:bodyPr wrap="square" lIns="25400" tIns="25400" rIns="25400" bIns="25400" rtlCol="0" anchor="ctr">
            <a:normAutofit/>
          </a:bodyPr>
          <a:lstStyle/>
          <a:p>
            <a:pPr marL="0" indent="0" algn="l">
              <a:buNone/>
            </a:pPr>
            <a:r>
              <a:rPr lang="en-US" sz="1500" b="1" dirty="0">
                <a:solidFill>
                  <a:srgbClr val="1C1B1A"/>
                </a:solidFill>
                <a:latin typeface="Arial" pitchFamily="34" charset="0"/>
                <a:ea typeface="Arial" pitchFamily="34" charset="-122"/>
                <a:cs typeface="Arial" pitchFamily="34" charset="-120"/>
              </a:rPr>
              <a:t>Curricular units 2nd sem (approved)</a:t>
            </a:r>
            <a:endParaRPr lang="en-US" sz="1500" dirty="0"/>
          </a:p>
        </p:txBody>
      </p:sp>
      <p:sp>
        <p:nvSpPr>
          <p:cNvPr id="15" name="Shape 12"/>
          <p:cNvSpPr/>
          <p:nvPr/>
        </p:nvSpPr>
        <p:spPr>
          <a:xfrm>
            <a:off x="15710446" y="3543300"/>
            <a:ext cx="1625203" cy="604838"/>
          </a:xfrm>
          <a:prstGeom prst="rect">
            <a:avLst/>
          </a:prstGeom>
          <a:solidFill>
            <a:srgbClr val="1D9E75">
              <a:alpha val="8000"/>
            </a:srgbClr>
          </a:solidFill>
          <a:ln/>
        </p:spPr>
        <p:txBody>
          <a:bodyPr/>
          <a:lstStyle/>
          <a:p>
            <a:endParaRPr lang="en-US"/>
          </a:p>
        </p:txBody>
      </p:sp>
      <p:sp>
        <p:nvSpPr>
          <p:cNvPr id="16" name="Shape 13"/>
          <p:cNvSpPr/>
          <p:nvPr/>
        </p:nvSpPr>
        <p:spPr>
          <a:xfrm>
            <a:off x="15710446" y="4138613"/>
            <a:ext cx="1625203" cy="9525"/>
          </a:xfrm>
          <a:prstGeom prst="rect">
            <a:avLst/>
          </a:prstGeom>
          <a:solidFill>
            <a:srgbClr val="D9D3C5"/>
          </a:solidFill>
          <a:ln/>
        </p:spPr>
        <p:txBody>
          <a:bodyPr/>
          <a:lstStyle/>
          <a:p>
            <a:endParaRPr lang="en-US"/>
          </a:p>
        </p:txBody>
      </p:sp>
      <p:sp>
        <p:nvSpPr>
          <p:cNvPr id="17" name="Text 14"/>
          <p:cNvSpPr/>
          <p:nvPr/>
        </p:nvSpPr>
        <p:spPr>
          <a:xfrm>
            <a:off x="15843796" y="3714750"/>
            <a:ext cx="1282303" cy="290513"/>
          </a:xfrm>
          <a:prstGeom prst="rect">
            <a:avLst/>
          </a:prstGeom>
          <a:noFill/>
          <a:ln/>
        </p:spPr>
        <p:txBody>
          <a:bodyPr wrap="square" lIns="25400" tIns="25400" rIns="25400" bIns="25400" rtlCol="0" anchor="ctr">
            <a:normAutofit lnSpcReduction="10000"/>
          </a:bodyPr>
          <a:lstStyle/>
          <a:p>
            <a:pPr marL="0" indent="0" algn="r">
              <a:buNone/>
            </a:pPr>
            <a:r>
              <a:rPr lang="en-US" sz="1650" b="1" dirty="0">
                <a:solidFill>
                  <a:srgbClr val="1C1B1A"/>
                </a:solidFill>
                <a:latin typeface="Arial" pitchFamily="34" charset="0"/>
                <a:ea typeface="Arial" pitchFamily="34" charset="-122"/>
                <a:cs typeface="Arial" pitchFamily="34" charset="-120"/>
              </a:rPr>
              <a:t>+0.65</a:t>
            </a:r>
            <a:endParaRPr lang="en-US" sz="1650" dirty="0"/>
          </a:p>
        </p:txBody>
      </p:sp>
      <p:sp>
        <p:nvSpPr>
          <p:cNvPr id="18" name="Shape 15"/>
          <p:cNvSpPr/>
          <p:nvPr/>
        </p:nvSpPr>
        <p:spPr>
          <a:xfrm>
            <a:off x="9697343" y="4738688"/>
            <a:ext cx="6013103" cy="9525"/>
          </a:xfrm>
          <a:prstGeom prst="rect">
            <a:avLst/>
          </a:prstGeom>
          <a:solidFill>
            <a:srgbClr val="D9D3C5"/>
          </a:solidFill>
          <a:ln/>
        </p:spPr>
        <p:txBody>
          <a:bodyPr/>
          <a:lstStyle/>
          <a:p>
            <a:endParaRPr lang="en-US"/>
          </a:p>
        </p:txBody>
      </p:sp>
      <p:sp>
        <p:nvSpPr>
          <p:cNvPr id="19" name="Text 16"/>
          <p:cNvSpPr/>
          <p:nvPr/>
        </p:nvSpPr>
        <p:spPr>
          <a:xfrm>
            <a:off x="9906893" y="4319588"/>
            <a:ext cx="5774396" cy="285750"/>
          </a:xfrm>
          <a:prstGeom prst="rect">
            <a:avLst/>
          </a:prstGeom>
          <a:noFill/>
          <a:ln/>
        </p:spPr>
        <p:txBody>
          <a:bodyPr wrap="square" lIns="25400" tIns="25400" rIns="25400" bIns="25400" rtlCol="0" anchor="ctr">
            <a:normAutofit/>
          </a:bodyPr>
          <a:lstStyle/>
          <a:p>
            <a:pPr marL="0" indent="0" algn="l">
              <a:buNone/>
            </a:pPr>
            <a:r>
              <a:rPr lang="en-US" sz="1500" dirty="0">
                <a:solidFill>
                  <a:srgbClr val="1C1B1A"/>
                </a:solidFill>
                <a:latin typeface="Arial" pitchFamily="34" charset="0"/>
                <a:ea typeface="Arial" pitchFamily="34" charset="-122"/>
                <a:cs typeface="Arial" pitchFamily="34" charset="-120"/>
              </a:rPr>
              <a:t>Curricular units 1st sem (approved)</a:t>
            </a:r>
            <a:endParaRPr lang="en-US" sz="1500" dirty="0"/>
          </a:p>
        </p:txBody>
      </p:sp>
      <p:sp>
        <p:nvSpPr>
          <p:cNvPr id="20" name="Shape 17"/>
          <p:cNvSpPr/>
          <p:nvPr/>
        </p:nvSpPr>
        <p:spPr>
          <a:xfrm>
            <a:off x="15710446" y="4738688"/>
            <a:ext cx="1625203" cy="9525"/>
          </a:xfrm>
          <a:prstGeom prst="rect">
            <a:avLst/>
          </a:prstGeom>
          <a:solidFill>
            <a:srgbClr val="D9D3C5"/>
          </a:solidFill>
          <a:ln/>
        </p:spPr>
        <p:txBody>
          <a:bodyPr/>
          <a:lstStyle/>
          <a:p>
            <a:endParaRPr lang="en-US"/>
          </a:p>
        </p:txBody>
      </p:sp>
      <p:sp>
        <p:nvSpPr>
          <p:cNvPr id="21" name="Text 18"/>
          <p:cNvSpPr/>
          <p:nvPr/>
        </p:nvSpPr>
        <p:spPr>
          <a:xfrm>
            <a:off x="15843796" y="4319588"/>
            <a:ext cx="1282303" cy="285750"/>
          </a:xfrm>
          <a:prstGeom prst="rect">
            <a:avLst/>
          </a:prstGeom>
          <a:noFill/>
          <a:ln/>
        </p:spPr>
        <p:txBody>
          <a:bodyPr wrap="square" lIns="25400" tIns="25400" rIns="25400" bIns="25400" rtlCol="0" anchor="ctr">
            <a:normAutofit lnSpcReduction="10000"/>
          </a:bodyPr>
          <a:lstStyle/>
          <a:p>
            <a:pPr marL="0" indent="0" algn="r">
              <a:buNone/>
            </a:pPr>
            <a:r>
              <a:rPr lang="en-US" sz="1650" dirty="0">
                <a:solidFill>
                  <a:srgbClr val="1C1B1A"/>
                </a:solidFill>
                <a:latin typeface="Arial" pitchFamily="34" charset="0"/>
                <a:ea typeface="Arial" pitchFamily="34" charset="-122"/>
                <a:cs typeface="Arial" pitchFamily="34" charset="-120"/>
              </a:rPr>
              <a:t>+0.59</a:t>
            </a:r>
            <a:endParaRPr lang="en-US" sz="1650" dirty="0"/>
          </a:p>
        </p:txBody>
      </p:sp>
      <p:sp>
        <p:nvSpPr>
          <p:cNvPr id="22" name="Shape 19"/>
          <p:cNvSpPr/>
          <p:nvPr/>
        </p:nvSpPr>
        <p:spPr>
          <a:xfrm>
            <a:off x="9697343" y="5338763"/>
            <a:ext cx="6013103" cy="9525"/>
          </a:xfrm>
          <a:prstGeom prst="rect">
            <a:avLst/>
          </a:prstGeom>
          <a:solidFill>
            <a:srgbClr val="D9D3C5"/>
          </a:solidFill>
          <a:ln/>
        </p:spPr>
        <p:txBody>
          <a:bodyPr/>
          <a:lstStyle/>
          <a:p>
            <a:endParaRPr lang="en-US"/>
          </a:p>
        </p:txBody>
      </p:sp>
      <p:sp>
        <p:nvSpPr>
          <p:cNvPr id="23" name="Text 20"/>
          <p:cNvSpPr/>
          <p:nvPr/>
        </p:nvSpPr>
        <p:spPr>
          <a:xfrm>
            <a:off x="9906893" y="4919663"/>
            <a:ext cx="5774396" cy="285750"/>
          </a:xfrm>
          <a:prstGeom prst="rect">
            <a:avLst/>
          </a:prstGeom>
          <a:noFill/>
          <a:ln/>
        </p:spPr>
        <p:txBody>
          <a:bodyPr wrap="square" lIns="25400" tIns="25400" rIns="25400" bIns="25400" rtlCol="0" anchor="ctr">
            <a:normAutofit/>
          </a:bodyPr>
          <a:lstStyle/>
          <a:p>
            <a:pPr marL="0" indent="0" algn="l">
              <a:buNone/>
            </a:pPr>
            <a:r>
              <a:rPr lang="en-US" sz="1500" dirty="0">
                <a:solidFill>
                  <a:srgbClr val="1C1B1A"/>
                </a:solidFill>
                <a:latin typeface="Arial" pitchFamily="34" charset="0"/>
                <a:ea typeface="Arial" pitchFamily="34" charset="-122"/>
                <a:cs typeface="Arial" pitchFamily="34" charset="-120"/>
              </a:rPr>
              <a:t>Curricular units 2nd sem (grade)</a:t>
            </a:r>
            <a:endParaRPr lang="en-US" sz="1500" dirty="0"/>
          </a:p>
        </p:txBody>
      </p:sp>
      <p:sp>
        <p:nvSpPr>
          <p:cNvPr id="24" name="Shape 21"/>
          <p:cNvSpPr/>
          <p:nvPr/>
        </p:nvSpPr>
        <p:spPr>
          <a:xfrm>
            <a:off x="15710446" y="5338763"/>
            <a:ext cx="1625203" cy="9525"/>
          </a:xfrm>
          <a:prstGeom prst="rect">
            <a:avLst/>
          </a:prstGeom>
          <a:solidFill>
            <a:srgbClr val="D9D3C5"/>
          </a:solidFill>
          <a:ln/>
        </p:spPr>
        <p:txBody>
          <a:bodyPr/>
          <a:lstStyle/>
          <a:p>
            <a:endParaRPr lang="en-US"/>
          </a:p>
        </p:txBody>
      </p:sp>
      <p:sp>
        <p:nvSpPr>
          <p:cNvPr id="25" name="Text 22"/>
          <p:cNvSpPr/>
          <p:nvPr/>
        </p:nvSpPr>
        <p:spPr>
          <a:xfrm>
            <a:off x="15843796" y="4919663"/>
            <a:ext cx="1282303" cy="285750"/>
          </a:xfrm>
          <a:prstGeom prst="rect">
            <a:avLst/>
          </a:prstGeom>
          <a:noFill/>
          <a:ln/>
        </p:spPr>
        <p:txBody>
          <a:bodyPr wrap="square" lIns="25400" tIns="25400" rIns="25400" bIns="25400" rtlCol="0" anchor="ctr">
            <a:normAutofit lnSpcReduction="10000"/>
          </a:bodyPr>
          <a:lstStyle/>
          <a:p>
            <a:pPr marL="0" indent="0" algn="r">
              <a:buNone/>
            </a:pPr>
            <a:r>
              <a:rPr lang="en-US" sz="1650" dirty="0">
                <a:solidFill>
                  <a:srgbClr val="1C1B1A"/>
                </a:solidFill>
                <a:latin typeface="Arial" pitchFamily="34" charset="0"/>
                <a:ea typeface="Arial" pitchFamily="34" charset="-122"/>
                <a:cs typeface="Arial" pitchFamily="34" charset="-120"/>
              </a:rPr>
              <a:t>+0.56</a:t>
            </a:r>
            <a:endParaRPr lang="en-US" sz="1650" dirty="0"/>
          </a:p>
        </p:txBody>
      </p:sp>
      <p:sp>
        <p:nvSpPr>
          <p:cNvPr id="26" name="Shape 23"/>
          <p:cNvSpPr/>
          <p:nvPr/>
        </p:nvSpPr>
        <p:spPr>
          <a:xfrm>
            <a:off x="9697343" y="5938838"/>
            <a:ext cx="6013103" cy="9525"/>
          </a:xfrm>
          <a:prstGeom prst="rect">
            <a:avLst/>
          </a:prstGeom>
          <a:solidFill>
            <a:srgbClr val="D9D3C5"/>
          </a:solidFill>
          <a:ln/>
        </p:spPr>
        <p:txBody>
          <a:bodyPr/>
          <a:lstStyle/>
          <a:p>
            <a:endParaRPr lang="en-US"/>
          </a:p>
        </p:txBody>
      </p:sp>
      <p:sp>
        <p:nvSpPr>
          <p:cNvPr id="27" name="Text 24"/>
          <p:cNvSpPr/>
          <p:nvPr/>
        </p:nvSpPr>
        <p:spPr>
          <a:xfrm>
            <a:off x="9906893" y="5519738"/>
            <a:ext cx="5774396" cy="285750"/>
          </a:xfrm>
          <a:prstGeom prst="rect">
            <a:avLst/>
          </a:prstGeom>
          <a:noFill/>
          <a:ln/>
        </p:spPr>
        <p:txBody>
          <a:bodyPr wrap="square" lIns="25400" tIns="25400" rIns="25400" bIns="25400" rtlCol="0" anchor="ctr">
            <a:normAutofit/>
          </a:bodyPr>
          <a:lstStyle/>
          <a:p>
            <a:pPr marL="0" indent="0" algn="l">
              <a:buNone/>
            </a:pPr>
            <a:r>
              <a:rPr lang="en-US" sz="1500" dirty="0">
                <a:solidFill>
                  <a:srgbClr val="1C1B1A"/>
                </a:solidFill>
                <a:latin typeface="Arial" pitchFamily="34" charset="0"/>
                <a:ea typeface="Arial" pitchFamily="34" charset="-122"/>
                <a:cs typeface="Arial" pitchFamily="34" charset="-120"/>
              </a:rPr>
              <a:t>Curricular units 1st sem (grade)</a:t>
            </a:r>
            <a:endParaRPr lang="en-US" sz="1500" dirty="0"/>
          </a:p>
        </p:txBody>
      </p:sp>
      <p:sp>
        <p:nvSpPr>
          <p:cNvPr id="28" name="Shape 25"/>
          <p:cNvSpPr/>
          <p:nvPr/>
        </p:nvSpPr>
        <p:spPr>
          <a:xfrm>
            <a:off x="15710446" y="5938838"/>
            <a:ext cx="1625203" cy="9525"/>
          </a:xfrm>
          <a:prstGeom prst="rect">
            <a:avLst/>
          </a:prstGeom>
          <a:solidFill>
            <a:srgbClr val="D9D3C5"/>
          </a:solidFill>
          <a:ln/>
        </p:spPr>
        <p:txBody>
          <a:bodyPr/>
          <a:lstStyle/>
          <a:p>
            <a:endParaRPr lang="en-US"/>
          </a:p>
        </p:txBody>
      </p:sp>
      <p:sp>
        <p:nvSpPr>
          <p:cNvPr id="29" name="Text 26"/>
          <p:cNvSpPr/>
          <p:nvPr/>
        </p:nvSpPr>
        <p:spPr>
          <a:xfrm>
            <a:off x="15843796" y="5519738"/>
            <a:ext cx="1282303" cy="285750"/>
          </a:xfrm>
          <a:prstGeom prst="rect">
            <a:avLst/>
          </a:prstGeom>
          <a:noFill/>
          <a:ln/>
        </p:spPr>
        <p:txBody>
          <a:bodyPr wrap="square" lIns="25400" tIns="25400" rIns="25400" bIns="25400" rtlCol="0" anchor="ctr">
            <a:normAutofit lnSpcReduction="10000"/>
          </a:bodyPr>
          <a:lstStyle/>
          <a:p>
            <a:pPr marL="0" indent="0" algn="r">
              <a:buNone/>
            </a:pPr>
            <a:r>
              <a:rPr lang="en-US" sz="1650" dirty="0">
                <a:solidFill>
                  <a:srgbClr val="1C1B1A"/>
                </a:solidFill>
                <a:latin typeface="Arial" pitchFamily="34" charset="0"/>
                <a:ea typeface="Arial" pitchFamily="34" charset="-122"/>
                <a:cs typeface="Arial" pitchFamily="34" charset="-120"/>
              </a:rPr>
              <a:t>+0.49</a:t>
            </a:r>
            <a:endParaRPr lang="en-US" sz="1650" dirty="0"/>
          </a:p>
        </p:txBody>
      </p:sp>
      <p:sp>
        <p:nvSpPr>
          <p:cNvPr id="30" name="Shape 27"/>
          <p:cNvSpPr/>
          <p:nvPr/>
        </p:nvSpPr>
        <p:spPr>
          <a:xfrm>
            <a:off x="9697343" y="6538913"/>
            <a:ext cx="6013103" cy="9525"/>
          </a:xfrm>
          <a:prstGeom prst="rect">
            <a:avLst/>
          </a:prstGeom>
          <a:solidFill>
            <a:srgbClr val="D9D3C5"/>
          </a:solidFill>
          <a:ln/>
        </p:spPr>
        <p:txBody>
          <a:bodyPr/>
          <a:lstStyle/>
          <a:p>
            <a:endParaRPr lang="en-US"/>
          </a:p>
        </p:txBody>
      </p:sp>
      <p:sp>
        <p:nvSpPr>
          <p:cNvPr id="31" name="Text 28"/>
          <p:cNvSpPr/>
          <p:nvPr/>
        </p:nvSpPr>
        <p:spPr>
          <a:xfrm>
            <a:off x="9906893" y="6119813"/>
            <a:ext cx="5774396" cy="285750"/>
          </a:xfrm>
          <a:prstGeom prst="rect">
            <a:avLst/>
          </a:prstGeom>
          <a:noFill/>
          <a:ln/>
        </p:spPr>
        <p:txBody>
          <a:bodyPr wrap="square" lIns="25400" tIns="25400" rIns="25400" bIns="25400" rtlCol="0" anchor="ctr">
            <a:normAutofit/>
          </a:bodyPr>
          <a:lstStyle/>
          <a:p>
            <a:pPr marL="0" indent="0" algn="l">
              <a:buNone/>
            </a:pPr>
            <a:r>
              <a:rPr lang="en-US" sz="1500" dirty="0">
                <a:solidFill>
                  <a:srgbClr val="1C1B1A"/>
                </a:solidFill>
                <a:latin typeface="Arial" pitchFamily="34" charset="0"/>
                <a:ea typeface="Arial" pitchFamily="34" charset="-122"/>
                <a:cs typeface="Arial" pitchFamily="34" charset="-120"/>
              </a:rPr>
              <a:t>Tuition fees up to date</a:t>
            </a:r>
            <a:endParaRPr lang="en-US" sz="1500" dirty="0"/>
          </a:p>
        </p:txBody>
      </p:sp>
      <p:sp>
        <p:nvSpPr>
          <p:cNvPr id="32" name="Shape 29"/>
          <p:cNvSpPr/>
          <p:nvPr/>
        </p:nvSpPr>
        <p:spPr>
          <a:xfrm>
            <a:off x="15710446" y="6538913"/>
            <a:ext cx="1625203" cy="9525"/>
          </a:xfrm>
          <a:prstGeom prst="rect">
            <a:avLst/>
          </a:prstGeom>
          <a:solidFill>
            <a:srgbClr val="D9D3C5"/>
          </a:solidFill>
          <a:ln/>
        </p:spPr>
        <p:txBody>
          <a:bodyPr/>
          <a:lstStyle/>
          <a:p>
            <a:endParaRPr lang="en-US"/>
          </a:p>
        </p:txBody>
      </p:sp>
      <p:sp>
        <p:nvSpPr>
          <p:cNvPr id="33" name="Text 30"/>
          <p:cNvSpPr/>
          <p:nvPr/>
        </p:nvSpPr>
        <p:spPr>
          <a:xfrm>
            <a:off x="15843796" y="6119813"/>
            <a:ext cx="1282303" cy="285750"/>
          </a:xfrm>
          <a:prstGeom prst="rect">
            <a:avLst/>
          </a:prstGeom>
          <a:noFill/>
          <a:ln/>
        </p:spPr>
        <p:txBody>
          <a:bodyPr wrap="square" lIns="25400" tIns="25400" rIns="25400" bIns="25400" rtlCol="0" anchor="ctr">
            <a:normAutofit lnSpcReduction="10000"/>
          </a:bodyPr>
          <a:lstStyle/>
          <a:p>
            <a:pPr marL="0" indent="0" algn="r">
              <a:buNone/>
            </a:pPr>
            <a:r>
              <a:rPr lang="en-US" sz="1650" dirty="0">
                <a:solidFill>
                  <a:srgbClr val="1C1B1A"/>
                </a:solidFill>
                <a:latin typeface="Arial" pitchFamily="34" charset="0"/>
                <a:ea typeface="Arial" pitchFamily="34" charset="-122"/>
                <a:cs typeface="Arial" pitchFamily="34" charset="-120"/>
              </a:rPr>
              <a:t>+0.40</a:t>
            </a:r>
            <a:endParaRPr lang="en-US" sz="1650" dirty="0"/>
          </a:p>
        </p:txBody>
      </p:sp>
      <p:sp>
        <p:nvSpPr>
          <p:cNvPr id="34" name="Shape 31"/>
          <p:cNvSpPr/>
          <p:nvPr/>
        </p:nvSpPr>
        <p:spPr>
          <a:xfrm>
            <a:off x="9697343" y="7138988"/>
            <a:ext cx="6013103" cy="9525"/>
          </a:xfrm>
          <a:prstGeom prst="rect">
            <a:avLst/>
          </a:prstGeom>
          <a:solidFill>
            <a:srgbClr val="D9D3C5"/>
          </a:solidFill>
          <a:ln/>
        </p:spPr>
        <p:txBody>
          <a:bodyPr/>
          <a:lstStyle/>
          <a:p>
            <a:endParaRPr lang="en-US"/>
          </a:p>
        </p:txBody>
      </p:sp>
      <p:sp>
        <p:nvSpPr>
          <p:cNvPr id="35" name="Text 32"/>
          <p:cNvSpPr/>
          <p:nvPr/>
        </p:nvSpPr>
        <p:spPr>
          <a:xfrm>
            <a:off x="9906893" y="6719888"/>
            <a:ext cx="5774396" cy="285750"/>
          </a:xfrm>
          <a:prstGeom prst="rect">
            <a:avLst/>
          </a:prstGeom>
          <a:noFill/>
          <a:ln/>
        </p:spPr>
        <p:txBody>
          <a:bodyPr wrap="square" lIns="25400" tIns="25400" rIns="25400" bIns="25400" rtlCol="0" anchor="ctr">
            <a:normAutofit/>
          </a:bodyPr>
          <a:lstStyle/>
          <a:p>
            <a:pPr marL="0" indent="0" algn="l">
              <a:buNone/>
            </a:pPr>
            <a:r>
              <a:rPr lang="en-US" sz="1500" dirty="0">
                <a:solidFill>
                  <a:srgbClr val="1C1B1A"/>
                </a:solidFill>
                <a:latin typeface="Arial" pitchFamily="34" charset="0"/>
                <a:ea typeface="Arial" pitchFamily="34" charset="-122"/>
                <a:cs typeface="Arial" pitchFamily="34" charset="-120"/>
              </a:rPr>
              <a:t>Scholarship holder</a:t>
            </a:r>
            <a:endParaRPr lang="en-US" sz="1500" dirty="0"/>
          </a:p>
        </p:txBody>
      </p:sp>
      <p:sp>
        <p:nvSpPr>
          <p:cNvPr id="36" name="Shape 33"/>
          <p:cNvSpPr/>
          <p:nvPr/>
        </p:nvSpPr>
        <p:spPr>
          <a:xfrm>
            <a:off x="15710446" y="7138988"/>
            <a:ext cx="1625203" cy="9525"/>
          </a:xfrm>
          <a:prstGeom prst="rect">
            <a:avLst/>
          </a:prstGeom>
          <a:solidFill>
            <a:srgbClr val="D9D3C5"/>
          </a:solidFill>
          <a:ln/>
        </p:spPr>
        <p:txBody>
          <a:bodyPr/>
          <a:lstStyle/>
          <a:p>
            <a:endParaRPr lang="en-US"/>
          </a:p>
        </p:txBody>
      </p:sp>
      <p:sp>
        <p:nvSpPr>
          <p:cNvPr id="37" name="Text 34"/>
          <p:cNvSpPr/>
          <p:nvPr/>
        </p:nvSpPr>
        <p:spPr>
          <a:xfrm>
            <a:off x="15843796" y="6719888"/>
            <a:ext cx="1282303" cy="285750"/>
          </a:xfrm>
          <a:prstGeom prst="rect">
            <a:avLst/>
          </a:prstGeom>
          <a:noFill/>
          <a:ln/>
        </p:spPr>
        <p:txBody>
          <a:bodyPr wrap="square" lIns="25400" tIns="25400" rIns="25400" bIns="25400" rtlCol="0" anchor="ctr">
            <a:normAutofit lnSpcReduction="10000"/>
          </a:bodyPr>
          <a:lstStyle/>
          <a:p>
            <a:pPr marL="0" indent="0" algn="r">
              <a:buNone/>
            </a:pPr>
            <a:r>
              <a:rPr lang="en-US" sz="1650" dirty="0">
                <a:solidFill>
                  <a:srgbClr val="1C1B1A"/>
                </a:solidFill>
                <a:latin typeface="Arial" pitchFamily="34" charset="0"/>
                <a:ea typeface="Arial" pitchFamily="34" charset="-122"/>
                <a:cs typeface="Arial" pitchFamily="34" charset="-120"/>
              </a:rPr>
              <a:t>+0.30</a:t>
            </a:r>
            <a:endParaRPr lang="en-US" sz="1650" dirty="0"/>
          </a:p>
        </p:txBody>
      </p:sp>
      <p:sp>
        <p:nvSpPr>
          <p:cNvPr id="38" name="Shape 35"/>
          <p:cNvSpPr/>
          <p:nvPr/>
        </p:nvSpPr>
        <p:spPr>
          <a:xfrm>
            <a:off x="9697343" y="7739062"/>
            <a:ext cx="6013103" cy="9525"/>
          </a:xfrm>
          <a:prstGeom prst="rect">
            <a:avLst/>
          </a:prstGeom>
          <a:solidFill>
            <a:srgbClr val="D9D3C5"/>
          </a:solidFill>
          <a:ln/>
        </p:spPr>
        <p:txBody>
          <a:bodyPr/>
          <a:lstStyle/>
          <a:p>
            <a:endParaRPr lang="en-US"/>
          </a:p>
        </p:txBody>
      </p:sp>
      <p:sp>
        <p:nvSpPr>
          <p:cNvPr id="39" name="Text 36"/>
          <p:cNvSpPr/>
          <p:nvPr/>
        </p:nvSpPr>
        <p:spPr>
          <a:xfrm>
            <a:off x="9906893" y="7319962"/>
            <a:ext cx="5774396" cy="285750"/>
          </a:xfrm>
          <a:prstGeom prst="rect">
            <a:avLst/>
          </a:prstGeom>
          <a:noFill/>
          <a:ln/>
        </p:spPr>
        <p:txBody>
          <a:bodyPr wrap="square" lIns="25400" tIns="25400" rIns="25400" bIns="25400" rtlCol="0" anchor="ctr">
            <a:normAutofit/>
          </a:bodyPr>
          <a:lstStyle/>
          <a:p>
            <a:pPr marL="0" indent="0" algn="l">
              <a:buNone/>
            </a:pPr>
            <a:r>
              <a:rPr lang="en-US" sz="1500" dirty="0">
                <a:solidFill>
                  <a:srgbClr val="1C1B1A"/>
                </a:solidFill>
                <a:latin typeface="Arial" pitchFamily="34" charset="0"/>
                <a:ea typeface="Arial" pitchFamily="34" charset="-122"/>
                <a:cs typeface="Arial" pitchFamily="34" charset="-120"/>
              </a:rPr>
              <a:t>Admission grade</a:t>
            </a:r>
            <a:endParaRPr lang="en-US" sz="1500" dirty="0"/>
          </a:p>
        </p:txBody>
      </p:sp>
      <p:sp>
        <p:nvSpPr>
          <p:cNvPr id="40" name="Shape 37"/>
          <p:cNvSpPr/>
          <p:nvPr/>
        </p:nvSpPr>
        <p:spPr>
          <a:xfrm>
            <a:off x="15710446" y="7739062"/>
            <a:ext cx="1625203" cy="9525"/>
          </a:xfrm>
          <a:prstGeom prst="rect">
            <a:avLst/>
          </a:prstGeom>
          <a:solidFill>
            <a:srgbClr val="D9D3C5"/>
          </a:solidFill>
          <a:ln/>
        </p:spPr>
        <p:txBody>
          <a:bodyPr/>
          <a:lstStyle/>
          <a:p>
            <a:endParaRPr lang="en-US"/>
          </a:p>
        </p:txBody>
      </p:sp>
      <p:sp>
        <p:nvSpPr>
          <p:cNvPr id="41" name="Text 38"/>
          <p:cNvSpPr/>
          <p:nvPr/>
        </p:nvSpPr>
        <p:spPr>
          <a:xfrm>
            <a:off x="15843796" y="7319962"/>
            <a:ext cx="1282303" cy="285750"/>
          </a:xfrm>
          <a:prstGeom prst="rect">
            <a:avLst/>
          </a:prstGeom>
          <a:noFill/>
          <a:ln/>
        </p:spPr>
        <p:txBody>
          <a:bodyPr wrap="square" lIns="25400" tIns="25400" rIns="25400" bIns="25400" rtlCol="0" anchor="ctr">
            <a:normAutofit lnSpcReduction="10000"/>
          </a:bodyPr>
          <a:lstStyle/>
          <a:p>
            <a:pPr marL="0" indent="0" algn="r">
              <a:buNone/>
            </a:pPr>
            <a:r>
              <a:rPr lang="en-US" sz="1650" dirty="0">
                <a:solidFill>
                  <a:srgbClr val="1C1B1A"/>
                </a:solidFill>
                <a:latin typeface="Arial" pitchFamily="34" charset="0"/>
                <a:ea typeface="Arial" pitchFamily="34" charset="-122"/>
                <a:cs typeface="Arial" pitchFamily="34" charset="-120"/>
              </a:rPr>
              <a:t>+0.12</a:t>
            </a:r>
            <a:endParaRPr lang="en-US" sz="1650" dirty="0"/>
          </a:p>
        </p:txBody>
      </p:sp>
      <p:sp>
        <p:nvSpPr>
          <p:cNvPr id="42" name="Shape 39"/>
          <p:cNvSpPr/>
          <p:nvPr/>
        </p:nvSpPr>
        <p:spPr>
          <a:xfrm>
            <a:off x="9697343" y="8339137"/>
            <a:ext cx="6013103" cy="9525"/>
          </a:xfrm>
          <a:prstGeom prst="rect">
            <a:avLst/>
          </a:prstGeom>
          <a:solidFill>
            <a:srgbClr val="D9D3C5"/>
          </a:solidFill>
          <a:ln/>
        </p:spPr>
        <p:txBody>
          <a:bodyPr/>
          <a:lstStyle/>
          <a:p>
            <a:endParaRPr lang="en-US"/>
          </a:p>
        </p:txBody>
      </p:sp>
      <p:sp>
        <p:nvSpPr>
          <p:cNvPr id="43" name="Text 40"/>
          <p:cNvSpPr/>
          <p:nvPr/>
        </p:nvSpPr>
        <p:spPr>
          <a:xfrm>
            <a:off x="9906893" y="7920038"/>
            <a:ext cx="5774396" cy="285750"/>
          </a:xfrm>
          <a:prstGeom prst="rect">
            <a:avLst/>
          </a:prstGeom>
          <a:noFill/>
          <a:ln/>
        </p:spPr>
        <p:txBody>
          <a:bodyPr wrap="square" lIns="25400" tIns="25400" rIns="25400" bIns="25400" rtlCol="0" anchor="ctr">
            <a:normAutofit/>
          </a:bodyPr>
          <a:lstStyle/>
          <a:p>
            <a:pPr marL="0" indent="0" algn="l">
              <a:buNone/>
            </a:pPr>
            <a:r>
              <a:rPr lang="en-US" sz="1500" dirty="0">
                <a:solidFill>
                  <a:srgbClr val="1C1B1A"/>
                </a:solidFill>
                <a:latin typeface="Arial" pitchFamily="34" charset="0"/>
                <a:ea typeface="Arial" pitchFamily="34" charset="-122"/>
                <a:cs typeface="Arial" pitchFamily="34" charset="-120"/>
              </a:rPr>
              <a:t>Debtor</a:t>
            </a:r>
            <a:endParaRPr lang="en-US" sz="1500" dirty="0"/>
          </a:p>
        </p:txBody>
      </p:sp>
      <p:sp>
        <p:nvSpPr>
          <p:cNvPr id="44" name="Shape 41"/>
          <p:cNvSpPr/>
          <p:nvPr/>
        </p:nvSpPr>
        <p:spPr>
          <a:xfrm>
            <a:off x="15710446" y="8339137"/>
            <a:ext cx="1625203" cy="9525"/>
          </a:xfrm>
          <a:prstGeom prst="rect">
            <a:avLst/>
          </a:prstGeom>
          <a:solidFill>
            <a:srgbClr val="D9D3C5"/>
          </a:solidFill>
          <a:ln/>
        </p:spPr>
        <p:txBody>
          <a:bodyPr/>
          <a:lstStyle/>
          <a:p>
            <a:endParaRPr lang="en-US"/>
          </a:p>
        </p:txBody>
      </p:sp>
      <p:sp>
        <p:nvSpPr>
          <p:cNvPr id="45" name="Text 42"/>
          <p:cNvSpPr/>
          <p:nvPr/>
        </p:nvSpPr>
        <p:spPr>
          <a:xfrm>
            <a:off x="15843796" y="7920038"/>
            <a:ext cx="1282303" cy="285750"/>
          </a:xfrm>
          <a:prstGeom prst="rect">
            <a:avLst/>
          </a:prstGeom>
          <a:noFill/>
          <a:ln/>
        </p:spPr>
        <p:txBody>
          <a:bodyPr wrap="square" lIns="25400" tIns="25400" rIns="25400" bIns="25400" rtlCol="0" anchor="ctr">
            <a:normAutofit lnSpcReduction="10000"/>
          </a:bodyPr>
          <a:lstStyle/>
          <a:p>
            <a:pPr marL="0" indent="0" algn="r">
              <a:buNone/>
            </a:pPr>
            <a:r>
              <a:rPr lang="en-US" sz="1650" dirty="0">
                <a:solidFill>
                  <a:srgbClr val="E24B4A"/>
                </a:solidFill>
                <a:latin typeface="Arial" pitchFamily="34" charset="0"/>
                <a:ea typeface="Arial" pitchFamily="34" charset="-122"/>
                <a:cs typeface="Arial" pitchFamily="34" charset="-120"/>
              </a:rPr>
              <a:t>−0.24</a:t>
            </a:r>
            <a:endParaRPr lang="en-US" sz="1650" dirty="0"/>
          </a:p>
        </p:txBody>
      </p:sp>
      <p:sp>
        <p:nvSpPr>
          <p:cNvPr id="46" name="Shape 43"/>
          <p:cNvSpPr/>
          <p:nvPr/>
        </p:nvSpPr>
        <p:spPr>
          <a:xfrm>
            <a:off x="9697343" y="8939213"/>
            <a:ext cx="6013103" cy="9525"/>
          </a:xfrm>
          <a:prstGeom prst="rect">
            <a:avLst/>
          </a:prstGeom>
          <a:solidFill>
            <a:srgbClr val="D9D3C5"/>
          </a:solidFill>
          <a:ln/>
        </p:spPr>
        <p:txBody>
          <a:bodyPr/>
          <a:lstStyle/>
          <a:p>
            <a:endParaRPr lang="en-US"/>
          </a:p>
        </p:txBody>
      </p:sp>
      <p:sp>
        <p:nvSpPr>
          <p:cNvPr id="47" name="Text 44"/>
          <p:cNvSpPr/>
          <p:nvPr/>
        </p:nvSpPr>
        <p:spPr>
          <a:xfrm>
            <a:off x="9906893" y="8520113"/>
            <a:ext cx="5774396" cy="285750"/>
          </a:xfrm>
          <a:prstGeom prst="rect">
            <a:avLst/>
          </a:prstGeom>
          <a:noFill/>
          <a:ln/>
        </p:spPr>
        <p:txBody>
          <a:bodyPr wrap="square" lIns="25400" tIns="25400" rIns="25400" bIns="25400" rtlCol="0" anchor="ctr">
            <a:normAutofit/>
          </a:bodyPr>
          <a:lstStyle/>
          <a:p>
            <a:pPr marL="0" indent="0" algn="l">
              <a:buNone/>
            </a:pPr>
            <a:r>
              <a:rPr lang="en-US" sz="1500" dirty="0">
                <a:solidFill>
                  <a:srgbClr val="1C1B1A"/>
                </a:solidFill>
                <a:latin typeface="Arial" pitchFamily="34" charset="0"/>
                <a:ea typeface="Arial" pitchFamily="34" charset="-122"/>
                <a:cs typeface="Arial" pitchFamily="34" charset="-120"/>
              </a:rPr>
              <a:t>Age at enrollment</a:t>
            </a:r>
            <a:endParaRPr lang="en-US" sz="1500" dirty="0"/>
          </a:p>
        </p:txBody>
      </p:sp>
      <p:sp>
        <p:nvSpPr>
          <p:cNvPr id="48" name="Shape 45"/>
          <p:cNvSpPr/>
          <p:nvPr/>
        </p:nvSpPr>
        <p:spPr>
          <a:xfrm>
            <a:off x="15710446" y="8939213"/>
            <a:ext cx="1625203" cy="9525"/>
          </a:xfrm>
          <a:prstGeom prst="rect">
            <a:avLst/>
          </a:prstGeom>
          <a:solidFill>
            <a:srgbClr val="D9D3C5"/>
          </a:solidFill>
          <a:ln/>
        </p:spPr>
        <p:txBody>
          <a:bodyPr/>
          <a:lstStyle/>
          <a:p>
            <a:endParaRPr lang="en-US"/>
          </a:p>
        </p:txBody>
      </p:sp>
      <p:sp>
        <p:nvSpPr>
          <p:cNvPr id="49" name="Text 46"/>
          <p:cNvSpPr/>
          <p:nvPr/>
        </p:nvSpPr>
        <p:spPr>
          <a:xfrm>
            <a:off x="15843796" y="8520113"/>
            <a:ext cx="1282303" cy="285750"/>
          </a:xfrm>
          <a:prstGeom prst="rect">
            <a:avLst/>
          </a:prstGeom>
          <a:noFill/>
          <a:ln/>
        </p:spPr>
        <p:txBody>
          <a:bodyPr wrap="square" lIns="25400" tIns="25400" rIns="25400" bIns="25400" rtlCol="0" anchor="ctr">
            <a:normAutofit lnSpcReduction="10000"/>
          </a:bodyPr>
          <a:lstStyle/>
          <a:p>
            <a:pPr marL="0" indent="0" algn="r">
              <a:buNone/>
            </a:pPr>
            <a:r>
              <a:rPr lang="en-US" sz="1650" dirty="0">
                <a:solidFill>
                  <a:srgbClr val="E24B4A"/>
                </a:solidFill>
                <a:latin typeface="Arial" pitchFamily="34" charset="0"/>
                <a:ea typeface="Arial" pitchFamily="34" charset="-122"/>
                <a:cs typeface="Arial" pitchFamily="34" charset="-120"/>
              </a:rPr>
              <a:t>−0.29</a:t>
            </a:r>
            <a:endParaRPr lang="en-US" sz="1650" dirty="0"/>
          </a:p>
        </p:txBody>
      </p:sp>
      <p:sp>
        <p:nvSpPr>
          <p:cNvPr id="50" name="Text 47"/>
          <p:cNvSpPr/>
          <p:nvPr/>
        </p:nvSpPr>
        <p:spPr>
          <a:xfrm>
            <a:off x="918210" y="9319685"/>
            <a:ext cx="16874490" cy="66675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i="1" dirty="0">
                <a:solidFill>
                  <a:srgbClr val="4B4845"/>
                </a:solidFill>
                <a:latin typeface="-apple-system" pitchFamily="34" charset="0"/>
                <a:ea typeface="-apple-system" pitchFamily="34" charset="-122"/>
                <a:cs typeface="-apple-system" pitchFamily="34" charset="-120"/>
              </a:rPr>
              <a:t>Dropout students cluster near zero approved units, while graduates spread across higher values. 2nd-semester approved units has the largest |ρ| ≈ 0.65 — the single strongest monotonic predictor in the dataset.</a:t>
            </a:r>
            <a:endParaRPr lang="en-US" sz="1800" dirty="0"/>
          </a:p>
        </p:txBody>
      </p:sp>
      <p:sp>
        <p:nvSpPr>
          <p:cNvPr id="51" name="Text 48"/>
          <p:cNvSpPr/>
          <p:nvPr/>
        </p:nvSpPr>
        <p:spPr>
          <a:xfrm>
            <a:off x="16692116" y="9732436"/>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08/19</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422464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08 · EDA — THREE LENSES</a:t>
            </a:r>
            <a:endParaRPr lang="en-US" sz="1800" dirty="0"/>
          </a:p>
        </p:txBody>
      </p:sp>
      <p:sp>
        <p:nvSpPr>
          <p:cNvPr id="4" name="Text 2"/>
          <p:cNvSpPr/>
          <p:nvPr/>
        </p:nvSpPr>
        <p:spPr>
          <a:xfrm>
            <a:off x="952500" y="1704975"/>
            <a:ext cx="16874490" cy="66675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Grades, finance, and a 2D projection</a:t>
            </a:r>
            <a:endParaRPr lang="en-US" sz="4800" dirty="0"/>
          </a:p>
        </p:txBody>
      </p:sp>
      <p:sp>
        <p:nvSpPr>
          <p:cNvPr id="5" name="Text 3"/>
          <p:cNvSpPr/>
          <p:nvPr/>
        </p:nvSpPr>
        <p:spPr>
          <a:xfrm>
            <a:off x="952500" y="2600325"/>
            <a:ext cx="5441594"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4B4845"/>
                </a:solidFill>
                <a:latin typeface="Courier New" pitchFamily="34" charset="0"/>
                <a:ea typeface="Courier New" pitchFamily="34" charset="-122"/>
                <a:cs typeface="Courier New" pitchFamily="34" charset="-120"/>
              </a:rPr>
              <a:t>SEMESTER GRADES BY OUTCOME</a:t>
            </a:r>
            <a:endParaRPr lang="en-US" sz="1350" dirty="0"/>
          </a:p>
        </p:txBody>
      </p:sp>
      <p:sp>
        <p:nvSpPr>
          <p:cNvPr id="6" name="Shape 4"/>
          <p:cNvSpPr/>
          <p:nvPr/>
        </p:nvSpPr>
        <p:spPr>
          <a:xfrm>
            <a:off x="952500" y="2905125"/>
            <a:ext cx="5283101" cy="4457700"/>
          </a:xfrm>
          <a:prstGeom prst="rect">
            <a:avLst/>
          </a:prstGeom>
          <a:solidFill>
            <a:srgbClr val="FFFFFF"/>
          </a:solidFill>
          <a:ln w="9525">
            <a:solidFill>
              <a:srgbClr val="D9D3C5"/>
            </a:solidFill>
            <a:prstDash val="solid"/>
          </a:ln>
        </p:spPr>
        <p:txBody>
          <a:bodyPr/>
          <a:lstStyle/>
          <a:p>
            <a:endParaRPr lang="en-US"/>
          </a:p>
        </p:txBody>
      </p:sp>
      <p:pic>
        <p:nvPicPr>
          <p:cNvPr id="7" name="Image 0" descr="preencoded.png"/>
          <p:cNvPicPr>
            <a:picLocks noChangeAspect="1"/>
          </p:cNvPicPr>
          <p:nvPr/>
        </p:nvPicPr>
        <p:blipFill>
          <a:blip r:embed="rId3"/>
          <a:srcRect/>
          <a:stretch/>
        </p:blipFill>
        <p:spPr>
          <a:xfrm>
            <a:off x="1114425" y="4082653"/>
            <a:ext cx="4959251" cy="2102495"/>
          </a:xfrm>
          <a:prstGeom prst="rect">
            <a:avLst/>
          </a:prstGeom>
        </p:spPr>
      </p:pic>
      <p:sp>
        <p:nvSpPr>
          <p:cNvPr id="8" name="Text 5"/>
          <p:cNvSpPr/>
          <p:nvPr/>
        </p:nvSpPr>
        <p:spPr>
          <a:xfrm>
            <a:off x="6502301" y="2600325"/>
            <a:ext cx="5441747"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4B4845"/>
                </a:solidFill>
                <a:latin typeface="Courier New" pitchFamily="34" charset="0"/>
                <a:ea typeface="Courier New" pitchFamily="34" charset="-122"/>
                <a:cs typeface="Courier New" pitchFamily="34" charset="-120"/>
              </a:rPr>
              <a:t>FINANCIAL FACTORS VS OUTCOME</a:t>
            </a:r>
            <a:endParaRPr lang="en-US" sz="1350" dirty="0"/>
          </a:p>
        </p:txBody>
      </p:sp>
      <p:sp>
        <p:nvSpPr>
          <p:cNvPr id="9" name="Shape 6"/>
          <p:cNvSpPr/>
          <p:nvPr/>
        </p:nvSpPr>
        <p:spPr>
          <a:xfrm>
            <a:off x="6502301" y="2905125"/>
            <a:ext cx="5283250" cy="4457700"/>
          </a:xfrm>
          <a:prstGeom prst="rect">
            <a:avLst/>
          </a:prstGeom>
          <a:solidFill>
            <a:srgbClr val="FFFFFF"/>
          </a:solidFill>
          <a:ln w="9525">
            <a:solidFill>
              <a:srgbClr val="D9D3C5"/>
            </a:solidFill>
            <a:prstDash val="solid"/>
          </a:ln>
        </p:spPr>
        <p:txBody>
          <a:bodyPr/>
          <a:lstStyle/>
          <a:p>
            <a:endParaRPr lang="en-US"/>
          </a:p>
        </p:txBody>
      </p:sp>
      <p:pic>
        <p:nvPicPr>
          <p:cNvPr id="10" name="Image 1" descr="preencoded.png"/>
          <p:cNvPicPr>
            <a:picLocks noChangeAspect="1"/>
          </p:cNvPicPr>
          <p:nvPr/>
        </p:nvPicPr>
        <p:blipFill>
          <a:blip r:embed="rId4"/>
          <a:srcRect/>
          <a:stretch/>
        </p:blipFill>
        <p:spPr>
          <a:xfrm>
            <a:off x="6664226" y="4312890"/>
            <a:ext cx="4959400" cy="1642021"/>
          </a:xfrm>
          <a:prstGeom prst="rect">
            <a:avLst/>
          </a:prstGeom>
        </p:spPr>
      </p:pic>
      <p:sp>
        <p:nvSpPr>
          <p:cNvPr id="11" name="Text 7"/>
          <p:cNvSpPr/>
          <p:nvPr/>
        </p:nvSpPr>
        <p:spPr>
          <a:xfrm>
            <a:off x="12052250" y="2600325"/>
            <a:ext cx="5441594"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4B4845"/>
                </a:solidFill>
                <a:latin typeface="Courier New" pitchFamily="34" charset="0"/>
                <a:ea typeface="Courier New" pitchFamily="34" charset="-122"/>
                <a:cs typeface="Courier New" pitchFamily="34" charset="-120"/>
              </a:rPr>
              <a:t>PCA 2D PROJECTION</a:t>
            </a:r>
            <a:endParaRPr lang="en-US" sz="1350" dirty="0"/>
          </a:p>
        </p:txBody>
      </p:sp>
      <p:sp>
        <p:nvSpPr>
          <p:cNvPr id="12" name="Shape 8"/>
          <p:cNvSpPr/>
          <p:nvPr/>
        </p:nvSpPr>
        <p:spPr>
          <a:xfrm>
            <a:off x="12052250" y="2905125"/>
            <a:ext cx="5283101" cy="4457700"/>
          </a:xfrm>
          <a:prstGeom prst="rect">
            <a:avLst/>
          </a:prstGeom>
          <a:solidFill>
            <a:srgbClr val="FFFFFF"/>
          </a:solidFill>
          <a:ln w="9525">
            <a:solidFill>
              <a:srgbClr val="D9D3C5"/>
            </a:solidFill>
            <a:prstDash val="solid"/>
          </a:ln>
        </p:spPr>
        <p:txBody>
          <a:bodyPr/>
          <a:lstStyle/>
          <a:p>
            <a:endParaRPr lang="en-US"/>
          </a:p>
        </p:txBody>
      </p:sp>
      <p:pic>
        <p:nvPicPr>
          <p:cNvPr id="13" name="Image 2" descr="preencoded.png"/>
          <p:cNvPicPr>
            <a:picLocks noChangeAspect="1"/>
          </p:cNvPicPr>
          <p:nvPr/>
        </p:nvPicPr>
        <p:blipFill>
          <a:blip r:embed="rId5"/>
          <a:srcRect/>
          <a:stretch/>
        </p:blipFill>
        <p:spPr>
          <a:xfrm>
            <a:off x="12214175" y="3408908"/>
            <a:ext cx="4959251" cy="3449985"/>
          </a:xfrm>
          <a:prstGeom prst="rect">
            <a:avLst/>
          </a:prstGeom>
        </p:spPr>
      </p:pic>
      <p:sp>
        <p:nvSpPr>
          <p:cNvPr id="14" name="Text 9"/>
          <p:cNvSpPr/>
          <p:nvPr/>
        </p:nvSpPr>
        <p:spPr>
          <a:xfrm>
            <a:off x="952500" y="7591425"/>
            <a:ext cx="963737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4B4845"/>
                </a:solidFill>
                <a:latin typeface="Courier New" pitchFamily="34" charset="0"/>
                <a:ea typeface="Courier New" pitchFamily="34" charset="-122"/>
                <a:cs typeface="Courier New" pitchFamily="34" charset="-120"/>
              </a:rPr>
              <a:t>DROPOUT RATE BY FINANCIAL FACTOR (FROM MIDDLE CHART)</a:t>
            </a:r>
            <a:endParaRPr lang="en-US" sz="1350" dirty="0"/>
          </a:p>
        </p:txBody>
      </p:sp>
      <p:sp>
        <p:nvSpPr>
          <p:cNvPr id="15" name="Shape 10"/>
          <p:cNvSpPr/>
          <p:nvPr/>
        </p:nvSpPr>
        <p:spPr>
          <a:xfrm>
            <a:off x="952500" y="8458200"/>
            <a:ext cx="2633811" cy="19050"/>
          </a:xfrm>
          <a:prstGeom prst="rect">
            <a:avLst/>
          </a:prstGeom>
          <a:solidFill>
            <a:srgbClr val="1C1B1A"/>
          </a:solidFill>
          <a:ln/>
        </p:spPr>
        <p:txBody>
          <a:bodyPr/>
          <a:lstStyle/>
          <a:p>
            <a:endParaRPr lang="en-US"/>
          </a:p>
        </p:txBody>
      </p:sp>
      <p:sp>
        <p:nvSpPr>
          <p:cNvPr id="16" name="Text 11"/>
          <p:cNvSpPr/>
          <p:nvPr/>
        </p:nvSpPr>
        <p:spPr>
          <a:xfrm>
            <a:off x="1162050" y="8048625"/>
            <a:ext cx="2293726"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650" b="1" kern="0" spc="165" dirty="0">
                <a:solidFill>
                  <a:srgbClr val="807C76"/>
                </a:solidFill>
                <a:latin typeface="Arial" pitchFamily="34" charset="0"/>
                <a:ea typeface="Arial" pitchFamily="34" charset="-122"/>
                <a:cs typeface="Arial" pitchFamily="34" charset="-120"/>
              </a:rPr>
              <a:t>FACTOR</a:t>
            </a:r>
            <a:endParaRPr lang="en-US" sz="1650" dirty="0"/>
          </a:p>
        </p:txBody>
      </p:sp>
      <p:sp>
        <p:nvSpPr>
          <p:cNvPr id="17" name="Shape 12"/>
          <p:cNvSpPr/>
          <p:nvPr/>
        </p:nvSpPr>
        <p:spPr>
          <a:xfrm>
            <a:off x="3586311" y="8458200"/>
            <a:ext cx="2678609" cy="19050"/>
          </a:xfrm>
          <a:prstGeom prst="rect">
            <a:avLst/>
          </a:prstGeom>
          <a:solidFill>
            <a:srgbClr val="1C1B1A"/>
          </a:solidFill>
          <a:ln/>
        </p:spPr>
        <p:txBody>
          <a:bodyPr/>
          <a:lstStyle/>
          <a:p>
            <a:endParaRPr lang="en-US"/>
          </a:p>
        </p:txBody>
      </p:sp>
      <p:sp>
        <p:nvSpPr>
          <p:cNvPr id="18" name="Text 13"/>
          <p:cNvSpPr/>
          <p:nvPr/>
        </p:nvSpPr>
        <p:spPr>
          <a:xfrm>
            <a:off x="3715503" y="8048625"/>
            <a:ext cx="2339867"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DROPOUT IF NO</a:t>
            </a:r>
            <a:endParaRPr lang="en-US" sz="1650" dirty="0"/>
          </a:p>
        </p:txBody>
      </p:sp>
      <p:sp>
        <p:nvSpPr>
          <p:cNvPr id="19" name="Shape 14"/>
          <p:cNvSpPr/>
          <p:nvPr/>
        </p:nvSpPr>
        <p:spPr>
          <a:xfrm>
            <a:off x="6264920" y="8458200"/>
            <a:ext cx="2808684" cy="19050"/>
          </a:xfrm>
          <a:prstGeom prst="rect">
            <a:avLst/>
          </a:prstGeom>
          <a:solidFill>
            <a:srgbClr val="1C1B1A"/>
          </a:solidFill>
          <a:ln/>
        </p:spPr>
        <p:txBody>
          <a:bodyPr/>
          <a:lstStyle/>
          <a:p>
            <a:endParaRPr lang="en-US"/>
          </a:p>
        </p:txBody>
      </p:sp>
      <p:sp>
        <p:nvSpPr>
          <p:cNvPr id="20" name="Text 15"/>
          <p:cNvSpPr/>
          <p:nvPr/>
        </p:nvSpPr>
        <p:spPr>
          <a:xfrm>
            <a:off x="6390209" y="8048625"/>
            <a:ext cx="2473845"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DROPOUT IF YES</a:t>
            </a:r>
            <a:endParaRPr lang="en-US" sz="1650" dirty="0"/>
          </a:p>
        </p:txBody>
      </p:sp>
      <p:sp>
        <p:nvSpPr>
          <p:cNvPr id="21" name="Shape 16"/>
          <p:cNvSpPr/>
          <p:nvPr/>
        </p:nvSpPr>
        <p:spPr>
          <a:xfrm>
            <a:off x="9073604" y="8458200"/>
            <a:ext cx="1236018" cy="19050"/>
          </a:xfrm>
          <a:prstGeom prst="rect">
            <a:avLst/>
          </a:prstGeom>
          <a:solidFill>
            <a:srgbClr val="1C1B1A"/>
          </a:solidFill>
          <a:ln/>
        </p:spPr>
        <p:txBody>
          <a:bodyPr/>
          <a:lstStyle/>
          <a:p>
            <a:endParaRPr lang="en-US"/>
          </a:p>
        </p:txBody>
      </p:sp>
      <p:sp>
        <p:nvSpPr>
          <p:cNvPr id="22" name="Text 17"/>
          <p:cNvSpPr/>
          <p:nvPr/>
        </p:nvSpPr>
        <p:spPr>
          <a:xfrm>
            <a:off x="9206954" y="8048625"/>
            <a:ext cx="893118"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Δ</a:t>
            </a:r>
            <a:endParaRPr lang="en-US" sz="1650" dirty="0"/>
          </a:p>
        </p:txBody>
      </p:sp>
      <p:sp>
        <p:nvSpPr>
          <p:cNvPr id="23" name="Shape 18"/>
          <p:cNvSpPr/>
          <p:nvPr/>
        </p:nvSpPr>
        <p:spPr>
          <a:xfrm>
            <a:off x="952500" y="9053513"/>
            <a:ext cx="2633811" cy="9525"/>
          </a:xfrm>
          <a:prstGeom prst="rect">
            <a:avLst/>
          </a:prstGeom>
          <a:solidFill>
            <a:srgbClr val="D9D3C5"/>
          </a:solidFill>
          <a:ln/>
        </p:spPr>
        <p:txBody>
          <a:bodyPr/>
          <a:lstStyle/>
          <a:p>
            <a:endParaRPr lang="en-US"/>
          </a:p>
        </p:txBody>
      </p:sp>
      <p:sp>
        <p:nvSpPr>
          <p:cNvPr id="24" name="Text 19"/>
          <p:cNvSpPr/>
          <p:nvPr/>
        </p:nvSpPr>
        <p:spPr>
          <a:xfrm>
            <a:off x="1162050" y="8648700"/>
            <a:ext cx="2293726" cy="271463"/>
          </a:xfrm>
          <a:prstGeom prst="rect">
            <a:avLst/>
          </a:prstGeom>
          <a:noFill/>
          <a:ln/>
        </p:spPr>
        <p:txBody>
          <a:bodyPr wrap="square" lIns="25400" tIns="25400" rIns="25400" bIns="25400" rtlCol="0" anchor="ctr">
            <a:normAutofit lnSpcReduction="10000"/>
          </a:bodyPr>
          <a:lstStyle/>
          <a:p>
            <a:pPr marL="0" indent="0" algn="l">
              <a:buNone/>
            </a:pPr>
            <a:r>
              <a:rPr lang="en-US" sz="1500" dirty="0">
                <a:solidFill>
                  <a:srgbClr val="1C1B1A"/>
                </a:solidFill>
                <a:latin typeface="Arial" pitchFamily="34" charset="0"/>
                <a:ea typeface="Arial" pitchFamily="34" charset="-122"/>
                <a:cs typeface="Arial" pitchFamily="34" charset="-120"/>
              </a:rPr>
              <a:t>Scholarship holder</a:t>
            </a:r>
            <a:endParaRPr lang="en-US" sz="1500" dirty="0"/>
          </a:p>
        </p:txBody>
      </p:sp>
      <p:sp>
        <p:nvSpPr>
          <p:cNvPr id="25" name="Shape 20"/>
          <p:cNvSpPr/>
          <p:nvPr/>
        </p:nvSpPr>
        <p:spPr>
          <a:xfrm>
            <a:off x="3586311" y="9053513"/>
            <a:ext cx="2678609" cy="9525"/>
          </a:xfrm>
          <a:prstGeom prst="rect">
            <a:avLst/>
          </a:prstGeom>
          <a:solidFill>
            <a:srgbClr val="D9D3C5"/>
          </a:solidFill>
          <a:ln/>
        </p:spPr>
        <p:txBody>
          <a:bodyPr/>
          <a:lstStyle/>
          <a:p>
            <a:endParaRPr lang="en-US"/>
          </a:p>
        </p:txBody>
      </p:sp>
      <p:sp>
        <p:nvSpPr>
          <p:cNvPr id="26" name="Text 21"/>
          <p:cNvSpPr/>
          <p:nvPr/>
        </p:nvSpPr>
        <p:spPr>
          <a:xfrm>
            <a:off x="3715503" y="8648700"/>
            <a:ext cx="2339867" cy="271463"/>
          </a:xfrm>
          <a:prstGeom prst="rect">
            <a:avLst/>
          </a:prstGeom>
          <a:noFill/>
          <a:ln/>
        </p:spPr>
        <p:txBody>
          <a:bodyPr wrap="square" lIns="25400" tIns="25400" rIns="25400" bIns="25400" rtlCol="0" anchor="ctr">
            <a:normAutofit lnSpcReduction="10000"/>
          </a:bodyPr>
          <a:lstStyle/>
          <a:p>
            <a:pPr marL="0" indent="0" algn="r">
              <a:buNone/>
            </a:pPr>
            <a:r>
              <a:rPr lang="en-US" sz="1500" dirty="0">
                <a:solidFill>
                  <a:srgbClr val="1C1B1A"/>
                </a:solidFill>
                <a:latin typeface="Arial" pitchFamily="34" charset="0"/>
                <a:ea typeface="Arial" pitchFamily="34" charset="-122"/>
                <a:cs typeface="Arial" pitchFamily="34" charset="-120"/>
              </a:rPr>
              <a:t>39%</a:t>
            </a:r>
            <a:endParaRPr lang="en-US" sz="1500" dirty="0"/>
          </a:p>
        </p:txBody>
      </p:sp>
      <p:sp>
        <p:nvSpPr>
          <p:cNvPr id="27" name="Shape 22"/>
          <p:cNvSpPr/>
          <p:nvPr/>
        </p:nvSpPr>
        <p:spPr>
          <a:xfrm>
            <a:off x="6264920" y="9053513"/>
            <a:ext cx="2808684" cy="9525"/>
          </a:xfrm>
          <a:prstGeom prst="rect">
            <a:avLst/>
          </a:prstGeom>
          <a:solidFill>
            <a:srgbClr val="D9D3C5"/>
          </a:solidFill>
          <a:ln/>
        </p:spPr>
        <p:txBody>
          <a:bodyPr/>
          <a:lstStyle/>
          <a:p>
            <a:endParaRPr lang="en-US"/>
          </a:p>
        </p:txBody>
      </p:sp>
      <p:sp>
        <p:nvSpPr>
          <p:cNvPr id="28" name="Text 23"/>
          <p:cNvSpPr/>
          <p:nvPr/>
        </p:nvSpPr>
        <p:spPr>
          <a:xfrm>
            <a:off x="6390209" y="8648700"/>
            <a:ext cx="2473845" cy="271463"/>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1D9E75"/>
                </a:solidFill>
                <a:latin typeface="Arial" pitchFamily="34" charset="0"/>
                <a:ea typeface="Arial" pitchFamily="34" charset="-122"/>
                <a:cs typeface="Arial" pitchFamily="34" charset="-120"/>
              </a:rPr>
              <a:t>12%</a:t>
            </a:r>
            <a:endParaRPr lang="en-US" sz="1500" dirty="0"/>
          </a:p>
        </p:txBody>
      </p:sp>
      <p:sp>
        <p:nvSpPr>
          <p:cNvPr id="29" name="Shape 24"/>
          <p:cNvSpPr/>
          <p:nvPr/>
        </p:nvSpPr>
        <p:spPr>
          <a:xfrm>
            <a:off x="9073604" y="9053513"/>
            <a:ext cx="1236018" cy="9525"/>
          </a:xfrm>
          <a:prstGeom prst="rect">
            <a:avLst/>
          </a:prstGeom>
          <a:solidFill>
            <a:srgbClr val="D9D3C5"/>
          </a:solidFill>
          <a:ln/>
        </p:spPr>
        <p:txBody>
          <a:bodyPr/>
          <a:lstStyle/>
          <a:p>
            <a:endParaRPr lang="en-US"/>
          </a:p>
        </p:txBody>
      </p:sp>
      <p:sp>
        <p:nvSpPr>
          <p:cNvPr id="30" name="Text 25"/>
          <p:cNvSpPr/>
          <p:nvPr/>
        </p:nvSpPr>
        <p:spPr>
          <a:xfrm>
            <a:off x="9206954" y="8648700"/>
            <a:ext cx="893118" cy="271463"/>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1C1B1A"/>
                </a:solidFill>
                <a:latin typeface="Arial" pitchFamily="34" charset="0"/>
                <a:ea typeface="Arial" pitchFamily="34" charset="-122"/>
                <a:cs typeface="Arial" pitchFamily="34" charset="-120"/>
              </a:rPr>
              <a:t>−27 pp</a:t>
            </a:r>
            <a:endParaRPr lang="en-US" sz="1500" dirty="0"/>
          </a:p>
        </p:txBody>
      </p:sp>
      <p:sp>
        <p:nvSpPr>
          <p:cNvPr id="31" name="Shape 26"/>
          <p:cNvSpPr/>
          <p:nvPr/>
        </p:nvSpPr>
        <p:spPr>
          <a:xfrm>
            <a:off x="952500" y="9634538"/>
            <a:ext cx="2633811" cy="9525"/>
          </a:xfrm>
          <a:prstGeom prst="rect">
            <a:avLst/>
          </a:prstGeom>
          <a:solidFill>
            <a:srgbClr val="D9D3C5"/>
          </a:solidFill>
          <a:ln/>
        </p:spPr>
        <p:txBody>
          <a:bodyPr/>
          <a:lstStyle/>
          <a:p>
            <a:endParaRPr lang="en-US"/>
          </a:p>
        </p:txBody>
      </p:sp>
      <p:sp>
        <p:nvSpPr>
          <p:cNvPr id="32" name="Text 27"/>
          <p:cNvSpPr/>
          <p:nvPr/>
        </p:nvSpPr>
        <p:spPr>
          <a:xfrm>
            <a:off x="1162050" y="9234488"/>
            <a:ext cx="2293726" cy="266700"/>
          </a:xfrm>
          <a:prstGeom prst="rect">
            <a:avLst/>
          </a:prstGeom>
          <a:noFill/>
          <a:ln/>
        </p:spPr>
        <p:txBody>
          <a:bodyPr wrap="square" lIns="25400" tIns="25400" rIns="25400" bIns="25400" rtlCol="0" anchor="ctr">
            <a:normAutofit lnSpcReduction="10000"/>
          </a:bodyPr>
          <a:lstStyle/>
          <a:p>
            <a:pPr marL="0" indent="0" algn="l">
              <a:buNone/>
            </a:pPr>
            <a:r>
              <a:rPr lang="en-US" sz="1500" dirty="0">
                <a:solidFill>
                  <a:srgbClr val="1C1B1A"/>
                </a:solidFill>
                <a:latin typeface="Arial" pitchFamily="34" charset="0"/>
                <a:ea typeface="Arial" pitchFamily="34" charset="-122"/>
                <a:cs typeface="Arial" pitchFamily="34" charset="-120"/>
              </a:rPr>
              <a:t>Debtor</a:t>
            </a:r>
            <a:endParaRPr lang="en-US" sz="1500" dirty="0"/>
          </a:p>
        </p:txBody>
      </p:sp>
      <p:sp>
        <p:nvSpPr>
          <p:cNvPr id="33" name="Shape 28"/>
          <p:cNvSpPr/>
          <p:nvPr/>
        </p:nvSpPr>
        <p:spPr>
          <a:xfrm>
            <a:off x="3586311" y="9634538"/>
            <a:ext cx="2678609" cy="9525"/>
          </a:xfrm>
          <a:prstGeom prst="rect">
            <a:avLst/>
          </a:prstGeom>
          <a:solidFill>
            <a:srgbClr val="D9D3C5"/>
          </a:solidFill>
          <a:ln/>
        </p:spPr>
        <p:txBody>
          <a:bodyPr/>
          <a:lstStyle/>
          <a:p>
            <a:endParaRPr lang="en-US"/>
          </a:p>
        </p:txBody>
      </p:sp>
      <p:sp>
        <p:nvSpPr>
          <p:cNvPr id="34" name="Text 29"/>
          <p:cNvSpPr/>
          <p:nvPr/>
        </p:nvSpPr>
        <p:spPr>
          <a:xfrm>
            <a:off x="3715503" y="9234488"/>
            <a:ext cx="2339867" cy="266700"/>
          </a:xfrm>
          <a:prstGeom prst="rect">
            <a:avLst/>
          </a:prstGeom>
          <a:noFill/>
          <a:ln/>
        </p:spPr>
        <p:txBody>
          <a:bodyPr wrap="square" lIns="25400" tIns="25400" rIns="25400" bIns="25400" rtlCol="0" anchor="ctr">
            <a:normAutofit lnSpcReduction="10000"/>
          </a:bodyPr>
          <a:lstStyle/>
          <a:p>
            <a:pPr marL="0" indent="0" algn="r">
              <a:buNone/>
            </a:pPr>
            <a:r>
              <a:rPr lang="en-US" sz="1500" dirty="0">
                <a:solidFill>
                  <a:srgbClr val="1C1B1A"/>
                </a:solidFill>
                <a:latin typeface="Arial" pitchFamily="34" charset="0"/>
                <a:ea typeface="Arial" pitchFamily="34" charset="-122"/>
                <a:cs typeface="Arial" pitchFamily="34" charset="-120"/>
              </a:rPr>
              <a:t>28%</a:t>
            </a:r>
            <a:endParaRPr lang="en-US" sz="1500" dirty="0"/>
          </a:p>
        </p:txBody>
      </p:sp>
      <p:sp>
        <p:nvSpPr>
          <p:cNvPr id="35" name="Shape 30"/>
          <p:cNvSpPr/>
          <p:nvPr/>
        </p:nvSpPr>
        <p:spPr>
          <a:xfrm>
            <a:off x="6264920" y="9634538"/>
            <a:ext cx="2808684" cy="9525"/>
          </a:xfrm>
          <a:prstGeom prst="rect">
            <a:avLst/>
          </a:prstGeom>
          <a:solidFill>
            <a:srgbClr val="D9D3C5"/>
          </a:solidFill>
          <a:ln/>
        </p:spPr>
        <p:txBody>
          <a:bodyPr/>
          <a:lstStyle/>
          <a:p>
            <a:endParaRPr lang="en-US"/>
          </a:p>
        </p:txBody>
      </p:sp>
      <p:sp>
        <p:nvSpPr>
          <p:cNvPr id="36" name="Text 31"/>
          <p:cNvSpPr/>
          <p:nvPr/>
        </p:nvSpPr>
        <p:spPr>
          <a:xfrm>
            <a:off x="6390209" y="9234488"/>
            <a:ext cx="2473845" cy="266700"/>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E24B4A"/>
                </a:solidFill>
                <a:latin typeface="Arial" pitchFamily="34" charset="0"/>
                <a:ea typeface="Arial" pitchFamily="34" charset="-122"/>
                <a:cs typeface="Arial" pitchFamily="34" charset="-120"/>
              </a:rPr>
              <a:t>62%</a:t>
            </a:r>
            <a:endParaRPr lang="en-US" sz="1500" dirty="0"/>
          </a:p>
        </p:txBody>
      </p:sp>
      <p:sp>
        <p:nvSpPr>
          <p:cNvPr id="37" name="Shape 32"/>
          <p:cNvSpPr/>
          <p:nvPr/>
        </p:nvSpPr>
        <p:spPr>
          <a:xfrm>
            <a:off x="9073604" y="9634538"/>
            <a:ext cx="1236018" cy="9525"/>
          </a:xfrm>
          <a:prstGeom prst="rect">
            <a:avLst/>
          </a:prstGeom>
          <a:solidFill>
            <a:srgbClr val="D9D3C5"/>
          </a:solidFill>
          <a:ln/>
        </p:spPr>
        <p:txBody>
          <a:bodyPr/>
          <a:lstStyle/>
          <a:p>
            <a:endParaRPr lang="en-US"/>
          </a:p>
        </p:txBody>
      </p:sp>
      <p:sp>
        <p:nvSpPr>
          <p:cNvPr id="38" name="Text 33"/>
          <p:cNvSpPr/>
          <p:nvPr/>
        </p:nvSpPr>
        <p:spPr>
          <a:xfrm>
            <a:off x="9206954" y="9234488"/>
            <a:ext cx="893118" cy="266700"/>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1C1B1A"/>
                </a:solidFill>
                <a:latin typeface="Arial" pitchFamily="34" charset="0"/>
                <a:ea typeface="Arial" pitchFamily="34" charset="-122"/>
                <a:cs typeface="Arial" pitchFamily="34" charset="-120"/>
              </a:rPr>
              <a:t>+34 pp</a:t>
            </a:r>
            <a:endParaRPr lang="en-US" sz="1500" dirty="0"/>
          </a:p>
        </p:txBody>
      </p:sp>
      <p:sp>
        <p:nvSpPr>
          <p:cNvPr id="39" name="Shape 34"/>
          <p:cNvSpPr/>
          <p:nvPr/>
        </p:nvSpPr>
        <p:spPr>
          <a:xfrm>
            <a:off x="952500" y="10215563"/>
            <a:ext cx="2633811" cy="9525"/>
          </a:xfrm>
          <a:prstGeom prst="rect">
            <a:avLst/>
          </a:prstGeom>
          <a:solidFill>
            <a:srgbClr val="D9D3C5"/>
          </a:solidFill>
          <a:ln/>
        </p:spPr>
        <p:txBody>
          <a:bodyPr/>
          <a:lstStyle/>
          <a:p>
            <a:endParaRPr lang="en-US"/>
          </a:p>
        </p:txBody>
      </p:sp>
      <p:sp>
        <p:nvSpPr>
          <p:cNvPr id="40" name="Text 35"/>
          <p:cNvSpPr/>
          <p:nvPr/>
        </p:nvSpPr>
        <p:spPr>
          <a:xfrm>
            <a:off x="1162050" y="9815513"/>
            <a:ext cx="2293726" cy="266700"/>
          </a:xfrm>
          <a:prstGeom prst="rect">
            <a:avLst/>
          </a:prstGeom>
          <a:noFill/>
          <a:ln/>
        </p:spPr>
        <p:txBody>
          <a:bodyPr wrap="square" lIns="25400" tIns="25400" rIns="25400" bIns="25400" rtlCol="0" anchor="ctr">
            <a:normAutofit lnSpcReduction="10000"/>
          </a:bodyPr>
          <a:lstStyle/>
          <a:p>
            <a:pPr marL="0" indent="0" algn="l">
              <a:buNone/>
            </a:pPr>
            <a:r>
              <a:rPr lang="en-US" sz="1500" dirty="0">
                <a:solidFill>
                  <a:srgbClr val="1C1B1A"/>
                </a:solidFill>
                <a:latin typeface="Arial" pitchFamily="34" charset="0"/>
                <a:ea typeface="Arial" pitchFamily="34" charset="-122"/>
                <a:cs typeface="Arial" pitchFamily="34" charset="-120"/>
              </a:rPr>
              <a:t>Tuition fees up to date</a:t>
            </a:r>
            <a:endParaRPr lang="en-US" sz="1500" dirty="0"/>
          </a:p>
        </p:txBody>
      </p:sp>
      <p:sp>
        <p:nvSpPr>
          <p:cNvPr id="41" name="Shape 36"/>
          <p:cNvSpPr/>
          <p:nvPr/>
        </p:nvSpPr>
        <p:spPr>
          <a:xfrm>
            <a:off x="3586311" y="10215563"/>
            <a:ext cx="2678609" cy="9525"/>
          </a:xfrm>
          <a:prstGeom prst="rect">
            <a:avLst/>
          </a:prstGeom>
          <a:solidFill>
            <a:srgbClr val="D9D3C5"/>
          </a:solidFill>
          <a:ln/>
        </p:spPr>
        <p:txBody>
          <a:bodyPr/>
          <a:lstStyle/>
          <a:p>
            <a:endParaRPr lang="en-US"/>
          </a:p>
        </p:txBody>
      </p:sp>
      <p:sp>
        <p:nvSpPr>
          <p:cNvPr id="42" name="Text 37"/>
          <p:cNvSpPr/>
          <p:nvPr/>
        </p:nvSpPr>
        <p:spPr>
          <a:xfrm>
            <a:off x="3715503" y="9815513"/>
            <a:ext cx="2339867" cy="266700"/>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E24B4A"/>
                </a:solidFill>
                <a:latin typeface="Arial" pitchFamily="34" charset="0"/>
                <a:ea typeface="Arial" pitchFamily="34" charset="-122"/>
                <a:cs typeface="Arial" pitchFamily="34" charset="-120"/>
              </a:rPr>
              <a:t>86%</a:t>
            </a:r>
            <a:endParaRPr lang="en-US" sz="1500" dirty="0"/>
          </a:p>
        </p:txBody>
      </p:sp>
      <p:sp>
        <p:nvSpPr>
          <p:cNvPr id="43" name="Shape 38"/>
          <p:cNvSpPr/>
          <p:nvPr/>
        </p:nvSpPr>
        <p:spPr>
          <a:xfrm>
            <a:off x="6264920" y="10215563"/>
            <a:ext cx="2808684" cy="9525"/>
          </a:xfrm>
          <a:prstGeom prst="rect">
            <a:avLst/>
          </a:prstGeom>
          <a:solidFill>
            <a:srgbClr val="D9D3C5"/>
          </a:solidFill>
          <a:ln/>
        </p:spPr>
        <p:txBody>
          <a:bodyPr/>
          <a:lstStyle/>
          <a:p>
            <a:endParaRPr lang="en-US"/>
          </a:p>
        </p:txBody>
      </p:sp>
      <p:sp>
        <p:nvSpPr>
          <p:cNvPr id="44" name="Text 39"/>
          <p:cNvSpPr/>
          <p:nvPr/>
        </p:nvSpPr>
        <p:spPr>
          <a:xfrm>
            <a:off x="6390209" y="9815513"/>
            <a:ext cx="2473845" cy="266700"/>
          </a:xfrm>
          <a:prstGeom prst="rect">
            <a:avLst/>
          </a:prstGeom>
          <a:noFill/>
          <a:ln/>
        </p:spPr>
        <p:txBody>
          <a:bodyPr wrap="square" lIns="25400" tIns="25400" rIns="25400" bIns="25400" rtlCol="0" anchor="ctr">
            <a:normAutofit lnSpcReduction="10000"/>
          </a:bodyPr>
          <a:lstStyle/>
          <a:p>
            <a:pPr marL="0" indent="0" algn="r">
              <a:buNone/>
            </a:pPr>
            <a:r>
              <a:rPr lang="en-US" sz="1500" dirty="0">
                <a:solidFill>
                  <a:srgbClr val="1C1B1A"/>
                </a:solidFill>
                <a:latin typeface="Arial" pitchFamily="34" charset="0"/>
                <a:ea typeface="Arial" pitchFamily="34" charset="-122"/>
                <a:cs typeface="Arial" pitchFamily="34" charset="-120"/>
              </a:rPr>
              <a:t>25%</a:t>
            </a:r>
            <a:endParaRPr lang="en-US" sz="1500" dirty="0"/>
          </a:p>
        </p:txBody>
      </p:sp>
      <p:sp>
        <p:nvSpPr>
          <p:cNvPr id="45" name="Shape 40"/>
          <p:cNvSpPr/>
          <p:nvPr/>
        </p:nvSpPr>
        <p:spPr>
          <a:xfrm>
            <a:off x="9073604" y="10215563"/>
            <a:ext cx="1236018" cy="9525"/>
          </a:xfrm>
          <a:prstGeom prst="rect">
            <a:avLst/>
          </a:prstGeom>
          <a:solidFill>
            <a:srgbClr val="D9D3C5"/>
          </a:solidFill>
          <a:ln/>
        </p:spPr>
        <p:txBody>
          <a:bodyPr/>
          <a:lstStyle/>
          <a:p>
            <a:endParaRPr lang="en-US"/>
          </a:p>
        </p:txBody>
      </p:sp>
      <p:sp>
        <p:nvSpPr>
          <p:cNvPr id="46" name="Text 41"/>
          <p:cNvSpPr/>
          <p:nvPr/>
        </p:nvSpPr>
        <p:spPr>
          <a:xfrm>
            <a:off x="9206954" y="9815513"/>
            <a:ext cx="893118" cy="266700"/>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1C1B1A"/>
                </a:solidFill>
                <a:latin typeface="Arial" pitchFamily="34" charset="0"/>
                <a:ea typeface="Arial" pitchFamily="34" charset="-122"/>
                <a:cs typeface="Arial" pitchFamily="34" charset="-120"/>
              </a:rPr>
              <a:t>−61 pp</a:t>
            </a:r>
            <a:endParaRPr lang="en-US" sz="1500" dirty="0"/>
          </a:p>
        </p:txBody>
      </p:sp>
      <p:sp>
        <p:nvSpPr>
          <p:cNvPr id="47" name="Text 42"/>
          <p:cNvSpPr/>
          <p:nvPr/>
        </p:nvSpPr>
        <p:spPr>
          <a:xfrm>
            <a:off x="10652075" y="7591425"/>
            <a:ext cx="6883927" cy="12192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B4845"/>
                </a:solidFill>
                <a:latin typeface="-apple-system" pitchFamily="34" charset="0"/>
                <a:ea typeface="-apple-system" pitchFamily="34" charset="-122"/>
                <a:cs typeface="-apple-system" pitchFamily="34" charset="-120"/>
              </a:rPr>
              <a:t>Scholarship holders drop out at 12% vs 39% for non-holders — a 3.3× lower rate. Tuition status is the most decisive single binary signal in the data. PCA projection shows moderate but imperfect class separability — a non-trivial classification problem.</a:t>
            </a:r>
            <a:endParaRPr lang="en-US" sz="1650" dirty="0"/>
          </a:p>
        </p:txBody>
      </p:sp>
      <p:sp>
        <p:nvSpPr>
          <p:cNvPr id="48" name="Text 43"/>
          <p:cNvSpPr/>
          <p:nvPr/>
        </p:nvSpPr>
        <p:spPr>
          <a:xfrm>
            <a:off x="16692116" y="10353675"/>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09/19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49" y="952500"/>
            <a:ext cx="4603699" cy="310848"/>
          </a:xfrm>
          <a:prstGeom prst="rect">
            <a:avLst/>
          </a:prstGeom>
          <a:noFill/>
          <a:ln/>
        </p:spPr>
        <p:txBody>
          <a:bodyPr wrap="square" lIns="25400" tIns="25400" rIns="25400" bIns="25400" rtlCol="0" anchor="t">
            <a:noAutofit/>
          </a:bodyPr>
          <a:lstStyle/>
          <a:p>
            <a:r>
              <a:rPr lang="en-US" sz="1700" kern="0" spc="324" dirty="0">
                <a:solidFill>
                  <a:srgbClr val="807C76"/>
                </a:solidFill>
                <a:latin typeface="Courier New" pitchFamily="34" charset="0"/>
                <a:ea typeface="Courier New" pitchFamily="34" charset="-122"/>
                <a:cs typeface="Courier New" pitchFamily="34" charset="-120"/>
              </a:rPr>
              <a:t>09 · VISUALIZATION TOOLKIT</a:t>
            </a:r>
            <a:endParaRPr lang="en-US" sz="1700" dirty="0"/>
          </a:p>
        </p:txBody>
      </p:sp>
      <p:sp>
        <p:nvSpPr>
          <p:cNvPr id="4" name="Text 2"/>
          <p:cNvSpPr/>
          <p:nvPr/>
        </p:nvSpPr>
        <p:spPr>
          <a:xfrm>
            <a:off x="952500" y="1704975"/>
            <a:ext cx="16874490" cy="666750"/>
          </a:xfrm>
          <a:prstGeom prst="rect">
            <a:avLst/>
          </a:prstGeom>
          <a:noFill/>
          <a:ln/>
        </p:spPr>
        <p:txBody>
          <a:bodyPr wrap="square" lIns="25400" tIns="25400" rIns="25400" bIns="25400" rtlCol="0" anchor="t">
            <a:normAutofit fontScale="92500" lnSpcReduction="20000"/>
          </a:bodyPr>
          <a:lstStyle/>
          <a:p>
            <a:pPr>
              <a:lnSpc>
                <a:spcPct val="104000"/>
              </a:lnSpc>
            </a:pPr>
            <a:r>
              <a:rPr lang="en-US" sz="4800" b="1" kern="0" spc="-72" dirty="0">
                <a:solidFill>
                  <a:srgbClr val="1C1B1A"/>
                </a:solidFill>
                <a:latin typeface="Georgia" pitchFamily="34" charset="0"/>
                <a:ea typeface="Georgia" pitchFamily="34" charset="-122"/>
                <a:cs typeface="Georgia" pitchFamily="34" charset="-120"/>
              </a:rPr>
              <a:t>Six chart types, one consistent palette</a:t>
            </a:r>
            <a:endParaRPr lang="en-US" sz="4800" dirty="0"/>
          </a:p>
        </p:txBody>
      </p:sp>
      <p:sp>
        <p:nvSpPr>
          <p:cNvPr id="5" name="Shape 3"/>
          <p:cNvSpPr/>
          <p:nvPr/>
        </p:nvSpPr>
        <p:spPr>
          <a:xfrm>
            <a:off x="1008493" y="2965752"/>
            <a:ext cx="5154815" cy="1571625"/>
          </a:xfrm>
          <a:prstGeom prst="rect">
            <a:avLst/>
          </a:prstGeom>
          <a:solidFill>
            <a:srgbClr val="FFFFFF"/>
          </a:solidFill>
          <a:ln w="9525">
            <a:solidFill>
              <a:srgbClr val="D9D3C5"/>
            </a:solidFill>
            <a:prstDash val="solid"/>
          </a:ln>
        </p:spPr>
        <p:txBody>
          <a:bodyPr/>
          <a:lstStyle/>
          <a:p>
            <a:endParaRPr lang="en-US"/>
          </a:p>
        </p:txBody>
      </p:sp>
      <p:sp>
        <p:nvSpPr>
          <p:cNvPr id="6" name="Text 4"/>
          <p:cNvSpPr/>
          <p:nvPr/>
        </p:nvSpPr>
        <p:spPr>
          <a:xfrm>
            <a:off x="1247775" y="3067050"/>
            <a:ext cx="4859540"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B95D2C"/>
                </a:solidFill>
                <a:latin typeface="Courier New" pitchFamily="34" charset="0"/>
                <a:ea typeface="Courier New" pitchFamily="34" charset="-122"/>
                <a:cs typeface="Courier New" pitchFamily="34" charset="-120"/>
              </a:rPr>
              <a:t>TREE</a:t>
            </a:r>
            <a:endParaRPr lang="en-US" sz="1350" dirty="0"/>
          </a:p>
        </p:txBody>
      </p:sp>
      <p:sp>
        <p:nvSpPr>
          <p:cNvPr id="7" name="Text 5"/>
          <p:cNvSpPr/>
          <p:nvPr/>
        </p:nvSpPr>
        <p:spPr>
          <a:xfrm>
            <a:off x="2282382" y="2384727"/>
            <a:ext cx="4859540"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ea typeface="Georgia" pitchFamily="34" charset="-122"/>
                <a:cs typeface="Georgia" pitchFamily="34" charset="-120"/>
              </a:rPr>
              <a:t>Correlation Heatmap</a:t>
            </a:r>
            <a:endParaRPr lang="en-US" sz="2850" dirty="0"/>
          </a:p>
        </p:txBody>
      </p:sp>
      <p:sp>
        <p:nvSpPr>
          <p:cNvPr id="8" name="Text 6"/>
          <p:cNvSpPr/>
          <p:nvPr/>
        </p:nvSpPr>
        <p:spPr>
          <a:xfrm>
            <a:off x="1247775" y="3876675"/>
            <a:ext cx="4859540"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4B4845"/>
                </a:solidFill>
                <a:latin typeface="Courier New" pitchFamily="34" charset="0"/>
                <a:ea typeface="Courier New" pitchFamily="34" charset="-122"/>
                <a:cs typeface="Courier New" pitchFamily="34" charset="-120"/>
              </a:rPr>
              <a:t>max_depth = 10</a:t>
            </a:r>
            <a:endParaRPr lang="en-US" sz="1500" dirty="0"/>
          </a:p>
        </p:txBody>
      </p:sp>
      <p:sp>
        <p:nvSpPr>
          <p:cNvPr id="11" name="Text 9"/>
          <p:cNvSpPr/>
          <p:nvPr/>
        </p:nvSpPr>
        <p:spPr>
          <a:xfrm>
            <a:off x="8716310" y="2426043"/>
            <a:ext cx="4859540"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rPr>
              <a:t>KDE Distribution </a:t>
            </a:r>
            <a:endParaRPr lang="en-US" sz="2850" dirty="0"/>
          </a:p>
        </p:txBody>
      </p:sp>
      <p:sp>
        <p:nvSpPr>
          <p:cNvPr id="15" name="Text 13"/>
          <p:cNvSpPr/>
          <p:nvPr/>
        </p:nvSpPr>
        <p:spPr>
          <a:xfrm>
            <a:off x="14810792" y="2426799"/>
            <a:ext cx="4859694"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ea typeface="Georgia" pitchFamily="34" charset="-122"/>
                <a:cs typeface="Georgia" pitchFamily="34" charset="-120"/>
              </a:rPr>
              <a:t>Boxplots</a:t>
            </a:r>
            <a:endParaRPr lang="en-US" sz="2850" dirty="0"/>
          </a:p>
        </p:txBody>
      </p:sp>
      <p:sp>
        <p:nvSpPr>
          <p:cNvPr id="17" name="Shape 15"/>
          <p:cNvSpPr/>
          <p:nvPr/>
        </p:nvSpPr>
        <p:spPr>
          <a:xfrm>
            <a:off x="952500" y="7259665"/>
            <a:ext cx="5308550" cy="1581150"/>
          </a:xfrm>
          <a:prstGeom prst="rect">
            <a:avLst/>
          </a:prstGeom>
          <a:solidFill>
            <a:srgbClr val="FFFFFF"/>
          </a:solidFill>
          <a:ln w="9525">
            <a:solidFill>
              <a:srgbClr val="D9D3C5"/>
            </a:solidFill>
            <a:prstDash val="solid"/>
          </a:ln>
        </p:spPr>
        <p:txBody>
          <a:bodyPr/>
          <a:lstStyle/>
          <a:p>
            <a:endParaRPr lang="en-US" dirty="0"/>
          </a:p>
        </p:txBody>
      </p:sp>
      <p:sp>
        <p:nvSpPr>
          <p:cNvPr id="18" name="Text 16"/>
          <p:cNvSpPr/>
          <p:nvPr/>
        </p:nvSpPr>
        <p:spPr>
          <a:xfrm>
            <a:off x="1247775" y="7535890"/>
            <a:ext cx="4859540"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B95D2C"/>
                </a:solidFill>
                <a:latin typeface="Courier New" pitchFamily="34" charset="0"/>
                <a:ea typeface="Courier New" pitchFamily="34" charset="-122"/>
                <a:cs typeface="Courier New" pitchFamily="34" charset="-120"/>
              </a:rPr>
              <a:t>LINEAR</a:t>
            </a:r>
            <a:endParaRPr lang="en-US" sz="1350" dirty="0"/>
          </a:p>
        </p:txBody>
      </p:sp>
      <p:sp>
        <p:nvSpPr>
          <p:cNvPr id="19" name="Text 17"/>
          <p:cNvSpPr/>
          <p:nvPr/>
        </p:nvSpPr>
        <p:spPr>
          <a:xfrm>
            <a:off x="1870494" y="6225374"/>
            <a:ext cx="4859540"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ea typeface="Georgia" pitchFamily="34" charset="-122"/>
                <a:cs typeface="Georgia" pitchFamily="34" charset="-120"/>
              </a:rPr>
              <a:t>Stacked Bar Charts</a:t>
            </a:r>
            <a:endParaRPr lang="en-US" sz="2850" dirty="0"/>
          </a:p>
        </p:txBody>
      </p:sp>
      <p:sp>
        <p:nvSpPr>
          <p:cNvPr id="20" name="Text 18"/>
          <p:cNvSpPr/>
          <p:nvPr/>
        </p:nvSpPr>
        <p:spPr>
          <a:xfrm>
            <a:off x="1247775" y="8345515"/>
            <a:ext cx="4859540"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4B4845"/>
                </a:solidFill>
                <a:latin typeface="Courier New" pitchFamily="34" charset="0"/>
                <a:ea typeface="Courier New" pitchFamily="34" charset="-122"/>
                <a:cs typeface="Courier New" pitchFamily="34" charset="-120"/>
              </a:rPr>
              <a:t>multinomial · max_iter=1000</a:t>
            </a:r>
            <a:endParaRPr lang="en-US" sz="1500" dirty="0"/>
          </a:p>
        </p:txBody>
      </p:sp>
      <p:sp>
        <p:nvSpPr>
          <p:cNvPr id="23" name="Text 21"/>
          <p:cNvSpPr/>
          <p:nvPr/>
        </p:nvSpPr>
        <p:spPr>
          <a:xfrm>
            <a:off x="8880032" y="6034016"/>
            <a:ext cx="4859540"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ea typeface="Georgia" pitchFamily="34" charset="-122"/>
                <a:cs typeface="Georgia" pitchFamily="34" charset="-120"/>
              </a:rPr>
              <a:t>PCA Scatter</a:t>
            </a:r>
            <a:endParaRPr lang="en-US" sz="2850" dirty="0"/>
          </a:p>
        </p:txBody>
      </p:sp>
      <p:sp>
        <p:nvSpPr>
          <p:cNvPr id="27" name="Text 25"/>
          <p:cNvSpPr/>
          <p:nvPr/>
        </p:nvSpPr>
        <p:spPr>
          <a:xfrm>
            <a:off x="14534976" y="6067399"/>
            <a:ext cx="4859694"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ea typeface="Georgia" pitchFamily="34" charset="-122"/>
                <a:cs typeface="Georgia" pitchFamily="34" charset="-120"/>
              </a:rPr>
              <a:t>Feature Important</a:t>
            </a:r>
            <a:endParaRPr lang="en-US" sz="2850" dirty="0"/>
          </a:p>
        </p:txBody>
      </p:sp>
      <p:sp>
        <p:nvSpPr>
          <p:cNvPr id="37" name="Text 35"/>
          <p:cNvSpPr/>
          <p:nvPr/>
        </p:nvSpPr>
        <p:spPr>
          <a:xfrm>
            <a:off x="16414531" y="9707999"/>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10/19</a:t>
            </a:r>
            <a:endParaRPr lang="en-US" sz="1800" dirty="0"/>
          </a:p>
        </p:txBody>
      </p:sp>
      <p:pic>
        <p:nvPicPr>
          <p:cNvPr id="38" name="Picture 37" descr="correlation_heatmap.png">
            <a:extLst>
              <a:ext uri="{FF2B5EF4-FFF2-40B4-BE49-F238E27FC236}">
                <a16:creationId xmlns:a16="http://schemas.microsoft.com/office/drawing/2014/main" id="{79ED10D3-FEBD-4B0B-368C-A547A41F9D80}"/>
              </a:ext>
            </a:extLst>
          </p:cNvPr>
          <p:cNvPicPr>
            <a:picLocks noChangeAspect="1"/>
          </p:cNvPicPr>
          <p:nvPr/>
        </p:nvPicPr>
        <p:blipFill>
          <a:blip r:embed="rId3"/>
          <a:stretch>
            <a:fillRect/>
          </a:stretch>
        </p:blipFill>
        <p:spPr>
          <a:xfrm>
            <a:off x="952500" y="2908987"/>
            <a:ext cx="5308549" cy="2933672"/>
          </a:xfrm>
          <a:prstGeom prst="rect">
            <a:avLst/>
          </a:prstGeom>
        </p:spPr>
      </p:pic>
      <p:pic>
        <p:nvPicPr>
          <p:cNvPr id="41" name="Picture 40" descr="stacked_bar_binary.png">
            <a:extLst>
              <a:ext uri="{FF2B5EF4-FFF2-40B4-BE49-F238E27FC236}">
                <a16:creationId xmlns:a16="http://schemas.microsoft.com/office/drawing/2014/main" id="{6C6594BE-3B48-7DAF-CFA3-9ECD9D1512BB}"/>
              </a:ext>
            </a:extLst>
          </p:cNvPr>
          <p:cNvPicPr>
            <a:picLocks noChangeAspect="1"/>
          </p:cNvPicPr>
          <p:nvPr/>
        </p:nvPicPr>
        <p:blipFill>
          <a:blip r:embed="rId4"/>
          <a:stretch>
            <a:fillRect/>
          </a:stretch>
        </p:blipFill>
        <p:spPr>
          <a:xfrm>
            <a:off x="952500" y="6722403"/>
            <a:ext cx="5266803" cy="2910602"/>
          </a:xfrm>
          <a:prstGeom prst="rect">
            <a:avLst/>
          </a:prstGeom>
        </p:spPr>
      </p:pic>
      <p:pic>
        <p:nvPicPr>
          <p:cNvPr id="42" name="Picture 41" descr="feature_distributions.png">
            <a:extLst>
              <a:ext uri="{FF2B5EF4-FFF2-40B4-BE49-F238E27FC236}">
                <a16:creationId xmlns:a16="http://schemas.microsoft.com/office/drawing/2014/main" id="{FBE35525-7D2E-5F88-7976-F95D3A746968}"/>
              </a:ext>
            </a:extLst>
          </p:cNvPr>
          <p:cNvPicPr>
            <a:picLocks noChangeAspect="1"/>
          </p:cNvPicPr>
          <p:nvPr/>
        </p:nvPicPr>
        <p:blipFill>
          <a:blip r:embed="rId5"/>
          <a:stretch>
            <a:fillRect/>
          </a:stretch>
        </p:blipFill>
        <p:spPr>
          <a:xfrm>
            <a:off x="6925283" y="2908988"/>
            <a:ext cx="5308548" cy="2933671"/>
          </a:xfrm>
          <a:prstGeom prst="rect">
            <a:avLst/>
          </a:prstGeom>
        </p:spPr>
      </p:pic>
      <p:pic>
        <p:nvPicPr>
          <p:cNvPr id="43" name="Picture 42" descr="pca_scatter.png">
            <a:extLst>
              <a:ext uri="{FF2B5EF4-FFF2-40B4-BE49-F238E27FC236}">
                <a16:creationId xmlns:a16="http://schemas.microsoft.com/office/drawing/2014/main" id="{99889B69-D3CA-7AFE-E5C0-C27F7193F56A}"/>
              </a:ext>
            </a:extLst>
          </p:cNvPr>
          <p:cNvPicPr>
            <a:picLocks noChangeAspect="1"/>
          </p:cNvPicPr>
          <p:nvPr/>
        </p:nvPicPr>
        <p:blipFill>
          <a:blip r:embed="rId6"/>
          <a:stretch>
            <a:fillRect/>
          </a:stretch>
        </p:blipFill>
        <p:spPr>
          <a:xfrm>
            <a:off x="6991776" y="6653999"/>
            <a:ext cx="5304415" cy="2931387"/>
          </a:xfrm>
          <a:prstGeom prst="rect">
            <a:avLst/>
          </a:prstGeom>
        </p:spPr>
      </p:pic>
      <p:pic>
        <p:nvPicPr>
          <p:cNvPr id="44" name="Picture 43" descr="boxplots_grades.png">
            <a:extLst>
              <a:ext uri="{FF2B5EF4-FFF2-40B4-BE49-F238E27FC236}">
                <a16:creationId xmlns:a16="http://schemas.microsoft.com/office/drawing/2014/main" id="{56F1A4E9-DB1D-2249-84EA-EB7E6806375B}"/>
              </a:ext>
            </a:extLst>
          </p:cNvPr>
          <p:cNvPicPr>
            <a:picLocks noChangeAspect="1"/>
          </p:cNvPicPr>
          <p:nvPr/>
        </p:nvPicPr>
        <p:blipFill>
          <a:blip r:embed="rId7"/>
          <a:stretch>
            <a:fillRect/>
          </a:stretch>
        </p:blipFill>
        <p:spPr>
          <a:xfrm>
            <a:off x="12939809" y="2963143"/>
            <a:ext cx="5210553" cy="2879516"/>
          </a:xfrm>
          <a:prstGeom prst="rect">
            <a:avLst/>
          </a:prstGeom>
        </p:spPr>
      </p:pic>
      <p:pic>
        <p:nvPicPr>
          <p:cNvPr id="45" name="Picture 44" descr="rf_feature_importance.png">
            <a:extLst>
              <a:ext uri="{FF2B5EF4-FFF2-40B4-BE49-F238E27FC236}">
                <a16:creationId xmlns:a16="http://schemas.microsoft.com/office/drawing/2014/main" id="{E90C8382-A6D6-E939-B05A-33C42CC3790D}"/>
              </a:ext>
            </a:extLst>
          </p:cNvPr>
          <p:cNvPicPr>
            <a:picLocks noChangeAspect="1"/>
          </p:cNvPicPr>
          <p:nvPr/>
        </p:nvPicPr>
        <p:blipFill>
          <a:blip r:embed="rId8"/>
          <a:stretch>
            <a:fillRect/>
          </a:stretch>
        </p:blipFill>
        <p:spPr>
          <a:xfrm>
            <a:off x="12939810" y="6643663"/>
            <a:ext cx="5142129" cy="284170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239449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10 · MODELING</a:t>
            </a:r>
            <a:endParaRPr lang="en-US" sz="1800" dirty="0"/>
          </a:p>
        </p:txBody>
      </p:sp>
      <p:sp>
        <p:nvSpPr>
          <p:cNvPr id="4" name="Text 2"/>
          <p:cNvSpPr/>
          <p:nvPr/>
        </p:nvSpPr>
        <p:spPr>
          <a:xfrm>
            <a:off x="952500" y="1704975"/>
            <a:ext cx="16874490" cy="66675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Six classifiers across five algorithm families</a:t>
            </a:r>
            <a:endParaRPr lang="en-US" sz="4800" dirty="0"/>
          </a:p>
        </p:txBody>
      </p:sp>
      <p:sp>
        <p:nvSpPr>
          <p:cNvPr id="5" name="Shape 3"/>
          <p:cNvSpPr/>
          <p:nvPr/>
        </p:nvSpPr>
        <p:spPr>
          <a:xfrm>
            <a:off x="952500" y="2790825"/>
            <a:ext cx="5308550" cy="1581150"/>
          </a:xfrm>
          <a:prstGeom prst="rect">
            <a:avLst/>
          </a:prstGeom>
          <a:solidFill>
            <a:srgbClr val="FFFFFF"/>
          </a:solidFill>
          <a:ln w="9525">
            <a:solidFill>
              <a:srgbClr val="D9D3C5"/>
            </a:solidFill>
            <a:prstDash val="solid"/>
          </a:ln>
        </p:spPr>
        <p:txBody>
          <a:bodyPr/>
          <a:lstStyle/>
          <a:p>
            <a:endParaRPr lang="en-US"/>
          </a:p>
        </p:txBody>
      </p:sp>
      <p:sp>
        <p:nvSpPr>
          <p:cNvPr id="6" name="Text 4"/>
          <p:cNvSpPr/>
          <p:nvPr/>
        </p:nvSpPr>
        <p:spPr>
          <a:xfrm>
            <a:off x="1247775" y="3067050"/>
            <a:ext cx="4859540"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B95D2C"/>
                </a:solidFill>
                <a:latin typeface="Courier New" pitchFamily="34" charset="0"/>
                <a:ea typeface="Courier New" pitchFamily="34" charset="-122"/>
                <a:cs typeface="Courier New" pitchFamily="34" charset="-120"/>
              </a:rPr>
              <a:t>TREE</a:t>
            </a:r>
            <a:endParaRPr lang="en-US" sz="1350" dirty="0"/>
          </a:p>
        </p:txBody>
      </p:sp>
      <p:sp>
        <p:nvSpPr>
          <p:cNvPr id="7" name="Text 5"/>
          <p:cNvSpPr/>
          <p:nvPr/>
        </p:nvSpPr>
        <p:spPr>
          <a:xfrm>
            <a:off x="1247775" y="3352800"/>
            <a:ext cx="4859540"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ea typeface="Georgia" pitchFamily="34" charset="-122"/>
                <a:cs typeface="Georgia" pitchFamily="34" charset="-120"/>
              </a:rPr>
              <a:t>Decision Tree</a:t>
            </a:r>
            <a:endParaRPr lang="en-US" sz="2850" dirty="0"/>
          </a:p>
        </p:txBody>
      </p:sp>
      <p:sp>
        <p:nvSpPr>
          <p:cNvPr id="8" name="Text 6"/>
          <p:cNvSpPr/>
          <p:nvPr/>
        </p:nvSpPr>
        <p:spPr>
          <a:xfrm>
            <a:off x="1247775" y="3876675"/>
            <a:ext cx="4859540"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4B4845"/>
                </a:solidFill>
                <a:latin typeface="Courier New" pitchFamily="34" charset="0"/>
                <a:ea typeface="Courier New" pitchFamily="34" charset="-122"/>
                <a:cs typeface="Courier New" pitchFamily="34" charset="-120"/>
              </a:rPr>
              <a:t>max_depth = 10</a:t>
            </a:r>
            <a:endParaRPr lang="en-US" sz="1500" dirty="0"/>
          </a:p>
        </p:txBody>
      </p:sp>
      <p:sp>
        <p:nvSpPr>
          <p:cNvPr id="9" name="Shape 7"/>
          <p:cNvSpPr/>
          <p:nvPr/>
        </p:nvSpPr>
        <p:spPr>
          <a:xfrm>
            <a:off x="6489650" y="2790825"/>
            <a:ext cx="5308550" cy="1581150"/>
          </a:xfrm>
          <a:prstGeom prst="rect">
            <a:avLst/>
          </a:prstGeom>
          <a:solidFill>
            <a:srgbClr val="FFFFFF"/>
          </a:solidFill>
          <a:ln w="9525">
            <a:solidFill>
              <a:srgbClr val="D9D3C5"/>
            </a:solidFill>
            <a:prstDash val="solid"/>
          </a:ln>
        </p:spPr>
        <p:txBody>
          <a:bodyPr/>
          <a:lstStyle/>
          <a:p>
            <a:endParaRPr lang="en-US"/>
          </a:p>
        </p:txBody>
      </p:sp>
      <p:sp>
        <p:nvSpPr>
          <p:cNvPr id="10" name="Text 8"/>
          <p:cNvSpPr/>
          <p:nvPr/>
        </p:nvSpPr>
        <p:spPr>
          <a:xfrm>
            <a:off x="6784925" y="3067050"/>
            <a:ext cx="4859540"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B95D2C"/>
                </a:solidFill>
                <a:latin typeface="Courier New" pitchFamily="34" charset="0"/>
                <a:ea typeface="Courier New" pitchFamily="34" charset="-122"/>
                <a:cs typeface="Courier New" pitchFamily="34" charset="-120"/>
              </a:rPr>
              <a:t>ENSEMBLE</a:t>
            </a:r>
            <a:endParaRPr lang="en-US" sz="1350" dirty="0"/>
          </a:p>
        </p:txBody>
      </p:sp>
      <p:sp>
        <p:nvSpPr>
          <p:cNvPr id="11" name="Text 9"/>
          <p:cNvSpPr/>
          <p:nvPr/>
        </p:nvSpPr>
        <p:spPr>
          <a:xfrm>
            <a:off x="6784925" y="3352800"/>
            <a:ext cx="4859540"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ea typeface="Georgia" pitchFamily="34" charset="-122"/>
                <a:cs typeface="Georgia" pitchFamily="34" charset="-120"/>
              </a:rPr>
              <a:t>Random Forest</a:t>
            </a:r>
            <a:endParaRPr lang="en-US" sz="2850" dirty="0"/>
          </a:p>
        </p:txBody>
      </p:sp>
      <p:sp>
        <p:nvSpPr>
          <p:cNvPr id="12" name="Text 10"/>
          <p:cNvSpPr/>
          <p:nvPr/>
        </p:nvSpPr>
        <p:spPr>
          <a:xfrm>
            <a:off x="6784925" y="3876675"/>
            <a:ext cx="4859540"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4B4845"/>
                </a:solidFill>
                <a:latin typeface="Courier New" pitchFamily="34" charset="0"/>
                <a:ea typeface="Courier New" pitchFamily="34" charset="-122"/>
                <a:cs typeface="Courier New" pitchFamily="34" charset="-120"/>
              </a:rPr>
              <a:t>n_estimators = 200</a:t>
            </a:r>
            <a:endParaRPr lang="en-US" sz="1500" dirty="0"/>
          </a:p>
        </p:txBody>
      </p:sp>
      <p:sp>
        <p:nvSpPr>
          <p:cNvPr id="13" name="Shape 11"/>
          <p:cNvSpPr/>
          <p:nvPr/>
        </p:nvSpPr>
        <p:spPr>
          <a:xfrm>
            <a:off x="12026801" y="2790825"/>
            <a:ext cx="5308699" cy="1581150"/>
          </a:xfrm>
          <a:prstGeom prst="rect">
            <a:avLst/>
          </a:prstGeom>
          <a:solidFill>
            <a:srgbClr val="FFFFFF"/>
          </a:solidFill>
          <a:ln w="9525">
            <a:solidFill>
              <a:srgbClr val="D9D3C5"/>
            </a:solidFill>
            <a:prstDash val="solid"/>
          </a:ln>
        </p:spPr>
        <p:txBody>
          <a:bodyPr/>
          <a:lstStyle/>
          <a:p>
            <a:endParaRPr lang="en-US"/>
          </a:p>
        </p:txBody>
      </p:sp>
      <p:sp>
        <p:nvSpPr>
          <p:cNvPr id="14" name="Text 12"/>
          <p:cNvSpPr/>
          <p:nvPr/>
        </p:nvSpPr>
        <p:spPr>
          <a:xfrm>
            <a:off x="12322076" y="3067050"/>
            <a:ext cx="4859694"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B95D2C"/>
                </a:solidFill>
                <a:latin typeface="Courier New" pitchFamily="34" charset="0"/>
                <a:ea typeface="Courier New" pitchFamily="34" charset="-122"/>
                <a:cs typeface="Courier New" pitchFamily="34" charset="-120"/>
              </a:rPr>
              <a:t>INSTANCE</a:t>
            </a:r>
            <a:endParaRPr lang="en-US" sz="1350" dirty="0"/>
          </a:p>
        </p:txBody>
      </p:sp>
      <p:sp>
        <p:nvSpPr>
          <p:cNvPr id="15" name="Text 13"/>
          <p:cNvSpPr/>
          <p:nvPr/>
        </p:nvSpPr>
        <p:spPr>
          <a:xfrm>
            <a:off x="12322076" y="3352800"/>
            <a:ext cx="4859694"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ea typeface="Georgia" pitchFamily="34" charset="-122"/>
                <a:cs typeface="Georgia" pitchFamily="34" charset="-120"/>
              </a:rPr>
              <a:t>KNN</a:t>
            </a:r>
            <a:endParaRPr lang="en-US" sz="2850" dirty="0"/>
          </a:p>
        </p:txBody>
      </p:sp>
      <p:sp>
        <p:nvSpPr>
          <p:cNvPr id="16" name="Text 14"/>
          <p:cNvSpPr/>
          <p:nvPr/>
        </p:nvSpPr>
        <p:spPr>
          <a:xfrm>
            <a:off x="12322076" y="3876675"/>
            <a:ext cx="4859694"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4B4845"/>
                </a:solidFill>
                <a:latin typeface="Courier New" pitchFamily="34" charset="0"/>
                <a:ea typeface="Courier New" pitchFamily="34" charset="-122"/>
                <a:cs typeface="Courier New" pitchFamily="34" charset="-120"/>
              </a:rPr>
              <a:t>best k = 11 (tuned)</a:t>
            </a:r>
            <a:endParaRPr lang="en-US" sz="1500" dirty="0"/>
          </a:p>
        </p:txBody>
      </p:sp>
      <p:sp>
        <p:nvSpPr>
          <p:cNvPr id="17" name="Shape 15"/>
          <p:cNvSpPr/>
          <p:nvPr/>
        </p:nvSpPr>
        <p:spPr>
          <a:xfrm>
            <a:off x="952500" y="4600575"/>
            <a:ext cx="5308550" cy="1581150"/>
          </a:xfrm>
          <a:prstGeom prst="rect">
            <a:avLst/>
          </a:prstGeom>
          <a:solidFill>
            <a:srgbClr val="FFFFFF"/>
          </a:solidFill>
          <a:ln w="9525">
            <a:solidFill>
              <a:srgbClr val="D9D3C5"/>
            </a:solidFill>
            <a:prstDash val="solid"/>
          </a:ln>
        </p:spPr>
        <p:txBody>
          <a:bodyPr/>
          <a:lstStyle/>
          <a:p>
            <a:endParaRPr lang="en-US"/>
          </a:p>
        </p:txBody>
      </p:sp>
      <p:sp>
        <p:nvSpPr>
          <p:cNvPr id="18" name="Text 16"/>
          <p:cNvSpPr/>
          <p:nvPr/>
        </p:nvSpPr>
        <p:spPr>
          <a:xfrm>
            <a:off x="1247775" y="4876800"/>
            <a:ext cx="4859540"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B95D2C"/>
                </a:solidFill>
                <a:latin typeface="Courier New" pitchFamily="34" charset="0"/>
                <a:ea typeface="Courier New" pitchFamily="34" charset="-122"/>
                <a:cs typeface="Courier New" pitchFamily="34" charset="-120"/>
              </a:rPr>
              <a:t>LINEAR</a:t>
            </a:r>
            <a:endParaRPr lang="en-US" sz="1350" dirty="0"/>
          </a:p>
        </p:txBody>
      </p:sp>
      <p:sp>
        <p:nvSpPr>
          <p:cNvPr id="19" name="Text 17"/>
          <p:cNvSpPr/>
          <p:nvPr/>
        </p:nvSpPr>
        <p:spPr>
          <a:xfrm>
            <a:off x="1247775" y="5162550"/>
            <a:ext cx="4859540"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ea typeface="Georgia" pitchFamily="34" charset="-122"/>
                <a:cs typeface="Georgia" pitchFamily="34" charset="-120"/>
              </a:rPr>
              <a:t>Logistic Regression</a:t>
            </a:r>
            <a:endParaRPr lang="en-US" sz="2850" dirty="0"/>
          </a:p>
        </p:txBody>
      </p:sp>
      <p:sp>
        <p:nvSpPr>
          <p:cNvPr id="20" name="Text 18"/>
          <p:cNvSpPr/>
          <p:nvPr/>
        </p:nvSpPr>
        <p:spPr>
          <a:xfrm>
            <a:off x="1247775" y="5686425"/>
            <a:ext cx="4859540"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4B4845"/>
                </a:solidFill>
                <a:latin typeface="Courier New" pitchFamily="34" charset="0"/>
                <a:ea typeface="Courier New" pitchFamily="34" charset="-122"/>
                <a:cs typeface="Courier New" pitchFamily="34" charset="-120"/>
              </a:rPr>
              <a:t>multinomial · max_iter=1000</a:t>
            </a:r>
            <a:endParaRPr lang="en-US" sz="1500" dirty="0"/>
          </a:p>
        </p:txBody>
      </p:sp>
      <p:sp>
        <p:nvSpPr>
          <p:cNvPr id="21" name="Shape 19"/>
          <p:cNvSpPr/>
          <p:nvPr/>
        </p:nvSpPr>
        <p:spPr>
          <a:xfrm>
            <a:off x="6489650" y="4600575"/>
            <a:ext cx="5308550" cy="1581150"/>
          </a:xfrm>
          <a:prstGeom prst="rect">
            <a:avLst/>
          </a:prstGeom>
          <a:solidFill>
            <a:srgbClr val="FFFFFF"/>
          </a:solidFill>
          <a:ln w="9525">
            <a:solidFill>
              <a:srgbClr val="D9D3C5"/>
            </a:solidFill>
            <a:prstDash val="solid"/>
          </a:ln>
        </p:spPr>
        <p:txBody>
          <a:bodyPr/>
          <a:lstStyle/>
          <a:p>
            <a:endParaRPr lang="en-US"/>
          </a:p>
        </p:txBody>
      </p:sp>
      <p:sp>
        <p:nvSpPr>
          <p:cNvPr id="22" name="Text 20"/>
          <p:cNvSpPr/>
          <p:nvPr/>
        </p:nvSpPr>
        <p:spPr>
          <a:xfrm>
            <a:off x="6784925" y="4876800"/>
            <a:ext cx="4859540"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B95D2C"/>
                </a:solidFill>
                <a:latin typeface="Courier New" pitchFamily="34" charset="0"/>
                <a:ea typeface="Courier New" pitchFamily="34" charset="-122"/>
                <a:cs typeface="Courier New" pitchFamily="34" charset="-120"/>
              </a:rPr>
              <a:t>KERNEL</a:t>
            </a:r>
            <a:endParaRPr lang="en-US" sz="1350" dirty="0"/>
          </a:p>
        </p:txBody>
      </p:sp>
      <p:sp>
        <p:nvSpPr>
          <p:cNvPr id="23" name="Text 21"/>
          <p:cNvSpPr/>
          <p:nvPr/>
        </p:nvSpPr>
        <p:spPr>
          <a:xfrm>
            <a:off x="6784925" y="5162550"/>
            <a:ext cx="4859540"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ea typeface="Georgia" pitchFamily="34" charset="-122"/>
                <a:cs typeface="Georgia" pitchFamily="34" charset="-120"/>
              </a:rPr>
              <a:t>SVM</a:t>
            </a:r>
            <a:endParaRPr lang="en-US" sz="2850" dirty="0"/>
          </a:p>
        </p:txBody>
      </p:sp>
      <p:sp>
        <p:nvSpPr>
          <p:cNvPr id="24" name="Text 22"/>
          <p:cNvSpPr/>
          <p:nvPr/>
        </p:nvSpPr>
        <p:spPr>
          <a:xfrm>
            <a:off x="6784925" y="5686425"/>
            <a:ext cx="4859540"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4B4845"/>
                </a:solidFill>
                <a:latin typeface="Courier New" pitchFamily="34" charset="0"/>
                <a:ea typeface="Courier New" pitchFamily="34" charset="-122"/>
                <a:cs typeface="Courier New" pitchFamily="34" charset="-120"/>
              </a:rPr>
              <a:t>RBF kernel · probability=True</a:t>
            </a:r>
            <a:endParaRPr lang="en-US" sz="1500" dirty="0"/>
          </a:p>
        </p:txBody>
      </p:sp>
      <p:sp>
        <p:nvSpPr>
          <p:cNvPr id="25" name="Shape 23"/>
          <p:cNvSpPr/>
          <p:nvPr/>
        </p:nvSpPr>
        <p:spPr>
          <a:xfrm>
            <a:off x="12026801" y="4600575"/>
            <a:ext cx="5308699" cy="1581150"/>
          </a:xfrm>
          <a:prstGeom prst="rect">
            <a:avLst/>
          </a:prstGeom>
          <a:solidFill>
            <a:srgbClr val="FFFFFF"/>
          </a:solidFill>
          <a:ln w="9525">
            <a:solidFill>
              <a:srgbClr val="D9D3C5"/>
            </a:solidFill>
            <a:prstDash val="solid"/>
          </a:ln>
        </p:spPr>
        <p:txBody>
          <a:bodyPr/>
          <a:lstStyle/>
          <a:p>
            <a:endParaRPr lang="en-US"/>
          </a:p>
        </p:txBody>
      </p:sp>
      <p:sp>
        <p:nvSpPr>
          <p:cNvPr id="26" name="Text 24"/>
          <p:cNvSpPr/>
          <p:nvPr/>
        </p:nvSpPr>
        <p:spPr>
          <a:xfrm>
            <a:off x="12322076" y="4876800"/>
            <a:ext cx="4859694"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B95D2C"/>
                </a:solidFill>
                <a:latin typeface="Courier New" pitchFamily="34" charset="0"/>
                <a:ea typeface="Courier New" pitchFamily="34" charset="-122"/>
                <a:cs typeface="Courier New" pitchFamily="34" charset="-120"/>
              </a:rPr>
              <a:t>BOOSTING</a:t>
            </a:r>
            <a:endParaRPr lang="en-US" sz="1350" dirty="0"/>
          </a:p>
        </p:txBody>
      </p:sp>
      <p:sp>
        <p:nvSpPr>
          <p:cNvPr id="27" name="Text 25"/>
          <p:cNvSpPr/>
          <p:nvPr/>
        </p:nvSpPr>
        <p:spPr>
          <a:xfrm>
            <a:off x="12322076" y="5162550"/>
            <a:ext cx="4859694" cy="428625"/>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850" b="1" dirty="0">
                <a:solidFill>
                  <a:srgbClr val="1C1B1A"/>
                </a:solidFill>
                <a:latin typeface="Georgia" pitchFamily="34" charset="0"/>
                <a:ea typeface="Georgia" pitchFamily="34" charset="-122"/>
                <a:cs typeface="Georgia" pitchFamily="34" charset="-120"/>
              </a:rPr>
              <a:t>XGBoost</a:t>
            </a:r>
            <a:endParaRPr lang="en-US" sz="2850" dirty="0"/>
          </a:p>
        </p:txBody>
      </p:sp>
      <p:sp>
        <p:nvSpPr>
          <p:cNvPr id="28" name="Text 26"/>
          <p:cNvSpPr/>
          <p:nvPr/>
        </p:nvSpPr>
        <p:spPr>
          <a:xfrm>
            <a:off x="12322076" y="5686425"/>
            <a:ext cx="4859694"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4B4845"/>
                </a:solidFill>
                <a:latin typeface="Courier New" pitchFamily="34" charset="0"/>
                <a:ea typeface="Courier New" pitchFamily="34" charset="-122"/>
                <a:cs typeface="Courier New" pitchFamily="34" charset="-120"/>
              </a:rPr>
              <a:t>n_est=200 · depth=6 · lr=0.1</a:t>
            </a:r>
            <a:endParaRPr lang="en-US" sz="1500" dirty="0"/>
          </a:p>
        </p:txBody>
      </p:sp>
      <p:sp>
        <p:nvSpPr>
          <p:cNvPr id="29" name="Shape 27"/>
          <p:cNvSpPr/>
          <p:nvPr/>
        </p:nvSpPr>
        <p:spPr>
          <a:xfrm>
            <a:off x="952500" y="6638925"/>
            <a:ext cx="2267396" cy="390525"/>
          </a:xfrm>
          <a:prstGeom prst="roundRect">
            <a:avLst>
              <a:gd name="adj" fmla="val 50000"/>
            </a:avLst>
          </a:prstGeom>
          <a:solidFill>
            <a:srgbClr val="FAF8F4"/>
          </a:solidFill>
          <a:ln w="9525">
            <a:solidFill>
              <a:srgbClr val="D9D3C5"/>
            </a:solidFill>
            <a:prstDash val="solid"/>
          </a:ln>
        </p:spPr>
        <p:txBody>
          <a:bodyPr/>
          <a:lstStyle/>
          <a:p>
            <a:endParaRPr lang="en-US"/>
          </a:p>
        </p:txBody>
      </p:sp>
      <p:sp>
        <p:nvSpPr>
          <p:cNvPr id="30" name="Text 28"/>
          <p:cNvSpPr/>
          <p:nvPr/>
        </p:nvSpPr>
        <p:spPr>
          <a:xfrm>
            <a:off x="1114425" y="6724650"/>
            <a:ext cx="2019746"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4B4845"/>
                </a:solidFill>
                <a:latin typeface="Courier New" pitchFamily="34" charset="0"/>
                <a:ea typeface="Courier New" pitchFamily="34" charset="-122"/>
                <a:cs typeface="Courier New" pitchFamily="34" charset="-120"/>
              </a:rPr>
              <a:t>random_state = 42</a:t>
            </a:r>
            <a:endParaRPr lang="en-US" sz="1500" dirty="0"/>
          </a:p>
        </p:txBody>
      </p:sp>
      <p:sp>
        <p:nvSpPr>
          <p:cNvPr id="31" name="Shape 29"/>
          <p:cNvSpPr/>
          <p:nvPr/>
        </p:nvSpPr>
        <p:spPr>
          <a:xfrm>
            <a:off x="3353246" y="6638925"/>
            <a:ext cx="3067496" cy="390525"/>
          </a:xfrm>
          <a:prstGeom prst="roundRect">
            <a:avLst>
              <a:gd name="adj" fmla="val 50000"/>
            </a:avLst>
          </a:prstGeom>
          <a:solidFill>
            <a:srgbClr val="FAF8F4"/>
          </a:solidFill>
          <a:ln w="9525">
            <a:solidFill>
              <a:srgbClr val="D9D3C5"/>
            </a:solidFill>
            <a:prstDash val="solid"/>
          </a:ln>
        </p:spPr>
        <p:txBody>
          <a:bodyPr/>
          <a:lstStyle/>
          <a:p>
            <a:endParaRPr lang="en-US"/>
          </a:p>
        </p:txBody>
      </p:sp>
      <p:sp>
        <p:nvSpPr>
          <p:cNvPr id="32" name="Text 30"/>
          <p:cNvSpPr/>
          <p:nvPr/>
        </p:nvSpPr>
        <p:spPr>
          <a:xfrm>
            <a:off x="3515171" y="6724650"/>
            <a:ext cx="2825956"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4B4845"/>
                </a:solidFill>
                <a:latin typeface="Courier New" pitchFamily="34" charset="0"/>
                <a:ea typeface="Courier New" pitchFamily="34" charset="-122"/>
                <a:cs typeface="Courier New" pitchFamily="34" charset="-120"/>
              </a:rPr>
              <a:t>80 / 20 stratified split</a:t>
            </a:r>
            <a:endParaRPr lang="en-US" sz="1500" dirty="0"/>
          </a:p>
        </p:txBody>
      </p:sp>
      <p:sp>
        <p:nvSpPr>
          <p:cNvPr id="33" name="Shape 31"/>
          <p:cNvSpPr/>
          <p:nvPr/>
        </p:nvSpPr>
        <p:spPr>
          <a:xfrm>
            <a:off x="6554093" y="6638925"/>
            <a:ext cx="2953196" cy="390525"/>
          </a:xfrm>
          <a:prstGeom prst="roundRect">
            <a:avLst>
              <a:gd name="adj" fmla="val 50000"/>
            </a:avLst>
          </a:prstGeom>
          <a:solidFill>
            <a:srgbClr val="FAF8F4"/>
          </a:solidFill>
          <a:ln w="9525">
            <a:solidFill>
              <a:srgbClr val="D9D3C5"/>
            </a:solidFill>
            <a:prstDash val="solid"/>
          </a:ln>
        </p:spPr>
        <p:txBody>
          <a:bodyPr/>
          <a:lstStyle/>
          <a:p>
            <a:endParaRPr lang="en-US"/>
          </a:p>
        </p:txBody>
      </p:sp>
      <p:sp>
        <p:nvSpPr>
          <p:cNvPr id="34" name="Text 32"/>
          <p:cNvSpPr/>
          <p:nvPr/>
        </p:nvSpPr>
        <p:spPr>
          <a:xfrm>
            <a:off x="6716018" y="6724650"/>
            <a:ext cx="2708227"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4B4845"/>
                </a:solidFill>
                <a:latin typeface="Courier New" pitchFamily="34" charset="0"/>
                <a:ea typeface="Courier New" pitchFamily="34" charset="-122"/>
                <a:cs typeface="Courier New" pitchFamily="34" charset="-120"/>
              </a:rPr>
              <a:t>5-fold cross-validation</a:t>
            </a:r>
            <a:endParaRPr lang="en-US" sz="1500" dirty="0"/>
          </a:p>
        </p:txBody>
      </p:sp>
      <p:sp>
        <p:nvSpPr>
          <p:cNvPr id="35" name="Shape 33"/>
          <p:cNvSpPr/>
          <p:nvPr/>
        </p:nvSpPr>
        <p:spPr>
          <a:xfrm>
            <a:off x="9640639" y="6638925"/>
            <a:ext cx="3067496" cy="390525"/>
          </a:xfrm>
          <a:prstGeom prst="roundRect">
            <a:avLst>
              <a:gd name="adj" fmla="val 50000"/>
            </a:avLst>
          </a:prstGeom>
          <a:solidFill>
            <a:srgbClr val="0E3A53"/>
          </a:solidFill>
          <a:ln w="9525">
            <a:solidFill>
              <a:srgbClr val="0E3A53"/>
            </a:solidFill>
            <a:prstDash val="solid"/>
          </a:ln>
        </p:spPr>
        <p:txBody>
          <a:bodyPr/>
          <a:lstStyle/>
          <a:p>
            <a:endParaRPr lang="en-US"/>
          </a:p>
        </p:txBody>
      </p:sp>
      <p:sp>
        <p:nvSpPr>
          <p:cNvPr id="36" name="Text 34"/>
          <p:cNvSpPr/>
          <p:nvPr/>
        </p:nvSpPr>
        <p:spPr>
          <a:xfrm>
            <a:off x="9802564" y="6724650"/>
            <a:ext cx="2825956" cy="257175"/>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FFFFFF"/>
                </a:solidFill>
                <a:latin typeface="Courier New" pitchFamily="34" charset="0"/>
                <a:ea typeface="Courier New" pitchFamily="34" charset="-122"/>
                <a:cs typeface="Courier New" pitchFamily="34" charset="-120"/>
              </a:rPr>
              <a:t>Primary metric: F1-macro</a:t>
            </a:r>
            <a:endParaRPr lang="en-US" sz="1500" dirty="0"/>
          </a:p>
        </p:txBody>
      </p:sp>
      <p:sp>
        <p:nvSpPr>
          <p:cNvPr id="37" name="Text 35"/>
          <p:cNvSpPr/>
          <p:nvPr/>
        </p:nvSpPr>
        <p:spPr>
          <a:xfrm>
            <a:off x="16692116" y="7153275"/>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11/19</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4959368"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11 · CLASSIFICATION RESULTS</a:t>
            </a:r>
            <a:endParaRPr lang="en-US" sz="1800" dirty="0"/>
          </a:p>
        </p:txBody>
      </p:sp>
      <p:sp>
        <p:nvSpPr>
          <p:cNvPr id="4" name="Text 2"/>
          <p:cNvSpPr/>
          <p:nvPr/>
        </p:nvSpPr>
        <p:spPr>
          <a:xfrm>
            <a:off x="952500" y="1704975"/>
            <a:ext cx="16874490" cy="66675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Best, middle, and worst — side by side</a:t>
            </a:r>
            <a:endParaRPr lang="en-US" sz="4800" dirty="0"/>
          </a:p>
        </p:txBody>
      </p:sp>
      <p:sp>
        <p:nvSpPr>
          <p:cNvPr id="5" name="Shape 3"/>
          <p:cNvSpPr/>
          <p:nvPr/>
        </p:nvSpPr>
        <p:spPr>
          <a:xfrm>
            <a:off x="952500" y="3743325"/>
            <a:ext cx="5283101" cy="19050"/>
          </a:xfrm>
          <a:prstGeom prst="rect">
            <a:avLst/>
          </a:prstGeom>
          <a:solidFill>
            <a:srgbClr val="1D9E75"/>
          </a:solidFill>
          <a:ln/>
        </p:spPr>
        <p:txBody>
          <a:bodyPr/>
          <a:lstStyle/>
          <a:p>
            <a:endParaRPr lang="en-US"/>
          </a:p>
        </p:txBody>
      </p:sp>
      <p:sp>
        <p:nvSpPr>
          <p:cNvPr id="6" name="Text 4"/>
          <p:cNvSpPr/>
          <p:nvPr/>
        </p:nvSpPr>
        <p:spPr>
          <a:xfrm>
            <a:off x="952500" y="2676525"/>
            <a:ext cx="5441594"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1D9E75"/>
                </a:solidFill>
                <a:latin typeface="Courier New" pitchFamily="34" charset="0"/>
                <a:ea typeface="Courier New" pitchFamily="34" charset="-122"/>
                <a:cs typeface="Courier New" pitchFamily="34" charset="-120"/>
              </a:rPr>
              <a:t>BEST</a:t>
            </a:r>
            <a:endParaRPr lang="en-US" sz="1350" dirty="0"/>
          </a:p>
        </p:txBody>
      </p:sp>
      <p:sp>
        <p:nvSpPr>
          <p:cNvPr id="7" name="Text 5"/>
          <p:cNvSpPr/>
          <p:nvPr/>
        </p:nvSpPr>
        <p:spPr>
          <a:xfrm>
            <a:off x="952500" y="2924175"/>
            <a:ext cx="5441594" cy="32385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100" b="1" dirty="0">
                <a:solidFill>
                  <a:srgbClr val="1C1B1A"/>
                </a:solidFill>
                <a:latin typeface="Georgia" pitchFamily="34" charset="0"/>
                <a:ea typeface="Georgia" pitchFamily="34" charset="-122"/>
                <a:cs typeface="Georgia" pitchFamily="34" charset="-120"/>
              </a:rPr>
              <a:t>XGBoost</a:t>
            </a:r>
            <a:endParaRPr lang="en-US" sz="2100" dirty="0"/>
          </a:p>
        </p:txBody>
      </p:sp>
      <p:sp>
        <p:nvSpPr>
          <p:cNvPr id="8" name="Text 6"/>
          <p:cNvSpPr/>
          <p:nvPr/>
        </p:nvSpPr>
        <p:spPr>
          <a:xfrm>
            <a:off x="952500" y="3419475"/>
            <a:ext cx="95428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807C76"/>
                </a:solidFill>
                <a:latin typeface="Courier New" pitchFamily="34" charset="0"/>
                <a:ea typeface="Courier New" pitchFamily="34" charset="-122"/>
                <a:cs typeface="Courier New" pitchFamily="34" charset="-120"/>
              </a:rPr>
              <a:t>F1-MACRO</a:t>
            </a:r>
            <a:endParaRPr lang="en-US" sz="1350" dirty="0"/>
          </a:p>
        </p:txBody>
      </p:sp>
      <p:sp>
        <p:nvSpPr>
          <p:cNvPr id="9" name="Text 7"/>
          <p:cNvSpPr/>
          <p:nvPr/>
        </p:nvSpPr>
        <p:spPr>
          <a:xfrm>
            <a:off x="5556200" y="3324225"/>
            <a:ext cx="755600" cy="314325"/>
          </a:xfrm>
          <a:prstGeom prst="rect">
            <a:avLst/>
          </a:prstGeom>
          <a:noFill/>
          <a:ln/>
        </p:spPr>
        <p:txBody>
          <a:bodyPr wrap="square" lIns="25400" tIns="25400" rIns="25400" bIns="25400" rtlCol="0" anchor="t">
            <a:normAutofit fontScale="77500" lnSpcReduction="20000"/>
          </a:bodyPr>
          <a:lstStyle/>
          <a:p>
            <a:pPr marL="0" indent="0" algn="l">
              <a:lnSpc>
                <a:spcPct val="92000"/>
              </a:lnSpc>
              <a:buNone/>
            </a:pPr>
            <a:r>
              <a:rPr lang="en-US" sz="2400" b="1" kern="0" spc="-48" dirty="0">
                <a:solidFill>
                  <a:srgbClr val="1D9E75"/>
                </a:solidFill>
                <a:latin typeface="Georgia" pitchFamily="34" charset="0"/>
                <a:ea typeface="Georgia" pitchFamily="34" charset="-122"/>
                <a:cs typeface="Georgia" pitchFamily="34" charset="-120"/>
              </a:rPr>
              <a:t>0.706</a:t>
            </a:r>
            <a:endParaRPr lang="en-US" sz="2400" dirty="0"/>
          </a:p>
        </p:txBody>
      </p:sp>
      <p:sp>
        <p:nvSpPr>
          <p:cNvPr id="10" name="Shape 8"/>
          <p:cNvSpPr/>
          <p:nvPr/>
        </p:nvSpPr>
        <p:spPr>
          <a:xfrm>
            <a:off x="952500" y="3895725"/>
            <a:ext cx="5283101" cy="2286000"/>
          </a:xfrm>
          <a:prstGeom prst="rect">
            <a:avLst/>
          </a:prstGeom>
          <a:solidFill>
            <a:srgbClr val="FFFFFF"/>
          </a:solidFill>
          <a:ln w="9525">
            <a:solidFill>
              <a:srgbClr val="D9D3C5"/>
            </a:solidFill>
            <a:prstDash val="solid"/>
          </a:ln>
        </p:spPr>
        <p:txBody>
          <a:bodyPr/>
          <a:lstStyle/>
          <a:p>
            <a:endParaRPr lang="en-US"/>
          </a:p>
        </p:txBody>
      </p:sp>
      <p:pic>
        <p:nvPicPr>
          <p:cNvPr id="11" name="Image 0" descr="preencoded.png"/>
          <p:cNvPicPr>
            <a:picLocks noChangeAspect="1"/>
          </p:cNvPicPr>
          <p:nvPr/>
        </p:nvPicPr>
        <p:blipFill>
          <a:blip r:embed="rId3"/>
          <a:srcRect/>
          <a:stretch/>
        </p:blipFill>
        <p:spPr>
          <a:xfrm>
            <a:off x="2294965" y="3868054"/>
            <a:ext cx="2387763" cy="2151598"/>
          </a:xfrm>
          <a:prstGeom prst="rect">
            <a:avLst/>
          </a:prstGeom>
        </p:spPr>
      </p:pic>
      <p:sp>
        <p:nvSpPr>
          <p:cNvPr id="12" name="Shape 9"/>
          <p:cNvSpPr/>
          <p:nvPr/>
        </p:nvSpPr>
        <p:spPr>
          <a:xfrm>
            <a:off x="6502301" y="3743325"/>
            <a:ext cx="5283250" cy="19050"/>
          </a:xfrm>
          <a:prstGeom prst="rect">
            <a:avLst/>
          </a:prstGeom>
          <a:solidFill>
            <a:srgbClr val="0E3A53"/>
          </a:solidFill>
          <a:ln/>
        </p:spPr>
        <p:txBody>
          <a:bodyPr/>
          <a:lstStyle/>
          <a:p>
            <a:endParaRPr lang="en-US"/>
          </a:p>
        </p:txBody>
      </p:sp>
      <p:sp>
        <p:nvSpPr>
          <p:cNvPr id="13" name="Text 10"/>
          <p:cNvSpPr/>
          <p:nvPr/>
        </p:nvSpPr>
        <p:spPr>
          <a:xfrm>
            <a:off x="6502301" y="2676525"/>
            <a:ext cx="5441747"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0E3A53"/>
                </a:solidFill>
                <a:latin typeface="Courier New" pitchFamily="34" charset="0"/>
                <a:ea typeface="Courier New" pitchFamily="34" charset="-122"/>
                <a:cs typeface="Courier New" pitchFamily="34" charset="-120"/>
              </a:rPr>
              <a:t>MID-RANGE</a:t>
            </a:r>
            <a:endParaRPr lang="en-US" sz="1350" dirty="0"/>
          </a:p>
        </p:txBody>
      </p:sp>
      <p:sp>
        <p:nvSpPr>
          <p:cNvPr id="14" name="Text 11"/>
          <p:cNvSpPr/>
          <p:nvPr/>
        </p:nvSpPr>
        <p:spPr>
          <a:xfrm>
            <a:off x="6502301" y="2924175"/>
            <a:ext cx="5441747" cy="32385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100" b="1" dirty="0">
                <a:solidFill>
                  <a:srgbClr val="1C1B1A"/>
                </a:solidFill>
                <a:latin typeface="Georgia" pitchFamily="34" charset="0"/>
                <a:ea typeface="Georgia" pitchFamily="34" charset="-122"/>
                <a:cs typeface="Georgia" pitchFamily="34" charset="-120"/>
              </a:rPr>
              <a:t>Logistic Regression</a:t>
            </a:r>
            <a:endParaRPr lang="en-US" sz="2100" dirty="0"/>
          </a:p>
        </p:txBody>
      </p:sp>
      <p:sp>
        <p:nvSpPr>
          <p:cNvPr id="15" name="Text 12"/>
          <p:cNvSpPr/>
          <p:nvPr/>
        </p:nvSpPr>
        <p:spPr>
          <a:xfrm>
            <a:off x="6502301" y="3419475"/>
            <a:ext cx="95428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807C76"/>
                </a:solidFill>
                <a:latin typeface="Courier New" pitchFamily="34" charset="0"/>
                <a:ea typeface="Courier New" pitchFamily="34" charset="-122"/>
                <a:cs typeface="Courier New" pitchFamily="34" charset="-120"/>
              </a:rPr>
              <a:t>F1-MACRO</a:t>
            </a:r>
            <a:endParaRPr lang="en-US" sz="1350" dirty="0"/>
          </a:p>
        </p:txBody>
      </p:sp>
      <p:sp>
        <p:nvSpPr>
          <p:cNvPr id="16" name="Text 13"/>
          <p:cNvSpPr/>
          <p:nvPr/>
        </p:nvSpPr>
        <p:spPr>
          <a:xfrm>
            <a:off x="10831415" y="3381375"/>
            <a:ext cx="1030335" cy="257175"/>
          </a:xfrm>
          <a:prstGeom prst="rect">
            <a:avLst/>
          </a:prstGeom>
          <a:noFill/>
          <a:ln/>
        </p:spPr>
        <p:txBody>
          <a:bodyPr wrap="square" lIns="25400" tIns="25400" rIns="25400" bIns="25400" rtlCol="0" anchor="t">
            <a:normAutofit fontScale="70000" lnSpcReduction="20000"/>
          </a:bodyPr>
          <a:lstStyle/>
          <a:p>
            <a:pPr marL="0" indent="0" algn="l">
              <a:lnSpc>
                <a:spcPct val="92000"/>
              </a:lnSpc>
              <a:buNone/>
            </a:pPr>
            <a:r>
              <a:rPr lang="en-US" sz="2400" b="1" kern="0" spc="-48" dirty="0">
                <a:solidFill>
                  <a:srgbClr val="0E3A53"/>
                </a:solidFill>
                <a:latin typeface="Georgia" pitchFamily="34" charset="0"/>
                <a:ea typeface="Georgia" pitchFamily="34" charset="-122"/>
                <a:cs typeface="Georgia" pitchFamily="34" charset="-120"/>
              </a:rPr>
              <a:t>0.683</a:t>
            </a:r>
            <a:endParaRPr lang="en-US" sz="2400" dirty="0"/>
          </a:p>
        </p:txBody>
      </p:sp>
      <p:sp>
        <p:nvSpPr>
          <p:cNvPr id="17" name="Shape 14"/>
          <p:cNvSpPr/>
          <p:nvPr/>
        </p:nvSpPr>
        <p:spPr>
          <a:xfrm>
            <a:off x="6502301" y="3895725"/>
            <a:ext cx="5283250" cy="2286000"/>
          </a:xfrm>
          <a:prstGeom prst="rect">
            <a:avLst/>
          </a:prstGeom>
          <a:solidFill>
            <a:srgbClr val="FFFFFF"/>
          </a:solidFill>
          <a:ln w="9525">
            <a:solidFill>
              <a:srgbClr val="D9D3C5"/>
            </a:solidFill>
            <a:prstDash val="solid"/>
          </a:ln>
        </p:spPr>
        <p:txBody>
          <a:bodyPr/>
          <a:lstStyle/>
          <a:p>
            <a:endParaRPr lang="en-US"/>
          </a:p>
        </p:txBody>
      </p:sp>
      <p:pic>
        <p:nvPicPr>
          <p:cNvPr id="18" name="Image 1" descr="preencoded.png"/>
          <p:cNvPicPr>
            <a:picLocks noChangeAspect="1"/>
          </p:cNvPicPr>
          <p:nvPr/>
        </p:nvPicPr>
        <p:blipFill>
          <a:blip r:embed="rId4"/>
          <a:srcRect/>
          <a:stretch/>
        </p:blipFill>
        <p:spPr>
          <a:xfrm>
            <a:off x="8055173" y="4057650"/>
            <a:ext cx="2177355" cy="1962001"/>
          </a:xfrm>
          <a:prstGeom prst="rect">
            <a:avLst/>
          </a:prstGeom>
        </p:spPr>
      </p:pic>
      <p:sp>
        <p:nvSpPr>
          <p:cNvPr id="19" name="Shape 15"/>
          <p:cNvSpPr/>
          <p:nvPr/>
        </p:nvSpPr>
        <p:spPr>
          <a:xfrm>
            <a:off x="12052250" y="3743325"/>
            <a:ext cx="5283101" cy="19050"/>
          </a:xfrm>
          <a:prstGeom prst="rect">
            <a:avLst/>
          </a:prstGeom>
          <a:solidFill>
            <a:srgbClr val="E24B4A"/>
          </a:solidFill>
          <a:ln/>
        </p:spPr>
        <p:txBody>
          <a:bodyPr/>
          <a:lstStyle/>
          <a:p>
            <a:endParaRPr lang="en-US"/>
          </a:p>
        </p:txBody>
      </p:sp>
      <p:sp>
        <p:nvSpPr>
          <p:cNvPr id="20" name="Text 16"/>
          <p:cNvSpPr/>
          <p:nvPr/>
        </p:nvSpPr>
        <p:spPr>
          <a:xfrm>
            <a:off x="12052250" y="2676525"/>
            <a:ext cx="5441594"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E24B4A"/>
                </a:solidFill>
                <a:latin typeface="Courier New" pitchFamily="34" charset="0"/>
                <a:ea typeface="Courier New" pitchFamily="34" charset="-122"/>
                <a:cs typeface="Courier New" pitchFamily="34" charset="-120"/>
              </a:rPr>
              <a:t>WEAKEST</a:t>
            </a:r>
            <a:endParaRPr lang="en-US" sz="1350" dirty="0"/>
          </a:p>
        </p:txBody>
      </p:sp>
      <p:sp>
        <p:nvSpPr>
          <p:cNvPr id="21" name="Text 17"/>
          <p:cNvSpPr/>
          <p:nvPr/>
        </p:nvSpPr>
        <p:spPr>
          <a:xfrm>
            <a:off x="12052250" y="2924175"/>
            <a:ext cx="5441594" cy="323850"/>
          </a:xfrm>
          <a:prstGeom prst="rect">
            <a:avLst/>
          </a:prstGeom>
          <a:noFill/>
          <a:ln/>
        </p:spPr>
        <p:txBody>
          <a:bodyPr wrap="square" lIns="25400" tIns="25400" rIns="25400" bIns="25400" rtlCol="0" anchor="t">
            <a:normAutofit fontScale="92500" lnSpcReduction="20000"/>
          </a:bodyPr>
          <a:lstStyle/>
          <a:p>
            <a:pPr marL="0" indent="0" algn="l">
              <a:lnSpc>
                <a:spcPct val="110000"/>
              </a:lnSpc>
              <a:buNone/>
            </a:pPr>
            <a:r>
              <a:rPr lang="en-US" sz="2100" b="1" dirty="0">
                <a:solidFill>
                  <a:srgbClr val="1C1B1A"/>
                </a:solidFill>
                <a:latin typeface="Georgia" pitchFamily="34" charset="0"/>
                <a:ea typeface="Georgia" pitchFamily="34" charset="-122"/>
                <a:cs typeface="Georgia" pitchFamily="34" charset="-120"/>
              </a:rPr>
              <a:t>KNN (k=11)</a:t>
            </a:r>
            <a:endParaRPr lang="en-US" sz="2100" dirty="0"/>
          </a:p>
        </p:txBody>
      </p:sp>
      <p:sp>
        <p:nvSpPr>
          <p:cNvPr id="22" name="Text 18"/>
          <p:cNvSpPr/>
          <p:nvPr/>
        </p:nvSpPr>
        <p:spPr>
          <a:xfrm>
            <a:off x="12052250" y="3419475"/>
            <a:ext cx="95428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807C76"/>
                </a:solidFill>
                <a:latin typeface="Courier New" pitchFamily="34" charset="0"/>
                <a:ea typeface="Courier New" pitchFamily="34" charset="-122"/>
                <a:cs typeface="Courier New" pitchFamily="34" charset="-120"/>
              </a:rPr>
              <a:t>F1-MACRO</a:t>
            </a:r>
            <a:endParaRPr lang="en-US" sz="1350" dirty="0"/>
          </a:p>
        </p:txBody>
      </p:sp>
      <p:sp>
        <p:nvSpPr>
          <p:cNvPr id="23" name="Text 19"/>
          <p:cNvSpPr/>
          <p:nvPr/>
        </p:nvSpPr>
        <p:spPr>
          <a:xfrm>
            <a:off x="16455023" y="3333750"/>
            <a:ext cx="954286" cy="342899"/>
          </a:xfrm>
          <a:prstGeom prst="rect">
            <a:avLst/>
          </a:prstGeom>
          <a:noFill/>
          <a:ln/>
        </p:spPr>
        <p:txBody>
          <a:bodyPr wrap="square" lIns="25400" tIns="25400" rIns="25400" bIns="25400" rtlCol="0" anchor="t">
            <a:normAutofit fontScale="92500" lnSpcReduction="10000"/>
          </a:bodyPr>
          <a:lstStyle/>
          <a:p>
            <a:pPr marL="0" indent="0" algn="l">
              <a:lnSpc>
                <a:spcPct val="92000"/>
              </a:lnSpc>
              <a:buNone/>
            </a:pPr>
            <a:r>
              <a:rPr lang="en-US" sz="2400" b="1" kern="0" spc="-48" dirty="0">
                <a:solidFill>
                  <a:srgbClr val="E24B4A"/>
                </a:solidFill>
                <a:latin typeface="Georgia" pitchFamily="34" charset="0"/>
                <a:ea typeface="Georgia" pitchFamily="34" charset="-122"/>
                <a:cs typeface="Georgia" pitchFamily="34" charset="-120"/>
              </a:rPr>
              <a:t>0.586</a:t>
            </a:r>
            <a:endParaRPr lang="en-US" sz="2400" dirty="0"/>
          </a:p>
        </p:txBody>
      </p:sp>
      <p:sp>
        <p:nvSpPr>
          <p:cNvPr id="24" name="Shape 20"/>
          <p:cNvSpPr/>
          <p:nvPr/>
        </p:nvSpPr>
        <p:spPr>
          <a:xfrm>
            <a:off x="12052250" y="3895725"/>
            <a:ext cx="5283101" cy="2286000"/>
          </a:xfrm>
          <a:prstGeom prst="rect">
            <a:avLst/>
          </a:prstGeom>
          <a:solidFill>
            <a:srgbClr val="FFFFFF"/>
          </a:solidFill>
          <a:ln w="9525">
            <a:solidFill>
              <a:srgbClr val="D9D3C5"/>
            </a:solidFill>
            <a:prstDash val="solid"/>
          </a:ln>
        </p:spPr>
        <p:txBody>
          <a:bodyPr/>
          <a:lstStyle/>
          <a:p>
            <a:endParaRPr lang="en-US"/>
          </a:p>
        </p:txBody>
      </p:sp>
      <p:pic>
        <p:nvPicPr>
          <p:cNvPr id="25" name="Image 2" descr="preencoded.png"/>
          <p:cNvPicPr>
            <a:picLocks noChangeAspect="1"/>
          </p:cNvPicPr>
          <p:nvPr/>
        </p:nvPicPr>
        <p:blipFill>
          <a:blip r:embed="rId5"/>
          <a:srcRect/>
          <a:stretch/>
        </p:blipFill>
        <p:spPr>
          <a:xfrm>
            <a:off x="13605123" y="4057650"/>
            <a:ext cx="2177355" cy="1962001"/>
          </a:xfrm>
          <a:prstGeom prst="rect">
            <a:avLst/>
          </a:prstGeom>
        </p:spPr>
      </p:pic>
      <p:sp>
        <p:nvSpPr>
          <p:cNvPr id="26" name="Text 21"/>
          <p:cNvSpPr/>
          <p:nvPr/>
        </p:nvSpPr>
        <p:spPr>
          <a:xfrm>
            <a:off x="952500" y="6410325"/>
            <a:ext cx="8654001"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4B4845"/>
                </a:solidFill>
                <a:latin typeface="Courier New" pitchFamily="34" charset="0"/>
                <a:ea typeface="Courier New" pitchFamily="34" charset="-122"/>
                <a:cs typeface="Courier New" pitchFamily="34" charset="-120"/>
              </a:rPr>
              <a:t>PER-CLASS RECALL — XGBOOST (N = 885 TEST SET)</a:t>
            </a:r>
            <a:endParaRPr lang="en-US" sz="1350" dirty="0"/>
          </a:p>
        </p:txBody>
      </p:sp>
      <p:sp>
        <p:nvSpPr>
          <p:cNvPr id="27" name="Shape 22"/>
          <p:cNvSpPr/>
          <p:nvPr/>
        </p:nvSpPr>
        <p:spPr>
          <a:xfrm>
            <a:off x="952500" y="7277100"/>
            <a:ext cx="1942802" cy="19050"/>
          </a:xfrm>
          <a:prstGeom prst="rect">
            <a:avLst/>
          </a:prstGeom>
          <a:solidFill>
            <a:srgbClr val="1C1B1A"/>
          </a:solidFill>
          <a:ln/>
        </p:spPr>
        <p:txBody>
          <a:bodyPr/>
          <a:lstStyle/>
          <a:p>
            <a:endParaRPr lang="en-US"/>
          </a:p>
        </p:txBody>
      </p:sp>
      <p:sp>
        <p:nvSpPr>
          <p:cNvPr id="28" name="Text 23"/>
          <p:cNvSpPr/>
          <p:nvPr/>
        </p:nvSpPr>
        <p:spPr>
          <a:xfrm>
            <a:off x="1162050" y="6867525"/>
            <a:ext cx="1599902"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650" b="1" kern="0" spc="165" dirty="0">
                <a:solidFill>
                  <a:srgbClr val="807C76"/>
                </a:solidFill>
                <a:latin typeface="Arial" pitchFamily="34" charset="0"/>
                <a:ea typeface="Arial" pitchFamily="34" charset="-122"/>
                <a:cs typeface="Arial" pitchFamily="34" charset="-120"/>
              </a:rPr>
              <a:t>CLASS</a:t>
            </a:r>
            <a:endParaRPr lang="en-US" sz="1650" dirty="0"/>
          </a:p>
        </p:txBody>
      </p:sp>
      <p:sp>
        <p:nvSpPr>
          <p:cNvPr id="29" name="Shape 24"/>
          <p:cNvSpPr/>
          <p:nvPr/>
        </p:nvSpPr>
        <p:spPr>
          <a:xfrm>
            <a:off x="2895302" y="7277100"/>
            <a:ext cx="1984325" cy="19050"/>
          </a:xfrm>
          <a:prstGeom prst="rect">
            <a:avLst/>
          </a:prstGeom>
          <a:solidFill>
            <a:srgbClr val="1C1B1A"/>
          </a:solidFill>
          <a:ln/>
        </p:spPr>
        <p:txBody>
          <a:bodyPr/>
          <a:lstStyle/>
          <a:p>
            <a:endParaRPr lang="en-US"/>
          </a:p>
        </p:txBody>
      </p:sp>
      <p:sp>
        <p:nvSpPr>
          <p:cNvPr id="30" name="Text 25"/>
          <p:cNvSpPr/>
          <p:nvPr/>
        </p:nvSpPr>
        <p:spPr>
          <a:xfrm>
            <a:off x="3028652" y="6867525"/>
            <a:ext cx="1641425"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TEST N</a:t>
            </a:r>
            <a:endParaRPr lang="en-US" sz="1650" dirty="0"/>
          </a:p>
        </p:txBody>
      </p:sp>
      <p:sp>
        <p:nvSpPr>
          <p:cNvPr id="31" name="Shape 26"/>
          <p:cNvSpPr/>
          <p:nvPr/>
        </p:nvSpPr>
        <p:spPr>
          <a:xfrm>
            <a:off x="4879628" y="7277100"/>
            <a:ext cx="2411611" cy="19050"/>
          </a:xfrm>
          <a:prstGeom prst="rect">
            <a:avLst/>
          </a:prstGeom>
          <a:solidFill>
            <a:srgbClr val="1C1B1A"/>
          </a:solidFill>
          <a:ln/>
        </p:spPr>
        <p:txBody>
          <a:bodyPr/>
          <a:lstStyle/>
          <a:p>
            <a:endParaRPr lang="en-US"/>
          </a:p>
        </p:txBody>
      </p:sp>
      <p:sp>
        <p:nvSpPr>
          <p:cNvPr id="32" name="Text 27"/>
          <p:cNvSpPr/>
          <p:nvPr/>
        </p:nvSpPr>
        <p:spPr>
          <a:xfrm>
            <a:off x="5012978" y="6867525"/>
            <a:ext cx="2068711"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CORRECT</a:t>
            </a:r>
            <a:endParaRPr lang="en-US" sz="1650" dirty="0"/>
          </a:p>
        </p:txBody>
      </p:sp>
      <p:sp>
        <p:nvSpPr>
          <p:cNvPr id="33" name="Shape 28"/>
          <p:cNvSpPr/>
          <p:nvPr/>
        </p:nvSpPr>
        <p:spPr>
          <a:xfrm>
            <a:off x="7291239" y="7277100"/>
            <a:ext cx="2063651" cy="19050"/>
          </a:xfrm>
          <a:prstGeom prst="rect">
            <a:avLst/>
          </a:prstGeom>
          <a:solidFill>
            <a:srgbClr val="1C1B1A"/>
          </a:solidFill>
          <a:ln/>
        </p:spPr>
        <p:txBody>
          <a:bodyPr/>
          <a:lstStyle/>
          <a:p>
            <a:endParaRPr lang="en-US"/>
          </a:p>
        </p:txBody>
      </p:sp>
      <p:sp>
        <p:nvSpPr>
          <p:cNvPr id="34" name="Text 29"/>
          <p:cNvSpPr/>
          <p:nvPr/>
        </p:nvSpPr>
        <p:spPr>
          <a:xfrm>
            <a:off x="7424589" y="6867525"/>
            <a:ext cx="1720751"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RECALL</a:t>
            </a:r>
            <a:endParaRPr lang="en-US" sz="1650" dirty="0"/>
          </a:p>
        </p:txBody>
      </p:sp>
      <p:sp>
        <p:nvSpPr>
          <p:cNvPr id="35" name="Shape 30"/>
          <p:cNvSpPr/>
          <p:nvPr/>
        </p:nvSpPr>
        <p:spPr>
          <a:xfrm>
            <a:off x="952500" y="7872413"/>
            <a:ext cx="1942802" cy="9525"/>
          </a:xfrm>
          <a:prstGeom prst="rect">
            <a:avLst/>
          </a:prstGeom>
          <a:solidFill>
            <a:srgbClr val="D9D3C5"/>
          </a:solidFill>
          <a:ln/>
        </p:spPr>
        <p:txBody>
          <a:bodyPr/>
          <a:lstStyle/>
          <a:p>
            <a:endParaRPr lang="en-US"/>
          </a:p>
        </p:txBody>
      </p:sp>
      <p:sp>
        <p:nvSpPr>
          <p:cNvPr id="36" name="Text 31"/>
          <p:cNvSpPr/>
          <p:nvPr/>
        </p:nvSpPr>
        <p:spPr>
          <a:xfrm>
            <a:off x="1162050" y="7467600"/>
            <a:ext cx="1599902" cy="271463"/>
          </a:xfrm>
          <a:prstGeom prst="rect">
            <a:avLst/>
          </a:prstGeom>
          <a:noFill/>
          <a:ln/>
        </p:spPr>
        <p:txBody>
          <a:bodyPr wrap="square" lIns="25400" tIns="25400" rIns="25400" bIns="25400" rtlCol="0" anchor="ctr">
            <a:normAutofit lnSpcReduction="10000"/>
          </a:bodyPr>
          <a:lstStyle/>
          <a:p>
            <a:pPr marL="0" indent="0" algn="l">
              <a:buNone/>
            </a:pPr>
            <a:r>
              <a:rPr lang="en-US" sz="1500" b="1" dirty="0">
                <a:solidFill>
                  <a:srgbClr val="E24B4A"/>
                </a:solidFill>
                <a:latin typeface="Arial" pitchFamily="34" charset="0"/>
                <a:ea typeface="Arial" pitchFamily="34" charset="-122"/>
                <a:cs typeface="Arial" pitchFamily="34" charset="-120"/>
              </a:rPr>
              <a:t>Dropout</a:t>
            </a:r>
            <a:endParaRPr lang="en-US" sz="1500" dirty="0"/>
          </a:p>
        </p:txBody>
      </p:sp>
      <p:sp>
        <p:nvSpPr>
          <p:cNvPr id="37" name="Shape 32"/>
          <p:cNvSpPr/>
          <p:nvPr/>
        </p:nvSpPr>
        <p:spPr>
          <a:xfrm>
            <a:off x="2895302" y="7872413"/>
            <a:ext cx="1984325" cy="9525"/>
          </a:xfrm>
          <a:prstGeom prst="rect">
            <a:avLst/>
          </a:prstGeom>
          <a:solidFill>
            <a:srgbClr val="D9D3C5"/>
          </a:solidFill>
          <a:ln/>
        </p:spPr>
        <p:txBody>
          <a:bodyPr/>
          <a:lstStyle/>
          <a:p>
            <a:endParaRPr lang="en-US"/>
          </a:p>
        </p:txBody>
      </p:sp>
      <p:sp>
        <p:nvSpPr>
          <p:cNvPr id="38" name="Text 33"/>
          <p:cNvSpPr/>
          <p:nvPr/>
        </p:nvSpPr>
        <p:spPr>
          <a:xfrm>
            <a:off x="3028652" y="7467600"/>
            <a:ext cx="1641425" cy="271463"/>
          </a:xfrm>
          <a:prstGeom prst="rect">
            <a:avLst/>
          </a:prstGeom>
          <a:noFill/>
          <a:ln/>
        </p:spPr>
        <p:txBody>
          <a:bodyPr wrap="square" lIns="25400" tIns="25400" rIns="25400" bIns="25400" rtlCol="0" anchor="ctr">
            <a:normAutofit lnSpcReduction="10000"/>
          </a:bodyPr>
          <a:lstStyle/>
          <a:p>
            <a:pPr marL="0" indent="0" algn="r">
              <a:buNone/>
            </a:pPr>
            <a:r>
              <a:rPr lang="en-US" sz="1500" dirty="0">
                <a:solidFill>
                  <a:srgbClr val="1C1B1A"/>
                </a:solidFill>
                <a:latin typeface="Arial" pitchFamily="34" charset="0"/>
                <a:ea typeface="Arial" pitchFamily="34" charset="-122"/>
                <a:cs typeface="Arial" pitchFamily="34" charset="-120"/>
              </a:rPr>
              <a:t>284</a:t>
            </a:r>
            <a:endParaRPr lang="en-US" sz="1500" dirty="0"/>
          </a:p>
        </p:txBody>
      </p:sp>
      <p:sp>
        <p:nvSpPr>
          <p:cNvPr id="39" name="Shape 34"/>
          <p:cNvSpPr/>
          <p:nvPr/>
        </p:nvSpPr>
        <p:spPr>
          <a:xfrm>
            <a:off x="4879628" y="7872413"/>
            <a:ext cx="2411611" cy="9525"/>
          </a:xfrm>
          <a:prstGeom prst="rect">
            <a:avLst/>
          </a:prstGeom>
          <a:solidFill>
            <a:srgbClr val="D9D3C5"/>
          </a:solidFill>
          <a:ln/>
        </p:spPr>
        <p:txBody>
          <a:bodyPr/>
          <a:lstStyle/>
          <a:p>
            <a:endParaRPr lang="en-US"/>
          </a:p>
        </p:txBody>
      </p:sp>
      <p:sp>
        <p:nvSpPr>
          <p:cNvPr id="40" name="Text 35"/>
          <p:cNvSpPr/>
          <p:nvPr/>
        </p:nvSpPr>
        <p:spPr>
          <a:xfrm>
            <a:off x="5012978" y="7467600"/>
            <a:ext cx="2068711" cy="271463"/>
          </a:xfrm>
          <a:prstGeom prst="rect">
            <a:avLst/>
          </a:prstGeom>
          <a:noFill/>
          <a:ln/>
        </p:spPr>
        <p:txBody>
          <a:bodyPr wrap="square" lIns="25400" tIns="25400" rIns="25400" bIns="25400" rtlCol="0" anchor="ctr">
            <a:normAutofit lnSpcReduction="10000"/>
          </a:bodyPr>
          <a:lstStyle/>
          <a:p>
            <a:pPr marL="0" indent="0" algn="r">
              <a:buNone/>
            </a:pPr>
            <a:r>
              <a:rPr lang="en-US" sz="1500" dirty="0">
                <a:solidFill>
                  <a:srgbClr val="1C1B1A"/>
                </a:solidFill>
                <a:latin typeface="Arial" pitchFamily="34" charset="0"/>
                <a:ea typeface="Arial" pitchFamily="34" charset="-122"/>
                <a:cs typeface="Arial" pitchFamily="34" charset="-120"/>
              </a:rPr>
              <a:t>213</a:t>
            </a:r>
            <a:endParaRPr lang="en-US" sz="1500" dirty="0"/>
          </a:p>
        </p:txBody>
      </p:sp>
      <p:sp>
        <p:nvSpPr>
          <p:cNvPr id="41" name="Shape 36"/>
          <p:cNvSpPr/>
          <p:nvPr/>
        </p:nvSpPr>
        <p:spPr>
          <a:xfrm>
            <a:off x="7291239" y="7872413"/>
            <a:ext cx="2063651" cy="9525"/>
          </a:xfrm>
          <a:prstGeom prst="rect">
            <a:avLst/>
          </a:prstGeom>
          <a:solidFill>
            <a:srgbClr val="D9D3C5"/>
          </a:solidFill>
          <a:ln/>
        </p:spPr>
        <p:txBody>
          <a:bodyPr/>
          <a:lstStyle/>
          <a:p>
            <a:endParaRPr lang="en-US"/>
          </a:p>
        </p:txBody>
      </p:sp>
      <p:sp>
        <p:nvSpPr>
          <p:cNvPr id="42" name="Text 37"/>
          <p:cNvSpPr/>
          <p:nvPr/>
        </p:nvSpPr>
        <p:spPr>
          <a:xfrm>
            <a:off x="7424589" y="7467600"/>
            <a:ext cx="1720751" cy="271463"/>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1C1B1A"/>
                </a:solidFill>
                <a:latin typeface="Arial" pitchFamily="34" charset="0"/>
                <a:ea typeface="Arial" pitchFamily="34" charset="-122"/>
                <a:cs typeface="Arial" pitchFamily="34" charset="-120"/>
              </a:rPr>
              <a:t>75.0%</a:t>
            </a:r>
            <a:endParaRPr lang="en-US" sz="1500" dirty="0"/>
          </a:p>
        </p:txBody>
      </p:sp>
      <p:sp>
        <p:nvSpPr>
          <p:cNvPr id="43" name="Shape 38"/>
          <p:cNvSpPr/>
          <p:nvPr/>
        </p:nvSpPr>
        <p:spPr>
          <a:xfrm>
            <a:off x="952500" y="7881937"/>
            <a:ext cx="1942802" cy="581025"/>
          </a:xfrm>
          <a:prstGeom prst="rect">
            <a:avLst/>
          </a:prstGeom>
          <a:solidFill>
            <a:srgbClr val="1D9E75">
              <a:alpha val="8000"/>
            </a:srgbClr>
          </a:solidFill>
          <a:ln/>
        </p:spPr>
        <p:txBody>
          <a:bodyPr/>
          <a:lstStyle/>
          <a:p>
            <a:endParaRPr lang="en-US"/>
          </a:p>
        </p:txBody>
      </p:sp>
      <p:sp>
        <p:nvSpPr>
          <p:cNvPr id="44" name="Shape 39"/>
          <p:cNvSpPr/>
          <p:nvPr/>
        </p:nvSpPr>
        <p:spPr>
          <a:xfrm>
            <a:off x="952500" y="8453438"/>
            <a:ext cx="1942802" cy="9525"/>
          </a:xfrm>
          <a:prstGeom prst="rect">
            <a:avLst/>
          </a:prstGeom>
          <a:solidFill>
            <a:srgbClr val="D9D3C5"/>
          </a:solidFill>
          <a:ln/>
        </p:spPr>
        <p:txBody>
          <a:bodyPr/>
          <a:lstStyle/>
          <a:p>
            <a:endParaRPr lang="en-US"/>
          </a:p>
        </p:txBody>
      </p:sp>
      <p:sp>
        <p:nvSpPr>
          <p:cNvPr id="45" name="Text 40"/>
          <p:cNvSpPr/>
          <p:nvPr/>
        </p:nvSpPr>
        <p:spPr>
          <a:xfrm>
            <a:off x="1162050" y="8053387"/>
            <a:ext cx="1599902" cy="266700"/>
          </a:xfrm>
          <a:prstGeom prst="rect">
            <a:avLst/>
          </a:prstGeom>
          <a:noFill/>
          <a:ln/>
        </p:spPr>
        <p:txBody>
          <a:bodyPr wrap="square" lIns="25400" tIns="25400" rIns="25400" bIns="25400" rtlCol="0" anchor="ctr">
            <a:normAutofit lnSpcReduction="10000"/>
          </a:bodyPr>
          <a:lstStyle/>
          <a:p>
            <a:pPr marL="0" indent="0" algn="l">
              <a:buNone/>
            </a:pPr>
            <a:r>
              <a:rPr lang="en-US" sz="1500" b="1" dirty="0">
                <a:solidFill>
                  <a:srgbClr val="EF9F27"/>
                </a:solidFill>
                <a:latin typeface="Arial" pitchFamily="34" charset="0"/>
                <a:ea typeface="Arial" pitchFamily="34" charset="-122"/>
                <a:cs typeface="Arial" pitchFamily="34" charset="-120"/>
              </a:rPr>
              <a:t>Enrolled</a:t>
            </a:r>
            <a:endParaRPr lang="en-US" sz="1500" dirty="0"/>
          </a:p>
        </p:txBody>
      </p:sp>
      <p:sp>
        <p:nvSpPr>
          <p:cNvPr id="46" name="Shape 41"/>
          <p:cNvSpPr/>
          <p:nvPr/>
        </p:nvSpPr>
        <p:spPr>
          <a:xfrm>
            <a:off x="2895302" y="7881937"/>
            <a:ext cx="1984325" cy="581025"/>
          </a:xfrm>
          <a:prstGeom prst="rect">
            <a:avLst/>
          </a:prstGeom>
          <a:solidFill>
            <a:srgbClr val="1D9E75">
              <a:alpha val="8000"/>
            </a:srgbClr>
          </a:solidFill>
          <a:ln/>
        </p:spPr>
        <p:txBody>
          <a:bodyPr/>
          <a:lstStyle/>
          <a:p>
            <a:endParaRPr lang="en-US"/>
          </a:p>
        </p:txBody>
      </p:sp>
      <p:sp>
        <p:nvSpPr>
          <p:cNvPr id="47" name="Shape 42"/>
          <p:cNvSpPr/>
          <p:nvPr/>
        </p:nvSpPr>
        <p:spPr>
          <a:xfrm>
            <a:off x="2895302" y="8453438"/>
            <a:ext cx="1984325" cy="9525"/>
          </a:xfrm>
          <a:prstGeom prst="rect">
            <a:avLst/>
          </a:prstGeom>
          <a:solidFill>
            <a:srgbClr val="D9D3C5"/>
          </a:solidFill>
          <a:ln/>
        </p:spPr>
        <p:txBody>
          <a:bodyPr/>
          <a:lstStyle/>
          <a:p>
            <a:endParaRPr lang="en-US"/>
          </a:p>
        </p:txBody>
      </p:sp>
      <p:sp>
        <p:nvSpPr>
          <p:cNvPr id="48" name="Text 43"/>
          <p:cNvSpPr/>
          <p:nvPr/>
        </p:nvSpPr>
        <p:spPr>
          <a:xfrm>
            <a:off x="3028652" y="8053387"/>
            <a:ext cx="1641425" cy="266700"/>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1C1B1A"/>
                </a:solidFill>
                <a:latin typeface="Arial" pitchFamily="34" charset="0"/>
                <a:ea typeface="Arial" pitchFamily="34" charset="-122"/>
                <a:cs typeface="Arial" pitchFamily="34" charset="-120"/>
              </a:rPr>
              <a:t>159</a:t>
            </a:r>
            <a:endParaRPr lang="en-US" sz="1500" dirty="0"/>
          </a:p>
        </p:txBody>
      </p:sp>
      <p:sp>
        <p:nvSpPr>
          <p:cNvPr id="49" name="Shape 44"/>
          <p:cNvSpPr/>
          <p:nvPr/>
        </p:nvSpPr>
        <p:spPr>
          <a:xfrm>
            <a:off x="4879628" y="7881937"/>
            <a:ext cx="2411611" cy="581025"/>
          </a:xfrm>
          <a:prstGeom prst="rect">
            <a:avLst/>
          </a:prstGeom>
          <a:solidFill>
            <a:srgbClr val="1D9E75">
              <a:alpha val="8000"/>
            </a:srgbClr>
          </a:solidFill>
          <a:ln/>
        </p:spPr>
        <p:txBody>
          <a:bodyPr/>
          <a:lstStyle/>
          <a:p>
            <a:endParaRPr lang="en-US"/>
          </a:p>
        </p:txBody>
      </p:sp>
      <p:sp>
        <p:nvSpPr>
          <p:cNvPr id="50" name="Shape 45"/>
          <p:cNvSpPr/>
          <p:nvPr/>
        </p:nvSpPr>
        <p:spPr>
          <a:xfrm>
            <a:off x="4879628" y="8453438"/>
            <a:ext cx="2411611" cy="9525"/>
          </a:xfrm>
          <a:prstGeom prst="rect">
            <a:avLst/>
          </a:prstGeom>
          <a:solidFill>
            <a:srgbClr val="D9D3C5"/>
          </a:solidFill>
          <a:ln/>
        </p:spPr>
        <p:txBody>
          <a:bodyPr/>
          <a:lstStyle/>
          <a:p>
            <a:endParaRPr lang="en-US"/>
          </a:p>
        </p:txBody>
      </p:sp>
      <p:sp>
        <p:nvSpPr>
          <p:cNvPr id="51" name="Text 46"/>
          <p:cNvSpPr/>
          <p:nvPr/>
        </p:nvSpPr>
        <p:spPr>
          <a:xfrm>
            <a:off x="5012978" y="8053387"/>
            <a:ext cx="2068711" cy="266700"/>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1C1B1A"/>
                </a:solidFill>
                <a:latin typeface="Arial" pitchFamily="34" charset="0"/>
                <a:ea typeface="Arial" pitchFamily="34" charset="-122"/>
                <a:cs typeface="Arial" pitchFamily="34" charset="-120"/>
              </a:rPr>
              <a:t>71</a:t>
            </a:r>
            <a:endParaRPr lang="en-US" sz="1500" dirty="0"/>
          </a:p>
        </p:txBody>
      </p:sp>
      <p:sp>
        <p:nvSpPr>
          <p:cNvPr id="52" name="Shape 47"/>
          <p:cNvSpPr/>
          <p:nvPr/>
        </p:nvSpPr>
        <p:spPr>
          <a:xfrm>
            <a:off x="7291239" y="7881937"/>
            <a:ext cx="2063651" cy="581025"/>
          </a:xfrm>
          <a:prstGeom prst="rect">
            <a:avLst/>
          </a:prstGeom>
          <a:solidFill>
            <a:srgbClr val="1D9E75">
              <a:alpha val="8000"/>
            </a:srgbClr>
          </a:solidFill>
          <a:ln/>
        </p:spPr>
        <p:txBody>
          <a:bodyPr/>
          <a:lstStyle/>
          <a:p>
            <a:endParaRPr lang="en-US"/>
          </a:p>
        </p:txBody>
      </p:sp>
      <p:sp>
        <p:nvSpPr>
          <p:cNvPr id="53" name="Shape 48"/>
          <p:cNvSpPr/>
          <p:nvPr/>
        </p:nvSpPr>
        <p:spPr>
          <a:xfrm>
            <a:off x="7291239" y="8453438"/>
            <a:ext cx="2063651" cy="9525"/>
          </a:xfrm>
          <a:prstGeom prst="rect">
            <a:avLst/>
          </a:prstGeom>
          <a:solidFill>
            <a:srgbClr val="D9D3C5"/>
          </a:solidFill>
          <a:ln/>
        </p:spPr>
        <p:txBody>
          <a:bodyPr/>
          <a:lstStyle/>
          <a:p>
            <a:endParaRPr lang="en-US"/>
          </a:p>
        </p:txBody>
      </p:sp>
      <p:sp>
        <p:nvSpPr>
          <p:cNvPr id="54" name="Text 49"/>
          <p:cNvSpPr/>
          <p:nvPr/>
        </p:nvSpPr>
        <p:spPr>
          <a:xfrm>
            <a:off x="7424589" y="8053387"/>
            <a:ext cx="1720751" cy="266700"/>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E24B4A"/>
                </a:solidFill>
                <a:latin typeface="Arial" pitchFamily="34" charset="0"/>
                <a:ea typeface="Arial" pitchFamily="34" charset="-122"/>
                <a:cs typeface="Arial" pitchFamily="34" charset="-120"/>
              </a:rPr>
              <a:t>44.7%</a:t>
            </a:r>
            <a:endParaRPr lang="en-US" sz="1500" dirty="0"/>
          </a:p>
        </p:txBody>
      </p:sp>
      <p:sp>
        <p:nvSpPr>
          <p:cNvPr id="55" name="Shape 50"/>
          <p:cNvSpPr/>
          <p:nvPr/>
        </p:nvSpPr>
        <p:spPr>
          <a:xfrm>
            <a:off x="952500" y="9034463"/>
            <a:ext cx="1942802" cy="9525"/>
          </a:xfrm>
          <a:prstGeom prst="rect">
            <a:avLst/>
          </a:prstGeom>
          <a:solidFill>
            <a:srgbClr val="D9D3C5"/>
          </a:solidFill>
          <a:ln/>
        </p:spPr>
        <p:txBody>
          <a:bodyPr/>
          <a:lstStyle/>
          <a:p>
            <a:endParaRPr lang="en-US"/>
          </a:p>
        </p:txBody>
      </p:sp>
      <p:sp>
        <p:nvSpPr>
          <p:cNvPr id="56" name="Text 51"/>
          <p:cNvSpPr/>
          <p:nvPr/>
        </p:nvSpPr>
        <p:spPr>
          <a:xfrm>
            <a:off x="1162050" y="8634413"/>
            <a:ext cx="1599902" cy="266700"/>
          </a:xfrm>
          <a:prstGeom prst="rect">
            <a:avLst/>
          </a:prstGeom>
          <a:noFill/>
          <a:ln/>
        </p:spPr>
        <p:txBody>
          <a:bodyPr wrap="square" lIns="25400" tIns="25400" rIns="25400" bIns="25400" rtlCol="0" anchor="ctr">
            <a:normAutofit lnSpcReduction="10000"/>
          </a:bodyPr>
          <a:lstStyle/>
          <a:p>
            <a:pPr marL="0" indent="0" algn="l">
              <a:buNone/>
            </a:pPr>
            <a:r>
              <a:rPr lang="en-US" sz="1500" b="1" dirty="0">
                <a:solidFill>
                  <a:srgbClr val="1D9E75"/>
                </a:solidFill>
                <a:latin typeface="Arial" pitchFamily="34" charset="0"/>
                <a:ea typeface="Arial" pitchFamily="34" charset="-122"/>
                <a:cs typeface="Arial" pitchFamily="34" charset="-120"/>
              </a:rPr>
              <a:t>Graduate</a:t>
            </a:r>
            <a:endParaRPr lang="en-US" sz="1500" dirty="0"/>
          </a:p>
        </p:txBody>
      </p:sp>
      <p:sp>
        <p:nvSpPr>
          <p:cNvPr id="57" name="Shape 52"/>
          <p:cNvSpPr/>
          <p:nvPr/>
        </p:nvSpPr>
        <p:spPr>
          <a:xfrm>
            <a:off x="2895302" y="9034463"/>
            <a:ext cx="1984325" cy="9525"/>
          </a:xfrm>
          <a:prstGeom prst="rect">
            <a:avLst/>
          </a:prstGeom>
          <a:solidFill>
            <a:srgbClr val="D9D3C5"/>
          </a:solidFill>
          <a:ln/>
        </p:spPr>
        <p:txBody>
          <a:bodyPr/>
          <a:lstStyle/>
          <a:p>
            <a:endParaRPr lang="en-US"/>
          </a:p>
        </p:txBody>
      </p:sp>
      <p:sp>
        <p:nvSpPr>
          <p:cNvPr id="58" name="Text 53"/>
          <p:cNvSpPr/>
          <p:nvPr/>
        </p:nvSpPr>
        <p:spPr>
          <a:xfrm>
            <a:off x="3028652" y="8634413"/>
            <a:ext cx="1641425" cy="266700"/>
          </a:xfrm>
          <a:prstGeom prst="rect">
            <a:avLst/>
          </a:prstGeom>
          <a:noFill/>
          <a:ln/>
        </p:spPr>
        <p:txBody>
          <a:bodyPr wrap="square" lIns="25400" tIns="25400" rIns="25400" bIns="25400" rtlCol="0" anchor="ctr">
            <a:normAutofit lnSpcReduction="10000"/>
          </a:bodyPr>
          <a:lstStyle/>
          <a:p>
            <a:pPr marL="0" indent="0" algn="r">
              <a:buNone/>
            </a:pPr>
            <a:r>
              <a:rPr lang="en-US" sz="1500" dirty="0">
                <a:solidFill>
                  <a:srgbClr val="1C1B1A"/>
                </a:solidFill>
                <a:latin typeface="Arial" pitchFamily="34" charset="0"/>
                <a:ea typeface="Arial" pitchFamily="34" charset="-122"/>
                <a:cs typeface="Arial" pitchFamily="34" charset="-120"/>
              </a:rPr>
              <a:t>442</a:t>
            </a:r>
            <a:endParaRPr lang="en-US" sz="1500" dirty="0"/>
          </a:p>
        </p:txBody>
      </p:sp>
      <p:sp>
        <p:nvSpPr>
          <p:cNvPr id="59" name="Shape 54"/>
          <p:cNvSpPr/>
          <p:nvPr/>
        </p:nvSpPr>
        <p:spPr>
          <a:xfrm>
            <a:off x="4879628" y="9034463"/>
            <a:ext cx="2411611" cy="9525"/>
          </a:xfrm>
          <a:prstGeom prst="rect">
            <a:avLst/>
          </a:prstGeom>
          <a:solidFill>
            <a:srgbClr val="D9D3C5"/>
          </a:solidFill>
          <a:ln/>
        </p:spPr>
        <p:txBody>
          <a:bodyPr/>
          <a:lstStyle/>
          <a:p>
            <a:endParaRPr lang="en-US"/>
          </a:p>
        </p:txBody>
      </p:sp>
      <p:sp>
        <p:nvSpPr>
          <p:cNvPr id="60" name="Text 55"/>
          <p:cNvSpPr/>
          <p:nvPr/>
        </p:nvSpPr>
        <p:spPr>
          <a:xfrm>
            <a:off x="5012978" y="8634413"/>
            <a:ext cx="2068711" cy="266700"/>
          </a:xfrm>
          <a:prstGeom prst="rect">
            <a:avLst/>
          </a:prstGeom>
          <a:noFill/>
          <a:ln/>
        </p:spPr>
        <p:txBody>
          <a:bodyPr wrap="square" lIns="25400" tIns="25400" rIns="25400" bIns="25400" rtlCol="0" anchor="ctr">
            <a:normAutofit lnSpcReduction="10000"/>
          </a:bodyPr>
          <a:lstStyle/>
          <a:p>
            <a:pPr marL="0" indent="0" algn="r">
              <a:buNone/>
            </a:pPr>
            <a:r>
              <a:rPr lang="en-US" sz="1500" dirty="0">
                <a:solidFill>
                  <a:srgbClr val="1C1B1A"/>
                </a:solidFill>
                <a:latin typeface="Arial" pitchFamily="34" charset="0"/>
                <a:ea typeface="Arial" pitchFamily="34" charset="-122"/>
                <a:cs typeface="Arial" pitchFamily="34" charset="-120"/>
              </a:rPr>
              <a:t>397</a:t>
            </a:r>
            <a:endParaRPr lang="en-US" sz="1500" dirty="0"/>
          </a:p>
        </p:txBody>
      </p:sp>
      <p:sp>
        <p:nvSpPr>
          <p:cNvPr id="61" name="Shape 56"/>
          <p:cNvSpPr/>
          <p:nvPr/>
        </p:nvSpPr>
        <p:spPr>
          <a:xfrm>
            <a:off x="7291239" y="9034463"/>
            <a:ext cx="2063651" cy="9525"/>
          </a:xfrm>
          <a:prstGeom prst="rect">
            <a:avLst/>
          </a:prstGeom>
          <a:solidFill>
            <a:srgbClr val="D9D3C5"/>
          </a:solidFill>
          <a:ln/>
        </p:spPr>
        <p:txBody>
          <a:bodyPr/>
          <a:lstStyle/>
          <a:p>
            <a:endParaRPr lang="en-US"/>
          </a:p>
        </p:txBody>
      </p:sp>
      <p:sp>
        <p:nvSpPr>
          <p:cNvPr id="62" name="Text 57"/>
          <p:cNvSpPr/>
          <p:nvPr/>
        </p:nvSpPr>
        <p:spPr>
          <a:xfrm>
            <a:off x="7424589" y="8634413"/>
            <a:ext cx="1720751" cy="266700"/>
          </a:xfrm>
          <a:prstGeom prst="rect">
            <a:avLst/>
          </a:prstGeom>
          <a:noFill/>
          <a:ln/>
        </p:spPr>
        <p:txBody>
          <a:bodyPr wrap="square" lIns="25400" tIns="25400" rIns="25400" bIns="25400" rtlCol="0" anchor="ctr">
            <a:normAutofit lnSpcReduction="10000"/>
          </a:bodyPr>
          <a:lstStyle/>
          <a:p>
            <a:pPr marL="0" indent="0" algn="r">
              <a:buNone/>
            </a:pPr>
            <a:r>
              <a:rPr lang="en-US" sz="1500" b="1" dirty="0">
                <a:solidFill>
                  <a:srgbClr val="1C1B1A"/>
                </a:solidFill>
                <a:latin typeface="Arial" pitchFamily="34" charset="0"/>
                <a:ea typeface="Arial" pitchFamily="34" charset="-122"/>
                <a:cs typeface="Arial" pitchFamily="34" charset="-120"/>
              </a:rPr>
              <a:t>89.8%</a:t>
            </a:r>
            <a:endParaRPr lang="en-US" sz="1500" dirty="0"/>
          </a:p>
        </p:txBody>
      </p:sp>
      <p:sp>
        <p:nvSpPr>
          <p:cNvPr id="63" name="Text 58"/>
          <p:cNvSpPr/>
          <p:nvPr/>
        </p:nvSpPr>
        <p:spPr>
          <a:xfrm>
            <a:off x="9697343" y="6410325"/>
            <a:ext cx="7867302" cy="121920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650" i="1" dirty="0">
                <a:solidFill>
                  <a:srgbClr val="4B4845"/>
                </a:solidFill>
                <a:latin typeface="-apple-system" pitchFamily="34" charset="0"/>
                <a:ea typeface="-apple-system" pitchFamily="34" charset="-122"/>
                <a:cs typeface="-apple-system" pitchFamily="34" charset="-120"/>
              </a:rPr>
              <a:t>The Enrolled class is recovered at only 44.7% — half the rate of Graduate. With just 159 test instances vs 442 for Graduate, the model has fewer training examples to learn its boundary, and the class sits geometrically between the other two — confusions go in both directions (37 → Dropout, 51 → Graduate).</a:t>
            </a:r>
            <a:endParaRPr lang="en-US" sz="1650" dirty="0"/>
          </a:p>
        </p:txBody>
      </p:sp>
      <p:sp>
        <p:nvSpPr>
          <p:cNvPr id="64" name="Text 59"/>
          <p:cNvSpPr/>
          <p:nvPr/>
        </p:nvSpPr>
        <p:spPr>
          <a:xfrm>
            <a:off x="16692116" y="9172575"/>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12/19</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4775687"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12 · UNSUPERVISED ANALYSIS</a:t>
            </a:r>
            <a:endParaRPr lang="en-US" sz="1800" dirty="0"/>
          </a:p>
        </p:txBody>
      </p:sp>
      <p:sp>
        <p:nvSpPr>
          <p:cNvPr id="4" name="Text 2"/>
          <p:cNvSpPr/>
          <p:nvPr/>
        </p:nvSpPr>
        <p:spPr>
          <a:xfrm>
            <a:off x="952500" y="1704975"/>
            <a:ext cx="16874490" cy="66675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Clustering reveals overlap, not boundaries</a:t>
            </a:r>
            <a:endParaRPr lang="en-US" sz="4800" dirty="0"/>
          </a:p>
        </p:txBody>
      </p:sp>
      <p:sp>
        <p:nvSpPr>
          <p:cNvPr id="5" name="Shape 3"/>
          <p:cNvSpPr/>
          <p:nvPr/>
        </p:nvSpPr>
        <p:spPr>
          <a:xfrm>
            <a:off x="952500" y="2676525"/>
            <a:ext cx="8020050" cy="4572000"/>
          </a:xfrm>
          <a:prstGeom prst="rect">
            <a:avLst/>
          </a:prstGeom>
          <a:solidFill>
            <a:srgbClr val="FFFFFF"/>
          </a:solidFill>
          <a:ln w="9525">
            <a:solidFill>
              <a:srgbClr val="D9D3C5"/>
            </a:solidFill>
            <a:prstDash val="solid"/>
          </a:ln>
        </p:spPr>
        <p:txBody>
          <a:bodyPr/>
          <a:lstStyle/>
          <a:p>
            <a:endParaRPr lang="en-US"/>
          </a:p>
        </p:txBody>
      </p:sp>
      <p:pic>
        <p:nvPicPr>
          <p:cNvPr id="6" name="Image 0" descr="preencoded.png"/>
          <p:cNvPicPr>
            <a:picLocks noChangeAspect="1"/>
          </p:cNvPicPr>
          <p:nvPr/>
        </p:nvPicPr>
        <p:blipFill>
          <a:blip r:embed="rId3"/>
          <a:srcRect/>
          <a:stretch/>
        </p:blipFill>
        <p:spPr>
          <a:xfrm>
            <a:off x="1657350" y="2905125"/>
            <a:ext cx="6591606" cy="5638800"/>
          </a:xfrm>
          <a:prstGeom prst="rect">
            <a:avLst/>
          </a:prstGeom>
        </p:spPr>
      </p:pic>
      <p:sp>
        <p:nvSpPr>
          <p:cNvPr id="7" name="Shape 4"/>
          <p:cNvSpPr/>
          <p:nvPr/>
        </p:nvSpPr>
        <p:spPr>
          <a:xfrm>
            <a:off x="9315450" y="3228975"/>
            <a:ext cx="8020050" cy="9525"/>
          </a:xfrm>
          <a:prstGeom prst="rect">
            <a:avLst/>
          </a:prstGeom>
          <a:solidFill>
            <a:srgbClr val="D9D3C5"/>
          </a:solidFill>
          <a:ln/>
        </p:spPr>
        <p:txBody>
          <a:bodyPr/>
          <a:lstStyle/>
          <a:p>
            <a:endParaRPr lang="en-US"/>
          </a:p>
        </p:txBody>
      </p:sp>
      <p:sp>
        <p:nvSpPr>
          <p:cNvPr id="8" name="Text 5"/>
          <p:cNvSpPr/>
          <p:nvPr/>
        </p:nvSpPr>
        <p:spPr>
          <a:xfrm>
            <a:off x="9315450" y="2819400"/>
            <a:ext cx="3626605"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165" dirty="0">
                <a:solidFill>
                  <a:srgbClr val="807C76"/>
                </a:solidFill>
                <a:latin typeface="Courier New" pitchFamily="34" charset="0"/>
                <a:ea typeface="Courier New" pitchFamily="34" charset="-122"/>
                <a:cs typeface="Courier New" pitchFamily="34" charset="-120"/>
              </a:rPr>
              <a:t>K-MEANS (K=3) SILHOUETTE</a:t>
            </a:r>
            <a:endParaRPr lang="en-US" sz="1650" dirty="0"/>
          </a:p>
        </p:txBody>
      </p:sp>
      <p:sp>
        <p:nvSpPr>
          <p:cNvPr id="9" name="Text 6"/>
          <p:cNvSpPr/>
          <p:nvPr/>
        </p:nvSpPr>
        <p:spPr>
          <a:xfrm>
            <a:off x="16035867" y="2676525"/>
            <a:ext cx="1375833"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0.2145</a:t>
            </a:r>
            <a:endParaRPr lang="en-US" sz="2400" dirty="0"/>
          </a:p>
        </p:txBody>
      </p:sp>
      <p:sp>
        <p:nvSpPr>
          <p:cNvPr id="10" name="Shape 7"/>
          <p:cNvSpPr/>
          <p:nvPr/>
        </p:nvSpPr>
        <p:spPr>
          <a:xfrm>
            <a:off x="9315450" y="4019550"/>
            <a:ext cx="8020050" cy="9525"/>
          </a:xfrm>
          <a:prstGeom prst="rect">
            <a:avLst/>
          </a:prstGeom>
          <a:solidFill>
            <a:srgbClr val="D9D3C5"/>
          </a:solidFill>
          <a:ln/>
        </p:spPr>
        <p:txBody>
          <a:bodyPr/>
          <a:lstStyle/>
          <a:p>
            <a:endParaRPr lang="en-US"/>
          </a:p>
        </p:txBody>
      </p:sp>
      <p:sp>
        <p:nvSpPr>
          <p:cNvPr id="11" name="Text 8"/>
          <p:cNvSpPr/>
          <p:nvPr/>
        </p:nvSpPr>
        <p:spPr>
          <a:xfrm>
            <a:off x="9315450" y="3609975"/>
            <a:ext cx="4533333"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165" dirty="0">
                <a:solidFill>
                  <a:srgbClr val="807C76"/>
                </a:solidFill>
                <a:latin typeface="Courier New" pitchFamily="34" charset="0"/>
                <a:ea typeface="Courier New" pitchFamily="34" charset="-122"/>
                <a:cs typeface="Courier New" pitchFamily="34" charset="-120"/>
              </a:rPr>
              <a:t>HIERARCHICAL (WARD) SILHOUETTE</a:t>
            </a:r>
            <a:endParaRPr lang="en-US" sz="1650" dirty="0"/>
          </a:p>
        </p:txBody>
      </p:sp>
      <p:sp>
        <p:nvSpPr>
          <p:cNvPr id="12" name="Text 9"/>
          <p:cNvSpPr/>
          <p:nvPr/>
        </p:nvSpPr>
        <p:spPr>
          <a:xfrm>
            <a:off x="16035867" y="3467100"/>
            <a:ext cx="1375833"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0.1158</a:t>
            </a:r>
            <a:endParaRPr lang="en-US" sz="2400" dirty="0"/>
          </a:p>
        </p:txBody>
      </p:sp>
      <p:sp>
        <p:nvSpPr>
          <p:cNvPr id="13" name="Shape 10"/>
          <p:cNvSpPr/>
          <p:nvPr/>
        </p:nvSpPr>
        <p:spPr>
          <a:xfrm>
            <a:off x="9315450" y="4257675"/>
            <a:ext cx="8020050" cy="1057275"/>
          </a:xfrm>
          <a:prstGeom prst="rect">
            <a:avLst/>
          </a:prstGeom>
          <a:solidFill>
            <a:srgbClr val="FFFFFF"/>
          </a:solidFill>
          <a:ln w="9525">
            <a:solidFill>
              <a:srgbClr val="D9D3C5"/>
            </a:solidFill>
            <a:prstDash val="solid"/>
          </a:ln>
        </p:spPr>
        <p:txBody>
          <a:bodyPr/>
          <a:lstStyle/>
          <a:p>
            <a:endParaRPr lang="en-US"/>
          </a:p>
        </p:txBody>
      </p:sp>
      <p:sp>
        <p:nvSpPr>
          <p:cNvPr id="14" name="Text 11"/>
          <p:cNvSpPr/>
          <p:nvPr/>
        </p:nvSpPr>
        <p:spPr>
          <a:xfrm>
            <a:off x="9496425" y="4400550"/>
            <a:ext cx="7898702" cy="809625"/>
          </a:xfrm>
          <a:prstGeom prst="rect">
            <a:avLst/>
          </a:prstGeom>
          <a:noFill/>
          <a:ln/>
        </p:spPr>
        <p:txBody>
          <a:bodyPr wrap="square" lIns="25400" tIns="25400" rIns="25400" bIns="25400" rtlCol="0" anchor="t">
            <a:normAutofit/>
          </a:bodyPr>
          <a:lstStyle/>
          <a:p>
            <a:pPr marL="0" indent="0" algn="l">
              <a:lnSpc>
                <a:spcPct val="150000"/>
              </a:lnSpc>
              <a:buNone/>
            </a:pPr>
            <a:r>
              <a:rPr lang="en-US" sz="1350" dirty="0">
                <a:solidFill>
                  <a:srgbClr val="807C76"/>
                </a:solidFill>
                <a:latin typeface="Courier New" pitchFamily="34" charset="0"/>
                <a:ea typeface="Courier New" pitchFamily="34" charset="-122"/>
                <a:cs typeface="Courier New" pitchFamily="34" charset="-120"/>
              </a:rPr>
              <a:t>Silhouette interpretation (Rousseeuw, 1987): </a:t>
            </a:r>
            <a:r>
              <a:rPr lang="en-US" sz="1350" dirty="0">
                <a:solidFill>
                  <a:srgbClr val="4B4845"/>
                </a:solidFill>
                <a:latin typeface="Courier New" pitchFamily="34" charset="0"/>
                <a:ea typeface="Courier New" pitchFamily="34" charset="-122"/>
                <a:cs typeface="Courier New" pitchFamily="34" charset="-120"/>
              </a:rPr>
              <a:t>&gt; 0.7 strong · 0.5–0.7 reasonable · 0.25–0.5 weak · &lt; 0.25 no substantial structure</a:t>
            </a:r>
            <a:endParaRPr lang="en-US" sz="1350" dirty="0"/>
          </a:p>
        </p:txBody>
      </p:sp>
      <p:sp>
        <p:nvSpPr>
          <p:cNvPr id="15" name="Shape 12"/>
          <p:cNvSpPr/>
          <p:nvPr/>
        </p:nvSpPr>
        <p:spPr>
          <a:xfrm>
            <a:off x="9315450" y="5695950"/>
            <a:ext cx="8020050" cy="1857375"/>
          </a:xfrm>
          <a:prstGeom prst="rect">
            <a:avLst/>
          </a:prstGeom>
          <a:solidFill>
            <a:srgbClr val="F2EEE6"/>
          </a:solidFill>
          <a:ln/>
        </p:spPr>
        <p:txBody>
          <a:bodyPr/>
          <a:lstStyle/>
          <a:p>
            <a:endParaRPr lang="en-US"/>
          </a:p>
        </p:txBody>
      </p:sp>
      <p:sp>
        <p:nvSpPr>
          <p:cNvPr id="16" name="Shape 13"/>
          <p:cNvSpPr/>
          <p:nvPr/>
        </p:nvSpPr>
        <p:spPr>
          <a:xfrm>
            <a:off x="9315450" y="5695950"/>
            <a:ext cx="38100" cy="1857375"/>
          </a:xfrm>
          <a:prstGeom prst="rect">
            <a:avLst/>
          </a:prstGeom>
          <a:solidFill>
            <a:srgbClr val="E24B4A"/>
          </a:solidFill>
          <a:ln/>
        </p:spPr>
        <p:txBody>
          <a:bodyPr/>
          <a:lstStyle/>
          <a:p>
            <a:endParaRPr lang="en-US"/>
          </a:p>
        </p:txBody>
      </p:sp>
      <p:sp>
        <p:nvSpPr>
          <p:cNvPr id="17" name="Text 14"/>
          <p:cNvSpPr/>
          <p:nvPr/>
        </p:nvSpPr>
        <p:spPr>
          <a:xfrm>
            <a:off x="9620250" y="5924550"/>
            <a:ext cx="7672007"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E24B4A"/>
                </a:solidFill>
                <a:latin typeface="Courier New" pitchFamily="34" charset="0"/>
                <a:ea typeface="Courier New" pitchFamily="34" charset="-122"/>
                <a:cs typeface="Courier New" pitchFamily="34" charset="-120"/>
              </a:rPr>
              <a:t>WHAT THIS TELLS US</a:t>
            </a:r>
            <a:endParaRPr lang="en-US" sz="1350" dirty="0"/>
          </a:p>
        </p:txBody>
      </p:sp>
      <p:sp>
        <p:nvSpPr>
          <p:cNvPr id="18" name="Text 15"/>
          <p:cNvSpPr/>
          <p:nvPr/>
        </p:nvSpPr>
        <p:spPr>
          <a:xfrm>
            <a:off x="9620250" y="6210300"/>
            <a:ext cx="7672007" cy="1152525"/>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dirty="0">
                <a:solidFill>
                  <a:srgbClr val="1C1B1A"/>
                </a:solidFill>
                <a:latin typeface="-apple-system" pitchFamily="34" charset="0"/>
                <a:ea typeface="-apple-system" pitchFamily="34" charset="-122"/>
                <a:cs typeface="-apple-system" pitchFamily="34" charset="-120"/>
              </a:rPr>
              <a:t>Low silhouette scores indicate soft, overlapping boundaries. Unsupervised methods alone cannot reliably predict outcomes — supervision is required.</a:t>
            </a:r>
            <a:endParaRPr lang="en-US" sz="2100" dirty="0"/>
          </a:p>
        </p:txBody>
      </p:sp>
      <p:sp>
        <p:nvSpPr>
          <p:cNvPr id="19" name="Text 16"/>
          <p:cNvSpPr/>
          <p:nvPr/>
        </p:nvSpPr>
        <p:spPr>
          <a:xfrm>
            <a:off x="16692116" y="7677150"/>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13/19</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5143047"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13 · ASSOCIATION RULE MINING</a:t>
            </a:r>
            <a:endParaRPr lang="en-US" sz="1800" dirty="0"/>
          </a:p>
        </p:txBody>
      </p:sp>
      <p:sp>
        <p:nvSpPr>
          <p:cNvPr id="4" name="Text 2"/>
          <p:cNvSpPr/>
          <p:nvPr/>
        </p:nvSpPr>
        <p:spPr>
          <a:xfrm>
            <a:off x="952500" y="1704975"/>
            <a:ext cx="6248681" cy="12954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Apriori on binned features</a:t>
            </a:r>
            <a:endParaRPr lang="en-US" sz="4800" dirty="0"/>
          </a:p>
        </p:txBody>
      </p:sp>
      <p:sp>
        <p:nvSpPr>
          <p:cNvPr id="5" name="Shape 3"/>
          <p:cNvSpPr/>
          <p:nvPr/>
        </p:nvSpPr>
        <p:spPr>
          <a:xfrm>
            <a:off x="952500" y="3819525"/>
            <a:ext cx="6066681" cy="9525"/>
          </a:xfrm>
          <a:prstGeom prst="rect">
            <a:avLst/>
          </a:prstGeom>
          <a:solidFill>
            <a:srgbClr val="D9D3C5"/>
          </a:solidFill>
          <a:ln/>
        </p:spPr>
        <p:txBody>
          <a:bodyPr/>
          <a:lstStyle/>
          <a:p>
            <a:endParaRPr lang="en-US"/>
          </a:p>
        </p:txBody>
      </p:sp>
      <p:sp>
        <p:nvSpPr>
          <p:cNvPr id="6" name="Text 4"/>
          <p:cNvSpPr/>
          <p:nvPr/>
        </p:nvSpPr>
        <p:spPr>
          <a:xfrm>
            <a:off x="952500" y="3409950"/>
            <a:ext cx="1690092"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165" dirty="0">
                <a:solidFill>
                  <a:srgbClr val="807C76"/>
                </a:solidFill>
                <a:latin typeface="Courier New" pitchFamily="34" charset="0"/>
                <a:ea typeface="Courier New" pitchFamily="34" charset="-122"/>
                <a:cs typeface="Courier New" pitchFamily="34" charset="-120"/>
              </a:rPr>
              <a:t>MIN_SUPPORT</a:t>
            </a:r>
            <a:endParaRPr lang="en-US" sz="1650" dirty="0"/>
          </a:p>
        </p:txBody>
      </p:sp>
      <p:sp>
        <p:nvSpPr>
          <p:cNvPr id="7" name="Text 5"/>
          <p:cNvSpPr/>
          <p:nvPr/>
        </p:nvSpPr>
        <p:spPr>
          <a:xfrm>
            <a:off x="5301408" y="3267075"/>
            <a:ext cx="1793973"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0.05</a:t>
            </a:r>
            <a:endParaRPr lang="en-US" sz="2400" dirty="0"/>
          </a:p>
        </p:txBody>
      </p:sp>
      <p:sp>
        <p:nvSpPr>
          <p:cNvPr id="8" name="Shape 6"/>
          <p:cNvSpPr/>
          <p:nvPr/>
        </p:nvSpPr>
        <p:spPr>
          <a:xfrm>
            <a:off x="952500" y="4552950"/>
            <a:ext cx="6066681" cy="9525"/>
          </a:xfrm>
          <a:prstGeom prst="rect">
            <a:avLst/>
          </a:prstGeom>
          <a:solidFill>
            <a:srgbClr val="D9D3C5"/>
          </a:solidFill>
          <a:ln/>
        </p:spPr>
        <p:txBody>
          <a:bodyPr/>
          <a:lstStyle/>
          <a:p>
            <a:endParaRPr lang="en-US"/>
          </a:p>
        </p:txBody>
      </p:sp>
      <p:sp>
        <p:nvSpPr>
          <p:cNvPr id="9" name="Text 7"/>
          <p:cNvSpPr/>
          <p:nvPr/>
        </p:nvSpPr>
        <p:spPr>
          <a:xfrm>
            <a:off x="952500" y="4143375"/>
            <a:ext cx="2130177"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165" dirty="0">
                <a:solidFill>
                  <a:srgbClr val="807C76"/>
                </a:solidFill>
                <a:latin typeface="Courier New" pitchFamily="34" charset="0"/>
                <a:ea typeface="Courier New" pitchFamily="34" charset="-122"/>
                <a:cs typeface="Courier New" pitchFamily="34" charset="-120"/>
              </a:rPr>
              <a:t>MIN_CONFIDENCE</a:t>
            </a:r>
            <a:endParaRPr lang="en-US" sz="1650" dirty="0"/>
          </a:p>
        </p:txBody>
      </p:sp>
      <p:sp>
        <p:nvSpPr>
          <p:cNvPr id="10" name="Text 8"/>
          <p:cNvSpPr/>
          <p:nvPr/>
        </p:nvSpPr>
        <p:spPr>
          <a:xfrm>
            <a:off x="5301408" y="4000500"/>
            <a:ext cx="1793973"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0.60</a:t>
            </a:r>
            <a:endParaRPr lang="en-US" sz="2400" dirty="0"/>
          </a:p>
        </p:txBody>
      </p:sp>
      <p:sp>
        <p:nvSpPr>
          <p:cNvPr id="11" name="Shape 9"/>
          <p:cNvSpPr/>
          <p:nvPr/>
        </p:nvSpPr>
        <p:spPr>
          <a:xfrm>
            <a:off x="952500" y="5286375"/>
            <a:ext cx="6066681" cy="9525"/>
          </a:xfrm>
          <a:prstGeom prst="rect">
            <a:avLst/>
          </a:prstGeom>
          <a:solidFill>
            <a:srgbClr val="D9D3C5"/>
          </a:solidFill>
          <a:ln/>
        </p:spPr>
        <p:txBody>
          <a:bodyPr/>
          <a:lstStyle/>
          <a:p>
            <a:endParaRPr lang="en-US"/>
          </a:p>
        </p:txBody>
      </p:sp>
      <p:sp>
        <p:nvSpPr>
          <p:cNvPr id="12" name="Text 10"/>
          <p:cNvSpPr/>
          <p:nvPr/>
        </p:nvSpPr>
        <p:spPr>
          <a:xfrm>
            <a:off x="952500" y="4876800"/>
            <a:ext cx="2570262"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165" dirty="0">
                <a:solidFill>
                  <a:srgbClr val="807C76"/>
                </a:solidFill>
                <a:latin typeface="Courier New" pitchFamily="34" charset="0"/>
                <a:ea typeface="Courier New" pitchFamily="34" charset="-122"/>
                <a:cs typeface="Courier New" pitchFamily="34" charset="-120"/>
              </a:rPr>
              <a:t>FREQUENT ITEMSETS</a:t>
            </a:r>
            <a:endParaRPr lang="en-US" sz="1650" dirty="0"/>
          </a:p>
        </p:txBody>
      </p:sp>
      <p:sp>
        <p:nvSpPr>
          <p:cNvPr id="13" name="Text 11"/>
          <p:cNvSpPr/>
          <p:nvPr/>
        </p:nvSpPr>
        <p:spPr>
          <a:xfrm>
            <a:off x="5301407" y="4733925"/>
            <a:ext cx="1793974"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189</a:t>
            </a:r>
            <a:endParaRPr lang="en-US" sz="2400" dirty="0"/>
          </a:p>
        </p:txBody>
      </p:sp>
      <p:sp>
        <p:nvSpPr>
          <p:cNvPr id="14" name="Shape 12"/>
          <p:cNvSpPr/>
          <p:nvPr/>
        </p:nvSpPr>
        <p:spPr>
          <a:xfrm>
            <a:off x="952500" y="6019800"/>
            <a:ext cx="6066681" cy="9525"/>
          </a:xfrm>
          <a:prstGeom prst="rect">
            <a:avLst/>
          </a:prstGeom>
          <a:solidFill>
            <a:srgbClr val="D9D3C5"/>
          </a:solidFill>
          <a:ln/>
        </p:spPr>
        <p:txBody>
          <a:bodyPr/>
          <a:lstStyle/>
          <a:p>
            <a:endParaRPr lang="en-US"/>
          </a:p>
        </p:txBody>
      </p:sp>
      <p:sp>
        <p:nvSpPr>
          <p:cNvPr id="15" name="Text 13"/>
          <p:cNvSpPr/>
          <p:nvPr/>
        </p:nvSpPr>
        <p:spPr>
          <a:xfrm>
            <a:off x="952500" y="5610225"/>
            <a:ext cx="1690092"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165" dirty="0">
                <a:solidFill>
                  <a:srgbClr val="807C76"/>
                </a:solidFill>
                <a:latin typeface="Courier New" pitchFamily="34" charset="0"/>
                <a:ea typeface="Courier New" pitchFamily="34" charset="-122"/>
                <a:cs typeface="Courier New" pitchFamily="34" charset="-120"/>
              </a:rPr>
              <a:t>TOTAL RULES</a:t>
            </a:r>
            <a:endParaRPr lang="en-US" sz="1650" dirty="0"/>
          </a:p>
        </p:txBody>
      </p:sp>
      <p:sp>
        <p:nvSpPr>
          <p:cNvPr id="16" name="Text 14"/>
          <p:cNvSpPr/>
          <p:nvPr/>
        </p:nvSpPr>
        <p:spPr>
          <a:xfrm>
            <a:off x="5301407" y="5467350"/>
            <a:ext cx="1793974"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334</a:t>
            </a:r>
            <a:endParaRPr lang="en-US" sz="2400" dirty="0"/>
          </a:p>
        </p:txBody>
      </p:sp>
      <p:sp>
        <p:nvSpPr>
          <p:cNvPr id="17" name="Shape 15"/>
          <p:cNvSpPr/>
          <p:nvPr/>
        </p:nvSpPr>
        <p:spPr>
          <a:xfrm>
            <a:off x="952500" y="6753225"/>
            <a:ext cx="6066681" cy="9525"/>
          </a:xfrm>
          <a:prstGeom prst="rect">
            <a:avLst/>
          </a:prstGeom>
          <a:solidFill>
            <a:srgbClr val="D9D3C5"/>
          </a:solidFill>
          <a:ln/>
        </p:spPr>
        <p:txBody>
          <a:bodyPr/>
          <a:lstStyle/>
          <a:p>
            <a:endParaRPr lang="en-US"/>
          </a:p>
        </p:txBody>
      </p:sp>
      <p:sp>
        <p:nvSpPr>
          <p:cNvPr id="18" name="Text 16"/>
          <p:cNvSpPr/>
          <p:nvPr/>
        </p:nvSpPr>
        <p:spPr>
          <a:xfrm>
            <a:off x="952500" y="6343650"/>
            <a:ext cx="1836688"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165" dirty="0">
                <a:solidFill>
                  <a:srgbClr val="807C76"/>
                </a:solidFill>
                <a:latin typeface="Courier New" pitchFamily="34" charset="0"/>
                <a:ea typeface="Courier New" pitchFamily="34" charset="-122"/>
                <a:cs typeface="Courier New" pitchFamily="34" charset="-120"/>
              </a:rPr>
              <a:t>TARGET RULES</a:t>
            </a:r>
            <a:endParaRPr lang="en-US" sz="1650" dirty="0"/>
          </a:p>
        </p:txBody>
      </p:sp>
      <p:sp>
        <p:nvSpPr>
          <p:cNvPr id="19" name="Text 17"/>
          <p:cNvSpPr/>
          <p:nvPr/>
        </p:nvSpPr>
        <p:spPr>
          <a:xfrm>
            <a:off x="5301408" y="6200775"/>
            <a:ext cx="1793974"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85</a:t>
            </a:r>
            <a:endParaRPr lang="en-US" sz="2400" dirty="0"/>
          </a:p>
        </p:txBody>
      </p:sp>
      <p:sp>
        <p:nvSpPr>
          <p:cNvPr id="20" name="Shape 18"/>
          <p:cNvSpPr/>
          <p:nvPr/>
        </p:nvSpPr>
        <p:spPr>
          <a:xfrm>
            <a:off x="7628781" y="2543175"/>
            <a:ext cx="4199334" cy="19050"/>
          </a:xfrm>
          <a:prstGeom prst="rect">
            <a:avLst/>
          </a:prstGeom>
          <a:solidFill>
            <a:srgbClr val="1C1B1A"/>
          </a:solidFill>
          <a:ln/>
        </p:spPr>
        <p:txBody>
          <a:bodyPr/>
          <a:lstStyle/>
          <a:p>
            <a:endParaRPr lang="en-US"/>
          </a:p>
        </p:txBody>
      </p:sp>
      <p:sp>
        <p:nvSpPr>
          <p:cNvPr id="21" name="Text 19"/>
          <p:cNvSpPr/>
          <p:nvPr/>
        </p:nvSpPr>
        <p:spPr>
          <a:xfrm>
            <a:off x="7838331" y="1876425"/>
            <a:ext cx="3906214" cy="533400"/>
          </a:xfrm>
          <a:prstGeom prst="rect">
            <a:avLst/>
          </a:prstGeom>
          <a:noFill/>
          <a:ln/>
        </p:spPr>
        <p:txBody>
          <a:bodyPr wrap="square" lIns="25400" tIns="25400" rIns="25400" bIns="25400" rtlCol="0" anchor="ctr">
            <a:normAutofit/>
          </a:bodyPr>
          <a:lstStyle/>
          <a:p>
            <a:pPr marL="0" indent="0" algn="l">
              <a:buNone/>
            </a:pPr>
            <a:r>
              <a:rPr lang="en-US" sz="1650" b="1" kern="0" spc="165" dirty="0">
                <a:solidFill>
                  <a:srgbClr val="807C76"/>
                </a:solidFill>
                <a:latin typeface="Arial" pitchFamily="34" charset="0"/>
                <a:ea typeface="Arial" pitchFamily="34" charset="-122"/>
                <a:cs typeface="Arial" pitchFamily="34" charset="-120"/>
              </a:rPr>
              <a:t>ANTECEDENT</a:t>
            </a:r>
            <a:endParaRPr lang="en-US" sz="1650" dirty="0"/>
          </a:p>
        </p:txBody>
      </p:sp>
      <p:sp>
        <p:nvSpPr>
          <p:cNvPr id="22" name="Shape 20"/>
          <p:cNvSpPr/>
          <p:nvPr/>
        </p:nvSpPr>
        <p:spPr>
          <a:xfrm>
            <a:off x="11828115" y="2543175"/>
            <a:ext cx="2136874" cy="19050"/>
          </a:xfrm>
          <a:prstGeom prst="rect">
            <a:avLst/>
          </a:prstGeom>
          <a:solidFill>
            <a:srgbClr val="1C1B1A"/>
          </a:solidFill>
          <a:ln/>
        </p:spPr>
        <p:txBody>
          <a:bodyPr/>
          <a:lstStyle/>
          <a:p>
            <a:endParaRPr lang="en-US"/>
          </a:p>
        </p:txBody>
      </p:sp>
      <p:sp>
        <p:nvSpPr>
          <p:cNvPr id="23" name="Text 21"/>
          <p:cNvSpPr/>
          <p:nvPr/>
        </p:nvSpPr>
        <p:spPr>
          <a:xfrm>
            <a:off x="12037665" y="1876425"/>
            <a:ext cx="1793974" cy="533400"/>
          </a:xfrm>
          <a:prstGeom prst="rect">
            <a:avLst/>
          </a:prstGeom>
          <a:noFill/>
          <a:ln/>
        </p:spPr>
        <p:txBody>
          <a:bodyPr wrap="square" lIns="25400" tIns="25400" rIns="25400" bIns="25400" rtlCol="0" anchor="ctr">
            <a:normAutofit lnSpcReduction="10000"/>
          </a:bodyPr>
          <a:lstStyle/>
          <a:p>
            <a:pPr marL="0" indent="0" algn="l">
              <a:buNone/>
            </a:pPr>
            <a:r>
              <a:rPr lang="en-US" sz="1650" b="1" kern="0" spc="165" dirty="0">
                <a:solidFill>
                  <a:srgbClr val="807C76"/>
                </a:solidFill>
                <a:latin typeface="Arial" pitchFamily="34" charset="0"/>
                <a:ea typeface="Arial" pitchFamily="34" charset="-122"/>
                <a:cs typeface="Arial" pitchFamily="34" charset="-120"/>
              </a:rPr>
              <a:t>→ CONSEQUENT</a:t>
            </a:r>
            <a:endParaRPr lang="en-US" sz="1650" dirty="0"/>
          </a:p>
        </p:txBody>
      </p:sp>
      <p:sp>
        <p:nvSpPr>
          <p:cNvPr id="24" name="Shape 22"/>
          <p:cNvSpPr/>
          <p:nvPr/>
        </p:nvSpPr>
        <p:spPr>
          <a:xfrm>
            <a:off x="13964989" y="2543175"/>
            <a:ext cx="1181100" cy="19050"/>
          </a:xfrm>
          <a:prstGeom prst="rect">
            <a:avLst/>
          </a:prstGeom>
          <a:solidFill>
            <a:srgbClr val="1C1B1A"/>
          </a:solidFill>
          <a:ln/>
        </p:spPr>
        <p:txBody>
          <a:bodyPr/>
          <a:lstStyle/>
          <a:p>
            <a:endParaRPr lang="en-US"/>
          </a:p>
        </p:txBody>
      </p:sp>
      <p:sp>
        <p:nvSpPr>
          <p:cNvPr id="25" name="Text 23"/>
          <p:cNvSpPr/>
          <p:nvPr/>
        </p:nvSpPr>
        <p:spPr>
          <a:xfrm>
            <a:off x="14098339" y="1876425"/>
            <a:ext cx="838200" cy="533400"/>
          </a:xfrm>
          <a:prstGeom prst="rect">
            <a:avLst/>
          </a:prstGeom>
          <a:noFill/>
          <a:ln/>
        </p:spPr>
        <p:txBody>
          <a:bodyPr wrap="square" lIns="25400" tIns="25400" rIns="25400" bIns="25400" rtlCol="0" anchor="ctr">
            <a:normAutofit/>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SUP.</a:t>
            </a:r>
            <a:endParaRPr lang="en-US" sz="1650" dirty="0"/>
          </a:p>
        </p:txBody>
      </p:sp>
      <p:sp>
        <p:nvSpPr>
          <p:cNvPr id="26" name="Shape 24"/>
          <p:cNvSpPr/>
          <p:nvPr/>
        </p:nvSpPr>
        <p:spPr>
          <a:xfrm>
            <a:off x="15146089" y="2543175"/>
            <a:ext cx="1181100" cy="19050"/>
          </a:xfrm>
          <a:prstGeom prst="rect">
            <a:avLst/>
          </a:prstGeom>
          <a:solidFill>
            <a:srgbClr val="1C1B1A"/>
          </a:solidFill>
          <a:ln/>
        </p:spPr>
        <p:txBody>
          <a:bodyPr/>
          <a:lstStyle/>
          <a:p>
            <a:endParaRPr lang="en-US"/>
          </a:p>
        </p:txBody>
      </p:sp>
      <p:sp>
        <p:nvSpPr>
          <p:cNvPr id="27" name="Text 25"/>
          <p:cNvSpPr/>
          <p:nvPr/>
        </p:nvSpPr>
        <p:spPr>
          <a:xfrm>
            <a:off x="15279439" y="1876425"/>
            <a:ext cx="838200" cy="533400"/>
          </a:xfrm>
          <a:prstGeom prst="rect">
            <a:avLst/>
          </a:prstGeom>
          <a:noFill/>
          <a:ln/>
        </p:spPr>
        <p:txBody>
          <a:bodyPr wrap="square" lIns="25400" tIns="25400" rIns="25400" bIns="25400" rtlCol="0" anchor="ctr">
            <a:normAutofit/>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CONF.</a:t>
            </a:r>
            <a:endParaRPr lang="en-US" sz="1650" dirty="0"/>
          </a:p>
        </p:txBody>
      </p:sp>
      <p:sp>
        <p:nvSpPr>
          <p:cNvPr id="28" name="Shape 26"/>
          <p:cNvSpPr/>
          <p:nvPr/>
        </p:nvSpPr>
        <p:spPr>
          <a:xfrm>
            <a:off x="16327189" y="2543175"/>
            <a:ext cx="1008459" cy="19050"/>
          </a:xfrm>
          <a:prstGeom prst="rect">
            <a:avLst/>
          </a:prstGeom>
          <a:solidFill>
            <a:srgbClr val="1C1B1A"/>
          </a:solidFill>
          <a:ln/>
        </p:spPr>
        <p:txBody>
          <a:bodyPr/>
          <a:lstStyle/>
          <a:p>
            <a:endParaRPr lang="en-US"/>
          </a:p>
        </p:txBody>
      </p:sp>
      <p:sp>
        <p:nvSpPr>
          <p:cNvPr id="29" name="Text 27"/>
          <p:cNvSpPr/>
          <p:nvPr/>
        </p:nvSpPr>
        <p:spPr>
          <a:xfrm>
            <a:off x="16460539" y="1876425"/>
            <a:ext cx="665559" cy="533400"/>
          </a:xfrm>
          <a:prstGeom prst="rect">
            <a:avLst/>
          </a:prstGeom>
          <a:noFill/>
          <a:ln/>
        </p:spPr>
        <p:txBody>
          <a:bodyPr wrap="square" lIns="25400" tIns="25400" rIns="25400" bIns="25400" rtlCol="0" anchor="ctr">
            <a:normAutofit/>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LIFT</a:t>
            </a:r>
            <a:endParaRPr lang="en-US" sz="1650" dirty="0"/>
          </a:p>
        </p:txBody>
      </p:sp>
      <p:sp>
        <p:nvSpPr>
          <p:cNvPr id="30" name="Shape 28"/>
          <p:cNvSpPr/>
          <p:nvPr/>
        </p:nvSpPr>
        <p:spPr>
          <a:xfrm>
            <a:off x="7628781" y="2562225"/>
            <a:ext cx="4199334" cy="681038"/>
          </a:xfrm>
          <a:prstGeom prst="rect">
            <a:avLst/>
          </a:prstGeom>
          <a:solidFill>
            <a:srgbClr val="1D9E75">
              <a:alpha val="8000"/>
            </a:srgbClr>
          </a:solidFill>
          <a:ln/>
        </p:spPr>
        <p:txBody>
          <a:bodyPr/>
          <a:lstStyle/>
          <a:p>
            <a:endParaRPr lang="en-US"/>
          </a:p>
        </p:txBody>
      </p:sp>
      <p:sp>
        <p:nvSpPr>
          <p:cNvPr id="31" name="Shape 29"/>
          <p:cNvSpPr/>
          <p:nvPr/>
        </p:nvSpPr>
        <p:spPr>
          <a:xfrm>
            <a:off x="7628781" y="3233738"/>
            <a:ext cx="4199334" cy="9525"/>
          </a:xfrm>
          <a:prstGeom prst="rect">
            <a:avLst/>
          </a:prstGeom>
          <a:solidFill>
            <a:srgbClr val="D9D3C5"/>
          </a:solidFill>
          <a:ln/>
        </p:spPr>
        <p:txBody>
          <a:bodyPr/>
          <a:lstStyle/>
          <a:p>
            <a:endParaRPr lang="en-US"/>
          </a:p>
        </p:txBody>
      </p:sp>
      <p:sp>
        <p:nvSpPr>
          <p:cNvPr id="32" name="Text 30"/>
          <p:cNvSpPr/>
          <p:nvPr/>
        </p:nvSpPr>
        <p:spPr>
          <a:xfrm>
            <a:off x="7838331" y="2733675"/>
            <a:ext cx="3906214" cy="366712"/>
          </a:xfrm>
          <a:prstGeom prst="rect">
            <a:avLst/>
          </a:prstGeom>
          <a:noFill/>
          <a:ln/>
        </p:spPr>
        <p:txBody>
          <a:bodyPr wrap="square" lIns="25400" tIns="25400" rIns="25400" bIns="25400" rtlCol="0" anchor="ctr">
            <a:normAutofit/>
          </a:bodyPr>
          <a:lstStyle/>
          <a:p>
            <a:pPr marL="0" indent="0" algn="l">
              <a:buNone/>
            </a:pPr>
            <a:r>
              <a:rPr lang="en-US" sz="1650" b="1" dirty="0">
                <a:solidFill>
                  <a:srgbClr val="1C1B1A"/>
                </a:solidFill>
                <a:latin typeface="Courier New" pitchFamily="34" charset="0"/>
                <a:ea typeface="Courier New" pitchFamily="34" charset="-122"/>
                <a:cs typeface="Courier New" pitchFamily="34" charset="-120"/>
              </a:rPr>
              <a:t>CU1_Low + Age_Mid</a:t>
            </a:r>
            <a:endParaRPr lang="en-US" sz="1650" dirty="0"/>
          </a:p>
        </p:txBody>
      </p:sp>
      <p:sp>
        <p:nvSpPr>
          <p:cNvPr id="33" name="Shape 31"/>
          <p:cNvSpPr/>
          <p:nvPr/>
        </p:nvSpPr>
        <p:spPr>
          <a:xfrm>
            <a:off x="11828115" y="2562225"/>
            <a:ext cx="2136874" cy="681038"/>
          </a:xfrm>
          <a:prstGeom prst="rect">
            <a:avLst/>
          </a:prstGeom>
          <a:solidFill>
            <a:srgbClr val="1D9E75">
              <a:alpha val="8000"/>
            </a:srgbClr>
          </a:solidFill>
          <a:ln/>
        </p:spPr>
        <p:txBody>
          <a:bodyPr/>
          <a:lstStyle/>
          <a:p>
            <a:endParaRPr lang="en-US"/>
          </a:p>
        </p:txBody>
      </p:sp>
      <p:sp>
        <p:nvSpPr>
          <p:cNvPr id="34" name="Shape 32"/>
          <p:cNvSpPr/>
          <p:nvPr/>
        </p:nvSpPr>
        <p:spPr>
          <a:xfrm>
            <a:off x="11828115" y="3233738"/>
            <a:ext cx="2136874" cy="9525"/>
          </a:xfrm>
          <a:prstGeom prst="rect">
            <a:avLst/>
          </a:prstGeom>
          <a:solidFill>
            <a:srgbClr val="D9D3C5"/>
          </a:solidFill>
          <a:ln/>
        </p:spPr>
        <p:txBody>
          <a:bodyPr/>
          <a:lstStyle/>
          <a:p>
            <a:endParaRPr lang="en-US"/>
          </a:p>
        </p:txBody>
      </p:sp>
      <p:sp>
        <p:nvSpPr>
          <p:cNvPr id="35" name="Text 33"/>
          <p:cNvSpPr/>
          <p:nvPr/>
        </p:nvSpPr>
        <p:spPr>
          <a:xfrm>
            <a:off x="12037665" y="2733675"/>
            <a:ext cx="1793974" cy="366712"/>
          </a:xfrm>
          <a:prstGeom prst="rect">
            <a:avLst/>
          </a:prstGeom>
          <a:noFill/>
          <a:ln/>
        </p:spPr>
        <p:txBody>
          <a:bodyPr wrap="square" lIns="25400" tIns="25400" rIns="25400" bIns="25400" rtlCol="0" anchor="ctr">
            <a:normAutofit/>
          </a:bodyPr>
          <a:lstStyle/>
          <a:p>
            <a:pPr marL="0" indent="0" algn="l">
              <a:buNone/>
            </a:pPr>
            <a:r>
              <a:rPr lang="en-US" sz="1650" b="1" dirty="0">
                <a:solidFill>
                  <a:srgbClr val="E24B4A"/>
                </a:solidFill>
                <a:latin typeface="Courier New" pitchFamily="34" charset="0"/>
                <a:ea typeface="Courier New" pitchFamily="34" charset="-122"/>
                <a:cs typeface="Courier New" pitchFamily="34" charset="-120"/>
              </a:rPr>
              <a:t>Dropout</a:t>
            </a:r>
            <a:endParaRPr lang="en-US" sz="1650" dirty="0"/>
          </a:p>
        </p:txBody>
      </p:sp>
      <p:sp>
        <p:nvSpPr>
          <p:cNvPr id="36" name="Shape 34"/>
          <p:cNvSpPr/>
          <p:nvPr/>
        </p:nvSpPr>
        <p:spPr>
          <a:xfrm>
            <a:off x="13964989" y="2562225"/>
            <a:ext cx="1181100" cy="681038"/>
          </a:xfrm>
          <a:prstGeom prst="rect">
            <a:avLst/>
          </a:prstGeom>
          <a:solidFill>
            <a:srgbClr val="1D9E75">
              <a:alpha val="8000"/>
            </a:srgbClr>
          </a:solidFill>
          <a:ln/>
        </p:spPr>
        <p:txBody>
          <a:bodyPr/>
          <a:lstStyle/>
          <a:p>
            <a:endParaRPr lang="en-US"/>
          </a:p>
        </p:txBody>
      </p:sp>
      <p:sp>
        <p:nvSpPr>
          <p:cNvPr id="37" name="Shape 35"/>
          <p:cNvSpPr/>
          <p:nvPr/>
        </p:nvSpPr>
        <p:spPr>
          <a:xfrm>
            <a:off x="13964989" y="3233738"/>
            <a:ext cx="1181100" cy="9525"/>
          </a:xfrm>
          <a:prstGeom prst="rect">
            <a:avLst/>
          </a:prstGeom>
          <a:solidFill>
            <a:srgbClr val="D9D3C5"/>
          </a:solidFill>
          <a:ln/>
        </p:spPr>
        <p:txBody>
          <a:bodyPr/>
          <a:lstStyle/>
          <a:p>
            <a:endParaRPr lang="en-US"/>
          </a:p>
        </p:txBody>
      </p:sp>
      <p:sp>
        <p:nvSpPr>
          <p:cNvPr id="38" name="Text 36"/>
          <p:cNvSpPr/>
          <p:nvPr/>
        </p:nvSpPr>
        <p:spPr>
          <a:xfrm>
            <a:off x="14098339" y="2733675"/>
            <a:ext cx="838200" cy="366712"/>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0.058</a:t>
            </a:r>
            <a:endParaRPr lang="en-US" sz="2100" dirty="0"/>
          </a:p>
        </p:txBody>
      </p:sp>
      <p:sp>
        <p:nvSpPr>
          <p:cNvPr id="39" name="Shape 37"/>
          <p:cNvSpPr/>
          <p:nvPr/>
        </p:nvSpPr>
        <p:spPr>
          <a:xfrm>
            <a:off x="15146089" y="2562225"/>
            <a:ext cx="1181100" cy="681038"/>
          </a:xfrm>
          <a:prstGeom prst="rect">
            <a:avLst/>
          </a:prstGeom>
          <a:solidFill>
            <a:srgbClr val="1D9E75">
              <a:alpha val="8000"/>
            </a:srgbClr>
          </a:solidFill>
          <a:ln/>
        </p:spPr>
        <p:txBody>
          <a:bodyPr/>
          <a:lstStyle/>
          <a:p>
            <a:endParaRPr lang="en-US"/>
          </a:p>
        </p:txBody>
      </p:sp>
      <p:sp>
        <p:nvSpPr>
          <p:cNvPr id="40" name="Shape 38"/>
          <p:cNvSpPr/>
          <p:nvPr/>
        </p:nvSpPr>
        <p:spPr>
          <a:xfrm>
            <a:off x="15146089" y="3233738"/>
            <a:ext cx="1181100" cy="9525"/>
          </a:xfrm>
          <a:prstGeom prst="rect">
            <a:avLst/>
          </a:prstGeom>
          <a:solidFill>
            <a:srgbClr val="D9D3C5"/>
          </a:solidFill>
          <a:ln/>
        </p:spPr>
        <p:txBody>
          <a:bodyPr/>
          <a:lstStyle/>
          <a:p>
            <a:endParaRPr lang="en-US"/>
          </a:p>
        </p:txBody>
      </p:sp>
      <p:sp>
        <p:nvSpPr>
          <p:cNvPr id="41" name="Text 39"/>
          <p:cNvSpPr/>
          <p:nvPr/>
        </p:nvSpPr>
        <p:spPr>
          <a:xfrm>
            <a:off x="15279439" y="2733675"/>
            <a:ext cx="838200" cy="366712"/>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0.874</a:t>
            </a:r>
            <a:endParaRPr lang="en-US" sz="2100" dirty="0"/>
          </a:p>
        </p:txBody>
      </p:sp>
      <p:sp>
        <p:nvSpPr>
          <p:cNvPr id="42" name="Shape 40"/>
          <p:cNvSpPr/>
          <p:nvPr/>
        </p:nvSpPr>
        <p:spPr>
          <a:xfrm>
            <a:off x="16327189" y="2562225"/>
            <a:ext cx="1008459" cy="681038"/>
          </a:xfrm>
          <a:prstGeom prst="rect">
            <a:avLst/>
          </a:prstGeom>
          <a:solidFill>
            <a:srgbClr val="1D9E75">
              <a:alpha val="8000"/>
            </a:srgbClr>
          </a:solidFill>
          <a:ln/>
        </p:spPr>
        <p:txBody>
          <a:bodyPr/>
          <a:lstStyle/>
          <a:p>
            <a:endParaRPr lang="en-US"/>
          </a:p>
        </p:txBody>
      </p:sp>
      <p:sp>
        <p:nvSpPr>
          <p:cNvPr id="43" name="Shape 41"/>
          <p:cNvSpPr/>
          <p:nvPr/>
        </p:nvSpPr>
        <p:spPr>
          <a:xfrm>
            <a:off x="16327189" y="3233738"/>
            <a:ext cx="1008459" cy="9525"/>
          </a:xfrm>
          <a:prstGeom prst="rect">
            <a:avLst/>
          </a:prstGeom>
          <a:solidFill>
            <a:srgbClr val="D9D3C5"/>
          </a:solidFill>
          <a:ln/>
        </p:spPr>
        <p:txBody>
          <a:bodyPr/>
          <a:lstStyle/>
          <a:p>
            <a:endParaRPr lang="en-US"/>
          </a:p>
        </p:txBody>
      </p:sp>
      <p:sp>
        <p:nvSpPr>
          <p:cNvPr id="44" name="Text 42"/>
          <p:cNvSpPr/>
          <p:nvPr/>
        </p:nvSpPr>
        <p:spPr>
          <a:xfrm>
            <a:off x="16460539" y="2733675"/>
            <a:ext cx="665559" cy="366712"/>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2.72</a:t>
            </a:r>
            <a:endParaRPr lang="en-US" sz="2100" dirty="0"/>
          </a:p>
        </p:txBody>
      </p:sp>
      <p:sp>
        <p:nvSpPr>
          <p:cNvPr id="45" name="Shape 43"/>
          <p:cNvSpPr/>
          <p:nvPr/>
        </p:nvSpPr>
        <p:spPr>
          <a:xfrm>
            <a:off x="7628781" y="3910013"/>
            <a:ext cx="4199334" cy="9525"/>
          </a:xfrm>
          <a:prstGeom prst="rect">
            <a:avLst/>
          </a:prstGeom>
          <a:solidFill>
            <a:srgbClr val="D9D3C5"/>
          </a:solidFill>
          <a:ln/>
        </p:spPr>
        <p:txBody>
          <a:bodyPr/>
          <a:lstStyle/>
          <a:p>
            <a:endParaRPr lang="en-US"/>
          </a:p>
        </p:txBody>
      </p:sp>
      <p:sp>
        <p:nvSpPr>
          <p:cNvPr id="46" name="Text 44"/>
          <p:cNvSpPr/>
          <p:nvPr/>
        </p:nvSpPr>
        <p:spPr>
          <a:xfrm>
            <a:off x="7838331" y="3414713"/>
            <a:ext cx="3906214" cy="361950"/>
          </a:xfrm>
          <a:prstGeom prst="rect">
            <a:avLst/>
          </a:prstGeom>
          <a:noFill/>
          <a:ln/>
        </p:spPr>
        <p:txBody>
          <a:bodyPr wrap="square" lIns="25400" tIns="25400" rIns="25400" bIns="25400" rtlCol="0" anchor="ctr">
            <a:normAutofit/>
          </a:bodyPr>
          <a:lstStyle/>
          <a:p>
            <a:pPr marL="0" indent="0" algn="l">
              <a:buNone/>
            </a:pPr>
            <a:r>
              <a:rPr lang="en-US" sz="1650" dirty="0">
                <a:solidFill>
                  <a:srgbClr val="1C1B1A"/>
                </a:solidFill>
                <a:latin typeface="Courier New" pitchFamily="34" charset="0"/>
                <a:ea typeface="Courier New" pitchFamily="34" charset="-122"/>
                <a:cs typeface="Courier New" pitchFamily="34" charset="-120"/>
              </a:rPr>
              <a:t>AdmGrade_Low + CU1_Low</a:t>
            </a:r>
            <a:endParaRPr lang="en-US" sz="1650" dirty="0"/>
          </a:p>
        </p:txBody>
      </p:sp>
      <p:sp>
        <p:nvSpPr>
          <p:cNvPr id="47" name="Shape 45"/>
          <p:cNvSpPr/>
          <p:nvPr/>
        </p:nvSpPr>
        <p:spPr>
          <a:xfrm>
            <a:off x="11828115" y="3910013"/>
            <a:ext cx="2136874" cy="9525"/>
          </a:xfrm>
          <a:prstGeom prst="rect">
            <a:avLst/>
          </a:prstGeom>
          <a:solidFill>
            <a:srgbClr val="D9D3C5"/>
          </a:solidFill>
          <a:ln/>
        </p:spPr>
        <p:txBody>
          <a:bodyPr/>
          <a:lstStyle/>
          <a:p>
            <a:endParaRPr lang="en-US"/>
          </a:p>
        </p:txBody>
      </p:sp>
      <p:sp>
        <p:nvSpPr>
          <p:cNvPr id="48" name="Text 46"/>
          <p:cNvSpPr/>
          <p:nvPr/>
        </p:nvSpPr>
        <p:spPr>
          <a:xfrm>
            <a:off x="12037665" y="3414713"/>
            <a:ext cx="1793974" cy="361950"/>
          </a:xfrm>
          <a:prstGeom prst="rect">
            <a:avLst/>
          </a:prstGeom>
          <a:noFill/>
          <a:ln/>
        </p:spPr>
        <p:txBody>
          <a:bodyPr wrap="square" lIns="25400" tIns="25400" rIns="25400" bIns="25400" rtlCol="0" anchor="ctr">
            <a:normAutofit/>
          </a:bodyPr>
          <a:lstStyle/>
          <a:p>
            <a:pPr marL="0" indent="0" algn="l">
              <a:buNone/>
            </a:pPr>
            <a:r>
              <a:rPr lang="en-US" sz="1650" b="1" dirty="0">
                <a:solidFill>
                  <a:srgbClr val="E24B4A"/>
                </a:solidFill>
                <a:latin typeface="Courier New" pitchFamily="34" charset="0"/>
                <a:ea typeface="Courier New" pitchFamily="34" charset="-122"/>
                <a:cs typeface="Courier New" pitchFamily="34" charset="-120"/>
              </a:rPr>
              <a:t>Dropout</a:t>
            </a:r>
            <a:endParaRPr lang="en-US" sz="1650" dirty="0"/>
          </a:p>
        </p:txBody>
      </p:sp>
      <p:sp>
        <p:nvSpPr>
          <p:cNvPr id="49" name="Shape 47"/>
          <p:cNvSpPr/>
          <p:nvPr/>
        </p:nvSpPr>
        <p:spPr>
          <a:xfrm>
            <a:off x="13964989" y="3910013"/>
            <a:ext cx="1181100" cy="9525"/>
          </a:xfrm>
          <a:prstGeom prst="rect">
            <a:avLst/>
          </a:prstGeom>
          <a:solidFill>
            <a:srgbClr val="D9D3C5"/>
          </a:solidFill>
          <a:ln/>
        </p:spPr>
        <p:txBody>
          <a:bodyPr/>
          <a:lstStyle/>
          <a:p>
            <a:endParaRPr lang="en-US"/>
          </a:p>
        </p:txBody>
      </p:sp>
      <p:sp>
        <p:nvSpPr>
          <p:cNvPr id="50" name="Text 48"/>
          <p:cNvSpPr/>
          <p:nvPr/>
        </p:nvSpPr>
        <p:spPr>
          <a:xfrm>
            <a:off x="14098339" y="3414713"/>
            <a:ext cx="83820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0.069</a:t>
            </a:r>
            <a:endParaRPr lang="en-US" sz="2100" dirty="0"/>
          </a:p>
        </p:txBody>
      </p:sp>
      <p:sp>
        <p:nvSpPr>
          <p:cNvPr id="51" name="Shape 49"/>
          <p:cNvSpPr/>
          <p:nvPr/>
        </p:nvSpPr>
        <p:spPr>
          <a:xfrm>
            <a:off x="15146089" y="3910013"/>
            <a:ext cx="1181100" cy="9525"/>
          </a:xfrm>
          <a:prstGeom prst="rect">
            <a:avLst/>
          </a:prstGeom>
          <a:solidFill>
            <a:srgbClr val="D9D3C5"/>
          </a:solidFill>
          <a:ln/>
        </p:spPr>
        <p:txBody>
          <a:bodyPr/>
          <a:lstStyle/>
          <a:p>
            <a:endParaRPr lang="en-US"/>
          </a:p>
        </p:txBody>
      </p:sp>
      <p:sp>
        <p:nvSpPr>
          <p:cNvPr id="52" name="Text 50"/>
          <p:cNvSpPr/>
          <p:nvPr/>
        </p:nvSpPr>
        <p:spPr>
          <a:xfrm>
            <a:off x="15279439" y="3414713"/>
            <a:ext cx="83820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0.860</a:t>
            </a:r>
            <a:endParaRPr lang="en-US" sz="2100" dirty="0"/>
          </a:p>
        </p:txBody>
      </p:sp>
      <p:sp>
        <p:nvSpPr>
          <p:cNvPr id="53" name="Shape 51"/>
          <p:cNvSpPr/>
          <p:nvPr/>
        </p:nvSpPr>
        <p:spPr>
          <a:xfrm>
            <a:off x="16327189" y="3910013"/>
            <a:ext cx="1008459" cy="9525"/>
          </a:xfrm>
          <a:prstGeom prst="rect">
            <a:avLst/>
          </a:prstGeom>
          <a:solidFill>
            <a:srgbClr val="D9D3C5"/>
          </a:solidFill>
          <a:ln/>
        </p:spPr>
        <p:txBody>
          <a:bodyPr/>
          <a:lstStyle/>
          <a:p>
            <a:endParaRPr lang="en-US"/>
          </a:p>
        </p:txBody>
      </p:sp>
      <p:sp>
        <p:nvSpPr>
          <p:cNvPr id="54" name="Text 52"/>
          <p:cNvSpPr/>
          <p:nvPr/>
        </p:nvSpPr>
        <p:spPr>
          <a:xfrm>
            <a:off x="16460539" y="3414713"/>
            <a:ext cx="665559" cy="361950"/>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2.68</a:t>
            </a:r>
            <a:endParaRPr lang="en-US" sz="2100" dirty="0"/>
          </a:p>
        </p:txBody>
      </p:sp>
      <p:sp>
        <p:nvSpPr>
          <p:cNvPr id="55" name="Shape 53"/>
          <p:cNvSpPr/>
          <p:nvPr/>
        </p:nvSpPr>
        <p:spPr>
          <a:xfrm>
            <a:off x="7628781" y="4586288"/>
            <a:ext cx="4199334" cy="9525"/>
          </a:xfrm>
          <a:prstGeom prst="rect">
            <a:avLst/>
          </a:prstGeom>
          <a:solidFill>
            <a:srgbClr val="D9D3C5"/>
          </a:solidFill>
          <a:ln/>
        </p:spPr>
        <p:txBody>
          <a:bodyPr/>
          <a:lstStyle/>
          <a:p>
            <a:endParaRPr lang="en-US"/>
          </a:p>
        </p:txBody>
      </p:sp>
      <p:sp>
        <p:nvSpPr>
          <p:cNvPr id="56" name="Text 54"/>
          <p:cNvSpPr/>
          <p:nvPr/>
        </p:nvSpPr>
        <p:spPr>
          <a:xfrm>
            <a:off x="7838331" y="4090987"/>
            <a:ext cx="3906214" cy="361950"/>
          </a:xfrm>
          <a:prstGeom prst="rect">
            <a:avLst/>
          </a:prstGeom>
          <a:noFill/>
          <a:ln/>
        </p:spPr>
        <p:txBody>
          <a:bodyPr wrap="square" lIns="25400" tIns="25400" rIns="25400" bIns="25400" rtlCol="0" anchor="ctr">
            <a:normAutofit/>
          </a:bodyPr>
          <a:lstStyle/>
          <a:p>
            <a:pPr marL="0" indent="0" algn="l">
              <a:buNone/>
            </a:pPr>
            <a:r>
              <a:rPr lang="en-US" sz="1650" dirty="0">
                <a:solidFill>
                  <a:srgbClr val="1C1B1A"/>
                </a:solidFill>
                <a:latin typeface="Courier New" pitchFamily="34" charset="0"/>
                <a:ea typeface="Courier New" pitchFamily="34" charset="-122"/>
                <a:cs typeface="Courier New" pitchFamily="34" charset="-120"/>
              </a:rPr>
              <a:t>CU1_Low</a:t>
            </a:r>
            <a:endParaRPr lang="en-US" sz="1650" dirty="0"/>
          </a:p>
        </p:txBody>
      </p:sp>
      <p:sp>
        <p:nvSpPr>
          <p:cNvPr id="57" name="Shape 55"/>
          <p:cNvSpPr/>
          <p:nvPr/>
        </p:nvSpPr>
        <p:spPr>
          <a:xfrm>
            <a:off x="11828115" y="4586288"/>
            <a:ext cx="2136874" cy="9525"/>
          </a:xfrm>
          <a:prstGeom prst="rect">
            <a:avLst/>
          </a:prstGeom>
          <a:solidFill>
            <a:srgbClr val="D9D3C5"/>
          </a:solidFill>
          <a:ln/>
        </p:spPr>
        <p:txBody>
          <a:bodyPr/>
          <a:lstStyle/>
          <a:p>
            <a:endParaRPr lang="en-US"/>
          </a:p>
        </p:txBody>
      </p:sp>
      <p:sp>
        <p:nvSpPr>
          <p:cNvPr id="58" name="Text 56"/>
          <p:cNvSpPr/>
          <p:nvPr/>
        </p:nvSpPr>
        <p:spPr>
          <a:xfrm>
            <a:off x="12037665" y="4090987"/>
            <a:ext cx="1793974" cy="361950"/>
          </a:xfrm>
          <a:prstGeom prst="rect">
            <a:avLst/>
          </a:prstGeom>
          <a:noFill/>
          <a:ln/>
        </p:spPr>
        <p:txBody>
          <a:bodyPr wrap="square" lIns="25400" tIns="25400" rIns="25400" bIns="25400" rtlCol="0" anchor="ctr">
            <a:normAutofit/>
          </a:bodyPr>
          <a:lstStyle/>
          <a:p>
            <a:pPr marL="0" indent="0" algn="l">
              <a:buNone/>
            </a:pPr>
            <a:r>
              <a:rPr lang="en-US" sz="1650" b="1" dirty="0">
                <a:solidFill>
                  <a:srgbClr val="E24B4A"/>
                </a:solidFill>
                <a:latin typeface="Courier New" pitchFamily="34" charset="0"/>
                <a:ea typeface="Courier New" pitchFamily="34" charset="-122"/>
                <a:cs typeface="Courier New" pitchFamily="34" charset="-120"/>
              </a:rPr>
              <a:t>Dropout</a:t>
            </a:r>
            <a:endParaRPr lang="en-US" sz="1650" dirty="0"/>
          </a:p>
        </p:txBody>
      </p:sp>
      <p:sp>
        <p:nvSpPr>
          <p:cNvPr id="59" name="Shape 57"/>
          <p:cNvSpPr/>
          <p:nvPr/>
        </p:nvSpPr>
        <p:spPr>
          <a:xfrm>
            <a:off x="13964989" y="4586288"/>
            <a:ext cx="1181100" cy="9525"/>
          </a:xfrm>
          <a:prstGeom prst="rect">
            <a:avLst/>
          </a:prstGeom>
          <a:solidFill>
            <a:srgbClr val="D9D3C5"/>
          </a:solidFill>
          <a:ln/>
        </p:spPr>
        <p:txBody>
          <a:bodyPr/>
          <a:lstStyle/>
          <a:p>
            <a:endParaRPr lang="en-US"/>
          </a:p>
        </p:txBody>
      </p:sp>
      <p:sp>
        <p:nvSpPr>
          <p:cNvPr id="60" name="Text 58"/>
          <p:cNvSpPr/>
          <p:nvPr/>
        </p:nvSpPr>
        <p:spPr>
          <a:xfrm>
            <a:off x="14098339" y="4090987"/>
            <a:ext cx="83820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0.175</a:t>
            </a:r>
            <a:endParaRPr lang="en-US" sz="2100" dirty="0"/>
          </a:p>
        </p:txBody>
      </p:sp>
      <p:sp>
        <p:nvSpPr>
          <p:cNvPr id="61" name="Shape 59"/>
          <p:cNvSpPr/>
          <p:nvPr/>
        </p:nvSpPr>
        <p:spPr>
          <a:xfrm>
            <a:off x="15146089" y="4586288"/>
            <a:ext cx="1181100" cy="9525"/>
          </a:xfrm>
          <a:prstGeom prst="rect">
            <a:avLst/>
          </a:prstGeom>
          <a:solidFill>
            <a:srgbClr val="D9D3C5"/>
          </a:solidFill>
          <a:ln/>
        </p:spPr>
        <p:txBody>
          <a:bodyPr/>
          <a:lstStyle/>
          <a:p>
            <a:endParaRPr lang="en-US"/>
          </a:p>
        </p:txBody>
      </p:sp>
      <p:sp>
        <p:nvSpPr>
          <p:cNvPr id="62" name="Text 60"/>
          <p:cNvSpPr/>
          <p:nvPr/>
        </p:nvSpPr>
        <p:spPr>
          <a:xfrm>
            <a:off x="15279439" y="4090987"/>
            <a:ext cx="83820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0.771</a:t>
            </a:r>
            <a:endParaRPr lang="en-US" sz="2100" dirty="0"/>
          </a:p>
        </p:txBody>
      </p:sp>
      <p:sp>
        <p:nvSpPr>
          <p:cNvPr id="63" name="Shape 61"/>
          <p:cNvSpPr/>
          <p:nvPr/>
        </p:nvSpPr>
        <p:spPr>
          <a:xfrm>
            <a:off x="16327189" y="4586288"/>
            <a:ext cx="1008459" cy="9525"/>
          </a:xfrm>
          <a:prstGeom prst="rect">
            <a:avLst/>
          </a:prstGeom>
          <a:solidFill>
            <a:srgbClr val="D9D3C5"/>
          </a:solidFill>
          <a:ln/>
        </p:spPr>
        <p:txBody>
          <a:bodyPr/>
          <a:lstStyle/>
          <a:p>
            <a:endParaRPr lang="en-US"/>
          </a:p>
        </p:txBody>
      </p:sp>
      <p:sp>
        <p:nvSpPr>
          <p:cNvPr id="64" name="Text 62"/>
          <p:cNvSpPr/>
          <p:nvPr/>
        </p:nvSpPr>
        <p:spPr>
          <a:xfrm>
            <a:off x="16460539" y="4090987"/>
            <a:ext cx="665559" cy="361950"/>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2.40</a:t>
            </a:r>
            <a:endParaRPr lang="en-US" sz="2100" dirty="0"/>
          </a:p>
        </p:txBody>
      </p:sp>
      <p:sp>
        <p:nvSpPr>
          <p:cNvPr id="65" name="Shape 63"/>
          <p:cNvSpPr/>
          <p:nvPr/>
        </p:nvSpPr>
        <p:spPr>
          <a:xfrm>
            <a:off x="7628781" y="5262563"/>
            <a:ext cx="4199334" cy="9525"/>
          </a:xfrm>
          <a:prstGeom prst="rect">
            <a:avLst/>
          </a:prstGeom>
          <a:solidFill>
            <a:srgbClr val="D9D3C5"/>
          </a:solidFill>
          <a:ln/>
        </p:spPr>
        <p:txBody>
          <a:bodyPr/>
          <a:lstStyle/>
          <a:p>
            <a:endParaRPr lang="en-US"/>
          </a:p>
        </p:txBody>
      </p:sp>
      <p:sp>
        <p:nvSpPr>
          <p:cNvPr id="66" name="Text 64"/>
          <p:cNvSpPr/>
          <p:nvPr/>
        </p:nvSpPr>
        <p:spPr>
          <a:xfrm>
            <a:off x="7838331" y="4767263"/>
            <a:ext cx="3906214" cy="361950"/>
          </a:xfrm>
          <a:prstGeom prst="rect">
            <a:avLst/>
          </a:prstGeom>
          <a:noFill/>
          <a:ln/>
        </p:spPr>
        <p:txBody>
          <a:bodyPr wrap="square" lIns="25400" tIns="25400" rIns="25400" bIns="25400" rtlCol="0" anchor="ctr">
            <a:normAutofit/>
          </a:bodyPr>
          <a:lstStyle/>
          <a:p>
            <a:pPr marL="0" indent="0" algn="l">
              <a:buNone/>
            </a:pPr>
            <a:r>
              <a:rPr lang="en-US" sz="1650" dirty="0">
                <a:solidFill>
                  <a:srgbClr val="1C1B1A"/>
                </a:solidFill>
                <a:latin typeface="Courier New" pitchFamily="34" charset="0"/>
                <a:ea typeface="Courier New" pitchFamily="34" charset="-122"/>
                <a:cs typeface="Courier New" pitchFamily="34" charset="-120"/>
              </a:rPr>
              <a:t>CU1_Low + AdmGrade_Med</a:t>
            </a:r>
            <a:endParaRPr lang="en-US" sz="1650" dirty="0"/>
          </a:p>
        </p:txBody>
      </p:sp>
      <p:sp>
        <p:nvSpPr>
          <p:cNvPr id="67" name="Shape 65"/>
          <p:cNvSpPr/>
          <p:nvPr/>
        </p:nvSpPr>
        <p:spPr>
          <a:xfrm>
            <a:off x="11828115" y="5262563"/>
            <a:ext cx="2136874" cy="9525"/>
          </a:xfrm>
          <a:prstGeom prst="rect">
            <a:avLst/>
          </a:prstGeom>
          <a:solidFill>
            <a:srgbClr val="D9D3C5"/>
          </a:solidFill>
          <a:ln/>
        </p:spPr>
        <p:txBody>
          <a:bodyPr/>
          <a:lstStyle/>
          <a:p>
            <a:endParaRPr lang="en-US"/>
          </a:p>
        </p:txBody>
      </p:sp>
      <p:sp>
        <p:nvSpPr>
          <p:cNvPr id="68" name="Text 66"/>
          <p:cNvSpPr/>
          <p:nvPr/>
        </p:nvSpPr>
        <p:spPr>
          <a:xfrm>
            <a:off x="12037665" y="4767263"/>
            <a:ext cx="1793974" cy="361950"/>
          </a:xfrm>
          <a:prstGeom prst="rect">
            <a:avLst/>
          </a:prstGeom>
          <a:noFill/>
          <a:ln/>
        </p:spPr>
        <p:txBody>
          <a:bodyPr wrap="square" lIns="25400" tIns="25400" rIns="25400" bIns="25400" rtlCol="0" anchor="ctr">
            <a:normAutofit/>
          </a:bodyPr>
          <a:lstStyle/>
          <a:p>
            <a:pPr marL="0" indent="0" algn="l">
              <a:buNone/>
            </a:pPr>
            <a:r>
              <a:rPr lang="en-US" sz="1650" b="1" dirty="0">
                <a:solidFill>
                  <a:srgbClr val="E24B4A"/>
                </a:solidFill>
                <a:latin typeface="Courier New" pitchFamily="34" charset="0"/>
                <a:ea typeface="Courier New" pitchFamily="34" charset="-122"/>
                <a:cs typeface="Courier New" pitchFamily="34" charset="-120"/>
              </a:rPr>
              <a:t>Dropout</a:t>
            </a:r>
            <a:endParaRPr lang="en-US" sz="1650" dirty="0"/>
          </a:p>
        </p:txBody>
      </p:sp>
      <p:sp>
        <p:nvSpPr>
          <p:cNvPr id="69" name="Shape 67"/>
          <p:cNvSpPr/>
          <p:nvPr/>
        </p:nvSpPr>
        <p:spPr>
          <a:xfrm>
            <a:off x="13964989" y="5262563"/>
            <a:ext cx="1181100" cy="9525"/>
          </a:xfrm>
          <a:prstGeom prst="rect">
            <a:avLst/>
          </a:prstGeom>
          <a:solidFill>
            <a:srgbClr val="D9D3C5"/>
          </a:solidFill>
          <a:ln/>
        </p:spPr>
        <p:txBody>
          <a:bodyPr/>
          <a:lstStyle/>
          <a:p>
            <a:endParaRPr lang="en-US"/>
          </a:p>
        </p:txBody>
      </p:sp>
      <p:sp>
        <p:nvSpPr>
          <p:cNvPr id="70" name="Text 68"/>
          <p:cNvSpPr/>
          <p:nvPr/>
        </p:nvSpPr>
        <p:spPr>
          <a:xfrm>
            <a:off x="14098339" y="4767263"/>
            <a:ext cx="83820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0.084</a:t>
            </a:r>
            <a:endParaRPr lang="en-US" sz="2100" dirty="0"/>
          </a:p>
        </p:txBody>
      </p:sp>
      <p:sp>
        <p:nvSpPr>
          <p:cNvPr id="71" name="Shape 69"/>
          <p:cNvSpPr/>
          <p:nvPr/>
        </p:nvSpPr>
        <p:spPr>
          <a:xfrm>
            <a:off x="15146089" y="5262563"/>
            <a:ext cx="1181100" cy="9525"/>
          </a:xfrm>
          <a:prstGeom prst="rect">
            <a:avLst/>
          </a:prstGeom>
          <a:solidFill>
            <a:srgbClr val="D9D3C5"/>
          </a:solidFill>
          <a:ln/>
        </p:spPr>
        <p:txBody>
          <a:bodyPr/>
          <a:lstStyle/>
          <a:p>
            <a:endParaRPr lang="en-US"/>
          </a:p>
        </p:txBody>
      </p:sp>
      <p:sp>
        <p:nvSpPr>
          <p:cNvPr id="72" name="Text 70"/>
          <p:cNvSpPr/>
          <p:nvPr/>
        </p:nvSpPr>
        <p:spPr>
          <a:xfrm>
            <a:off x="15279439" y="4767263"/>
            <a:ext cx="83820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0.764</a:t>
            </a:r>
            <a:endParaRPr lang="en-US" sz="2100" dirty="0"/>
          </a:p>
        </p:txBody>
      </p:sp>
      <p:sp>
        <p:nvSpPr>
          <p:cNvPr id="73" name="Shape 71"/>
          <p:cNvSpPr/>
          <p:nvPr/>
        </p:nvSpPr>
        <p:spPr>
          <a:xfrm>
            <a:off x="16327189" y="5262563"/>
            <a:ext cx="1008459" cy="9525"/>
          </a:xfrm>
          <a:prstGeom prst="rect">
            <a:avLst/>
          </a:prstGeom>
          <a:solidFill>
            <a:srgbClr val="D9D3C5"/>
          </a:solidFill>
          <a:ln/>
        </p:spPr>
        <p:txBody>
          <a:bodyPr/>
          <a:lstStyle/>
          <a:p>
            <a:endParaRPr lang="en-US"/>
          </a:p>
        </p:txBody>
      </p:sp>
      <p:sp>
        <p:nvSpPr>
          <p:cNvPr id="74" name="Text 72"/>
          <p:cNvSpPr/>
          <p:nvPr/>
        </p:nvSpPr>
        <p:spPr>
          <a:xfrm>
            <a:off x="16460539" y="4767263"/>
            <a:ext cx="665559" cy="361950"/>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2.38</a:t>
            </a:r>
            <a:endParaRPr lang="en-US" sz="2100" dirty="0"/>
          </a:p>
        </p:txBody>
      </p:sp>
      <p:sp>
        <p:nvSpPr>
          <p:cNvPr id="75" name="Shape 73"/>
          <p:cNvSpPr/>
          <p:nvPr/>
        </p:nvSpPr>
        <p:spPr>
          <a:xfrm>
            <a:off x="7628781" y="5938838"/>
            <a:ext cx="4199334" cy="9525"/>
          </a:xfrm>
          <a:prstGeom prst="rect">
            <a:avLst/>
          </a:prstGeom>
          <a:solidFill>
            <a:srgbClr val="D9D3C5"/>
          </a:solidFill>
          <a:ln/>
        </p:spPr>
        <p:txBody>
          <a:bodyPr/>
          <a:lstStyle/>
          <a:p>
            <a:endParaRPr lang="en-US"/>
          </a:p>
        </p:txBody>
      </p:sp>
      <p:sp>
        <p:nvSpPr>
          <p:cNvPr id="76" name="Text 74"/>
          <p:cNvSpPr/>
          <p:nvPr/>
        </p:nvSpPr>
        <p:spPr>
          <a:xfrm>
            <a:off x="7838331" y="5443538"/>
            <a:ext cx="3906214" cy="361950"/>
          </a:xfrm>
          <a:prstGeom prst="rect">
            <a:avLst/>
          </a:prstGeom>
          <a:noFill/>
          <a:ln/>
        </p:spPr>
        <p:txBody>
          <a:bodyPr wrap="square" lIns="25400" tIns="25400" rIns="25400" bIns="25400" rtlCol="0" anchor="ctr">
            <a:normAutofit/>
          </a:bodyPr>
          <a:lstStyle/>
          <a:p>
            <a:pPr marL="0" indent="0" algn="l">
              <a:buNone/>
            </a:pPr>
            <a:r>
              <a:rPr lang="en-US" sz="1650" dirty="0">
                <a:solidFill>
                  <a:srgbClr val="1C1B1A"/>
                </a:solidFill>
                <a:latin typeface="Courier New" pitchFamily="34" charset="0"/>
                <a:ea typeface="Courier New" pitchFamily="34" charset="-122"/>
                <a:cs typeface="Courier New" pitchFamily="34" charset="-120"/>
              </a:rPr>
              <a:t>TuitionUpToDate + CU1_Low</a:t>
            </a:r>
            <a:endParaRPr lang="en-US" sz="1650" dirty="0"/>
          </a:p>
        </p:txBody>
      </p:sp>
      <p:sp>
        <p:nvSpPr>
          <p:cNvPr id="77" name="Shape 75"/>
          <p:cNvSpPr/>
          <p:nvPr/>
        </p:nvSpPr>
        <p:spPr>
          <a:xfrm>
            <a:off x="11828115" y="5938838"/>
            <a:ext cx="2136874" cy="9525"/>
          </a:xfrm>
          <a:prstGeom prst="rect">
            <a:avLst/>
          </a:prstGeom>
          <a:solidFill>
            <a:srgbClr val="D9D3C5"/>
          </a:solidFill>
          <a:ln/>
        </p:spPr>
        <p:txBody>
          <a:bodyPr/>
          <a:lstStyle/>
          <a:p>
            <a:endParaRPr lang="en-US"/>
          </a:p>
        </p:txBody>
      </p:sp>
      <p:sp>
        <p:nvSpPr>
          <p:cNvPr id="78" name="Text 76"/>
          <p:cNvSpPr/>
          <p:nvPr/>
        </p:nvSpPr>
        <p:spPr>
          <a:xfrm>
            <a:off x="12037665" y="5443538"/>
            <a:ext cx="1793974" cy="361950"/>
          </a:xfrm>
          <a:prstGeom prst="rect">
            <a:avLst/>
          </a:prstGeom>
          <a:noFill/>
          <a:ln/>
        </p:spPr>
        <p:txBody>
          <a:bodyPr wrap="square" lIns="25400" tIns="25400" rIns="25400" bIns="25400" rtlCol="0" anchor="ctr">
            <a:normAutofit/>
          </a:bodyPr>
          <a:lstStyle/>
          <a:p>
            <a:pPr marL="0" indent="0" algn="l">
              <a:buNone/>
            </a:pPr>
            <a:r>
              <a:rPr lang="en-US" sz="1650" b="1" dirty="0">
                <a:solidFill>
                  <a:srgbClr val="E24B4A"/>
                </a:solidFill>
                <a:latin typeface="Courier New" pitchFamily="34" charset="0"/>
                <a:ea typeface="Courier New" pitchFamily="34" charset="-122"/>
                <a:cs typeface="Courier New" pitchFamily="34" charset="-120"/>
              </a:rPr>
              <a:t>Dropout</a:t>
            </a:r>
            <a:endParaRPr lang="en-US" sz="1650" dirty="0"/>
          </a:p>
        </p:txBody>
      </p:sp>
      <p:sp>
        <p:nvSpPr>
          <p:cNvPr id="79" name="Shape 77"/>
          <p:cNvSpPr/>
          <p:nvPr/>
        </p:nvSpPr>
        <p:spPr>
          <a:xfrm>
            <a:off x="13964989" y="5938838"/>
            <a:ext cx="1181100" cy="9525"/>
          </a:xfrm>
          <a:prstGeom prst="rect">
            <a:avLst/>
          </a:prstGeom>
          <a:solidFill>
            <a:srgbClr val="D9D3C5"/>
          </a:solidFill>
          <a:ln/>
        </p:spPr>
        <p:txBody>
          <a:bodyPr/>
          <a:lstStyle/>
          <a:p>
            <a:endParaRPr lang="en-US"/>
          </a:p>
        </p:txBody>
      </p:sp>
      <p:sp>
        <p:nvSpPr>
          <p:cNvPr id="80" name="Text 78"/>
          <p:cNvSpPr/>
          <p:nvPr/>
        </p:nvSpPr>
        <p:spPr>
          <a:xfrm>
            <a:off x="14098339" y="5443538"/>
            <a:ext cx="83820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0.115</a:t>
            </a:r>
            <a:endParaRPr lang="en-US" sz="2100" dirty="0"/>
          </a:p>
        </p:txBody>
      </p:sp>
      <p:sp>
        <p:nvSpPr>
          <p:cNvPr id="81" name="Shape 79"/>
          <p:cNvSpPr/>
          <p:nvPr/>
        </p:nvSpPr>
        <p:spPr>
          <a:xfrm>
            <a:off x="15146089" y="5938838"/>
            <a:ext cx="1181100" cy="9525"/>
          </a:xfrm>
          <a:prstGeom prst="rect">
            <a:avLst/>
          </a:prstGeom>
          <a:solidFill>
            <a:srgbClr val="D9D3C5"/>
          </a:solidFill>
          <a:ln/>
        </p:spPr>
        <p:txBody>
          <a:bodyPr/>
          <a:lstStyle/>
          <a:p>
            <a:endParaRPr lang="en-US"/>
          </a:p>
        </p:txBody>
      </p:sp>
      <p:sp>
        <p:nvSpPr>
          <p:cNvPr id="82" name="Text 80"/>
          <p:cNvSpPr/>
          <p:nvPr/>
        </p:nvSpPr>
        <p:spPr>
          <a:xfrm>
            <a:off x="15279439" y="5443538"/>
            <a:ext cx="83820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0.696</a:t>
            </a:r>
            <a:endParaRPr lang="en-US" sz="2100" dirty="0"/>
          </a:p>
        </p:txBody>
      </p:sp>
      <p:sp>
        <p:nvSpPr>
          <p:cNvPr id="83" name="Shape 81"/>
          <p:cNvSpPr/>
          <p:nvPr/>
        </p:nvSpPr>
        <p:spPr>
          <a:xfrm>
            <a:off x="16327189" y="5938838"/>
            <a:ext cx="1008459" cy="9525"/>
          </a:xfrm>
          <a:prstGeom prst="rect">
            <a:avLst/>
          </a:prstGeom>
          <a:solidFill>
            <a:srgbClr val="D9D3C5"/>
          </a:solidFill>
          <a:ln/>
        </p:spPr>
        <p:txBody>
          <a:bodyPr/>
          <a:lstStyle/>
          <a:p>
            <a:endParaRPr lang="en-US"/>
          </a:p>
        </p:txBody>
      </p:sp>
      <p:sp>
        <p:nvSpPr>
          <p:cNvPr id="84" name="Text 82"/>
          <p:cNvSpPr/>
          <p:nvPr/>
        </p:nvSpPr>
        <p:spPr>
          <a:xfrm>
            <a:off x="16460539" y="5443538"/>
            <a:ext cx="665559" cy="361950"/>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2.17</a:t>
            </a:r>
            <a:endParaRPr lang="en-US" sz="2100" dirty="0"/>
          </a:p>
        </p:txBody>
      </p:sp>
      <p:sp>
        <p:nvSpPr>
          <p:cNvPr id="85" name="Shape 83"/>
          <p:cNvSpPr/>
          <p:nvPr/>
        </p:nvSpPr>
        <p:spPr>
          <a:xfrm>
            <a:off x="7628781" y="6843713"/>
            <a:ext cx="4199334" cy="9525"/>
          </a:xfrm>
          <a:prstGeom prst="rect">
            <a:avLst/>
          </a:prstGeom>
          <a:solidFill>
            <a:srgbClr val="D9D3C5"/>
          </a:solidFill>
          <a:ln/>
        </p:spPr>
        <p:txBody>
          <a:bodyPr/>
          <a:lstStyle/>
          <a:p>
            <a:endParaRPr lang="en-US"/>
          </a:p>
        </p:txBody>
      </p:sp>
      <p:sp>
        <p:nvSpPr>
          <p:cNvPr id="86" name="Text 84"/>
          <p:cNvSpPr/>
          <p:nvPr/>
        </p:nvSpPr>
        <p:spPr>
          <a:xfrm>
            <a:off x="7838331" y="6119813"/>
            <a:ext cx="3906214" cy="590550"/>
          </a:xfrm>
          <a:prstGeom prst="rect">
            <a:avLst/>
          </a:prstGeom>
          <a:noFill/>
          <a:ln/>
        </p:spPr>
        <p:txBody>
          <a:bodyPr wrap="square" lIns="25400" tIns="25400" rIns="25400" bIns="25400" rtlCol="0" anchor="ctr">
            <a:normAutofit/>
          </a:bodyPr>
          <a:lstStyle/>
          <a:p>
            <a:pPr marL="0" indent="0" algn="l">
              <a:buNone/>
            </a:pPr>
            <a:r>
              <a:rPr lang="en-US" sz="1650" dirty="0">
                <a:solidFill>
                  <a:srgbClr val="1C1B1A"/>
                </a:solidFill>
                <a:latin typeface="Courier New" pitchFamily="34" charset="0"/>
                <a:ea typeface="Courier New" pitchFamily="34" charset="-122"/>
                <a:cs typeface="Courier New" pitchFamily="34" charset="-120"/>
              </a:rPr>
              <a:t>TuitionUpToDate + CU1_High + Scholarship + AdmGrade_Med</a:t>
            </a:r>
            <a:endParaRPr lang="en-US" sz="1650" dirty="0"/>
          </a:p>
        </p:txBody>
      </p:sp>
      <p:sp>
        <p:nvSpPr>
          <p:cNvPr id="87" name="Shape 85"/>
          <p:cNvSpPr/>
          <p:nvPr/>
        </p:nvSpPr>
        <p:spPr>
          <a:xfrm>
            <a:off x="11828115" y="6843713"/>
            <a:ext cx="2136874" cy="9525"/>
          </a:xfrm>
          <a:prstGeom prst="rect">
            <a:avLst/>
          </a:prstGeom>
          <a:solidFill>
            <a:srgbClr val="D9D3C5"/>
          </a:solidFill>
          <a:ln/>
        </p:spPr>
        <p:txBody>
          <a:bodyPr/>
          <a:lstStyle/>
          <a:p>
            <a:endParaRPr lang="en-US"/>
          </a:p>
        </p:txBody>
      </p:sp>
      <p:sp>
        <p:nvSpPr>
          <p:cNvPr id="88" name="Text 86"/>
          <p:cNvSpPr/>
          <p:nvPr/>
        </p:nvSpPr>
        <p:spPr>
          <a:xfrm>
            <a:off x="12037665" y="6119813"/>
            <a:ext cx="1793974" cy="590550"/>
          </a:xfrm>
          <a:prstGeom prst="rect">
            <a:avLst/>
          </a:prstGeom>
          <a:noFill/>
          <a:ln/>
        </p:spPr>
        <p:txBody>
          <a:bodyPr wrap="square" lIns="25400" tIns="25400" rIns="25400" bIns="25400" rtlCol="0" anchor="ctr">
            <a:normAutofit/>
          </a:bodyPr>
          <a:lstStyle/>
          <a:p>
            <a:pPr marL="0" indent="0" algn="l">
              <a:buNone/>
            </a:pPr>
            <a:r>
              <a:rPr lang="en-US" sz="1650" b="1" dirty="0">
                <a:solidFill>
                  <a:srgbClr val="1D9E75"/>
                </a:solidFill>
                <a:latin typeface="Courier New" pitchFamily="34" charset="0"/>
                <a:ea typeface="Courier New" pitchFamily="34" charset="-122"/>
                <a:cs typeface="Courier New" pitchFamily="34" charset="-120"/>
              </a:rPr>
              <a:t>Age_Young + Graduate</a:t>
            </a:r>
            <a:endParaRPr lang="en-US" sz="1650" dirty="0"/>
          </a:p>
        </p:txBody>
      </p:sp>
      <p:sp>
        <p:nvSpPr>
          <p:cNvPr id="89" name="Shape 87"/>
          <p:cNvSpPr/>
          <p:nvPr/>
        </p:nvSpPr>
        <p:spPr>
          <a:xfrm>
            <a:off x="13964989" y="6843713"/>
            <a:ext cx="1181100" cy="9525"/>
          </a:xfrm>
          <a:prstGeom prst="rect">
            <a:avLst/>
          </a:prstGeom>
          <a:solidFill>
            <a:srgbClr val="D9D3C5"/>
          </a:solidFill>
          <a:ln/>
        </p:spPr>
        <p:txBody>
          <a:bodyPr/>
          <a:lstStyle/>
          <a:p>
            <a:endParaRPr lang="en-US"/>
          </a:p>
        </p:txBody>
      </p:sp>
      <p:sp>
        <p:nvSpPr>
          <p:cNvPr id="90" name="Text 88"/>
          <p:cNvSpPr/>
          <p:nvPr/>
        </p:nvSpPr>
        <p:spPr>
          <a:xfrm>
            <a:off x="14098339" y="6119813"/>
            <a:ext cx="838200" cy="590550"/>
          </a:xfrm>
          <a:prstGeom prst="rect">
            <a:avLst/>
          </a:prstGeom>
          <a:noFill/>
          <a:ln/>
        </p:spPr>
        <p:txBody>
          <a:bodyPr wrap="square" lIns="25400" tIns="25400" rIns="25400" bIns="25400" rtlCol="0" anchor="ctr">
            <a:normAutofit/>
          </a:bodyPr>
          <a:lstStyle/>
          <a:p>
            <a:pPr marL="0" indent="0" algn="r">
              <a:buNone/>
            </a:pPr>
            <a:r>
              <a:rPr lang="en-US" sz="2100" dirty="0">
                <a:solidFill>
                  <a:srgbClr val="1C1B1A"/>
                </a:solidFill>
                <a:latin typeface="Arial" pitchFamily="34" charset="0"/>
                <a:ea typeface="Arial" pitchFamily="34" charset="-122"/>
                <a:cs typeface="Arial" pitchFamily="34" charset="-120"/>
              </a:rPr>
              <a:t>0.078</a:t>
            </a:r>
            <a:endParaRPr lang="en-US" sz="2100" dirty="0"/>
          </a:p>
        </p:txBody>
      </p:sp>
      <p:sp>
        <p:nvSpPr>
          <p:cNvPr id="91" name="Shape 89"/>
          <p:cNvSpPr/>
          <p:nvPr/>
        </p:nvSpPr>
        <p:spPr>
          <a:xfrm>
            <a:off x="15146089" y="6843713"/>
            <a:ext cx="1181100" cy="9525"/>
          </a:xfrm>
          <a:prstGeom prst="rect">
            <a:avLst/>
          </a:prstGeom>
          <a:solidFill>
            <a:srgbClr val="D9D3C5"/>
          </a:solidFill>
          <a:ln/>
        </p:spPr>
        <p:txBody>
          <a:bodyPr/>
          <a:lstStyle/>
          <a:p>
            <a:endParaRPr lang="en-US"/>
          </a:p>
        </p:txBody>
      </p:sp>
      <p:sp>
        <p:nvSpPr>
          <p:cNvPr id="92" name="Text 90"/>
          <p:cNvSpPr/>
          <p:nvPr/>
        </p:nvSpPr>
        <p:spPr>
          <a:xfrm>
            <a:off x="15279439" y="6119813"/>
            <a:ext cx="838200" cy="590550"/>
          </a:xfrm>
          <a:prstGeom prst="rect">
            <a:avLst/>
          </a:prstGeom>
          <a:noFill/>
          <a:ln/>
        </p:spPr>
        <p:txBody>
          <a:bodyPr wrap="square" lIns="25400" tIns="25400" rIns="25400" bIns="25400" rtlCol="0" anchor="ctr">
            <a:normAutofit/>
          </a:bodyPr>
          <a:lstStyle/>
          <a:p>
            <a:pPr marL="0" indent="0" algn="r">
              <a:buNone/>
            </a:pPr>
            <a:r>
              <a:rPr lang="en-US" sz="2100" dirty="0">
                <a:solidFill>
                  <a:srgbClr val="1C1B1A"/>
                </a:solidFill>
                <a:latin typeface="Arial" pitchFamily="34" charset="0"/>
                <a:ea typeface="Arial" pitchFamily="34" charset="-122"/>
                <a:cs typeface="Arial" pitchFamily="34" charset="-120"/>
              </a:rPr>
              <a:t>0.801</a:t>
            </a:r>
            <a:endParaRPr lang="en-US" sz="2100" dirty="0"/>
          </a:p>
        </p:txBody>
      </p:sp>
      <p:sp>
        <p:nvSpPr>
          <p:cNvPr id="93" name="Shape 91"/>
          <p:cNvSpPr/>
          <p:nvPr/>
        </p:nvSpPr>
        <p:spPr>
          <a:xfrm>
            <a:off x="16327189" y="6843713"/>
            <a:ext cx="1008459" cy="9525"/>
          </a:xfrm>
          <a:prstGeom prst="rect">
            <a:avLst/>
          </a:prstGeom>
          <a:solidFill>
            <a:srgbClr val="D9D3C5"/>
          </a:solidFill>
          <a:ln/>
        </p:spPr>
        <p:txBody>
          <a:bodyPr/>
          <a:lstStyle/>
          <a:p>
            <a:endParaRPr lang="en-US"/>
          </a:p>
        </p:txBody>
      </p:sp>
      <p:sp>
        <p:nvSpPr>
          <p:cNvPr id="94" name="Text 92"/>
          <p:cNvSpPr/>
          <p:nvPr/>
        </p:nvSpPr>
        <p:spPr>
          <a:xfrm>
            <a:off x="16460539" y="6119813"/>
            <a:ext cx="665559" cy="590550"/>
          </a:xfrm>
          <a:prstGeom prst="rect">
            <a:avLst/>
          </a:prstGeom>
          <a:noFill/>
          <a:ln/>
        </p:spPr>
        <p:txBody>
          <a:bodyPr wrap="square" lIns="25400" tIns="25400" rIns="25400" bIns="25400" rtlCol="0" anchor="ctr">
            <a:normAutofit/>
          </a:bodyPr>
          <a:lstStyle/>
          <a:p>
            <a:pPr marL="0" indent="0" algn="r">
              <a:buNone/>
            </a:pPr>
            <a:r>
              <a:rPr lang="en-US" sz="2100" b="1" dirty="0">
                <a:solidFill>
                  <a:srgbClr val="1C1B1A"/>
                </a:solidFill>
                <a:latin typeface="Arial" pitchFamily="34" charset="0"/>
                <a:ea typeface="Arial" pitchFamily="34" charset="-122"/>
                <a:cs typeface="Arial" pitchFamily="34" charset="-120"/>
              </a:rPr>
              <a:t>2.09</a:t>
            </a:r>
            <a:endParaRPr lang="en-US" sz="2100" dirty="0"/>
          </a:p>
        </p:txBody>
      </p:sp>
      <p:sp>
        <p:nvSpPr>
          <p:cNvPr id="95" name="Shape 93"/>
          <p:cNvSpPr/>
          <p:nvPr/>
        </p:nvSpPr>
        <p:spPr>
          <a:xfrm>
            <a:off x="7628781" y="7086600"/>
            <a:ext cx="9706719" cy="1047750"/>
          </a:xfrm>
          <a:prstGeom prst="rect">
            <a:avLst/>
          </a:prstGeom>
          <a:solidFill>
            <a:srgbClr val="F2EEE6"/>
          </a:solidFill>
          <a:ln/>
        </p:spPr>
        <p:txBody>
          <a:bodyPr/>
          <a:lstStyle/>
          <a:p>
            <a:endParaRPr lang="en-US"/>
          </a:p>
        </p:txBody>
      </p:sp>
      <p:sp>
        <p:nvSpPr>
          <p:cNvPr id="96" name="Shape 94"/>
          <p:cNvSpPr/>
          <p:nvPr/>
        </p:nvSpPr>
        <p:spPr>
          <a:xfrm>
            <a:off x="7628781" y="7086600"/>
            <a:ext cx="38100" cy="1047750"/>
          </a:xfrm>
          <a:prstGeom prst="rect">
            <a:avLst/>
          </a:prstGeom>
          <a:solidFill>
            <a:srgbClr val="E24B4A"/>
          </a:solidFill>
          <a:ln/>
        </p:spPr>
        <p:txBody>
          <a:bodyPr/>
          <a:lstStyle/>
          <a:p>
            <a:endParaRPr lang="en-US"/>
          </a:p>
        </p:txBody>
      </p:sp>
      <p:sp>
        <p:nvSpPr>
          <p:cNvPr id="97" name="Text 95"/>
          <p:cNvSpPr/>
          <p:nvPr/>
        </p:nvSpPr>
        <p:spPr>
          <a:xfrm>
            <a:off x="7628781" y="7277100"/>
            <a:ext cx="9769321" cy="704850"/>
          </a:xfrm>
          <a:prstGeom prst="rect">
            <a:avLst/>
          </a:prstGeom>
          <a:noFill/>
          <a:ln/>
        </p:spPr>
        <p:txBody>
          <a:bodyPr wrap="square" lIns="25400" tIns="25400" rIns="25400" bIns="25400" rtlCol="0" anchor="t">
            <a:normAutofit/>
          </a:bodyPr>
          <a:lstStyle/>
          <a:p>
            <a:pPr marL="0" indent="0" algn="l">
              <a:lnSpc>
                <a:spcPct val="140000"/>
              </a:lnSpc>
              <a:buNone/>
            </a:pPr>
            <a:r>
              <a:rPr lang="en-US" sz="1800" b="1" dirty="0">
                <a:solidFill>
                  <a:srgbClr val="1C1B1A"/>
                </a:solidFill>
                <a:latin typeface="-apple-system" pitchFamily="34" charset="0"/>
                <a:ea typeface="-apple-system" pitchFamily="34" charset="-122"/>
                <a:cs typeface="-apple-system" pitchFamily="34" charset="-120"/>
              </a:rPr>
              <a:t>Top finding:</a:t>
            </a:r>
            <a:r>
              <a:rPr lang="en-US" sz="1800" dirty="0">
                <a:solidFill>
                  <a:srgbClr val="1C1B1A"/>
                </a:solidFill>
                <a:latin typeface="-apple-system" pitchFamily="34" charset="0"/>
                <a:ea typeface="-apple-system" pitchFamily="34" charset="-122"/>
                <a:cs typeface="-apple-system" pitchFamily="34" charset="-120"/>
              </a:rPr>
              <a:t>low 1st-semester approved units + mid age → Dropout · </a:t>
            </a:r>
            <a:r>
              <a:rPr lang="en-US" sz="1800" dirty="0">
                <a:solidFill>
                  <a:srgbClr val="1C1B1A"/>
                </a:solidFill>
                <a:latin typeface="Courier New" pitchFamily="34" charset="0"/>
                <a:ea typeface="Courier New" pitchFamily="34" charset="-122"/>
                <a:cs typeface="Courier New" pitchFamily="34" charset="-120"/>
              </a:rPr>
              <a:t>conf 87.4% · lift 2.72×</a:t>
            </a:r>
            <a:endParaRPr lang="en-US" sz="1800" dirty="0"/>
          </a:p>
        </p:txBody>
      </p:sp>
      <p:sp>
        <p:nvSpPr>
          <p:cNvPr id="98" name="Text 96"/>
          <p:cNvSpPr/>
          <p:nvPr/>
        </p:nvSpPr>
        <p:spPr>
          <a:xfrm>
            <a:off x="16692116" y="8258175"/>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14/19</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385728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14 · MODEL COMPARISON</a:t>
            </a:r>
            <a:endParaRPr lang="en-US" sz="1800" dirty="0"/>
          </a:p>
        </p:txBody>
      </p:sp>
      <p:sp>
        <p:nvSpPr>
          <p:cNvPr id="4" name="Text 2"/>
          <p:cNvSpPr/>
          <p:nvPr/>
        </p:nvSpPr>
        <p:spPr>
          <a:xfrm>
            <a:off x="952500" y="1290638"/>
            <a:ext cx="16874490" cy="1081087"/>
          </a:xfrm>
          <a:prstGeom prst="rect">
            <a:avLst/>
          </a:prstGeom>
          <a:noFill/>
          <a:ln/>
        </p:spPr>
        <p:txBody>
          <a:bodyPr wrap="square" lIns="25400" tIns="25400" rIns="25400" bIns="25400" rtlCol="0" anchor="t">
            <a:normAutofit fontScale="925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XGBoost wins on F1-macro · Random Forest on accuracy</a:t>
            </a:r>
            <a:endParaRPr lang="en-US" sz="4800" dirty="0"/>
          </a:p>
        </p:txBody>
      </p:sp>
      <p:sp>
        <p:nvSpPr>
          <p:cNvPr id="5" name="Shape 3"/>
          <p:cNvSpPr/>
          <p:nvPr/>
        </p:nvSpPr>
        <p:spPr>
          <a:xfrm>
            <a:off x="952500" y="3295650"/>
            <a:ext cx="4616053" cy="19050"/>
          </a:xfrm>
          <a:prstGeom prst="rect">
            <a:avLst/>
          </a:prstGeom>
          <a:solidFill>
            <a:srgbClr val="1C1B1A"/>
          </a:solidFill>
          <a:ln/>
        </p:spPr>
        <p:txBody>
          <a:bodyPr/>
          <a:lstStyle/>
          <a:p>
            <a:endParaRPr lang="en-US"/>
          </a:p>
        </p:txBody>
      </p:sp>
      <p:sp>
        <p:nvSpPr>
          <p:cNvPr id="6" name="Text 4"/>
          <p:cNvSpPr/>
          <p:nvPr/>
        </p:nvSpPr>
        <p:spPr>
          <a:xfrm>
            <a:off x="1162050" y="2886075"/>
            <a:ext cx="4335435"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650" b="1" kern="0" spc="165" dirty="0">
                <a:solidFill>
                  <a:srgbClr val="807C76"/>
                </a:solidFill>
                <a:latin typeface="Arial" pitchFamily="34" charset="0"/>
                <a:ea typeface="Arial" pitchFamily="34" charset="-122"/>
                <a:cs typeface="Arial" pitchFamily="34" charset="-120"/>
              </a:rPr>
              <a:t>MODEL</a:t>
            </a:r>
            <a:endParaRPr lang="en-US" sz="1650" dirty="0"/>
          </a:p>
        </p:txBody>
      </p:sp>
      <p:sp>
        <p:nvSpPr>
          <p:cNvPr id="7" name="Shape 5"/>
          <p:cNvSpPr/>
          <p:nvPr/>
        </p:nvSpPr>
        <p:spPr>
          <a:xfrm>
            <a:off x="5568553" y="3295650"/>
            <a:ext cx="2408634" cy="19050"/>
          </a:xfrm>
          <a:prstGeom prst="rect">
            <a:avLst/>
          </a:prstGeom>
          <a:solidFill>
            <a:srgbClr val="1C1B1A"/>
          </a:solidFill>
          <a:ln/>
        </p:spPr>
        <p:txBody>
          <a:bodyPr/>
          <a:lstStyle/>
          <a:p>
            <a:endParaRPr lang="en-US"/>
          </a:p>
        </p:txBody>
      </p:sp>
      <p:sp>
        <p:nvSpPr>
          <p:cNvPr id="8" name="Text 6"/>
          <p:cNvSpPr/>
          <p:nvPr/>
        </p:nvSpPr>
        <p:spPr>
          <a:xfrm>
            <a:off x="5701903" y="2886075"/>
            <a:ext cx="2065734"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ACCURACY</a:t>
            </a:r>
            <a:endParaRPr lang="en-US" sz="1650" dirty="0"/>
          </a:p>
        </p:txBody>
      </p:sp>
      <p:sp>
        <p:nvSpPr>
          <p:cNvPr id="9" name="Shape 7"/>
          <p:cNvSpPr/>
          <p:nvPr/>
        </p:nvSpPr>
        <p:spPr>
          <a:xfrm>
            <a:off x="7977188" y="3295650"/>
            <a:ext cx="2564011" cy="19050"/>
          </a:xfrm>
          <a:prstGeom prst="rect">
            <a:avLst/>
          </a:prstGeom>
          <a:solidFill>
            <a:srgbClr val="1C1B1A"/>
          </a:solidFill>
          <a:ln/>
        </p:spPr>
        <p:txBody>
          <a:bodyPr/>
          <a:lstStyle/>
          <a:p>
            <a:endParaRPr lang="en-US"/>
          </a:p>
        </p:txBody>
      </p:sp>
      <p:sp>
        <p:nvSpPr>
          <p:cNvPr id="10" name="Text 8"/>
          <p:cNvSpPr/>
          <p:nvPr/>
        </p:nvSpPr>
        <p:spPr>
          <a:xfrm>
            <a:off x="8109817" y="2886075"/>
            <a:ext cx="2221831"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F1 (MACRO)</a:t>
            </a:r>
            <a:endParaRPr lang="en-US" sz="1650" dirty="0"/>
          </a:p>
        </p:txBody>
      </p:sp>
      <p:sp>
        <p:nvSpPr>
          <p:cNvPr id="11" name="Shape 9"/>
          <p:cNvSpPr/>
          <p:nvPr/>
        </p:nvSpPr>
        <p:spPr>
          <a:xfrm>
            <a:off x="10541198" y="3295650"/>
            <a:ext cx="3107829" cy="19050"/>
          </a:xfrm>
          <a:prstGeom prst="rect">
            <a:avLst/>
          </a:prstGeom>
          <a:solidFill>
            <a:srgbClr val="1C1B1A"/>
          </a:solidFill>
          <a:ln/>
        </p:spPr>
        <p:txBody>
          <a:bodyPr/>
          <a:lstStyle/>
          <a:p>
            <a:endParaRPr lang="en-US"/>
          </a:p>
        </p:txBody>
      </p:sp>
      <p:sp>
        <p:nvSpPr>
          <p:cNvPr id="12" name="Text 10"/>
          <p:cNvSpPr/>
          <p:nvPr/>
        </p:nvSpPr>
        <p:spPr>
          <a:xfrm>
            <a:off x="10657514" y="2886075"/>
            <a:ext cx="2781964"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F1 (WEIGHTED)</a:t>
            </a:r>
            <a:endParaRPr lang="en-US" sz="1650" dirty="0"/>
          </a:p>
        </p:txBody>
      </p:sp>
      <p:sp>
        <p:nvSpPr>
          <p:cNvPr id="13" name="Shape 11"/>
          <p:cNvSpPr/>
          <p:nvPr/>
        </p:nvSpPr>
        <p:spPr>
          <a:xfrm>
            <a:off x="13649027" y="3295650"/>
            <a:ext cx="3687068" cy="19050"/>
          </a:xfrm>
          <a:prstGeom prst="rect">
            <a:avLst/>
          </a:prstGeom>
          <a:solidFill>
            <a:srgbClr val="1C1B1A"/>
          </a:solidFill>
          <a:ln/>
        </p:spPr>
        <p:txBody>
          <a:bodyPr/>
          <a:lstStyle/>
          <a:p>
            <a:endParaRPr lang="en-US"/>
          </a:p>
        </p:txBody>
      </p:sp>
      <p:sp>
        <p:nvSpPr>
          <p:cNvPr id="14" name="Text 12"/>
          <p:cNvSpPr/>
          <p:nvPr/>
        </p:nvSpPr>
        <p:spPr>
          <a:xfrm>
            <a:off x="13747965" y="2886075"/>
            <a:ext cx="3378580"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650" b="1" kern="0" spc="165" dirty="0">
                <a:solidFill>
                  <a:srgbClr val="807C76"/>
                </a:solidFill>
                <a:latin typeface="Arial" pitchFamily="34" charset="0"/>
                <a:ea typeface="Arial" pitchFamily="34" charset="-122"/>
                <a:cs typeface="Arial" pitchFamily="34" charset="-120"/>
              </a:rPr>
              <a:t>CV F1 MEAN ± STD</a:t>
            </a:r>
            <a:endParaRPr lang="en-US" sz="1650" dirty="0"/>
          </a:p>
        </p:txBody>
      </p:sp>
      <p:sp>
        <p:nvSpPr>
          <p:cNvPr id="15" name="Shape 13"/>
          <p:cNvSpPr/>
          <p:nvPr/>
        </p:nvSpPr>
        <p:spPr>
          <a:xfrm>
            <a:off x="952500" y="3314700"/>
            <a:ext cx="4616053" cy="681038"/>
          </a:xfrm>
          <a:prstGeom prst="rect">
            <a:avLst/>
          </a:prstGeom>
          <a:solidFill>
            <a:srgbClr val="1D9E75">
              <a:alpha val="8000"/>
            </a:srgbClr>
          </a:solidFill>
          <a:ln/>
        </p:spPr>
        <p:txBody>
          <a:bodyPr/>
          <a:lstStyle/>
          <a:p>
            <a:endParaRPr lang="en-US"/>
          </a:p>
        </p:txBody>
      </p:sp>
      <p:sp>
        <p:nvSpPr>
          <p:cNvPr id="16" name="Shape 14"/>
          <p:cNvSpPr/>
          <p:nvPr/>
        </p:nvSpPr>
        <p:spPr>
          <a:xfrm>
            <a:off x="952500" y="3986213"/>
            <a:ext cx="4616053" cy="9525"/>
          </a:xfrm>
          <a:prstGeom prst="rect">
            <a:avLst/>
          </a:prstGeom>
          <a:solidFill>
            <a:srgbClr val="D9D3C5"/>
          </a:solidFill>
          <a:ln/>
        </p:spPr>
        <p:txBody>
          <a:bodyPr/>
          <a:lstStyle/>
          <a:p>
            <a:endParaRPr lang="en-US"/>
          </a:p>
        </p:txBody>
      </p:sp>
      <p:sp>
        <p:nvSpPr>
          <p:cNvPr id="17" name="Text 15"/>
          <p:cNvSpPr/>
          <p:nvPr/>
        </p:nvSpPr>
        <p:spPr>
          <a:xfrm>
            <a:off x="1162050" y="3486150"/>
            <a:ext cx="4335435" cy="366712"/>
          </a:xfrm>
          <a:prstGeom prst="rect">
            <a:avLst/>
          </a:prstGeom>
          <a:noFill/>
          <a:ln/>
        </p:spPr>
        <p:txBody>
          <a:bodyPr wrap="square" lIns="25400" tIns="25400" rIns="25400" bIns="25400" rtlCol="0" anchor="ctr">
            <a:normAutofit lnSpcReduction="10000"/>
          </a:bodyPr>
          <a:lstStyle/>
          <a:p>
            <a:pPr marL="0" indent="0" algn="l">
              <a:buNone/>
            </a:pPr>
            <a:r>
              <a:rPr lang="en-US" sz="2100" dirty="0" err="1">
                <a:solidFill>
                  <a:srgbClr val="1C1B1A"/>
                </a:solidFill>
                <a:highlight>
                  <a:srgbClr val="00FF00"/>
                </a:highlight>
                <a:latin typeface="Arial" pitchFamily="34" charset="0"/>
                <a:ea typeface="Arial" pitchFamily="34" charset="-122"/>
                <a:cs typeface="Arial" pitchFamily="34" charset="-120"/>
              </a:rPr>
              <a:t>XGBoost</a:t>
            </a:r>
            <a:r>
              <a:rPr lang="en-US" sz="2100" dirty="0">
                <a:solidFill>
                  <a:srgbClr val="1C1B1A"/>
                </a:solidFill>
                <a:latin typeface="Arial" pitchFamily="34" charset="0"/>
                <a:ea typeface="Arial" pitchFamily="34" charset="-122"/>
                <a:cs typeface="Arial" pitchFamily="34" charset="-120"/>
              </a:rPr>
              <a:t>  </a:t>
            </a:r>
            <a:r>
              <a:rPr lang="en-US" sz="1350" dirty="0">
                <a:solidFill>
                  <a:srgbClr val="1D9E75"/>
                </a:solidFill>
                <a:latin typeface="Courier New" pitchFamily="34" charset="0"/>
                <a:ea typeface="Courier New" pitchFamily="34" charset="-122"/>
                <a:cs typeface="Courier New" pitchFamily="34" charset="-120"/>
              </a:rPr>
              <a:t>BEST F1</a:t>
            </a:r>
            <a:endParaRPr lang="en-US" sz="2100" dirty="0"/>
          </a:p>
        </p:txBody>
      </p:sp>
      <p:sp>
        <p:nvSpPr>
          <p:cNvPr id="18" name="Shape 16"/>
          <p:cNvSpPr/>
          <p:nvPr/>
        </p:nvSpPr>
        <p:spPr>
          <a:xfrm>
            <a:off x="5568553" y="3314700"/>
            <a:ext cx="2408634" cy="681038"/>
          </a:xfrm>
          <a:prstGeom prst="rect">
            <a:avLst/>
          </a:prstGeom>
          <a:solidFill>
            <a:srgbClr val="1D9E75">
              <a:alpha val="8000"/>
            </a:srgbClr>
          </a:solidFill>
          <a:ln/>
        </p:spPr>
        <p:txBody>
          <a:bodyPr/>
          <a:lstStyle/>
          <a:p>
            <a:endParaRPr lang="en-US"/>
          </a:p>
        </p:txBody>
      </p:sp>
      <p:sp>
        <p:nvSpPr>
          <p:cNvPr id="19" name="Shape 17"/>
          <p:cNvSpPr/>
          <p:nvPr/>
        </p:nvSpPr>
        <p:spPr>
          <a:xfrm>
            <a:off x="5568553" y="3986213"/>
            <a:ext cx="2408634" cy="9525"/>
          </a:xfrm>
          <a:prstGeom prst="rect">
            <a:avLst/>
          </a:prstGeom>
          <a:solidFill>
            <a:srgbClr val="D9D3C5"/>
          </a:solidFill>
          <a:ln/>
        </p:spPr>
        <p:txBody>
          <a:bodyPr/>
          <a:lstStyle/>
          <a:p>
            <a:endParaRPr lang="en-US"/>
          </a:p>
        </p:txBody>
      </p:sp>
      <p:sp>
        <p:nvSpPr>
          <p:cNvPr id="20" name="Text 18"/>
          <p:cNvSpPr/>
          <p:nvPr/>
        </p:nvSpPr>
        <p:spPr>
          <a:xfrm>
            <a:off x="5701903" y="3486150"/>
            <a:ext cx="2065734" cy="366712"/>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76.95%</a:t>
            </a:r>
            <a:endParaRPr lang="en-US" sz="2100" dirty="0"/>
          </a:p>
        </p:txBody>
      </p:sp>
      <p:sp>
        <p:nvSpPr>
          <p:cNvPr id="21" name="Shape 19"/>
          <p:cNvSpPr/>
          <p:nvPr/>
        </p:nvSpPr>
        <p:spPr>
          <a:xfrm>
            <a:off x="7977188" y="3314700"/>
            <a:ext cx="2564011" cy="681038"/>
          </a:xfrm>
          <a:prstGeom prst="rect">
            <a:avLst/>
          </a:prstGeom>
          <a:solidFill>
            <a:srgbClr val="1D9E75">
              <a:alpha val="8000"/>
            </a:srgbClr>
          </a:solidFill>
          <a:ln/>
        </p:spPr>
        <p:txBody>
          <a:bodyPr/>
          <a:lstStyle/>
          <a:p>
            <a:endParaRPr lang="en-US"/>
          </a:p>
        </p:txBody>
      </p:sp>
      <p:sp>
        <p:nvSpPr>
          <p:cNvPr id="22" name="Shape 20"/>
          <p:cNvSpPr/>
          <p:nvPr/>
        </p:nvSpPr>
        <p:spPr>
          <a:xfrm>
            <a:off x="7977188" y="3986213"/>
            <a:ext cx="2564011" cy="9525"/>
          </a:xfrm>
          <a:prstGeom prst="rect">
            <a:avLst/>
          </a:prstGeom>
          <a:solidFill>
            <a:srgbClr val="D9D3C5"/>
          </a:solidFill>
          <a:ln/>
        </p:spPr>
        <p:txBody>
          <a:bodyPr/>
          <a:lstStyle/>
          <a:p>
            <a:endParaRPr lang="en-US"/>
          </a:p>
        </p:txBody>
      </p:sp>
      <p:sp>
        <p:nvSpPr>
          <p:cNvPr id="23" name="Text 21"/>
          <p:cNvSpPr/>
          <p:nvPr/>
        </p:nvSpPr>
        <p:spPr>
          <a:xfrm>
            <a:off x="8109817" y="3486150"/>
            <a:ext cx="2221831" cy="366712"/>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0.7056</a:t>
            </a:r>
            <a:endParaRPr lang="en-US" sz="2100" dirty="0"/>
          </a:p>
        </p:txBody>
      </p:sp>
      <p:sp>
        <p:nvSpPr>
          <p:cNvPr id="24" name="Shape 22"/>
          <p:cNvSpPr/>
          <p:nvPr/>
        </p:nvSpPr>
        <p:spPr>
          <a:xfrm>
            <a:off x="10541198" y="3314700"/>
            <a:ext cx="3107829" cy="681038"/>
          </a:xfrm>
          <a:prstGeom prst="rect">
            <a:avLst/>
          </a:prstGeom>
          <a:solidFill>
            <a:srgbClr val="1D9E75">
              <a:alpha val="8000"/>
            </a:srgbClr>
          </a:solidFill>
          <a:ln/>
        </p:spPr>
        <p:txBody>
          <a:bodyPr/>
          <a:lstStyle/>
          <a:p>
            <a:endParaRPr lang="en-US"/>
          </a:p>
        </p:txBody>
      </p:sp>
      <p:sp>
        <p:nvSpPr>
          <p:cNvPr id="25" name="Shape 23"/>
          <p:cNvSpPr/>
          <p:nvPr/>
        </p:nvSpPr>
        <p:spPr>
          <a:xfrm>
            <a:off x="10541198" y="3986213"/>
            <a:ext cx="3107829" cy="9525"/>
          </a:xfrm>
          <a:prstGeom prst="rect">
            <a:avLst/>
          </a:prstGeom>
          <a:solidFill>
            <a:srgbClr val="D9D3C5"/>
          </a:solidFill>
          <a:ln/>
        </p:spPr>
        <p:txBody>
          <a:bodyPr/>
          <a:lstStyle/>
          <a:p>
            <a:endParaRPr lang="en-US"/>
          </a:p>
        </p:txBody>
      </p:sp>
      <p:sp>
        <p:nvSpPr>
          <p:cNvPr id="26" name="Text 24"/>
          <p:cNvSpPr/>
          <p:nvPr/>
        </p:nvSpPr>
        <p:spPr>
          <a:xfrm>
            <a:off x="10657514" y="3486150"/>
            <a:ext cx="2781964" cy="366712"/>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0.7634</a:t>
            </a:r>
            <a:endParaRPr lang="en-US" sz="2100" dirty="0"/>
          </a:p>
        </p:txBody>
      </p:sp>
      <p:sp>
        <p:nvSpPr>
          <p:cNvPr id="27" name="Shape 25"/>
          <p:cNvSpPr/>
          <p:nvPr/>
        </p:nvSpPr>
        <p:spPr>
          <a:xfrm>
            <a:off x="13649027" y="3314700"/>
            <a:ext cx="3687068" cy="681038"/>
          </a:xfrm>
          <a:prstGeom prst="rect">
            <a:avLst/>
          </a:prstGeom>
          <a:solidFill>
            <a:srgbClr val="1D9E75">
              <a:alpha val="8000"/>
            </a:srgbClr>
          </a:solidFill>
          <a:ln/>
        </p:spPr>
        <p:txBody>
          <a:bodyPr/>
          <a:lstStyle/>
          <a:p>
            <a:endParaRPr lang="en-US"/>
          </a:p>
        </p:txBody>
      </p:sp>
      <p:sp>
        <p:nvSpPr>
          <p:cNvPr id="28" name="Shape 26"/>
          <p:cNvSpPr/>
          <p:nvPr/>
        </p:nvSpPr>
        <p:spPr>
          <a:xfrm>
            <a:off x="13649027" y="3986213"/>
            <a:ext cx="3687068" cy="9525"/>
          </a:xfrm>
          <a:prstGeom prst="rect">
            <a:avLst/>
          </a:prstGeom>
          <a:solidFill>
            <a:srgbClr val="D9D3C5"/>
          </a:solidFill>
          <a:ln/>
        </p:spPr>
        <p:txBody>
          <a:bodyPr/>
          <a:lstStyle/>
          <a:p>
            <a:endParaRPr lang="en-US"/>
          </a:p>
        </p:txBody>
      </p:sp>
      <p:sp>
        <p:nvSpPr>
          <p:cNvPr id="29" name="Text 27"/>
          <p:cNvSpPr/>
          <p:nvPr/>
        </p:nvSpPr>
        <p:spPr>
          <a:xfrm>
            <a:off x="13747965" y="3486150"/>
            <a:ext cx="3378580" cy="366712"/>
          </a:xfrm>
          <a:prstGeom prst="rect">
            <a:avLst/>
          </a:prstGeom>
          <a:noFill/>
          <a:ln/>
        </p:spPr>
        <p:txBody>
          <a:bodyPr wrap="square" lIns="25400" tIns="25400" rIns="25400" bIns="25400" rtlCol="0" anchor="ctr">
            <a:normAutofit lnSpcReduction="10000"/>
          </a:bodyPr>
          <a:lstStyle/>
          <a:p>
            <a:pPr marL="0" indent="0" algn="r">
              <a:buNone/>
            </a:pPr>
            <a:r>
              <a:rPr lang="en-US" sz="2100" b="1" dirty="0">
                <a:solidFill>
                  <a:srgbClr val="1C1B1A"/>
                </a:solidFill>
                <a:latin typeface="Arial" pitchFamily="34" charset="0"/>
                <a:ea typeface="Arial" pitchFamily="34" charset="-122"/>
                <a:cs typeface="Arial" pitchFamily="34" charset="-120"/>
              </a:rPr>
              <a:t>0.7136 ± 0.0131</a:t>
            </a:r>
            <a:endParaRPr lang="en-US" sz="2100" dirty="0"/>
          </a:p>
        </p:txBody>
      </p:sp>
      <p:sp>
        <p:nvSpPr>
          <p:cNvPr id="30" name="Shape 28"/>
          <p:cNvSpPr/>
          <p:nvPr/>
        </p:nvSpPr>
        <p:spPr>
          <a:xfrm>
            <a:off x="952500" y="4662488"/>
            <a:ext cx="4616053" cy="9525"/>
          </a:xfrm>
          <a:prstGeom prst="rect">
            <a:avLst/>
          </a:prstGeom>
          <a:solidFill>
            <a:srgbClr val="D9D3C5"/>
          </a:solidFill>
          <a:ln/>
        </p:spPr>
        <p:txBody>
          <a:bodyPr/>
          <a:lstStyle/>
          <a:p>
            <a:endParaRPr lang="en-US"/>
          </a:p>
        </p:txBody>
      </p:sp>
      <p:sp>
        <p:nvSpPr>
          <p:cNvPr id="31" name="Text 29"/>
          <p:cNvSpPr/>
          <p:nvPr/>
        </p:nvSpPr>
        <p:spPr>
          <a:xfrm>
            <a:off x="1162050" y="4167188"/>
            <a:ext cx="4335435" cy="361950"/>
          </a:xfrm>
          <a:prstGeom prst="rect">
            <a:avLst/>
          </a:prstGeom>
          <a:noFill/>
          <a:ln/>
        </p:spPr>
        <p:txBody>
          <a:bodyPr wrap="square" lIns="25400" tIns="25400" rIns="25400" bIns="25400" rtlCol="0" anchor="ctr">
            <a:normAutofit lnSpcReduction="10000"/>
          </a:bodyPr>
          <a:lstStyle/>
          <a:p>
            <a:pPr marL="0" indent="0" algn="l">
              <a:buNone/>
            </a:pPr>
            <a:r>
              <a:rPr lang="en-US" sz="2100" dirty="0">
                <a:solidFill>
                  <a:srgbClr val="1C1B1A"/>
                </a:solidFill>
                <a:latin typeface="Arial" pitchFamily="34" charset="0"/>
                <a:ea typeface="Arial" pitchFamily="34" charset="-122"/>
                <a:cs typeface="Arial" pitchFamily="34" charset="-120"/>
              </a:rPr>
              <a:t>Random Forest  </a:t>
            </a:r>
            <a:r>
              <a:rPr lang="en-US" sz="1350" dirty="0">
                <a:solidFill>
                  <a:srgbClr val="0E3A53"/>
                </a:solidFill>
                <a:latin typeface="Courier New" pitchFamily="34" charset="0"/>
                <a:ea typeface="Courier New" pitchFamily="34" charset="-122"/>
                <a:cs typeface="Courier New" pitchFamily="34" charset="-120"/>
              </a:rPr>
              <a:t>BEST ACC</a:t>
            </a:r>
            <a:endParaRPr lang="en-US" sz="2100" dirty="0"/>
          </a:p>
        </p:txBody>
      </p:sp>
      <p:sp>
        <p:nvSpPr>
          <p:cNvPr id="32" name="Shape 30"/>
          <p:cNvSpPr/>
          <p:nvPr/>
        </p:nvSpPr>
        <p:spPr>
          <a:xfrm>
            <a:off x="5568553" y="4662488"/>
            <a:ext cx="2408634" cy="9525"/>
          </a:xfrm>
          <a:prstGeom prst="rect">
            <a:avLst/>
          </a:prstGeom>
          <a:solidFill>
            <a:srgbClr val="D9D3C5"/>
          </a:solidFill>
          <a:ln/>
        </p:spPr>
        <p:txBody>
          <a:bodyPr/>
          <a:lstStyle/>
          <a:p>
            <a:endParaRPr lang="en-US"/>
          </a:p>
        </p:txBody>
      </p:sp>
      <p:sp>
        <p:nvSpPr>
          <p:cNvPr id="33" name="Text 31"/>
          <p:cNvSpPr/>
          <p:nvPr/>
        </p:nvSpPr>
        <p:spPr>
          <a:xfrm>
            <a:off x="5701903" y="4167188"/>
            <a:ext cx="2065734"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77.06%</a:t>
            </a:r>
            <a:endParaRPr lang="en-US" sz="2100" dirty="0"/>
          </a:p>
        </p:txBody>
      </p:sp>
      <p:sp>
        <p:nvSpPr>
          <p:cNvPr id="34" name="Shape 32"/>
          <p:cNvSpPr/>
          <p:nvPr/>
        </p:nvSpPr>
        <p:spPr>
          <a:xfrm>
            <a:off x="7977188" y="4662488"/>
            <a:ext cx="2564011" cy="9525"/>
          </a:xfrm>
          <a:prstGeom prst="rect">
            <a:avLst/>
          </a:prstGeom>
          <a:solidFill>
            <a:srgbClr val="D9D3C5"/>
          </a:solidFill>
          <a:ln/>
        </p:spPr>
        <p:txBody>
          <a:bodyPr/>
          <a:lstStyle/>
          <a:p>
            <a:endParaRPr lang="en-US"/>
          </a:p>
        </p:txBody>
      </p:sp>
      <p:sp>
        <p:nvSpPr>
          <p:cNvPr id="35" name="Text 33"/>
          <p:cNvSpPr/>
          <p:nvPr/>
        </p:nvSpPr>
        <p:spPr>
          <a:xfrm>
            <a:off x="8109817" y="4167188"/>
            <a:ext cx="2221831"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0.6887</a:t>
            </a:r>
            <a:endParaRPr lang="en-US" sz="2100" dirty="0"/>
          </a:p>
        </p:txBody>
      </p:sp>
      <p:sp>
        <p:nvSpPr>
          <p:cNvPr id="36" name="Shape 34"/>
          <p:cNvSpPr/>
          <p:nvPr/>
        </p:nvSpPr>
        <p:spPr>
          <a:xfrm>
            <a:off x="10541198" y="4662488"/>
            <a:ext cx="3107829" cy="9525"/>
          </a:xfrm>
          <a:prstGeom prst="rect">
            <a:avLst/>
          </a:prstGeom>
          <a:solidFill>
            <a:srgbClr val="D9D3C5"/>
          </a:solidFill>
          <a:ln/>
        </p:spPr>
        <p:txBody>
          <a:bodyPr/>
          <a:lstStyle/>
          <a:p>
            <a:endParaRPr lang="en-US"/>
          </a:p>
        </p:txBody>
      </p:sp>
      <p:sp>
        <p:nvSpPr>
          <p:cNvPr id="37" name="Text 35"/>
          <p:cNvSpPr/>
          <p:nvPr/>
        </p:nvSpPr>
        <p:spPr>
          <a:xfrm>
            <a:off x="10657514" y="4167188"/>
            <a:ext cx="2781964"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0.7548</a:t>
            </a:r>
            <a:endParaRPr lang="en-US" sz="2100" dirty="0"/>
          </a:p>
        </p:txBody>
      </p:sp>
      <p:sp>
        <p:nvSpPr>
          <p:cNvPr id="38" name="Shape 36"/>
          <p:cNvSpPr/>
          <p:nvPr/>
        </p:nvSpPr>
        <p:spPr>
          <a:xfrm>
            <a:off x="13649027" y="4662488"/>
            <a:ext cx="3687068" cy="9525"/>
          </a:xfrm>
          <a:prstGeom prst="rect">
            <a:avLst/>
          </a:prstGeom>
          <a:solidFill>
            <a:srgbClr val="D9D3C5"/>
          </a:solidFill>
          <a:ln/>
        </p:spPr>
        <p:txBody>
          <a:bodyPr/>
          <a:lstStyle/>
          <a:p>
            <a:endParaRPr lang="en-US"/>
          </a:p>
        </p:txBody>
      </p:sp>
      <p:sp>
        <p:nvSpPr>
          <p:cNvPr id="39" name="Text 37"/>
          <p:cNvSpPr/>
          <p:nvPr/>
        </p:nvSpPr>
        <p:spPr>
          <a:xfrm>
            <a:off x="13747965" y="4167188"/>
            <a:ext cx="337858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0.6956 ± 0.0087</a:t>
            </a:r>
            <a:endParaRPr lang="en-US" sz="2100" dirty="0"/>
          </a:p>
        </p:txBody>
      </p:sp>
      <p:sp>
        <p:nvSpPr>
          <p:cNvPr id="40" name="Shape 38"/>
          <p:cNvSpPr/>
          <p:nvPr/>
        </p:nvSpPr>
        <p:spPr>
          <a:xfrm>
            <a:off x="952500" y="5338763"/>
            <a:ext cx="4616053" cy="9525"/>
          </a:xfrm>
          <a:prstGeom prst="rect">
            <a:avLst/>
          </a:prstGeom>
          <a:solidFill>
            <a:srgbClr val="D9D3C5"/>
          </a:solidFill>
          <a:ln/>
        </p:spPr>
        <p:txBody>
          <a:bodyPr/>
          <a:lstStyle/>
          <a:p>
            <a:endParaRPr lang="en-US"/>
          </a:p>
        </p:txBody>
      </p:sp>
      <p:sp>
        <p:nvSpPr>
          <p:cNvPr id="41" name="Text 39"/>
          <p:cNvSpPr/>
          <p:nvPr/>
        </p:nvSpPr>
        <p:spPr>
          <a:xfrm>
            <a:off x="1162050" y="4843463"/>
            <a:ext cx="4335435" cy="361950"/>
          </a:xfrm>
          <a:prstGeom prst="rect">
            <a:avLst/>
          </a:prstGeom>
          <a:noFill/>
          <a:ln/>
        </p:spPr>
        <p:txBody>
          <a:bodyPr wrap="square" lIns="25400" tIns="25400" rIns="25400" bIns="25400" rtlCol="0" anchor="ctr">
            <a:normAutofit lnSpcReduction="10000"/>
          </a:bodyPr>
          <a:lstStyle/>
          <a:p>
            <a:pPr marL="0" indent="0" algn="l">
              <a:buNone/>
            </a:pPr>
            <a:r>
              <a:rPr lang="en-US" sz="2100" dirty="0">
                <a:solidFill>
                  <a:srgbClr val="1C1B1A"/>
                </a:solidFill>
                <a:latin typeface="Arial" pitchFamily="34" charset="0"/>
                <a:ea typeface="Arial" pitchFamily="34" charset="-122"/>
                <a:cs typeface="Arial" pitchFamily="34" charset="-120"/>
              </a:rPr>
              <a:t>Logistic Regression</a:t>
            </a:r>
            <a:endParaRPr lang="en-US" sz="2100" dirty="0"/>
          </a:p>
        </p:txBody>
      </p:sp>
      <p:sp>
        <p:nvSpPr>
          <p:cNvPr id="42" name="Shape 40"/>
          <p:cNvSpPr/>
          <p:nvPr/>
        </p:nvSpPr>
        <p:spPr>
          <a:xfrm>
            <a:off x="5568553" y="5338763"/>
            <a:ext cx="2408634" cy="9525"/>
          </a:xfrm>
          <a:prstGeom prst="rect">
            <a:avLst/>
          </a:prstGeom>
          <a:solidFill>
            <a:srgbClr val="D9D3C5"/>
          </a:solidFill>
          <a:ln/>
        </p:spPr>
        <p:txBody>
          <a:bodyPr/>
          <a:lstStyle/>
          <a:p>
            <a:endParaRPr lang="en-US"/>
          </a:p>
        </p:txBody>
      </p:sp>
      <p:sp>
        <p:nvSpPr>
          <p:cNvPr id="43" name="Text 41"/>
          <p:cNvSpPr/>
          <p:nvPr/>
        </p:nvSpPr>
        <p:spPr>
          <a:xfrm>
            <a:off x="5701903" y="4843463"/>
            <a:ext cx="2065734"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76.84%</a:t>
            </a:r>
            <a:endParaRPr lang="en-US" sz="2100" dirty="0"/>
          </a:p>
        </p:txBody>
      </p:sp>
      <p:sp>
        <p:nvSpPr>
          <p:cNvPr id="44" name="Shape 42"/>
          <p:cNvSpPr/>
          <p:nvPr/>
        </p:nvSpPr>
        <p:spPr>
          <a:xfrm>
            <a:off x="7977188" y="5338763"/>
            <a:ext cx="2564011" cy="9525"/>
          </a:xfrm>
          <a:prstGeom prst="rect">
            <a:avLst/>
          </a:prstGeom>
          <a:solidFill>
            <a:srgbClr val="D9D3C5"/>
          </a:solidFill>
          <a:ln/>
        </p:spPr>
        <p:txBody>
          <a:bodyPr/>
          <a:lstStyle/>
          <a:p>
            <a:endParaRPr lang="en-US"/>
          </a:p>
        </p:txBody>
      </p:sp>
      <p:sp>
        <p:nvSpPr>
          <p:cNvPr id="45" name="Text 43"/>
          <p:cNvSpPr/>
          <p:nvPr/>
        </p:nvSpPr>
        <p:spPr>
          <a:xfrm>
            <a:off x="8109817" y="4843463"/>
            <a:ext cx="2221831"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0.6826</a:t>
            </a:r>
            <a:endParaRPr lang="en-US" sz="2100" dirty="0"/>
          </a:p>
        </p:txBody>
      </p:sp>
      <p:sp>
        <p:nvSpPr>
          <p:cNvPr id="46" name="Shape 44"/>
          <p:cNvSpPr/>
          <p:nvPr/>
        </p:nvSpPr>
        <p:spPr>
          <a:xfrm>
            <a:off x="10541198" y="5338763"/>
            <a:ext cx="3107829" cy="9525"/>
          </a:xfrm>
          <a:prstGeom prst="rect">
            <a:avLst/>
          </a:prstGeom>
          <a:solidFill>
            <a:srgbClr val="D9D3C5"/>
          </a:solidFill>
          <a:ln/>
        </p:spPr>
        <p:txBody>
          <a:bodyPr/>
          <a:lstStyle/>
          <a:p>
            <a:endParaRPr lang="en-US"/>
          </a:p>
        </p:txBody>
      </p:sp>
      <p:sp>
        <p:nvSpPr>
          <p:cNvPr id="47" name="Text 45"/>
          <p:cNvSpPr/>
          <p:nvPr/>
        </p:nvSpPr>
        <p:spPr>
          <a:xfrm>
            <a:off x="10657514" y="4843463"/>
            <a:ext cx="2781964"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0.7531</a:t>
            </a:r>
            <a:endParaRPr lang="en-US" sz="2100" dirty="0"/>
          </a:p>
        </p:txBody>
      </p:sp>
      <p:sp>
        <p:nvSpPr>
          <p:cNvPr id="48" name="Shape 46"/>
          <p:cNvSpPr/>
          <p:nvPr/>
        </p:nvSpPr>
        <p:spPr>
          <a:xfrm>
            <a:off x="13649027" y="5338763"/>
            <a:ext cx="3687068" cy="9525"/>
          </a:xfrm>
          <a:prstGeom prst="rect">
            <a:avLst/>
          </a:prstGeom>
          <a:solidFill>
            <a:srgbClr val="D9D3C5"/>
          </a:solidFill>
          <a:ln/>
        </p:spPr>
        <p:txBody>
          <a:bodyPr/>
          <a:lstStyle/>
          <a:p>
            <a:endParaRPr lang="en-US"/>
          </a:p>
        </p:txBody>
      </p:sp>
      <p:sp>
        <p:nvSpPr>
          <p:cNvPr id="49" name="Text 47"/>
          <p:cNvSpPr/>
          <p:nvPr/>
        </p:nvSpPr>
        <p:spPr>
          <a:xfrm>
            <a:off x="13747965" y="4843463"/>
            <a:ext cx="337858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0.6782 ± 0.0089</a:t>
            </a:r>
            <a:endParaRPr lang="en-US" sz="2100" dirty="0"/>
          </a:p>
        </p:txBody>
      </p:sp>
      <p:sp>
        <p:nvSpPr>
          <p:cNvPr id="50" name="Shape 48"/>
          <p:cNvSpPr/>
          <p:nvPr/>
        </p:nvSpPr>
        <p:spPr>
          <a:xfrm>
            <a:off x="952500" y="6015038"/>
            <a:ext cx="4616053" cy="9525"/>
          </a:xfrm>
          <a:prstGeom prst="rect">
            <a:avLst/>
          </a:prstGeom>
          <a:solidFill>
            <a:srgbClr val="D9D3C5"/>
          </a:solidFill>
          <a:ln/>
        </p:spPr>
        <p:txBody>
          <a:bodyPr/>
          <a:lstStyle/>
          <a:p>
            <a:endParaRPr lang="en-US"/>
          </a:p>
        </p:txBody>
      </p:sp>
      <p:sp>
        <p:nvSpPr>
          <p:cNvPr id="51" name="Text 49"/>
          <p:cNvSpPr/>
          <p:nvPr/>
        </p:nvSpPr>
        <p:spPr>
          <a:xfrm>
            <a:off x="1162050" y="5519738"/>
            <a:ext cx="4335435" cy="361950"/>
          </a:xfrm>
          <a:prstGeom prst="rect">
            <a:avLst/>
          </a:prstGeom>
          <a:noFill/>
          <a:ln/>
        </p:spPr>
        <p:txBody>
          <a:bodyPr wrap="square" lIns="25400" tIns="25400" rIns="25400" bIns="25400" rtlCol="0" anchor="ctr">
            <a:normAutofit lnSpcReduction="10000"/>
          </a:bodyPr>
          <a:lstStyle/>
          <a:p>
            <a:pPr marL="0" indent="0" algn="l">
              <a:buNone/>
            </a:pPr>
            <a:r>
              <a:rPr lang="en-US" sz="2100" dirty="0">
                <a:solidFill>
                  <a:srgbClr val="1C1B1A"/>
                </a:solidFill>
                <a:latin typeface="Arial" pitchFamily="34" charset="0"/>
                <a:ea typeface="Arial" pitchFamily="34" charset="-122"/>
                <a:cs typeface="Arial" pitchFamily="34" charset="-120"/>
              </a:rPr>
              <a:t>SVM</a:t>
            </a:r>
            <a:endParaRPr lang="en-US" sz="2100" dirty="0"/>
          </a:p>
        </p:txBody>
      </p:sp>
      <p:sp>
        <p:nvSpPr>
          <p:cNvPr id="52" name="Shape 50"/>
          <p:cNvSpPr/>
          <p:nvPr/>
        </p:nvSpPr>
        <p:spPr>
          <a:xfrm>
            <a:off x="5568553" y="6015038"/>
            <a:ext cx="2408634" cy="9525"/>
          </a:xfrm>
          <a:prstGeom prst="rect">
            <a:avLst/>
          </a:prstGeom>
          <a:solidFill>
            <a:srgbClr val="D9D3C5"/>
          </a:solidFill>
          <a:ln/>
        </p:spPr>
        <p:txBody>
          <a:bodyPr/>
          <a:lstStyle/>
          <a:p>
            <a:endParaRPr lang="en-US"/>
          </a:p>
        </p:txBody>
      </p:sp>
      <p:sp>
        <p:nvSpPr>
          <p:cNvPr id="53" name="Text 51"/>
          <p:cNvSpPr/>
          <p:nvPr/>
        </p:nvSpPr>
        <p:spPr>
          <a:xfrm>
            <a:off x="5701903" y="5519738"/>
            <a:ext cx="2065734"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75.93%</a:t>
            </a:r>
            <a:endParaRPr lang="en-US" sz="2100" dirty="0"/>
          </a:p>
        </p:txBody>
      </p:sp>
      <p:sp>
        <p:nvSpPr>
          <p:cNvPr id="54" name="Shape 52"/>
          <p:cNvSpPr/>
          <p:nvPr/>
        </p:nvSpPr>
        <p:spPr>
          <a:xfrm>
            <a:off x="7977188" y="6015038"/>
            <a:ext cx="2564011" cy="9525"/>
          </a:xfrm>
          <a:prstGeom prst="rect">
            <a:avLst/>
          </a:prstGeom>
          <a:solidFill>
            <a:srgbClr val="D9D3C5"/>
          </a:solidFill>
          <a:ln/>
        </p:spPr>
        <p:txBody>
          <a:bodyPr/>
          <a:lstStyle/>
          <a:p>
            <a:endParaRPr lang="en-US"/>
          </a:p>
        </p:txBody>
      </p:sp>
      <p:sp>
        <p:nvSpPr>
          <p:cNvPr id="55" name="Text 53"/>
          <p:cNvSpPr/>
          <p:nvPr/>
        </p:nvSpPr>
        <p:spPr>
          <a:xfrm>
            <a:off x="8109817" y="5519738"/>
            <a:ext cx="2221831"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0.6797</a:t>
            </a:r>
            <a:endParaRPr lang="en-US" sz="2100" dirty="0"/>
          </a:p>
        </p:txBody>
      </p:sp>
      <p:sp>
        <p:nvSpPr>
          <p:cNvPr id="56" name="Shape 54"/>
          <p:cNvSpPr/>
          <p:nvPr/>
        </p:nvSpPr>
        <p:spPr>
          <a:xfrm>
            <a:off x="10541198" y="6015038"/>
            <a:ext cx="3107829" cy="9525"/>
          </a:xfrm>
          <a:prstGeom prst="rect">
            <a:avLst/>
          </a:prstGeom>
          <a:solidFill>
            <a:srgbClr val="D9D3C5"/>
          </a:solidFill>
          <a:ln/>
        </p:spPr>
        <p:txBody>
          <a:bodyPr/>
          <a:lstStyle/>
          <a:p>
            <a:endParaRPr lang="en-US"/>
          </a:p>
        </p:txBody>
      </p:sp>
      <p:sp>
        <p:nvSpPr>
          <p:cNvPr id="57" name="Text 55"/>
          <p:cNvSpPr/>
          <p:nvPr/>
        </p:nvSpPr>
        <p:spPr>
          <a:xfrm>
            <a:off x="10657514" y="5519738"/>
            <a:ext cx="2781964"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0.7466</a:t>
            </a:r>
            <a:endParaRPr lang="en-US" sz="2100" dirty="0"/>
          </a:p>
        </p:txBody>
      </p:sp>
      <p:sp>
        <p:nvSpPr>
          <p:cNvPr id="58" name="Shape 56"/>
          <p:cNvSpPr/>
          <p:nvPr/>
        </p:nvSpPr>
        <p:spPr>
          <a:xfrm>
            <a:off x="13649027" y="6015038"/>
            <a:ext cx="3687068" cy="9525"/>
          </a:xfrm>
          <a:prstGeom prst="rect">
            <a:avLst/>
          </a:prstGeom>
          <a:solidFill>
            <a:srgbClr val="D9D3C5"/>
          </a:solidFill>
          <a:ln/>
        </p:spPr>
        <p:txBody>
          <a:bodyPr/>
          <a:lstStyle/>
          <a:p>
            <a:endParaRPr lang="en-US"/>
          </a:p>
        </p:txBody>
      </p:sp>
      <p:sp>
        <p:nvSpPr>
          <p:cNvPr id="59" name="Text 57"/>
          <p:cNvSpPr/>
          <p:nvPr/>
        </p:nvSpPr>
        <p:spPr>
          <a:xfrm>
            <a:off x="13747965" y="5519738"/>
            <a:ext cx="337858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0.6798 ± 0.0220</a:t>
            </a:r>
            <a:endParaRPr lang="en-US" sz="2100" dirty="0"/>
          </a:p>
        </p:txBody>
      </p:sp>
      <p:sp>
        <p:nvSpPr>
          <p:cNvPr id="60" name="Shape 58"/>
          <p:cNvSpPr/>
          <p:nvPr/>
        </p:nvSpPr>
        <p:spPr>
          <a:xfrm>
            <a:off x="952500" y="6691313"/>
            <a:ext cx="4616053" cy="9525"/>
          </a:xfrm>
          <a:prstGeom prst="rect">
            <a:avLst/>
          </a:prstGeom>
          <a:solidFill>
            <a:srgbClr val="D9D3C5"/>
          </a:solidFill>
          <a:ln/>
        </p:spPr>
        <p:txBody>
          <a:bodyPr/>
          <a:lstStyle/>
          <a:p>
            <a:endParaRPr lang="en-US"/>
          </a:p>
        </p:txBody>
      </p:sp>
      <p:sp>
        <p:nvSpPr>
          <p:cNvPr id="61" name="Text 59"/>
          <p:cNvSpPr/>
          <p:nvPr/>
        </p:nvSpPr>
        <p:spPr>
          <a:xfrm>
            <a:off x="1162050" y="6196013"/>
            <a:ext cx="4335435" cy="361950"/>
          </a:xfrm>
          <a:prstGeom prst="rect">
            <a:avLst/>
          </a:prstGeom>
          <a:noFill/>
          <a:ln/>
        </p:spPr>
        <p:txBody>
          <a:bodyPr wrap="square" lIns="25400" tIns="25400" rIns="25400" bIns="25400" rtlCol="0" anchor="ctr">
            <a:normAutofit lnSpcReduction="10000"/>
          </a:bodyPr>
          <a:lstStyle/>
          <a:p>
            <a:pPr marL="0" indent="0" algn="l">
              <a:buNone/>
            </a:pPr>
            <a:r>
              <a:rPr lang="en-US" sz="2100" dirty="0">
                <a:solidFill>
                  <a:srgbClr val="1C1B1A"/>
                </a:solidFill>
                <a:latin typeface="Arial" pitchFamily="34" charset="0"/>
                <a:ea typeface="Arial" pitchFamily="34" charset="-122"/>
                <a:cs typeface="Arial" pitchFamily="34" charset="-120"/>
              </a:rPr>
              <a:t>Decision Tree</a:t>
            </a:r>
            <a:endParaRPr lang="en-US" sz="2100" dirty="0"/>
          </a:p>
        </p:txBody>
      </p:sp>
      <p:sp>
        <p:nvSpPr>
          <p:cNvPr id="62" name="Shape 60"/>
          <p:cNvSpPr/>
          <p:nvPr/>
        </p:nvSpPr>
        <p:spPr>
          <a:xfrm>
            <a:off x="5568553" y="6691313"/>
            <a:ext cx="2408634" cy="9525"/>
          </a:xfrm>
          <a:prstGeom prst="rect">
            <a:avLst/>
          </a:prstGeom>
          <a:solidFill>
            <a:srgbClr val="D9D3C5"/>
          </a:solidFill>
          <a:ln/>
        </p:spPr>
        <p:txBody>
          <a:bodyPr/>
          <a:lstStyle/>
          <a:p>
            <a:endParaRPr lang="en-US"/>
          </a:p>
        </p:txBody>
      </p:sp>
      <p:sp>
        <p:nvSpPr>
          <p:cNvPr id="63" name="Text 61"/>
          <p:cNvSpPr/>
          <p:nvPr/>
        </p:nvSpPr>
        <p:spPr>
          <a:xfrm>
            <a:off x="5701903" y="6196013"/>
            <a:ext cx="2065734"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71.19%</a:t>
            </a:r>
            <a:endParaRPr lang="en-US" sz="2100" dirty="0"/>
          </a:p>
        </p:txBody>
      </p:sp>
      <p:sp>
        <p:nvSpPr>
          <p:cNvPr id="64" name="Shape 62"/>
          <p:cNvSpPr/>
          <p:nvPr/>
        </p:nvSpPr>
        <p:spPr>
          <a:xfrm>
            <a:off x="7977188" y="6691313"/>
            <a:ext cx="2564011" cy="9525"/>
          </a:xfrm>
          <a:prstGeom prst="rect">
            <a:avLst/>
          </a:prstGeom>
          <a:solidFill>
            <a:srgbClr val="D9D3C5"/>
          </a:solidFill>
          <a:ln/>
        </p:spPr>
        <p:txBody>
          <a:bodyPr/>
          <a:lstStyle/>
          <a:p>
            <a:endParaRPr lang="en-US"/>
          </a:p>
        </p:txBody>
      </p:sp>
      <p:sp>
        <p:nvSpPr>
          <p:cNvPr id="65" name="Text 63"/>
          <p:cNvSpPr/>
          <p:nvPr/>
        </p:nvSpPr>
        <p:spPr>
          <a:xfrm>
            <a:off x="8109817" y="6196013"/>
            <a:ext cx="2221831"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0.6346</a:t>
            </a:r>
            <a:endParaRPr lang="en-US" sz="2100" dirty="0"/>
          </a:p>
        </p:txBody>
      </p:sp>
      <p:sp>
        <p:nvSpPr>
          <p:cNvPr id="66" name="Shape 64"/>
          <p:cNvSpPr/>
          <p:nvPr/>
        </p:nvSpPr>
        <p:spPr>
          <a:xfrm>
            <a:off x="10541198" y="6691313"/>
            <a:ext cx="3107829" cy="9525"/>
          </a:xfrm>
          <a:prstGeom prst="rect">
            <a:avLst/>
          </a:prstGeom>
          <a:solidFill>
            <a:srgbClr val="D9D3C5"/>
          </a:solidFill>
          <a:ln/>
        </p:spPr>
        <p:txBody>
          <a:bodyPr/>
          <a:lstStyle/>
          <a:p>
            <a:endParaRPr lang="en-US"/>
          </a:p>
        </p:txBody>
      </p:sp>
      <p:sp>
        <p:nvSpPr>
          <p:cNvPr id="67" name="Text 65"/>
          <p:cNvSpPr/>
          <p:nvPr/>
        </p:nvSpPr>
        <p:spPr>
          <a:xfrm>
            <a:off x="10657514" y="6196013"/>
            <a:ext cx="2781964"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0.7052</a:t>
            </a:r>
            <a:endParaRPr lang="en-US" sz="2100" dirty="0"/>
          </a:p>
        </p:txBody>
      </p:sp>
      <p:sp>
        <p:nvSpPr>
          <p:cNvPr id="68" name="Shape 66"/>
          <p:cNvSpPr/>
          <p:nvPr/>
        </p:nvSpPr>
        <p:spPr>
          <a:xfrm>
            <a:off x="13649027" y="6691313"/>
            <a:ext cx="3687068" cy="9525"/>
          </a:xfrm>
          <a:prstGeom prst="rect">
            <a:avLst/>
          </a:prstGeom>
          <a:solidFill>
            <a:srgbClr val="D9D3C5"/>
          </a:solidFill>
          <a:ln/>
        </p:spPr>
        <p:txBody>
          <a:bodyPr/>
          <a:lstStyle/>
          <a:p>
            <a:endParaRPr lang="en-US"/>
          </a:p>
        </p:txBody>
      </p:sp>
      <p:sp>
        <p:nvSpPr>
          <p:cNvPr id="69" name="Text 67"/>
          <p:cNvSpPr/>
          <p:nvPr/>
        </p:nvSpPr>
        <p:spPr>
          <a:xfrm>
            <a:off x="13747965" y="6196013"/>
            <a:ext cx="337858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0.6443 ± 0.0101</a:t>
            </a:r>
            <a:endParaRPr lang="en-US" sz="2100" dirty="0"/>
          </a:p>
        </p:txBody>
      </p:sp>
      <p:sp>
        <p:nvSpPr>
          <p:cNvPr id="70" name="Shape 68"/>
          <p:cNvSpPr/>
          <p:nvPr/>
        </p:nvSpPr>
        <p:spPr>
          <a:xfrm>
            <a:off x="952500" y="7367587"/>
            <a:ext cx="4616053" cy="9525"/>
          </a:xfrm>
          <a:prstGeom prst="rect">
            <a:avLst/>
          </a:prstGeom>
          <a:solidFill>
            <a:srgbClr val="D9D3C5"/>
          </a:solidFill>
          <a:ln/>
        </p:spPr>
        <p:txBody>
          <a:bodyPr/>
          <a:lstStyle/>
          <a:p>
            <a:endParaRPr lang="en-US"/>
          </a:p>
        </p:txBody>
      </p:sp>
      <p:sp>
        <p:nvSpPr>
          <p:cNvPr id="71" name="Text 69"/>
          <p:cNvSpPr/>
          <p:nvPr/>
        </p:nvSpPr>
        <p:spPr>
          <a:xfrm>
            <a:off x="1162050" y="6872288"/>
            <a:ext cx="4335435" cy="361950"/>
          </a:xfrm>
          <a:prstGeom prst="rect">
            <a:avLst/>
          </a:prstGeom>
          <a:noFill/>
          <a:ln/>
        </p:spPr>
        <p:txBody>
          <a:bodyPr wrap="square" lIns="25400" tIns="25400" rIns="25400" bIns="25400" rtlCol="0" anchor="ctr">
            <a:normAutofit lnSpcReduction="10000"/>
          </a:bodyPr>
          <a:lstStyle/>
          <a:p>
            <a:pPr marL="0" indent="0" algn="l">
              <a:buNone/>
            </a:pPr>
            <a:r>
              <a:rPr lang="en-US" sz="2100" dirty="0">
                <a:solidFill>
                  <a:srgbClr val="1C1B1A"/>
                </a:solidFill>
                <a:latin typeface="Arial" pitchFamily="34" charset="0"/>
                <a:ea typeface="Arial" pitchFamily="34" charset="-122"/>
                <a:cs typeface="Arial" pitchFamily="34" charset="-120"/>
              </a:rPr>
              <a:t>KNN (k=11)</a:t>
            </a:r>
            <a:endParaRPr lang="en-US" sz="2100" dirty="0"/>
          </a:p>
        </p:txBody>
      </p:sp>
      <p:sp>
        <p:nvSpPr>
          <p:cNvPr id="72" name="Shape 70"/>
          <p:cNvSpPr/>
          <p:nvPr/>
        </p:nvSpPr>
        <p:spPr>
          <a:xfrm>
            <a:off x="5568553" y="7367587"/>
            <a:ext cx="2408634" cy="9525"/>
          </a:xfrm>
          <a:prstGeom prst="rect">
            <a:avLst/>
          </a:prstGeom>
          <a:solidFill>
            <a:srgbClr val="D9D3C5"/>
          </a:solidFill>
          <a:ln/>
        </p:spPr>
        <p:txBody>
          <a:bodyPr/>
          <a:lstStyle/>
          <a:p>
            <a:endParaRPr lang="en-US"/>
          </a:p>
        </p:txBody>
      </p:sp>
      <p:sp>
        <p:nvSpPr>
          <p:cNvPr id="73" name="Text 71"/>
          <p:cNvSpPr/>
          <p:nvPr/>
        </p:nvSpPr>
        <p:spPr>
          <a:xfrm>
            <a:off x="5701903" y="6872288"/>
            <a:ext cx="2065734"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69.49%</a:t>
            </a:r>
            <a:endParaRPr lang="en-US" sz="2100" dirty="0"/>
          </a:p>
        </p:txBody>
      </p:sp>
      <p:sp>
        <p:nvSpPr>
          <p:cNvPr id="74" name="Shape 72"/>
          <p:cNvSpPr/>
          <p:nvPr/>
        </p:nvSpPr>
        <p:spPr>
          <a:xfrm>
            <a:off x="7977188" y="7367587"/>
            <a:ext cx="2564011" cy="9525"/>
          </a:xfrm>
          <a:prstGeom prst="rect">
            <a:avLst/>
          </a:prstGeom>
          <a:solidFill>
            <a:srgbClr val="D9D3C5"/>
          </a:solidFill>
          <a:ln/>
        </p:spPr>
        <p:txBody>
          <a:bodyPr/>
          <a:lstStyle/>
          <a:p>
            <a:endParaRPr lang="en-US"/>
          </a:p>
        </p:txBody>
      </p:sp>
      <p:sp>
        <p:nvSpPr>
          <p:cNvPr id="75" name="Text 73"/>
          <p:cNvSpPr/>
          <p:nvPr/>
        </p:nvSpPr>
        <p:spPr>
          <a:xfrm>
            <a:off x="8109817" y="6872288"/>
            <a:ext cx="2221831"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0.5860</a:t>
            </a:r>
            <a:endParaRPr lang="en-US" sz="2100" dirty="0"/>
          </a:p>
        </p:txBody>
      </p:sp>
      <p:sp>
        <p:nvSpPr>
          <p:cNvPr id="76" name="Shape 74"/>
          <p:cNvSpPr/>
          <p:nvPr/>
        </p:nvSpPr>
        <p:spPr>
          <a:xfrm>
            <a:off x="10541198" y="7367587"/>
            <a:ext cx="3107829" cy="9525"/>
          </a:xfrm>
          <a:prstGeom prst="rect">
            <a:avLst/>
          </a:prstGeom>
          <a:solidFill>
            <a:srgbClr val="D9D3C5"/>
          </a:solidFill>
          <a:ln/>
        </p:spPr>
        <p:txBody>
          <a:bodyPr/>
          <a:lstStyle/>
          <a:p>
            <a:endParaRPr lang="en-US"/>
          </a:p>
        </p:txBody>
      </p:sp>
      <p:sp>
        <p:nvSpPr>
          <p:cNvPr id="77" name="Text 75"/>
          <p:cNvSpPr/>
          <p:nvPr/>
        </p:nvSpPr>
        <p:spPr>
          <a:xfrm>
            <a:off x="10657514" y="6872288"/>
            <a:ext cx="2781964"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0.6694</a:t>
            </a:r>
            <a:endParaRPr lang="en-US" sz="2100" dirty="0"/>
          </a:p>
        </p:txBody>
      </p:sp>
      <p:sp>
        <p:nvSpPr>
          <p:cNvPr id="78" name="Shape 76"/>
          <p:cNvSpPr/>
          <p:nvPr/>
        </p:nvSpPr>
        <p:spPr>
          <a:xfrm>
            <a:off x="13649027" y="7367587"/>
            <a:ext cx="3687068" cy="9525"/>
          </a:xfrm>
          <a:prstGeom prst="rect">
            <a:avLst/>
          </a:prstGeom>
          <a:solidFill>
            <a:srgbClr val="D9D3C5"/>
          </a:solidFill>
          <a:ln/>
        </p:spPr>
        <p:txBody>
          <a:bodyPr/>
          <a:lstStyle/>
          <a:p>
            <a:endParaRPr lang="en-US"/>
          </a:p>
        </p:txBody>
      </p:sp>
      <p:sp>
        <p:nvSpPr>
          <p:cNvPr id="79" name="Text 77"/>
          <p:cNvSpPr/>
          <p:nvPr/>
        </p:nvSpPr>
        <p:spPr>
          <a:xfrm>
            <a:off x="13747965" y="6872288"/>
            <a:ext cx="3378580" cy="361950"/>
          </a:xfrm>
          <a:prstGeom prst="rect">
            <a:avLst/>
          </a:prstGeom>
          <a:noFill/>
          <a:ln/>
        </p:spPr>
        <p:txBody>
          <a:bodyPr wrap="square" lIns="25400" tIns="25400" rIns="25400" bIns="25400" rtlCol="0" anchor="ctr">
            <a:normAutofit lnSpcReduction="10000"/>
          </a:bodyPr>
          <a:lstStyle/>
          <a:p>
            <a:pPr marL="0" indent="0" algn="r">
              <a:buNone/>
            </a:pPr>
            <a:r>
              <a:rPr lang="en-US" sz="2100" dirty="0">
                <a:solidFill>
                  <a:srgbClr val="1C1B1A"/>
                </a:solidFill>
                <a:latin typeface="Arial" pitchFamily="34" charset="0"/>
                <a:ea typeface="Arial" pitchFamily="34" charset="-122"/>
                <a:cs typeface="Arial" pitchFamily="34" charset="-120"/>
              </a:rPr>
              <a:t>0.6036 ± 0.0094</a:t>
            </a:r>
            <a:endParaRPr lang="en-US" sz="2100" dirty="0"/>
          </a:p>
        </p:txBody>
      </p:sp>
      <p:sp>
        <p:nvSpPr>
          <p:cNvPr id="80" name="Text 78"/>
          <p:cNvSpPr/>
          <p:nvPr/>
        </p:nvSpPr>
        <p:spPr>
          <a:xfrm>
            <a:off x="952500" y="7724775"/>
            <a:ext cx="16874490" cy="68580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4B4845"/>
                </a:solidFill>
                <a:latin typeface="-apple-system" pitchFamily="34" charset="0"/>
                <a:ea typeface="-apple-system" pitchFamily="34" charset="-122"/>
                <a:cs typeface="-apple-system" pitchFamily="34" charset="-120"/>
              </a:rPr>
              <a:t>Cross-validation standard deviations are tight across all models — performance is consistent, not lucky. F1-macro is our primary metric because it weights all three classes equally despite the imbalance.</a:t>
            </a:r>
            <a:endParaRPr lang="en-US" sz="1800" dirty="0"/>
          </a:p>
        </p:txBody>
      </p:sp>
      <p:sp>
        <p:nvSpPr>
          <p:cNvPr id="81" name="Text 79"/>
          <p:cNvSpPr/>
          <p:nvPr/>
        </p:nvSpPr>
        <p:spPr>
          <a:xfrm>
            <a:off x="16692116" y="8496300"/>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15/19</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4224646"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15 · FEATURE IMPORTANCE</a:t>
            </a:r>
            <a:endParaRPr lang="en-US" sz="1800" dirty="0"/>
          </a:p>
        </p:txBody>
      </p:sp>
      <p:sp>
        <p:nvSpPr>
          <p:cNvPr id="4" name="Text 2"/>
          <p:cNvSpPr/>
          <p:nvPr/>
        </p:nvSpPr>
        <p:spPr>
          <a:xfrm>
            <a:off x="952500" y="1294656"/>
            <a:ext cx="16874490" cy="1077069"/>
          </a:xfrm>
          <a:prstGeom prst="rect">
            <a:avLst/>
          </a:prstGeom>
          <a:noFill/>
          <a:ln/>
        </p:spPr>
        <p:txBody>
          <a:bodyPr wrap="square" lIns="25400" tIns="25400" rIns="25400" bIns="25400" rtlCol="0" anchor="t">
            <a:normAutofit fontScale="925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Semester performance dominates · finance plays second</a:t>
            </a:r>
            <a:endParaRPr lang="en-US" sz="4800" dirty="0"/>
          </a:p>
        </p:txBody>
      </p:sp>
      <p:sp>
        <p:nvSpPr>
          <p:cNvPr id="5" name="Shape 3"/>
          <p:cNvSpPr/>
          <p:nvPr/>
        </p:nvSpPr>
        <p:spPr>
          <a:xfrm>
            <a:off x="952500" y="3248025"/>
            <a:ext cx="7905750" cy="19050"/>
          </a:xfrm>
          <a:prstGeom prst="rect">
            <a:avLst/>
          </a:prstGeom>
          <a:solidFill>
            <a:srgbClr val="0E3A53"/>
          </a:solidFill>
          <a:ln/>
        </p:spPr>
        <p:txBody>
          <a:bodyPr/>
          <a:lstStyle/>
          <a:p>
            <a:endParaRPr lang="en-US"/>
          </a:p>
        </p:txBody>
      </p:sp>
      <p:sp>
        <p:nvSpPr>
          <p:cNvPr id="6" name="Text 4"/>
          <p:cNvSpPr/>
          <p:nvPr/>
        </p:nvSpPr>
        <p:spPr>
          <a:xfrm>
            <a:off x="952500" y="2714625"/>
            <a:ext cx="2825956"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Random Forest</a:t>
            </a:r>
            <a:endParaRPr lang="en-US" sz="2400" dirty="0"/>
          </a:p>
        </p:txBody>
      </p:sp>
      <p:sp>
        <p:nvSpPr>
          <p:cNvPr id="7" name="Text 5"/>
          <p:cNvSpPr/>
          <p:nvPr/>
        </p:nvSpPr>
        <p:spPr>
          <a:xfrm>
            <a:off x="6114604" y="2886075"/>
            <a:ext cx="282595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0E3A53"/>
                </a:solidFill>
                <a:latin typeface="Courier New" pitchFamily="34" charset="0"/>
                <a:ea typeface="Courier New" pitchFamily="34" charset="-122"/>
                <a:cs typeface="Courier New" pitchFamily="34" charset="-120"/>
              </a:rPr>
              <a:t>MEAN DECREASE IN IMPURITY</a:t>
            </a:r>
            <a:endParaRPr lang="en-US" sz="1350" dirty="0"/>
          </a:p>
        </p:txBody>
      </p:sp>
      <p:sp>
        <p:nvSpPr>
          <p:cNvPr id="8" name="Text 6"/>
          <p:cNvSpPr/>
          <p:nvPr/>
        </p:nvSpPr>
        <p:spPr>
          <a:xfrm>
            <a:off x="952500" y="3438525"/>
            <a:ext cx="323850" cy="35242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950" b="1" dirty="0">
                <a:solidFill>
                  <a:srgbClr val="0E3A53"/>
                </a:solidFill>
                <a:latin typeface="Georgia" pitchFamily="34" charset="0"/>
                <a:ea typeface="Georgia" pitchFamily="34" charset="-122"/>
                <a:cs typeface="Georgia" pitchFamily="34" charset="-120"/>
              </a:rPr>
              <a:t>1</a:t>
            </a:r>
            <a:endParaRPr lang="en-US" sz="1950" dirty="0"/>
          </a:p>
        </p:txBody>
      </p:sp>
      <p:sp>
        <p:nvSpPr>
          <p:cNvPr id="9" name="Text 7"/>
          <p:cNvSpPr/>
          <p:nvPr/>
        </p:nvSpPr>
        <p:spPr>
          <a:xfrm>
            <a:off x="1333500" y="3462338"/>
            <a:ext cx="3531870" cy="3048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650" dirty="0">
                <a:solidFill>
                  <a:srgbClr val="4B4845"/>
                </a:solidFill>
                <a:latin typeface="-apple-system" pitchFamily="34" charset="0"/>
                <a:ea typeface="-apple-system" pitchFamily="34" charset="-122"/>
                <a:cs typeface="-apple-system" pitchFamily="34" charset="-120"/>
              </a:rPr>
              <a:t>Curricular units 2nd sem (approved)</a:t>
            </a:r>
            <a:endParaRPr lang="en-US" sz="1650" dirty="0"/>
          </a:p>
        </p:txBody>
      </p:sp>
      <p:sp>
        <p:nvSpPr>
          <p:cNvPr id="10" name="Shape 8"/>
          <p:cNvSpPr/>
          <p:nvPr/>
        </p:nvSpPr>
        <p:spPr>
          <a:xfrm>
            <a:off x="4895850" y="3509963"/>
            <a:ext cx="3162300" cy="171450"/>
          </a:xfrm>
          <a:prstGeom prst="rect">
            <a:avLst/>
          </a:prstGeom>
          <a:solidFill>
            <a:srgbClr val="F2EEE6"/>
          </a:solidFill>
          <a:ln w="9525">
            <a:solidFill>
              <a:srgbClr val="D9D3C5"/>
            </a:solidFill>
            <a:prstDash val="solid"/>
          </a:ln>
        </p:spPr>
        <p:txBody>
          <a:bodyPr/>
          <a:lstStyle/>
          <a:p>
            <a:endParaRPr lang="en-US"/>
          </a:p>
        </p:txBody>
      </p:sp>
      <p:sp>
        <p:nvSpPr>
          <p:cNvPr id="11" name="Shape 9"/>
          <p:cNvSpPr/>
          <p:nvPr/>
        </p:nvSpPr>
        <p:spPr>
          <a:xfrm>
            <a:off x="4905375" y="3519488"/>
            <a:ext cx="3045023" cy="152400"/>
          </a:xfrm>
          <a:prstGeom prst="rect">
            <a:avLst/>
          </a:prstGeom>
          <a:solidFill>
            <a:srgbClr val="0E3A53"/>
          </a:solidFill>
          <a:ln/>
        </p:spPr>
        <p:txBody>
          <a:bodyPr/>
          <a:lstStyle/>
          <a:p>
            <a:endParaRPr lang="en-US"/>
          </a:p>
        </p:txBody>
      </p:sp>
      <p:sp>
        <p:nvSpPr>
          <p:cNvPr id="12" name="Text 10"/>
          <p:cNvSpPr/>
          <p:nvPr/>
        </p:nvSpPr>
        <p:spPr>
          <a:xfrm>
            <a:off x="8115300" y="3471863"/>
            <a:ext cx="742950" cy="285750"/>
          </a:xfrm>
          <a:prstGeom prst="rect">
            <a:avLst/>
          </a:prstGeom>
          <a:noFill/>
          <a:ln/>
        </p:spPr>
        <p:txBody>
          <a:bodyPr wrap="square" lIns="25400" tIns="25400" rIns="25400" bIns="25400" rtlCol="0" anchor="t">
            <a:normAutofit fontScale="92500" lnSpcReduction="20000"/>
          </a:bodyPr>
          <a:lstStyle/>
          <a:p>
            <a:pPr marL="0" indent="0" algn="r">
              <a:lnSpc>
                <a:spcPct val="130000"/>
              </a:lnSpc>
              <a:buNone/>
            </a:pPr>
            <a:r>
              <a:rPr lang="en-US" sz="1500" dirty="0">
                <a:solidFill>
                  <a:srgbClr val="1C1B1A"/>
                </a:solidFill>
                <a:latin typeface="Courier New" pitchFamily="34" charset="0"/>
                <a:ea typeface="Courier New" pitchFamily="34" charset="-122"/>
                <a:cs typeface="Courier New" pitchFamily="34" charset="-120"/>
              </a:rPr>
              <a:t>0.155</a:t>
            </a:r>
            <a:endParaRPr lang="en-US" sz="1500" dirty="0"/>
          </a:p>
        </p:txBody>
      </p:sp>
      <p:sp>
        <p:nvSpPr>
          <p:cNvPr id="13" name="Text 11"/>
          <p:cNvSpPr/>
          <p:nvPr/>
        </p:nvSpPr>
        <p:spPr>
          <a:xfrm>
            <a:off x="952500" y="3886200"/>
            <a:ext cx="323850" cy="35242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950" b="1" dirty="0">
                <a:solidFill>
                  <a:srgbClr val="0E3A53"/>
                </a:solidFill>
                <a:latin typeface="Georgia" pitchFamily="34" charset="0"/>
                <a:ea typeface="Georgia" pitchFamily="34" charset="-122"/>
                <a:cs typeface="Georgia" pitchFamily="34" charset="-120"/>
              </a:rPr>
              <a:t>2</a:t>
            </a:r>
            <a:endParaRPr lang="en-US" sz="1950" dirty="0"/>
          </a:p>
        </p:txBody>
      </p:sp>
      <p:sp>
        <p:nvSpPr>
          <p:cNvPr id="14" name="Text 12"/>
          <p:cNvSpPr/>
          <p:nvPr/>
        </p:nvSpPr>
        <p:spPr>
          <a:xfrm>
            <a:off x="1333500" y="3910013"/>
            <a:ext cx="3531870" cy="3048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650" dirty="0">
                <a:solidFill>
                  <a:srgbClr val="4B4845"/>
                </a:solidFill>
                <a:latin typeface="-apple-system" pitchFamily="34" charset="0"/>
                <a:ea typeface="-apple-system" pitchFamily="34" charset="-122"/>
                <a:cs typeface="-apple-system" pitchFamily="34" charset="-120"/>
              </a:rPr>
              <a:t>Curricular units 2nd sem (grade)</a:t>
            </a:r>
            <a:endParaRPr lang="en-US" sz="1650" dirty="0"/>
          </a:p>
        </p:txBody>
      </p:sp>
      <p:sp>
        <p:nvSpPr>
          <p:cNvPr id="15" name="Shape 13"/>
          <p:cNvSpPr/>
          <p:nvPr/>
        </p:nvSpPr>
        <p:spPr>
          <a:xfrm>
            <a:off x="4895850" y="3957638"/>
            <a:ext cx="3162300" cy="171450"/>
          </a:xfrm>
          <a:prstGeom prst="rect">
            <a:avLst/>
          </a:prstGeom>
          <a:solidFill>
            <a:srgbClr val="F2EEE6"/>
          </a:solidFill>
          <a:ln w="9525">
            <a:solidFill>
              <a:srgbClr val="D9D3C5"/>
            </a:solidFill>
            <a:prstDash val="solid"/>
          </a:ln>
        </p:spPr>
        <p:txBody>
          <a:bodyPr/>
          <a:lstStyle/>
          <a:p>
            <a:endParaRPr lang="en-US"/>
          </a:p>
        </p:txBody>
      </p:sp>
      <p:sp>
        <p:nvSpPr>
          <p:cNvPr id="16" name="Shape 14"/>
          <p:cNvSpPr/>
          <p:nvPr/>
        </p:nvSpPr>
        <p:spPr>
          <a:xfrm>
            <a:off x="4905375" y="3967163"/>
            <a:ext cx="1807369" cy="152400"/>
          </a:xfrm>
          <a:prstGeom prst="rect">
            <a:avLst/>
          </a:prstGeom>
          <a:solidFill>
            <a:srgbClr val="0E3A53"/>
          </a:solidFill>
          <a:ln/>
        </p:spPr>
        <p:txBody>
          <a:bodyPr/>
          <a:lstStyle/>
          <a:p>
            <a:endParaRPr lang="en-US"/>
          </a:p>
        </p:txBody>
      </p:sp>
      <p:sp>
        <p:nvSpPr>
          <p:cNvPr id="17" name="Text 15"/>
          <p:cNvSpPr/>
          <p:nvPr/>
        </p:nvSpPr>
        <p:spPr>
          <a:xfrm>
            <a:off x="8115300" y="3919537"/>
            <a:ext cx="742950" cy="285750"/>
          </a:xfrm>
          <a:prstGeom prst="rect">
            <a:avLst/>
          </a:prstGeom>
          <a:noFill/>
          <a:ln/>
        </p:spPr>
        <p:txBody>
          <a:bodyPr wrap="square" lIns="25400" tIns="25400" rIns="25400" bIns="25400" rtlCol="0" anchor="t">
            <a:normAutofit fontScale="92500" lnSpcReduction="20000"/>
          </a:bodyPr>
          <a:lstStyle/>
          <a:p>
            <a:pPr marL="0" indent="0" algn="r">
              <a:lnSpc>
                <a:spcPct val="130000"/>
              </a:lnSpc>
              <a:buNone/>
            </a:pPr>
            <a:r>
              <a:rPr lang="en-US" sz="1500" dirty="0">
                <a:solidFill>
                  <a:srgbClr val="1C1B1A"/>
                </a:solidFill>
                <a:latin typeface="Courier New" pitchFamily="34" charset="0"/>
                <a:ea typeface="Courier New" pitchFamily="34" charset="-122"/>
                <a:cs typeface="Courier New" pitchFamily="34" charset="-120"/>
              </a:rPr>
              <a:t>0.092</a:t>
            </a:r>
            <a:endParaRPr lang="en-US" sz="1500" dirty="0"/>
          </a:p>
        </p:txBody>
      </p:sp>
      <p:sp>
        <p:nvSpPr>
          <p:cNvPr id="18" name="Text 16"/>
          <p:cNvSpPr/>
          <p:nvPr/>
        </p:nvSpPr>
        <p:spPr>
          <a:xfrm>
            <a:off x="952500" y="4333875"/>
            <a:ext cx="323850" cy="35242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950" b="1" dirty="0">
                <a:solidFill>
                  <a:srgbClr val="0E3A53"/>
                </a:solidFill>
                <a:latin typeface="Georgia" pitchFamily="34" charset="0"/>
                <a:ea typeface="Georgia" pitchFamily="34" charset="-122"/>
                <a:cs typeface="Georgia" pitchFamily="34" charset="-120"/>
              </a:rPr>
              <a:t>3</a:t>
            </a:r>
            <a:endParaRPr lang="en-US" sz="1950" dirty="0"/>
          </a:p>
        </p:txBody>
      </p:sp>
      <p:sp>
        <p:nvSpPr>
          <p:cNvPr id="19" name="Text 17"/>
          <p:cNvSpPr/>
          <p:nvPr/>
        </p:nvSpPr>
        <p:spPr>
          <a:xfrm>
            <a:off x="1333500" y="4357688"/>
            <a:ext cx="3531870" cy="3048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650" dirty="0">
                <a:solidFill>
                  <a:srgbClr val="4B4845"/>
                </a:solidFill>
                <a:latin typeface="-apple-system" pitchFamily="34" charset="0"/>
                <a:ea typeface="-apple-system" pitchFamily="34" charset="-122"/>
                <a:cs typeface="-apple-system" pitchFamily="34" charset="-120"/>
              </a:rPr>
              <a:t>Curricular units 1st sem (approved)</a:t>
            </a:r>
            <a:endParaRPr lang="en-US" sz="1650" dirty="0"/>
          </a:p>
        </p:txBody>
      </p:sp>
      <p:sp>
        <p:nvSpPr>
          <p:cNvPr id="20" name="Shape 18"/>
          <p:cNvSpPr/>
          <p:nvPr/>
        </p:nvSpPr>
        <p:spPr>
          <a:xfrm>
            <a:off x="4895850" y="4405313"/>
            <a:ext cx="3162300" cy="171450"/>
          </a:xfrm>
          <a:prstGeom prst="rect">
            <a:avLst/>
          </a:prstGeom>
          <a:solidFill>
            <a:srgbClr val="F2EEE6"/>
          </a:solidFill>
          <a:ln w="9525">
            <a:solidFill>
              <a:srgbClr val="D9D3C5"/>
            </a:solidFill>
            <a:prstDash val="solid"/>
          </a:ln>
        </p:spPr>
        <p:txBody>
          <a:bodyPr/>
          <a:lstStyle/>
          <a:p>
            <a:endParaRPr lang="en-US"/>
          </a:p>
        </p:txBody>
      </p:sp>
      <p:sp>
        <p:nvSpPr>
          <p:cNvPr id="21" name="Shape 19"/>
          <p:cNvSpPr/>
          <p:nvPr/>
        </p:nvSpPr>
        <p:spPr>
          <a:xfrm>
            <a:off x="4905375" y="4414838"/>
            <a:ext cx="1748433" cy="152400"/>
          </a:xfrm>
          <a:prstGeom prst="rect">
            <a:avLst/>
          </a:prstGeom>
          <a:solidFill>
            <a:srgbClr val="0E3A53"/>
          </a:solidFill>
          <a:ln/>
        </p:spPr>
        <p:txBody>
          <a:bodyPr/>
          <a:lstStyle/>
          <a:p>
            <a:endParaRPr lang="en-US"/>
          </a:p>
        </p:txBody>
      </p:sp>
      <p:sp>
        <p:nvSpPr>
          <p:cNvPr id="22" name="Text 20"/>
          <p:cNvSpPr/>
          <p:nvPr/>
        </p:nvSpPr>
        <p:spPr>
          <a:xfrm>
            <a:off x="8115300" y="4367213"/>
            <a:ext cx="742950" cy="285750"/>
          </a:xfrm>
          <a:prstGeom prst="rect">
            <a:avLst/>
          </a:prstGeom>
          <a:noFill/>
          <a:ln/>
        </p:spPr>
        <p:txBody>
          <a:bodyPr wrap="square" lIns="25400" tIns="25400" rIns="25400" bIns="25400" rtlCol="0" anchor="t">
            <a:normAutofit fontScale="92500" lnSpcReduction="20000"/>
          </a:bodyPr>
          <a:lstStyle/>
          <a:p>
            <a:pPr marL="0" indent="0" algn="r">
              <a:lnSpc>
                <a:spcPct val="130000"/>
              </a:lnSpc>
              <a:buNone/>
            </a:pPr>
            <a:r>
              <a:rPr lang="en-US" sz="1500" dirty="0">
                <a:solidFill>
                  <a:srgbClr val="1C1B1A"/>
                </a:solidFill>
                <a:latin typeface="Courier New" pitchFamily="34" charset="0"/>
                <a:ea typeface="Courier New" pitchFamily="34" charset="-122"/>
                <a:cs typeface="Courier New" pitchFamily="34" charset="-120"/>
              </a:rPr>
              <a:t>0.089</a:t>
            </a:r>
            <a:endParaRPr lang="en-US" sz="1500" dirty="0"/>
          </a:p>
        </p:txBody>
      </p:sp>
      <p:sp>
        <p:nvSpPr>
          <p:cNvPr id="23" name="Text 21"/>
          <p:cNvSpPr/>
          <p:nvPr/>
        </p:nvSpPr>
        <p:spPr>
          <a:xfrm>
            <a:off x="952500" y="4781550"/>
            <a:ext cx="323850" cy="35242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950" b="1" dirty="0">
                <a:solidFill>
                  <a:srgbClr val="0E3A53"/>
                </a:solidFill>
                <a:latin typeface="Georgia" pitchFamily="34" charset="0"/>
                <a:ea typeface="Georgia" pitchFamily="34" charset="-122"/>
                <a:cs typeface="Georgia" pitchFamily="34" charset="-120"/>
              </a:rPr>
              <a:t>4</a:t>
            </a:r>
            <a:endParaRPr lang="en-US" sz="1950" dirty="0"/>
          </a:p>
        </p:txBody>
      </p:sp>
      <p:sp>
        <p:nvSpPr>
          <p:cNvPr id="24" name="Text 22"/>
          <p:cNvSpPr/>
          <p:nvPr/>
        </p:nvSpPr>
        <p:spPr>
          <a:xfrm>
            <a:off x="1333500" y="4805363"/>
            <a:ext cx="3531870" cy="3048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650" dirty="0">
                <a:solidFill>
                  <a:srgbClr val="4B4845"/>
                </a:solidFill>
                <a:latin typeface="-apple-system" pitchFamily="34" charset="0"/>
                <a:ea typeface="-apple-system" pitchFamily="34" charset="-122"/>
                <a:cs typeface="-apple-system" pitchFamily="34" charset="-120"/>
              </a:rPr>
              <a:t>Curricular units 1st sem (grade)</a:t>
            </a:r>
            <a:endParaRPr lang="en-US" sz="1650" dirty="0"/>
          </a:p>
        </p:txBody>
      </p:sp>
      <p:sp>
        <p:nvSpPr>
          <p:cNvPr id="25" name="Shape 23"/>
          <p:cNvSpPr/>
          <p:nvPr/>
        </p:nvSpPr>
        <p:spPr>
          <a:xfrm>
            <a:off x="4895850" y="4852988"/>
            <a:ext cx="3162300" cy="171450"/>
          </a:xfrm>
          <a:prstGeom prst="rect">
            <a:avLst/>
          </a:prstGeom>
          <a:solidFill>
            <a:srgbClr val="F2EEE6"/>
          </a:solidFill>
          <a:ln w="9525">
            <a:solidFill>
              <a:srgbClr val="D9D3C5"/>
            </a:solidFill>
            <a:prstDash val="solid"/>
          </a:ln>
        </p:spPr>
        <p:txBody>
          <a:bodyPr/>
          <a:lstStyle/>
          <a:p>
            <a:endParaRPr lang="en-US"/>
          </a:p>
        </p:txBody>
      </p:sp>
      <p:sp>
        <p:nvSpPr>
          <p:cNvPr id="26" name="Shape 24"/>
          <p:cNvSpPr/>
          <p:nvPr/>
        </p:nvSpPr>
        <p:spPr>
          <a:xfrm>
            <a:off x="4905375" y="4862513"/>
            <a:ext cx="1296591" cy="152400"/>
          </a:xfrm>
          <a:prstGeom prst="rect">
            <a:avLst/>
          </a:prstGeom>
          <a:solidFill>
            <a:srgbClr val="0E3A53"/>
          </a:solidFill>
          <a:ln/>
        </p:spPr>
        <p:txBody>
          <a:bodyPr/>
          <a:lstStyle/>
          <a:p>
            <a:endParaRPr lang="en-US"/>
          </a:p>
        </p:txBody>
      </p:sp>
      <p:sp>
        <p:nvSpPr>
          <p:cNvPr id="27" name="Text 25"/>
          <p:cNvSpPr/>
          <p:nvPr/>
        </p:nvSpPr>
        <p:spPr>
          <a:xfrm>
            <a:off x="8115300" y="4814888"/>
            <a:ext cx="742950" cy="285750"/>
          </a:xfrm>
          <a:prstGeom prst="rect">
            <a:avLst/>
          </a:prstGeom>
          <a:noFill/>
          <a:ln/>
        </p:spPr>
        <p:txBody>
          <a:bodyPr wrap="square" lIns="25400" tIns="25400" rIns="25400" bIns="25400" rtlCol="0" anchor="t">
            <a:normAutofit fontScale="92500" lnSpcReduction="20000"/>
          </a:bodyPr>
          <a:lstStyle/>
          <a:p>
            <a:pPr marL="0" indent="0" algn="r">
              <a:lnSpc>
                <a:spcPct val="130000"/>
              </a:lnSpc>
              <a:buNone/>
            </a:pPr>
            <a:r>
              <a:rPr lang="en-US" sz="1500" dirty="0">
                <a:solidFill>
                  <a:srgbClr val="1C1B1A"/>
                </a:solidFill>
                <a:latin typeface="Courier New" pitchFamily="34" charset="0"/>
                <a:ea typeface="Courier New" pitchFamily="34" charset="-122"/>
                <a:cs typeface="Courier New" pitchFamily="34" charset="-120"/>
              </a:rPr>
              <a:t>0.066</a:t>
            </a:r>
            <a:endParaRPr lang="en-US" sz="1500" dirty="0"/>
          </a:p>
        </p:txBody>
      </p:sp>
      <p:sp>
        <p:nvSpPr>
          <p:cNvPr id="28" name="Text 26"/>
          <p:cNvSpPr/>
          <p:nvPr/>
        </p:nvSpPr>
        <p:spPr>
          <a:xfrm>
            <a:off x="952500" y="5229225"/>
            <a:ext cx="323850" cy="35242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950" b="1" dirty="0">
                <a:solidFill>
                  <a:srgbClr val="0E3A53"/>
                </a:solidFill>
                <a:latin typeface="Georgia" pitchFamily="34" charset="0"/>
                <a:ea typeface="Georgia" pitchFamily="34" charset="-122"/>
                <a:cs typeface="Georgia" pitchFamily="34" charset="-120"/>
              </a:rPr>
              <a:t>5</a:t>
            </a:r>
            <a:endParaRPr lang="en-US" sz="1950" dirty="0"/>
          </a:p>
        </p:txBody>
      </p:sp>
      <p:sp>
        <p:nvSpPr>
          <p:cNvPr id="29" name="Text 27"/>
          <p:cNvSpPr/>
          <p:nvPr/>
        </p:nvSpPr>
        <p:spPr>
          <a:xfrm>
            <a:off x="1333500" y="5253038"/>
            <a:ext cx="3531870" cy="3048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650" dirty="0">
                <a:solidFill>
                  <a:srgbClr val="4B4845"/>
                </a:solidFill>
                <a:latin typeface="-apple-system" pitchFamily="34" charset="0"/>
                <a:ea typeface="-apple-system" pitchFamily="34" charset="-122"/>
                <a:cs typeface="-apple-system" pitchFamily="34" charset="-120"/>
              </a:rPr>
              <a:t>Admission grade</a:t>
            </a:r>
            <a:endParaRPr lang="en-US" sz="1650" dirty="0"/>
          </a:p>
        </p:txBody>
      </p:sp>
      <p:sp>
        <p:nvSpPr>
          <p:cNvPr id="30" name="Shape 28"/>
          <p:cNvSpPr/>
          <p:nvPr/>
        </p:nvSpPr>
        <p:spPr>
          <a:xfrm>
            <a:off x="4895850" y="5300663"/>
            <a:ext cx="3162300" cy="171450"/>
          </a:xfrm>
          <a:prstGeom prst="rect">
            <a:avLst/>
          </a:prstGeom>
          <a:solidFill>
            <a:srgbClr val="F2EEE6"/>
          </a:solidFill>
          <a:ln w="9525">
            <a:solidFill>
              <a:srgbClr val="D9D3C5"/>
            </a:solidFill>
            <a:prstDash val="solid"/>
          </a:ln>
        </p:spPr>
        <p:txBody>
          <a:bodyPr/>
          <a:lstStyle/>
          <a:p>
            <a:endParaRPr lang="en-US"/>
          </a:p>
        </p:txBody>
      </p:sp>
      <p:sp>
        <p:nvSpPr>
          <p:cNvPr id="31" name="Shape 29"/>
          <p:cNvSpPr/>
          <p:nvPr/>
        </p:nvSpPr>
        <p:spPr>
          <a:xfrm>
            <a:off x="4905375" y="5310188"/>
            <a:ext cx="864394" cy="152400"/>
          </a:xfrm>
          <a:prstGeom prst="rect">
            <a:avLst/>
          </a:prstGeom>
          <a:solidFill>
            <a:srgbClr val="0E3A53"/>
          </a:solidFill>
          <a:ln/>
        </p:spPr>
        <p:txBody>
          <a:bodyPr/>
          <a:lstStyle/>
          <a:p>
            <a:endParaRPr lang="en-US"/>
          </a:p>
        </p:txBody>
      </p:sp>
      <p:sp>
        <p:nvSpPr>
          <p:cNvPr id="32" name="Text 30"/>
          <p:cNvSpPr/>
          <p:nvPr/>
        </p:nvSpPr>
        <p:spPr>
          <a:xfrm>
            <a:off x="8115300" y="5262563"/>
            <a:ext cx="742950" cy="285750"/>
          </a:xfrm>
          <a:prstGeom prst="rect">
            <a:avLst/>
          </a:prstGeom>
          <a:noFill/>
          <a:ln/>
        </p:spPr>
        <p:txBody>
          <a:bodyPr wrap="square" lIns="25400" tIns="25400" rIns="25400" bIns="25400" rtlCol="0" anchor="t">
            <a:normAutofit fontScale="92500" lnSpcReduction="20000"/>
          </a:bodyPr>
          <a:lstStyle/>
          <a:p>
            <a:pPr marL="0" indent="0" algn="r">
              <a:lnSpc>
                <a:spcPct val="130000"/>
              </a:lnSpc>
              <a:buNone/>
            </a:pPr>
            <a:r>
              <a:rPr lang="en-US" sz="1500" dirty="0">
                <a:solidFill>
                  <a:srgbClr val="1C1B1A"/>
                </a:solidFill>
                <a:latin typeface="Courier New" pitchFamily="34" charset="0"/>
                <a:ea typeface="Courier New" pitchFamily="34" charset="-122"/>
                <a:cs typeface="Courier New" pitchFamily="34" charset="-120"/>
              </a:rPr>
              <a:t>0.044</a:t>
            </a:r>
            <a:endParaRPr lang="en-US" sz="1500" dirty="0"/>
          </a:p>
        </p:txBody>
      </p:sp>
      <p:sp>
        <p:nvSpPr>
          <p:cNvPr id="33" name="Shape 31"/>
          <p:cNvSpPr/>
          <p:nvPr/>
        </p:nvSpPr>
        <p:spPr>
          <a:xfrm>
            <a:off x="9429750" y="3248025"/>
            <a:ext cx="7905750" cy="19050"/>
          </a:xfrm>
          <a:prstGeom prst="rect">
            <a:avLst/>
          </a:prstGeom>
          <a:solidFill>
            <a:srgbClr val="B95D2C"/>
          </a:solidFill>
          <a:ln/>
        </p:spPr>
        <p:txBody>
          <a:bodyPr/>
          <a:lstStyle/>
          <a:p>
            <a:endParaRPr lang="en-US"/>
          </a:p>
        </p:txBody>
      </p:sp>
      <p:sp>
        <p:nvSpPr>
          <p:cNvPr id="34" name="Text 32"/>
          <p:cNvSpPr/>
          <p:nvPr/>
        </p:nvSpPr>
        <p:spPr>
          <a:xfrm>
            <a:off x="9429750" y="2714625"/>
            <a:ext cx="2170579" cy="457200"/>
          </a:xfrm>
          <a:prstGeom prst="rect">
            <a:avLst/>
          </a:prstGeom>
          <a:noFill/>
          <a:ln/>
        </p:spPr>
        <p:txBody>
          <a:bodyPr wrap="square" lIns="25400" tIns="25400" rIns="25400" bIns="25400" rtlCol="0" anchor="t">
            <a:normAutofit/>
          </a:bodyPr>
          <a:lstStyle/>
          <a:p>
            <a:pPr marL="0" indent="0" algn="l">
              <a:buNone/>
            </a:pPr>
            <a:r>
              <a:rPr lang="en-US" sz="2400" b="1" dirty="0">
                <a:solidFill>
                  <a:srgbClr val="1C1B1A"/>
                </a:solidFill>
                <a:latin typeface="Georgia" pitchFamily="34" charset="0"/>
                <a:ea typeface="Georgia" pitchFamily="34" charset="-122"/>
                <a:cs typeface="Georgia" pitchFamily="34" charset="-120"/>
              </a:rPr>
              <a:t>XGBoost</a:t>
            </a:r>
            <a:endParaRPr lang="en-US" sz="2400" dirty="0"/>
          </a:p>
        </p:txBody>
      </p:sp>
      <p:sp>
        <p:nvSpPr>
          <p:cNvPr id="35" name="Text 33"/>
          <p:cNvSpPr/>
          <p:nvPr/>
        </p:nvSpPr>
        <p:spPr>
          <a:xfrm>
            <a:off x="15030748" y="2886075"/>
            <a:ext cx="2380952"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B95D2C"/>
                </a:solidFill>
                <a:latin typeface="Courier New" pitchFamily="34" charset="0"/>
                <a:ea typeface="Courier New" pitchFamily="34" charset="-122"/>
                <a:cs typeface="Courier New" pitchFamily="34" charset="-120"/>
              </a:rPr>
              <a:t>GAIN-BASED IMPORTANCE</a:t>
            </a:r>
            <a:endParaRPr lang="en-US" sz="1350" dirty="0"/>
          </a:p>
        </p:txBody>
      </p:sp>
      <p:sp>
        <p:nvSpPr>
          <p:cNvPr id="36" name="Text 34"/>
          <p:cNvSpPr/>
          <p:nvPr/>
        </p:nvSpPr>
        <p:spPr>
          <a:xfrm>
            <a:off x="9429750" y="3438525"/>
            <a:ext cx="323850" cy="35242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950" b="1" dirty="0">
                <a:solidFill>
                  <a:srgbClr val="B95D2C"/>
                </a:solidFill>
                <a:latin typeface="Georgia" pitchFamily="34" charset="0"/>
                <a:ea typeface="Georgia" pitchFamily="34" charset="-122"/>
                <a:cs typeface="Georgia" pitchFamily="34" charset="-120"/>
              </a:rPr>
              <a:t>1</a:t>
            </a:r>
            <a:endParaRPr lang="en-US" sz="1950" dirty="0"/>
          </a:p>
        </p:txBody>
      </p:sp>
      <p:sp>
        <p:nvSpPr>
          <p:cNvPr id="37" name="Text 35"/>
          <p:cNvSpPr/>
          <p:nvPr/>
        </p:nvSpPr>
        <p:spPr>
          <a:xfrm>
            <a:off x="9810750" y="3462338"/>
            <a:ext cx="3531870" cy="3048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650" dirty="0">
                <a:solidFill>
                  <a:srgbClr val="4B4845"/>
                </a:solidFill>
                <a:latin typeface="-apple-system" pitchFamily="34" charset="0"/>
                <a:ea typeface="-apple-system" pitchFamily="34" charset="-122"/>
                <a:cs typeface="-apple-system" pitchFamily="34" charset="-120"/>
              </a:rPr>
              <a:t>Curricular units 2nd sem (approved)</a:t>
            </a:r>
            <a:endParaRPr lang="en-US" sz="1650" dirty="0"/>
          </a:p>
        </p:txBody>
      </p:sp>
      <p:sp>
        <p:nvSpPr>
          <p:cNvPr id="38" name="Shape 36"/>
          <p:cNvSpPr/>
          <p:nvPr/>
        </p:nvSpPr>
        <p:spPr>
          <a:xfrm>
            <a:off x="13373100" y="3509963"/>
            <a:ext cx="3162300" cy="171450"/>
          </a:xfrm>
          <a:prstGeom prst="rect">
            <a:avLst/>
          </a:prstGeom>
          <a:solidFill>
            <a:srgbClr val="F2EEE6"/>
          </a:solidFill>
          <a:ln w="9525">
            <a:solidFill>
              <a:srgbClr val="D9D3C5"/>
            </a:solidFill>
            <a:prstDash val="solid"/>
          </a:ln>
        </p:spPr>
        <p:txBody>
          <a:bodyPr/>
          <a:lstStyle/>
          <a:p>
            <a:endParaRPr lang="en-US"/>
          </a:p>
        </p:txBody>
      </p:sp>
      <p:sp>
        <p:nvSpPr>
          <p:cNvPr id="39" name="Shape 37"/>
          <p:cNvSpPr/>
          <p:nvPr/>
        </p:nvSpPr>
        <p:spPr>
          <a:xfrm>
            <a:off x="13382625" y="3519488"/>
            <a:ext cx="3071813" cy="152400"/>
          </a:xfrm>
          <a:prstGeom prst="rect">
            <a:avLst/>
          </a:prstGeom>
          <a:solidFill>
            <a:srgbClr val="B95D2C"/>
          </a:solidFill>
          <a:ln/>
        </p:spPr>
        <p:txBody>
          <a:bodyPr/>
          <a:lstStyle/>
          <a:p>
            <a:endParaRPr lang="en-US"/>
          </a:p>
        </p:txBody>
      </p:sp>
      <p:sp>
        <p:nvSpPr>
          <p:cNvPr id="40" name="Text 38"/>
          <p:cNvSpPr/>
          <p:nvPr/>
        </p:nvSpPr>
        <p:spPr>
          <a:xfrm>
            <a:off x="16592550" y="3471863"/>
            <a:ext cx="742950" cy="285750"/>
          </a:xfrm>
          <a:prstGeom prst="rect">
            <a:avLst/>
          </a:prstGeom>
          <a:noFill/>
          <a:ln/>
        </p:spPr>
        <p:txBody>
          <a:bodyPr wrap="square" lIns="25400" tIns="25400" rIns="25400" bIns="25400" rtlCol="0" anchor="t">
            <a:normAutofit fontScale="92500" lnSpcReduction="20000"/>
          </a:bodyPr>
          <a:lstStyle/>
          <a:p>
            <a:pPr marL="0" indent="0" algn="r">
              <a:lnSpc>
                <a:spcPct val="130000"/>
              </a:lnSpc>
              <a:buNone/>
            </a:pPr>
            <a:r>
              <a:rPr lang="en-US" sz="1500" dirty="0">
                <a:solidFill>
                  <a:srgbClr val="1C1B1A"/>
                </a:solidFill>
                <a:latin typeface="Courier New" pitchFamily="34" charset="0"/>
                <a:ea typeface="Courier New" pitchFamily="34" charset="-122"/>
                <a:cs typeface="Courier New" pitchFamily="34" charset="-120"/>
              </a:rPr>
              <a:t>0.215</a:t>
            </a:r>
            <a:endParaRPr lang="en-US" sz="1500" dirty="0"/>
          </a:p>
        </p:txBody>
      </p:sp>
      <p:sp>
        <p:nvSpPr>
          <p:cNvPr id="41" name="Text 39"/>
          <p:cNvSpPr/>
          <p:nvPr/>
        </p:nvSpPr>
        <p:spPr>
          <a:xfrm>
            <a:off x="9429750" y="3886200"/>
            <a:ext cx="323850" cy="35242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950" b="1" dirty="0">
                <a:solidFill>
                  <a:srgbClr val="B95D2C"/>
                </a:solidFill>
                <a:latin typeface="Georgia" pitchFamily="34" charset="0"/>
                <a:ea typeface="Georgia" pitchFamily="34" charset="-122"/>
                <a:cs typeface="Georgia" pitchFamily="34" charset="-120"/>
              </a:rPr>
              <a:t>2</a:t>
            </a:r>
            <a:endParaRPr lang="en-US" sz="1950" dirty="0"/>
          </a:p>
        </p:txBody>
      </p:sp>
      <p:sp>
        <p:nvSpPr>
          <p:cNvPr id="42" name="Text 40"/>
          <p:cNvSpPr/>
          <p:nvPr/>
        </p:nvSpPr>
        <p:spPr>
          <a:xfrm>
            <a:off x="9810750" y="3910013"/>
            <a:ext cx="3531870" cy="3048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650" dirty="0">
                <a:solidFill>
                  <a:srgbClr val="4B4845"/>
                </a:solidFill>
                <a:latin typeface="-apple-system" pitchFamily="34" charset="0"/>
                <a:ea typeface="-apple-system" pitchFamily="34" charset="-122"/>
                <a:cs typeface="-apple-system" pitchFamily="34" charset="-120"/>
              </a:rPr>
              <a:t>Tuition fees up to date</a:t>
            </a:r>
            <a:endParaRPr lang="en-US" sz="1650" dirty="0"/>
          </a:p>
        </p:txBody>
      </p:sp>
      <p:sp>
        <p:nvSpPr>
          <p:cNvPr id="43" name="Shape 41"/>
          <p:cNvSpPr/>
          <p:nvPr/>
        </p:nvSpPr>
        <p:spPr>
          <a:xfrm>
            <a:off x="13373100" y="3957638"/>
            <a:ext cx="3162300" cy="171450"/>
          </a:xfrm>
          <a:prstGeom prst="rect">
            <a:avLst/>
          </a:prstGeom>
          <a:solidFill>
            <a:srgbClr val="F2EEE6"/>
          </a:solidFill>
          <a:ln w="9525">
            <a:solidFill>
              <a:srgbClr val="D9D3C5"/>
            </a:solidFill>
            <a:prstDash val="solid"/>
          </a:ln>
        </p:spPr>
        <p:txBody>
          <a:bodyPr/>
          <a:lstStyle/>
          <a:p>
            <a:endParaRPr lang="en-US"/>
          </a:p>
        </p:txBody>
      </p:sp>
      <p:sp>
        <p:nvSpPr>
          <p:cNvPr id="44" name="Shape 42"/>
          <p:cNvSpPr/>
          <p:nvPr/>
        </p:nvSpPr>
        <p:spPr>
          <a:xfrm>
            <a:off x="13382625" y="3967163"/>
            <a:ext cx="1671638" cy="152400"/>
          </a:xfrm>
          <a:prstGeom prst="rect">
            <a:avLst/>
          </a:prstGeom>
          <a:solidFill>
            <a:srgbClr val="B95D2C"/>
          </a:solidFill>
          <a:ln/>
        </p:spPr>
        <p:txBody>
          <a:bodyPr/>
          <a:lstStyle/>
          <a:p>
            <a:endParaRPr lang="en-US"/>
          </a:p>
        </p:txBody>
      </p:sp>
      <p:sp>
        <p:nvSpPr>
          <p:cNvPr id="45" name="Text 43"/>
          <p:cNvSpPr/>
          <p:nvPr/>
        </p:nvSpPr>
        <p:spPr>
          <a:xfrm>
            <a:off x="16592550" y="3919537"/>
            <a:ext cx="742950" cy="285750"/>
          </a:xfrm>
          <a:prstGeom prst="rect">
            <a:avLst/>
          </a:prstGeom>
          <a:noFill/>
          <a:ln/>
        </p:spPr>
        <p:txBody>
          <a:bodyPr wrap="square" lIns="25400" tIns="25400" rIns="25400" bIns="25400" rtlCol="0" anchor="t">
            <a:normAutofit fontScale="92500" lnSpcReduction="20000"/>
          </a:bodyPr>
          <a:lstStyle/>
          <a:p>
            <a:pPr marL="0" indent="0" algn="r">
              <a:lnSpc>
                <a:spcPct val="130000"/>
              </a:lnSpc>
              <a:buNone/>
            </a:pPr>
            <a:r>
              <a:rPr lang="en-US" sz="1500" dirty="0">
                <a:solidFill>
                  <a:srgbClr val="1C1B1A"/>
                </a:solidFill>
                <a:latin typeface="Courier New" pitchFamily="34" charset="0"/>
                <a:ea typeface="Courier New" pitchFamily="34" charset="-122"/>
                <a:cs typeface="Courier New" pitchFamily="34" charset="-120"/>
              </a:rPr>
              <a:t>0.117</a:t>
            </a:r>
            <a:endParaRPr lang="en-US" sz="1500" dirty="0"/>
          </a:p>
        </p:txBody>
      </p:sp>
      <p:sp>
        <p:nvSpPr>
          <p:cNvPr id="46" name="Text 44"/>
          <p:cNvSpPr/>
          <p:nvPr/>
        </p:nvSpPr>
        <p:spPr>
          <a:xfrm>
            <a:off x="9429750" y="4333875"/>
            <a:ext cx="323850" cy="35242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950" b="1" dirty="0">
                <a:solidFill>
                  <a:srgbClr val="B95D2C"/>
                </a:solidFill>
                <a:latin typeface="Georgia" pitchFamily="34" charset="0"/>
                <a:ea typeface="Georgia" pitchFamily="34" charset="-122"/>
                <a:cs typeface="Georgia" pitchFamily="34" charset="-120"/>
              </a:rPr>
              <a:t>3</a:t>
            </a:r>
            <a:endParaRPr lang="en-US" sz="1950" dirty="0"/>
          </a:p>
        </p:txBody>
      </p:sp>
      <p:sp>
        <p:nvSpPr>
          <p:cNvPr id="47" name="Text 45"/>
          <p:cNvSpPr/>
          <p:nvPr/>
        </p:nvSpPr>
        <p:spPr>
          <a:xfrm>
            <a:off x="9810750" y="4357688"/>
            <a:ext cx="3531870" cy="3048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650" dirty="0">
                <a:solidFill>
                  <a:srgbClr val="4B4845"/>
                </a:solidFill>
                <a:latin typeface="-apple-system" pitchFamily="34" charset="0"/>
                <a:ea typeface="-apple-system" pitchFamily="34" charset="-122"/>
                <a:cs typeface="-apple-system" pitchFamily="34" charset="-120"/>
              </a:rPr>
              <a:t>Curricular units 1st sem (enrolled)</a:t>
            </a:r>
            <a:endParaRPr lang="en-US" sz="1650" dirty="0"/>
          </a:p>
        </p:txBody>
      </p:sp>
      <p:sp>
        <p:nvSpPr>
          <p:cNvPr id="48" name="Shape 46"/>
          <p:cNvSpPr/>
          <p:nvPr/>
        </p:nvSpPr>
        <p:spPr>
          <a:xfrm>
            <a:off x="13373100" y="4405313"/>
            <a:ext cx="3162300" cy="171450"/>
          </a:xfrm>
          <a:prstGeom prst="rect">
            <a:avLst/>
          </a:prstGeom>
          <a:solidFill>
            <a:srgbClr val="F2EEE6"/>
          </a:solidFill>
          <a:ln w="9525">
            <a:solidFill>
              <a:srgbClr val="D9D3C5"/>
            </a:solidFill>
            <a:prstDash val="solid"/>
          </a:ln>
        </p:spPr>
        <p:txBody>
          <a:bodyPr/>
          <a:lstStyle/>
          <a:p>
            <a:endParaRPr lang="en-US"/>
          </a:p>
        </p:txBody>
      </p:sp>
      <p:sp>
        <p:nvSpPr>
          <p:cNvPr id="49" name="Shape 47"/>
          <p:cNvSpPr/>
          <p:nvPr/>
        </p:nvSpPr>
        <p:spPr>
          <a:xfrm>
            <a:off x="13382625" y="4414838"/>
            <a:ext cx="742950" cy="152400"/>
          </a:xfrm>
          <a:prstGeom prst="rect">
            <a:avLst/>
          </a:prstGeom>
          <a:solidFill>
            <a:srgbClr val="B95D2C"/>
          </a:solidFill>
          <a:ln/>
        </p:spPr>
        <p:txBody>
          <a:bodyPr/>
          <a:lstStyle/>
          <a:p>
            <a:endParaRPr lang="en-US"/>
          </a:p>
        </p:txBody>
      </p:sp>
      <p:sp>
        <p:nvSpPr>
          <p:cNvPr id="50" name="Text 48"/>
          <p:cNvSpPr/>
          <p:nvPr/>
        </p:nvSpPr>
        <p:spPr>
          <a:xfrm>
            <a:off x="16592550" y="4367213"/>
            <a:ext cx="742950" cy="285750"/>
          </a:xfrm>
          <a:prstGeom prst="rect">
            <a:avLst/>
          </a:prstGeom>
          <a:noFill/>
          <a:ln/>
        </p:spPr>
        <p:txBody>
          <a:bodyPr wrap="square" lIns="25400" tIns="25400" rIns="25400" bIns="25400" rtlCol="0" anchor="t">
            <a:normAutofit fontScale="92500" lnSpcReduction="20000"/>
          </a:bodyPr>
          <a:lstStyle/>
          <a:p>
            <a:pPr marL="0" indent="0" algn="r">
              <a:lnSpc>
                <a:spcPct val="130000"/>
              </a:lnSpc>
              <a:buNone/>
            </a:pPr>
            <a:r>
              <a:rPr lang="en-US" sz="1500" dirty="0">
                <a:solidFill>
                  <a:srgbClr val="1C1B1A"/>
                </a:solidFill>
                <a:latin typeface="Courier New" pitchFamily="34" charset="0"/>
                <a:ea typeface="Courier New" pitchFamily="34" charset="-122"/>
                <a:cs typeface="Courier New" pitchFamily="34" charset="-120"/>
              </a:rPr>
              <a:t>0.052</a:t>
            </a:r>
            <a:endParaRPr lang="en-US" sz="1500" dirty="0"/>
          </a:p>
        </p:txBody>
      </p:sp>
      <p:sp>
        <p:nvSpPr>
          <p:cNvPr id="51" name="Text 49"/>
          <p:cNvSpPr/>
          <p:nvPr/>
        </p:nvSpPr>
        <p:spPr>
          <a:xfrm>
            <a:off x="9429750" y="4781550"/>
            <a:ext cx="323850" cy="35242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950" b="1" dirty="0">
                <a:solidFill>
                  <a:srgbClr val="B95D2C"/>
                </a:solidFill>
                <a:latin typeface="Georgia" pitchFamily="34" charset="0"/>
                <a:ea typeface="Georgia" pitchFamily="34" charset="-122"/>
                <a:cs typeface="Georgia" pitchFamily="34" charset="-120"/>
              </a:rPr>
              <a:t>4</a:t>
            </a:r>
            <a:endParaRPr lang="en-US" sz="1950" dirty="0"/>
          </a:p>
        </p:txBody>
      </p:sp>
      <p:sp>
        <p:nvSpPr>
          <p:cNvPr id="52" name="Text 50"/>
          <p:cNvSpPr/>
          <p:nvPr/>
        </p:nvSpPr>
        <p:spPr>
          <a:xfrm>
            <a:off x="9810750" y="4805363"/>
            <a:ext cx="3531870" cy="3048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650" dirty="0">
                <a:solidFill>
                  <a:srgbClr val="4B4845"/>
                </a:solidFill>
                <a:latin typeface="-apple-system" pitchFamily="34" charset="0"/>
                <a:ea typeface="-apple-system" pitchFamily="34" charset="-122"/>
                <a:cs typeface="-apple-system" pitchFamily="34" charset="-120"/>
              </a:rPr>
              <a:t>Curricular units 2nd sem (enrolled)</a:t>
            </a:r>
            <a:endParaRPr lang="en-US" sz="1650" dirty="0"/>
          </a:p>
        </p:txBody>
      </p:sp>
      <p:sp>
        <p:nvSpPr>
          <p:cNvPr id="53" name="Shape 51"/>
          <p:cNvSpPr/>
          <p:nvPr/>
        </p:nvSpPr>
        <p:spPr>
          <a:xfrm>
            <a:off x="13373100" y="4852988"/>
            <a:ext cx="3162300" cy="171450"/>
          </a:xfrm>
          <a:prstGeom prst="rect">
            <a:avLst/>
          </a:prstGeom>
          <a:solidFill>
            <a:srgbClr val="F2EEE6"/>
          </a:solidFill>
          <a:ln w="9525">
            <a:solidFill>
              <a:srgbClr val="D9D3C5"/>
            </a:solidFill>
            <a:prstDash val="solid"/>
          </a:ln>
        </p:spPr>
        <p:txBody>
          <a:bodyPr/>
          <a:lstStyle/>
          <a:p>
            <a:endParaRPr lang="en-US"/>
          </a:p>
        </p:txBody>
      </p:sp>
      <p:sp>
        <p:nvSpPr>
          <p:cNvPr id="54" name="Shape 52"/>
          <p:cNvSpPr/>
          <p:nvPr/>
        </p:nvSpPr>
        <p:spPr>
          <a:xfrm>
            <a:off x="13382625" y="4862513"/>
            <a:ext cx="542925" cy="152400"/>
          </a:xfrm>
          <a:prstGeom prst="rect">
            <a:avLst/>
          </a:prstGeom>
          <a:solidFill>
            <a:srgbClr val="B95D2C"/>
          </a:solidFill>
          <a:ln/>
        </p:spPr>
        <p:txBody>
          <a:bodyPr/>
          <a:lstStyle/>
          <a:p>
            <a:endParaRPr lang="en-US"/>
          </a:p>
        </p:txBody>
      </p:sp>
      <p:sp>
        <p:nvSpPr>
          <p:cNvPr id="55" name="Text 53"/>
          <p:cNvSpPr/>
          <p:nvPr/>
        </p:nvSpPr>
        <p:spPr>
          <a:xfrm>
            <a:off x="16592550" y="4814888"/>
            <a:ext cx="742950" cy="285750"/>
          </a:xfrm>
          <a:prstGeom prst="rect">
            <a:avLst/>
          </a:prstGeom>
          <a:noFill/>
          <a:ln/>
        </p:spPr>
        <p:txBody>
          <a:bodyPr wrap="square" lIns="25400" tIns="25400" rIns="25400" bIns="25400" rtlCol="0" anchor="t">
            <a:normAutofit fontScale="92500" lnSpcReduction="20000"/>
          </a:bodyPr>
          <a:lstStyle/>
          <a:p>
            <a:pPr marL="0" indent="0" algn="r">
              <a:lnSpc>
                <a:spcPct val="130000"/>
              </a:lnSpc>
              <a:buNone/>
            </a:pPr>
            <a:r>
              <a:rPr lang="en-US" sz="1500" dirty="0">
                <a:solidFill>
                  <a:srgbClr val="1C1B1A"/>
                </a:solidFill>
                <a:latin typeface="Courier New" pitchFamily="34" charset="0"/>
                <a:ea typeface="Courier New" pitchFamily="34" charset="-122"/>
                <a:cs typeface="Courier New" pitchFamily="34" charset="-120"/>
              </a:rPr>
              <a:t>0.038</a:t>
            </a:r>
            <a:endParaRPr lang="en-US" sz="1500" dirty="0"/>
          </a:p>
        </p:txBody>
      </p:sp>
      <p:sp>
        <p:nvSpPr>
          <p:cNvPr id="56" name="Text 54"/>
          <p:cNvSpPr/>
          <p:nvPr/>
        </p:nvSpPr>
        <p:spPr>
          <a:xfrm>
            <a:off x="9429750" y="5229225"/>
            <a:ext cx="323850" cy="352425"/>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950" b="1" dirty="0">
                <a:solidFill>
                  <a:srgbClr val="B95D2C"/>
                </a:solidFill>
                <a:latin typeface="Georgia" pitchFamily="34" charset="0"/>
                <a:ea typeface="Georgia" pitchFamily="34" charset="-122"/>
                <a:cs typeface="Georgia" pitchFamily="34" charset="-120"/>
              </a:rPr>
              <a:t>5</a:t>
            </a:r>
            <a:endParaRPr lang="en-US" sz="1950" dirty="0"/>
          </a:p>
        </p:txBody>
      </p:sp>
      <p:sp>
        <p:nvSpPr>
          <p:cNvPr id="57" name="Text 55"/>
          <p:cNvSpPr/>
          <p:nvPr/>
        </p:nvSpPr>
        <p:spPr>
          <a:xfrm>
            <a:off x="9810750" y="5253038"/>
            <a:ext cx="3531870" cy="3048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650" dirty="0">
                <a:solidFill>
                  <a:srgbClr val="4B4845"/>
                </a:solidFill>
                <a:latin typeface="-apple-system" pitchFamily="34" charset="0"/>
                <a:ea typeface="-apple-system" pitchFamily="34" charset="-122"/>
                <a:cs typeface="-apple-system" pitchFamily="34" charset="-120"/>
              </a:rPr>
              <a:t>Scholarship holder</a:t>
            </a:r>
            <a:endParaRPr lang="en-US" sz="1650" dirty="0"/>
          </a:p>
        </p:txBody>
      </p:sp>
      <p:sp>
        <p:nvSpPr>
          <p:cNvPr id="58" name="Shape 56"/>
          <p:cNvSpPr/>
          <p:nvPr/>
        </p:nvSpPr>
        <p:spPr>
          <a:xfrm>
            <a:off x="13373100" y="5300663"/>
            <a:ext cx="3162300" cy="171450"/>
          </a:xfrm>
          <a:prstGeom prst="rect">
            <a:avLst/>
          </a:prstGeom>
          <a:solidFill>
            <a:srgbClr val="F2EEE6"/>
          </a:solidFill>
          <a:ln w="9525">
            <a:solidFill>
              <a:srgbClr val="D9D3C5"/>
            </a:solidFill>
            <a:prstDash val="solid"/>
          </a:ln>
        </p:spPr>
        <p:txBody>
          <a:bodyPr/>
          <a:lstStyle/>
          <a:p>
            <a:endParaRPr lang="en-US"/>
          </a:p>
        </p:txBody>
      </p:sp>
      <p:sp>
        <p:nvSpPr>
          <p:cNvPr id="59" name="Shape 57"/>
          <p:cNvSpPr/>
          <p:nvPr/>
        </p:nvSpPr>
        <p:spPr>
          <a:xfrm>
            <a:off x="13382625" y="5310188"/>
            <a:ext cx="457200" cy="152400"/>
          </a:xfrm>
          <a:prstGeom prst="rect">
            <a:avLst/>
          </a:prstGeom>
          <a:solidFill>
            <a:srgbClr val="B95D2C"/>
          </a:solidFill>
          <a:ln/>
        </p:spPr>
        <p:txBody>
          <a:bodyPr/>
          <a:lstStyle/>
          <a:p>
            <a:endParaRPr lang="en-US"/>
          </a:p>
        </p:txBody>
      </p:sp>
      <p:sp>
        <p:nvSpPr>
          <p:cNvPr id="60" name="Text 58"/>
          <p:cNvSpPr/>
          <p:nvPr/>
        </p:nvSpPr>
        <p:spPr>
          <a:xfrm>
            <a:off x="16592550" y="5262563"/>
            <a:ext cx="742950" cy="285750"/>
          </a:xfrm>
          <a:prstGeom prst="rect">
            <a:avLst/>
          </a:prstGeom>
          <a:noFill/>
          <a:ln/>
        </p:spPr>
        <p:txBody>
          <a:bodyPr wrap="square" lIns="25400" tIns="25400" rIns="25400" bIns="25400" rtlCol="0" anchor="t">
            <a:normAutofit fontScale="92500" lnSpcReduction="20000"/>
          </a:bodyPr>
          <a:lstStyle/>
          <a:p>
            <a:pPr marL="0" indent="0" algn="r">
              <a:lnSpc>
                <a:spcPct val="130000"/>
              </a:lnSpc>
              <a:buNone/>
            </a:pPr>
            <a:r>
              <a:rPr lang="en-US" sz="1500" dirty="0">
                <a:solidFill>
                  <a:srgbClr val="1C1B1A"/>
                </a:solidFill>
                <a:latin typeface="Courier New" pitchFamily="34" charset="0"/>
                <a:ea typeface="Courier New" pitchFamily="34" charset="-122"/>
                <a:cs typeface="Courier New" pitchFamily="34" charset="-120"/>
              </a:rPr>
              <a:t>0.032</a:t>
            </a:r>
            <a:endParaRPr lang="en-US" sz="1500" dirty="0"/>
          </a:p>
        </p:txBody>
      </p:sp>
      <p:sp>
        <p:nvSpPr>
          <p:cNvPr id="61" name="Shape 59"/>
          <p:cNvSpPr/>
          <p:nvPr/>
        </p:nvSpPr>
        <p:spPr>
          <a:xfrm>
            <a:off x="952500" y="5924550"/>
            <a:ext cx="16383000" cy="1104900"/>
          </a:xfrm>
          <a:prstGeom prst="rect">
            <a:avLst/>
          </a:prstGeom>
          <a:solidFill>
            <a:srgbClr val="F2EEE6"/>
          </a:solidFill>
          <a:ln/>
        </p:spPr>
        <p:txBody>
          <a:bodyPr/>
          <a:lstStyle/>
          <a:p>
            <a:endParaRPr lang="en-US"/>
          </a:p>
        </p:txBody>
      </p:sp>
      <p:sp>
        <p:nvSpPr>
          <p:cNvPr id="62" name="Shape 60"/>
          <p:cNvSpPr/>
          <p:nvPr/>
        </p:nvSpPr>
        <p:spPr>
          <a:xfrm>
            <a:off x="952500" y="5924550"/>
            <a:ext cx="38100" cy="1104900"/>
          </a:xfrm>
          <a:prstGeom prst="rect">
            <a:avLst/>
          </a:prstGeom>
          <a:solidFill>
            <a:srgbClr val="1D9E75"/>
          </a:solidFill>
          <a:ln/>
        </p:spPr>
        <p:txBody>
          <a:bodyPr/>
          <a:lstStyle/>
          <a:p>
            <a:endParaRPr lang="en-US"/>
          </a:p>
        </p:txBody>
      </p:sp>
      <p:sp>
        <p:nvSpPr>
          <p:cNvPr id="63" name="Text 61"/>
          <p:cNvSpPr/>
          <p:nvPr/>
        </p:nvSpPr>
        <p:spPr>
          <a:xfrm>
            <a:off x="1257300" y="6153150"/>
            <a:ext cx="16302990" cy="68580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800" dirty="0">
                <a:solidFill>
                  <a:srgbClr val="1C1B1A"/>
                </a:solidFill>
                <a:latin typeface="-apple-system" pitchFamily="34" charset="0"/>
                <a:ea typeface="-apple-system" pitchFamily="34" charset="-122"/>
                <a:cs typeface="-apple-system" pitchFamily="34" charset="-120"/>
              </a:rPr>
              <a:t>Both models converge on 2nd-semester approved units as the #1 predictor — RF MDI 0.155, XGB gain 0.215. XGBoost weighs financial signals (tuition 0.117, scholarship 0.032) more heavily; Random Forest leans on grade variables (4 of top 5 are grade-related).</a:t>
            </a:r>
            <a:endParaRPr lang="en-US" sz="1800" dirty="0"/>
          </a:p>
        </p:txBody>
      </p:sp>
      <p:sp>
        <p:nvSpPr>
          <p:cNvPr id="64" name="Text 62"/>
          <p:cNvSpPr/>
          <p:nvPr/>
        </p:nvSpPr>
        <p:spPr>
          <a:xfrm>
            <a:off x="16692116" y="7153275"/>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16/19</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8288000" cy="7648575"/>
          </a:xfrm>
          <a:prstGeom prst="rect">
            <a:avLst/>
          </a:prstGeom>
          <a:solidFill>
            <a:srgbClr val="0E3A53"/>
          </a:solidFill>
          <a:ln/>
        </p:spPr>
        <p:txBody>
          <a:bodyPr/>
          <a:lstStyle/>
          <a:p>
            <a:endParaRPr lang="en-US"/>
          </a:p>
        </p:txBody>
      </p:sp>
      <p:sp>
        <p:nvSpPr>
          <p:cNvPr id="3" name="Shape 1"/>
          <p:cNvSpPr/>
          <p:nvPr/>
        </p:nvSpPr>
        <p:spPr>
          <a:xfrm>
            <a:off x="952500" y="1047006"/>
            <a:ext cx="533400" cy="19050"/>
          </a:xfrm>
          <a:prstGeom prst="rect">
            <a:avLst/>
          </a:prstGeom>
          <a:solidFill>
            <a:srgbClr val="FFFFFF">
              <a:alpha val="60000"/>
            </a:srgbClr>
          </a:solidFill>
          <a:ln/>
        </p:spPr>
        <p:txBody>
          <a:bodyPr/>
          <a:lstStyle/>
          <a:p>
            <a:endParaRPr lang="en-US"/>
          </a:p>
        </p:txBody>
      </p:sp>
      <p:sp>
        <p:nvSpPr>
          <p:cNvPr id="4" name="Text 2"/>
          <p:cNvSpPr/>
          <p:nvPr/>
        </p:nvSpPr>
        <p:spPr>
          <a:xfrm>
            <a:off x="1657350" y="952500"/>
            <a:ext cx="2938885"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FFFFFF">
                    <a:alpha val="60000"/>
                  </a:srgbClr>
                </a:solidFill>
                <a:latin typeface="Courier New" pitchFamily="34" charset="0"/>
                <a:ea typeface="Courier New" pitchFamily="34" charset="-122"/>
                <a:cs typeface="Courier New" pitchFamily="34" charset="-120"/>
              </a:rPr>
              <a:t>16 · CONCLUSIONS</a:t>
            </a:r>
            <a:endParaRPr lang="en-US" sz="1800" dirty="0"/>
          </a:p>
        </p:txBody>
      </p:sp>
      <p:sp>
        <p:nvSpPr>
          <p:cNvPr id="5" name="Text 3"/>
          <p:cNvSpPr/>
          <p:nvPr/>
        </p:nvSpPr>
        <p:spPr>
          <a:xfrm>
            <a:off x="952500" y="1704975"/>
            <a:ext cx="14716125" cy="66675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FFFFFF"/>
                </a:solidFill>
                <a:latin typeface="Georgia" pitchFamily="34" charset="0"/>
                <a:ea typeface="Georgia" pitchFamily="34" charset="-122"/>
                <a:cs typeface="Georgia" pitchFamily="34" charset="-120"/>
              </a:rPr>
              <a:t>What we learned, and what to do about it</a:t>
            </a:r>
            <a:endParaRPr lang="en-US" sz="4800" dirty="0"/>
          </a:p>
        </p:txBody>
      </p:sp>
      <p:sp>
        <p:nvSpPr>
          <p:cNvPr id="6" name="Shape 4"/>
          <p:cNvSpPr/>
          <p:nvPr/>
        </p:nvSpPr>
        <p:spPr>
          <a:xfrm>
            <a:off x="952500" y="3419475"/>
            <a:ext cx="8182421" cy="9525"/>
          </a:xfrm>
          <a:prstGeom prst="rect">
            <a:avLst/>
          </a:prstGeom>
          <a:solidFill>
            <a:srgbClr val="FFFFFF">
              <a:alpha val="18000"/>
            </a:srgbClr>
          </a:solidFill>
          <a:ln/>
        </p:spPr>
        <p:txBody>
          <a:bodyPr/>
          <a:lstStyle/>
          <a:p>
            <a:endParaRPr lang="en-US"/>
          </a:p>
        </p:txBody>
      </p:sp>
      <p:sp>
        <p:nvSpPr>
          <p:cNvPr id="7" name="Text 5"/>
          <p:cNvSpPr/>
          <p:nvPr/>
        </p:nvSpPr>
        <p:spPr>
          <a:xfrm>
            <a:off x="952500" y="3009900"/>
            <a:ext cx="1790700"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162" dirty="0">
                <a:solidFill>
                  <a:srgbClr val="FFFFFF">
                    <a:alpha val="55000"/>
                  </a:srgbClr>
                </a:solidFill>
                <a:latin typeface="Courier New" pitchFamily="34" charset="0"/>
                <a:ea typeface="Courier New" pitchFamily="34" charset="-122"/>
                <a:cs typeface="Courier New" pitchFamily="34" charset="-120"/>
              </a:rPr>
              <a:t>BEST MODEL</a:t>
            </a:r>
            <a:endParaRPr lang="en-US" sz="1350" dirty="0"/>
          </a:p>
        </p:txBody>
      </p:sp>
      <p:sp>
        <p:nvSpPr>
          <p:cNvPr id="8" name="Text 6"/>
          <p:cNvSpPr/>
          <p:nvPr/>
        </p:nvSpPr>
        <p:spPr>
          <a:xfrm>
            <a:off x="2895600" y="2867025"/>
            <a:ext cx="6122828" cy="41910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FFFFFF">
                    <a:alpha val="92000"/>
                  </a:srgbClr>
                </a:solidFill>
                <a:latin typeface="-apple-system" pitchFamily="34" charset="0"/>
                <a:ea typeface="-apple-system" pitchFamily="34" charset="-122"/>
                <a:cs typeface="-apple-system" pitchFamily="34" charset="-120"/>
              </a:rPr>
              <a:t>XGBoost · F1-macro</a:t>
            </a:r>
            <a:r>
              <a:rPr lang="en-US" sz="2100" b="1" dirty="0">
                <a:solidFill>
                  <a:srgbClr val="FFFFFF">
                    <a:alpha val="92000"/>
                  </a:srgbClr>
                </a:solidFill>
                <a:latin typeface="Georgia" pitchFamily="34" charset="0"/>
                <a:ea typeface="Georgia" pitchFamily="34" charset="-122"/>
                <a:cs typeface="Georgia" pitchFamily="34" charset="-120"/>
              </a:rPr>
              <a:t>0.7056</a:t>
            </a:r>
            <a:r>
              <a:rPr lang="en-US" sz="2100" dirty="0">
                <a:solidFill>
                  <a:srgbClr val="FFFFFF">
                    <a:alpha val="92000"/>
                  </a:srgbClr>
                </a:solidFill>
                <a:latin typeface="-apple-system" pitchFamily="34" charset="0"/>
                <a:ea typeface="-apple-system" pitchFamily="34" charset="-122"/>
                <a:cs typeface="-apple-system" pitchFamily="34" charset="-120"/>
              </a:rPr>
              <a:t>(vs RF 0.689, LR 0.683)</a:t>
            </a:r>
            <a:endParaRPr lang="en-US" sz="2100" dirty="0"/>
          </a:p>
        </p:txBody>
      </p:sp>
      <p:sp>
        <p:nvSpPr>
          <p:cNvPr id="9" name="Shape 7"/>
          <p:cNvSpPr/>
          <p:nvPr/>
        </p:nvSpPr>
        <p:spPr>
          <a:xfrm>
            <a:off x="952500" y="4572000"/>
            <a:ext cx="8182421" cy="9525"/>
          </a:xfrm>
          <a:prstGeom prst="rect">
            <a:avLst/>
          </a:prstGeom>
          <a:solidFill>
            <a:srgbClr val="FFFFFF">
              <a:alpha val="18000"/>
            </a:srgbClr>
          </a:solidFill>
          <a:ln/>
        </p:spPr>
        <p:txBody>
          <a:bodyPr/>
          <a:lstStyle/>
          <a:p>
            <a:endParaRPr lang="en-US"/>
          </a:p>
        </p:txBody>
      </p:sp>
      <p:sp>
        <p:nvSpPr>
          <p:cNvPr id="10" name="Text 8"/>
          <p:cNvSpPr/>
          <p:nvPr/>
        </p:nvSpPr>
        <p:spPr>
          <a:xfrm>
            <a:off x="952500" y="3781425"/>
            <a:ext cx="1790700"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162" dirty="0">
                <a:solidFill>
                  <a:srgbClr val="FFFFFF">
                    <a:alpha val="55000"/>
                  </a:srgbClr>
                </a:solidFill>
                <a:latin typeface="Courier New" pitchFamily="34" charset="0"/>
                <a:ea typeface="Courier New" pitchFamily="34" charset="-122"/>
                <a:cs typeface="Courier New" pitchFamily="34" charset="-120"/>
              </a:rPr>
              <a:t>TOP PREDICTOR</a:t>
            </a:r>
            <a:endParaRPr lang="en-US" sz="1350" dirty="0"/>
          </a:p>
        </p:txBody>
      </p:sp>
      <p:sp>
        <p:nvSpPr>
          <p:cNvPr id="11" name="Text 9"/>
          <p:cNvSpPr/>
          <p:nvPr/>
        </p:nvSpPr>
        <p:spPr>
          <a:xfrm>
            <a:off x="2895600" y="3638550"/>
            <a:ext cx="6426501" cy="80010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FFFFFF">
                    <a:alpha val="92000"/>
                  </a:srgbClr>
                </a:solidFill>
                <a:latin typeface="-apple-system" pitchFamily="34" charset="0"/>
                <a:ea typeface="-apple-system" pitchFamily="34" charset="-122"/>
                <a:cs typeface="-apple-system" pitchFamily="34" charset="-120"/>
              </a:rPr>
              <a:t>2nd-sem approved units · ρ ≈ 0.65 · RF MDI 0.155 · XGB gain 0.215</a:t>
            </a:r>
            <a:endParaRPr lang="en-US" sz="2100" dirty="0"/>
          </a:p>
        </p:txBody>
      </p:sp>
      <p:sp>
        <p:nvSpPr>
          <p:cNvPr id="12" name="Shape 10"/>
          <p:cNvSpPr/>
          <p:nvPr/>
        </p:nvSpPr>
        <p:spPr>
          <a:xfrm>
            <a:off x="952500" y="5724525"/>
            <a:ext cx="8182421" cy="9525"/>
          </a:xfrm>
          <a:prstGeom prst="rect">
            <a:avLst/>
          </a:prstGeom>
          <a:solidFill>
            <a:srgbClr val="FFFFFF">
              <a:alpha val="18000"/>
            </a:srgbClr>
          </a:solidFill>
          <a:ln/>
        </p:spPr>
        <p:txBody>
          <a:bodyPr/>
          <a:lstStyle/>
          <a:p>
            <a:endParaRPr lang="en-US"/>
          </a:p>
        </p:txBody>
      </p:sp>
      <p:sp>
        <p:nvSpPr>
          <p:cNvPr id="13" name="Text 11"/>
          <p:cNvSpPr/>
          <p:nvPr/>
        </p:nvSpPr>
        <p:spPr>
          <a:xfrm>
            <a:off x="952500" y="4933950"/>
            <a:ext cx="1790700" cy="419100"/>
          </a:xfrm>
          <a:prstGeom prst="rect">
            <a:avLst/>
          </a:prstGeom>
          <a:noFill/>
          <a:ln/>
        </p:spPr>
        <p:txBody>
          <a:bodyPr wrap="square" lIns="25400" tIns="25400" rIns="25400" bIns="25400" rtlCol="0" anchor="t">
            <a:normAutofit/>
          </a:bodyPr>
          <a:lstStyle/>
          <a:p>
            <a:pPr marL="0" indent="0" algn="l">
              <a:buNone/>
            </a:pPr>
            <a:r>
              <a:rPr lang="en-US" sz="1350" kern="0" spc="162" dirty="0">
                <a:solidFill>
                  <a:srgbClr val="FFFFFF">
                    <a:alpha val="55000"/>
                  </a:srgbClr>
                </a:solidFill>
                <a:latin typeface="Courier New" pitchFamily="34" charset="0"/>
                <a:ea typeface="Courier New" pitchFamily="34" charset="-122"/>
                <a:cs typeface="Courier New" pitchFamily="34" charset="-120"/>
              </a:rPr>
              <a:t>STRONGEST RULE</a:t>
            </a:r>
            <a:endParaRPr lang="en-US" sz="1350" dirty="0"/>
          </a:p>
        </p:txBody>
      </p:sp>
      <p:sp>
        <p:nvSpPr>
          <p:cNvPr id="14" name="Text 12"/>
          <p:cNvSpPr/>
          <p:nvPr/>
        </p:nvSpPr>
        <p:spPr>
          <a:xfrm>
            <a:off x="2895600" y="4791075"/>
            <a:ext cx="6426501" cy="800100"/>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100" dirty="0">
                <a:solidFill>
                  <a:srgbClr val="FFFFFF">
                    <a:alpha val="92000"/>
                  </a:srgbClr>
                </a:solidFill>
                <a:latin typeface="-apple-system" pitchFamily="34" charset="0"/>
                <a:ea typeface="-apple-system" pitchFamily="34" charset="-122"/>
                <a:cs typeface="-apple-system" pitchFamily="34" charset="-120"/>
              </a:rPr>
              <a:t>Low 1st-sem approved units →</a:t>
            </a:r>
            <a:r>
              <a:rPr lang="en-US" sz="2100" b="1" dirty="0">
                <a:solidFill>
                  <a:srgbClr val="E24B4A"/>
                </a:solidFill>
                <a:latin typeface="-apple-system" pitchFamily="34" charset="0"/>
                <a:ea typeface="-apple-system" pitchFamily="34" charset="-122"/>
                <a:cs typeface="-apple-system" pitchFamily="34" charset="-120"/>
              </a:rPr>
              <a:t>77.1% dropout </a:t>
            </a:r>
            <a:r>
              <a:rPr lang="en-US" sz="2100" dirty="0">
                <a:solidFill>
                  <a:srgbClr val="FFFFFF">
                    <a:alpha val="92000"/>
                  </a:srgbClr>
                </a:solidFill>
                <a:latin typeface="-apple-system" pitchFamily="34" charset="0"/>
                <a:ea typeface="-apple-system" pitchFamily="34" charset="-122"/>
                <a:cs typeface="-apple-system" pitchFamily="34" charset="-120"/>
              </a:rPr>
              <a:t>· lift 2.40× (Apriori, slide 14)</a:t>
            </a:r>
            <a:endParaRPr lang="en-US" sz="2100" dirty="0"/>
          </a:p>
        </p:txBody>
      </p:sp>
      <p:sp>
        <p:nvSpPr>
          <p:cNvPr id="15" name="Shape 13"/>
          <p:cNvSpPr/>
          <p:nvPr/>
        </p:nvSpPr>
        <p:spPr>
          <a:xfrm>
            <a:off x="952500" y="6877050"/>
            <a:ext cx="8182421" cy="9525"/>
          </a:xfrm>
          <a:prstGeom prst="rect">
            <a:avLst/>
          </a:prstGeom>
          <a:solidFill>
            <a:srgbClr val="FFFFFF">
              <a:alpha val="18000"/>
            </a:srgbClr>
          </a:solidFill>
          <a:ln/>
        </p:spPr>
        <p:txBody>
          <a:bodyPr/>
          <a:lstStyle/>
          <a:p>
            <a:endParaRPr lang="en-US"/>
          </a:p>
        </p:txBody>
      </p:sp>
      <p:sp>
        <p:nvSpPr>
          <p:cNvPr id="16" name="Text 14"/>
          <p:cNvSpPr/>
          <p:nvPr/>
        </p:nvSpPr>
        <p:spPr>
          <a:xfrm>
            <a:off x="952500" y="6086475"/>
            <a:ext cx="1790700"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162" dirty="0">
                <a:solidFill>
                  <a:srgbClr val="FFFFFF">
                    <a:alpha val="55000"/>
                  </a:srgbClr>
                </a:solidFill>
                <a:latin typeface="Courier New" pitchFamily="34" charset="0"/>
                <a:ea typeface="Courier New" pitchFamily="34" charset="-122"/>
                <a:cs typeface="Courier New" pitchFamily="34" charset="-120"/>
              </a:rPr>
              <a:t>CLUSTERING</a:t>
            </a:r>
            <a:endParaRPr lang="en-US" sz="1350" dirty="0"/>
          </a:p>
        </p:txBody>
      </p:sp>
      <p:sp>
        <p:nvSpPr>
          <p:cNvPr id="17" name="Text 15"/>
          <p:cNvSpPr/>
          <p:nvPr/>
        </p:nvSpPr>
        <p:spPr>
          <a:xfrm>
            <a:off x="2895600" y="5943600"/>
            <a:ext cx="6426501" cy="8001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2100" dirty="0">
                <a:solidFill>
                  <a:srgbClr val="FFFFFF">
                    <a:alpha val="92000"/>
                  </a:srgbClr>
                </a:solidFill>
                <a:latin typeface="-apple-system" pitchFamily="34" charset="0"/>
                <a:ea typeface="-apple-system" pitchFamily="34" charset="-122"/>
                <a:cs typeface="-apple-system" pitchFamily="34" charset="-120"/>
              </a:rPr>
              <a:t>K-Means k=3 silhouette 0.21 · Hierarchical 0.12 — overlapping</a:t>
            </a:r>
            <a:endParaRPr lang="en-US" sz="2100" dirty="0"/>
          </a:p>
        </p:txBody>
      </p:sp>
      <p:sp>
        <p:nvSpPr>
          <p:cNvPr id="18" name="Shape 16"/>
          <p:cNvSpPr/>
          <p:nvPr/>
        </p:nvSpPr>
        <p:spPr>
          <a:xfrm>
            <a:off x="9896921" y="2867025"/>
            <a:ext cx="7438579" cy="3248025"/>
          </a:xfrm>
          <a:prstGeom prst="rect">
            <a:avLst/>
          </a:prstGeom>
          <a:solidFill>
            <a:srgbClr val="FFFFFF">
              <a:alpha val="6000"/>
            </a:srgbClr>
          </a:solidFill>
          <a:ln w="9525">
            <a:solidFill>
              <a:srgbClr val="FFFFFF">
                <a:alpha val="18000"/>
              </a:srgbClr>
            </a:solidFill>
            <a:prstDash val="solid"/>
          </a:ln>
        </p:spPr>
        <p:txBody>
          <a:bodyPr/>
          <a:lstStyle/>
          <a:p>
            <a:endParaRPr lang="en-US"/>
          </a:p>
        </p:txBody>
      </p:sp>
      <p:sp>
        <p:nvSpPr>
          <p:cNvPr id="19" name="Text 17"/>
          <p:cNvSpPr/>
          <p:nvPr/>
        </p:nvSpPr>
        <p:spPr>
          <a:xfrm>
            <a:off x="10287446" y="3219450"/>
            <a:ext cx="6857254"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kern="0" spc="54" dirty="0">
                <a:solidFill>
                  <a:srgbClr val="EF9F27"/>
                </a:solidFill>
                <a:latin typeface="Courier New" pitchFamily="34" charset="0"/>
                <a:ea typeface="Courier New" pitchFamily="34" charset="-122"/>
                <a:cs typeface="Courier New" pitchFamily="34" charset="-120"/>
              </a:rPr>
              <a:t>RECOMMENDATION</a:t>
            </a:r>
            <a:endParaRPr lang="en-US" sz="1350" dirty="0"/>
          </a:p>
        </p:txBody>
      </p:sp>
      <p:sp>
        <p:nvSpPr>
          <p:cNvPr id="20" name="Text 18"/>
          <p:cNvSpPr/>
          <p:nvPr/>
        </p:nvSpPr>
        <p:spPr>
          <a:xfrm>
            <a:off x="10287446" y="3581400"/>
            <a:ext cx="6857254" cy="1323975"/>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850" dirty="0">
                <a:solidFill>
                  <a:srgbClr val="FFFFFF"/>
                </a:solidFill>
                <a:latin typeface="Georgia" pitchFamily="34" charset="0"/>
                <a:ea typeface="Georgia" pitchFamily="34" charset="-122"/>
                <a:cs typeface="Georgia" pitchFamily="34" charset="-120"/>
              </a:rPr>
              <a:t>Flag students with fewer than 3 approved units after semester 1 for immediate academic advising.</a:t>
            </a:r>
            <a:endParaRPr lang="en-US" sz="2850" dirty="0"/>
          </a:p>
        </p:txBody>
      </p:sp>
      <p:sp>
        <p:nvSpPr>
          <p:cNvPr id="21" name="Text 19"/>
          <p:cNvSpPr/>
          <p:nvPr/>
        </p:nvSpPr>
        <p:spPr>
          <a:xfrm>
            <a:off x="10287446" y="5133975"/>
            <a:ext cx="6857254" cy="6667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i="1" dirty="0">
                <a:solidFill>
                  <a:srgbClr val="FFFFFF">
                    <a:alpha val="60000"/>
                  </a:srgbClr>
                </a:solidFill>
                <a:latin typeface="-apple-system" pitchFamily="34" charset="0"/>
                <a:ea typeface="-apple-system" pitchFamily="34" charset="-122"/>
                <a:cs typeface="-apple-system" pitchFamily="34" charset="-120"/>
              </a:rPr>
              <a:t>"Data mining can reliably identify at-risk students early enough for meaningful intervention."</a:t>
            </a:r>
            <a:endParaRPr lang="en-US" sz="1650" dirty="0"/>
          </a:p>
        </p:txBody>
      </p:sp>
      <p:sp>
        <p:nvSpPr>
          <p:cNvPr id="22" name="Text 20"/>
          <p:cNvSpPr/>
          <p:nvPr/>
        </p:nvSpPr>
        <p:spPr>
          <a:xfrm>
            <a:off x="16692116" y="7010400"/>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FFFFFF">
                    <a:alpha val="50000"/>
                  </a:srgbClr>
                </a:solidFill>
                <a:latin typeface="Courier New" pitchFamily="34" charset="0"/>
                <a:ea typeface="Courier New" pitchFamily="34" charset="-122"/>
                <a:cs typeface="Courier New" pitchFamily="34" charset="-120"/>
              </a:rPr>
              <a:t>17/19</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952500" y="1047006"/>
            <a:ext cx="533400" cy="19050"/>
          </a:xfrm>
          <a:prstGeom prst="rect">
            <a:avLst/>
          </a:prstGeom>
          <a:solidFill>
            <a:srgbClr val="4B4845"/>
          </a:solidFill>
          <a:ln/>
        </p:spPr>
        <p:txBody>
          <a:bodyPr/>
          <a:lstStyle/>
          <a:p>
            <a:endParaRPr lang="en-US"/>
          </a:p>
        </p:txBody>
      </p:sp>
      <p:sp>
        <p:nvSpPr>
          <p:cNvPr id="3" name="Text 1"/>
          <p:cNvSpPr/>
          <p:nvPr/>
        </p:nvSpPr>
        <p:spPr>
          <a:xfrm>
            <a:off x="1657350" y="952500"/>
            <a:ext cx="29388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807C76"/>
                </a:solidFill>
                <a:latin typeface="Courier New" pitchFamily="34" charset="0"/>
                <a:ea typeface="Courier New" pitchFamily="34" charset="-122"/>
                <a:cs typeface="Courier New" pitchFamily="34" charset="-120"/>
              </a:rPr>
              <a:t>17 · FUTURE WORK</a:t>
            </a:r>
            <a:endParaRPr lang="en-US" sz="1800" dirty="0"/>
          </a:p>
        </p:txBody>
      </p:sp>
      <p:sp>
        <p:nvSpPr>
          <p:cNvPr id="4" name="Text 2"/>
          <p:cNvSpPr/>
          <p:nvPr/>
        </p:nvSpPr>
        <p:spPr>
          <a:xfrm>
            <a:off x="952500" y="1704975"/>
            <a:ext cx="16874490" cy="66675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800" b="1" kern="0" spc="-72" dirty="0">
                <a:solidFill>
                  <a:srgbClr val="1C1B1A"/>
                </a:solidFill>
                <a:latin typeface="Georgia" pitchFamily="34" charset="0"/>
                <a:ea typeface="Georgia" pitchFamily="34" charset="-122"/>
                <a:cs typeface="Georgia" pitchFamily="34" charset="-120"/>
              </a:rPr>
              <a:t>Where this work could go next</a:t>
            </a:r>
            <a:endParaRPr lang="en-US" sz="4800" dirty="0"/>
          </a:p>
        </p:txBody>
      </p:sp>
      <p:sp>
        <p:nvSpPr>
          <p:cNvPr id="5" name="Shape 3"/>
          <p:cNvSpPr/>
          <p:nvPr/>
        </p:nvSpPr>
        <p:spPr>
          <a:xfrm>
            <a:off x="952500" y="2790825"/>
            <a:ext cx="8058150" cy="1543050"/>
          </a:xfrm>
          <a:prstGeom prst="rect">
            <a:avLst/>
          </a:prstGeom>
          <a:solidFill>
            <a:srgbClr val="FFFFFF"/>
          </a:solidFill>
          <a:ln w="9525">
            <a:solidFill>
              <a:srgbClr val="D9D3C5"/>
            </a:solidFill>
            <a:prstDash val="solid"/>
          </a:ln>
        </p:spPr>
        <p:txBody>
          <a:bodyPr/>
          <a:lstStyle/>
          <a:p>
            <a:endParaRPr lang="en-US"/>
          </a:p>
        </p:txBody>
      </p:sp>
      <p:sp>
        <p:nvSpPr>
          <p:cNvPr id="6" name="Text 4"/>
          <p:cNvSpPr/>
          <p:nvPr/>
        </p:nvSpPr>
        <p:spPr>
          <a:xfrm>
            <a:off x="1228725" y="3028950"/>
            <a:ext cx="790575" cy="666750"/>
          </a:xfrm>
          <a:prstGeom prst="rect">
            <a:avLst/>
          </a:prstGeom>
          <a:noFill/>
          <a:ln/>
        </p:spPr>
        <p:txBody>
          <a:bodyPr wrap="square" lIns="25400" tIns="25400" rIns="25400" bIns="25400" rtlCol="0" anchor="t">
            <a:normAutofit/>
          </a:bodyPr>
          <a:lstStyle/>
          <a:p>
            <a:pPr marL="0" indent="0" algn="l">
              <a:lnSpc>
                <a:spcPct val="90000"/>
              </a:lnSpc>
              <a:buNone/>
            </a:pPr>
            <a:r>
              <a:rPr lang="en-US" sz="4200" b="1" dirty="0">
                <a:solidFill>
                  <a:srgbClr val="B95D2C"/>
                </a:solidFill>
                <a:latin typeface="Georgia" pitchFamily="34" charset="0"/>
                <a:ea typeface="Georgia" pitchFamily="34" charset="-122"/>
                <a:cs typeface="Georgia" pitchFamily="34" charset="-120"/>
              </a:rPr>
              <a:t>01</a:t>
            </a:r>
            <a:endParaRPr lang="en-US" sz="4200" dirty="0"/>
          </a:p>
        </p:txBody>
      </p:sp>
      <p:sp>
        <p:nvSpPr>
          <p:cNvPr id="7" name="Text 5"/>
          <p:cNvSpPr/>
          <p:nvPr/>
        </p:nvSpPr>
        <p:spPr>
          <a:xfrm>
            <a:off x="2019300" y="3028950"/>
            <a:ext cx="6916579"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1C1B1A"/>
                </a:solidFill>
                <a:latin typeface="-apple-system" pitchFamily="34" charset="0"/>
                <a:ea typeface="-apple-system" pitchFamily="34" charset="-122"/>
                <a:cs typeface="-apple-system" pitchFamily="34" charset="-120"/>
              </a:rPr>
              <a:t>Real-time prediction</a:t>
            </a:r>
            <a:endParaRPr lang="en-US" sz="2250" dirty="0"/>
          </a:p>
        </p:txBody>
      </p:sp>
      <p:sp>
        <p:nvSpPr>
          <p:cNvPr id="8" name="Text 6"/>
          <p:cNvSpPr/>
          <p:nvPr/>
        </p:nvSpPr>
        <p:spPr>
          <a:xfrm>
            <a:off x="2019300" y="3467100"/>
            <a:ext cx="6916579" cy="66675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B4845"/>
                </a:solidFill>
                <a:latin typeface="-apple-system" pitchFamily="34" charset="0"/>
                <a:ea typeface="-apple-system" pitchFamily="34" charset="-122"/>
                <a:cs typeface="-apple-system" pitchFamily="34" charset="-120"/>
              </a:rPr>
              <a:t>Incorporate live semester data for dynamic risk scoring throughout the academic year</a:t>
            </a:r>
            <a:endParaRPr lang="en-US" sz="1800" dirty="0"/>
          </a:p>
        </p:txBody>
      </p:sp>
      <p:sp>
        <p:nvSpPr>
          <p:cNvPr id="9" name="Shape 7"/>
          <p:cNvSpPr/>
          <p:nvPr/>
        </p:nvSpPr>
        <p:spPr>
          <a:xfrm>
            <a:off x="9277350" y="2790825"/>
            <a:ext cx="8058150" cy="1543050"/>
          </a:xfrm>
          <a:prstGeom prst="rect">
            <a:avLst/>
          </a:prstGeom>
          <a:solidFill>
            <a:srgbClr val="FFFFFF"/>
          </a:solidFill>
          <a:ln w="9525">
            <a:solidFill>
              <a:srgbClr val="D9D3C5"/>
            </a:solidFill>
            <a:prstDash val="solid"/>
          </a:ln>
        </p:spPr>
        <p:txBody>
          <a:bodyPr/>
          <a:lstStyle/>
          <a:p>
            <a:endParaRPr lang="en-US"/>
          </a:p>
        </p:txBody>
      </p:sp>
      <p:sp>
        <p:nvSpPr>
          <p:cNvPr id="10" name="Text 8"/>
          <p:cNvSpPr/>
          <p:nvPr/>
        </p:nvSpPr>
        <p:spPr>
          <a:xfrm>
            <a:off x="9553575" y="3028950"/>
            <a:ext cx="790575" cy="5143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200" b="1" dirty="0">
                <a:solidFill>
                  <a:srgbClr val="B95D2C"/>
                </a:solidFill>
                <a:latin typeface="Georgia" pitchFamily="34" charset="0"/>
                <a:ea typeface="Georgia" pitchFamily="34" charset="-122"/>
                <a:cs typeface="Georgia" pitchFamily="34" charset="-120"/>
              </a:rPr>
              <a:t>02</a:t>
            </a:r>
            <a:endParaRPr lang="en-US" sz="4200" dirty="0"/>
          </a:p>
        </p:txBody>
      </p:sp>
      <p:sp>
        <p:nvSpPr>
          <p:cNvPr id="11" name="Text 9"/>
          <p:cNvSpPr/>
          <p:nvPr/>
        </p:nvSpPr>
        <p:spPr>
          <a:xfrm>
            <a:off x="10344150" y="3028950"/>
            <a:ext cx="6916579"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1C1B1A"/>
                </a:solidFill>
                <a:latin typeface="-apple-system" pitchFamily="34" charset="0"/>
                <a:ea typeface="-apple-system" pitchFamily="34" charset="-122"/>
                <a:cs typeface="-apple-system" pitchFamily="34" charset="-120"/>
              </a:rPr>
              <a:t>Advisor dashboard</a:t>
            </a:r>
            <a:endParaRPr lang="en-US" sz="2250" dirty="0"/>
          </a:p>
        </p:txBody>
      </p:sp>
      <p:sp>
        <p:nvSpPr>
          <p:cNvPr id="12" name="Text 10"/>
          <p:cNvSpPr/>
          <p:nvPr/>
        </p:nvSpPr>
        <p:spPr>
          <a:xfrm>
            <a:off x="10344150" y="3467100"/>
            <a:ext cx="6916579" cy="666750"/>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4B4845"/>
                </a:solidFill>
                <a:latin typeface="-apple-system" pitchFamily="34" charset="0"/>
                <a:ea typeface="-apple-system" pitchFamily="34" charset="-122"/>
                <a:cs typeface="-apple-system" pitchFamily="34" charset="-120"/>
              </a:rPr>
              <a:t>Web app (Streamlit / Flask) so advisors can query student risk in real time</a:t>
            </a:r>
            <a:endParaRPr lang="en-US" sz="1800" dirty="0"/>
          </a:p>
        </p:txBody>
      </p:sp>
      <p:sp>
        <p:nvSpPr>
          <p:cNvPr id="13" name="Shape 11"/>
          <p:cNvSpPr/>
          <p:nvPr/>
        </p:nvSpPr>
        <p:spPr>
          <a:xfrm>
            <a:off x="952500" y="4600575"/>
            <a:ext cx="8058150" cy="1228725"/>
          </a:xfrm>
          <a:prstGeom prst="rect">
            <a:avLst/>
          </a:prstGeom>
          <a:solidFill>
            <a:srgbClr val="FFFFFF"/>
          </a:solidFill>
          <a:ln w="9525">
            <a:solidFill>
              <a:srgbClr val="D9D3C5"/>
            </a:solidFill>
            <a:prstDash val="solid"/>
          </a:ln>
        </p:spPr>
        <p:txBody>
          <a:bodyPr/>
          <a:lstStyle/>
          <a:p>
            <a:endParaRPr lang="en-US"/>
          </a:p>
        </p:txBody>
      </p:sp>
      <p:sp>
        <p:nvSpPr>
          <p:cNvPr id="14" name="Text 12"/>
          <p:cNvSpPr/>
          <p:nvPr/>
        </p:nvSpPr>
        <p:spPr>
          <a:xfrm>
            <a:off x="1228725" y="4838700"/>
            <a:ext cx="790575" cy="5143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200" b="1" dirty="0">
                <a:solidFill>
                  <a:srgbClr val="B95D2C"/>
                </a:solidFill>
                <a:latin typeface="Georgia" pitchFamily="34" charset="0"/>
                <a:ea typeface="Georgia" pitchFamily="34" charset="-122"/>
                <a:cs typeface="Georgia" pitchFamily="34" charset="-120"/>
              </a:rPr>
              <a:t>03</a:t>
            </a:r>
            <a:endParaRPr lang="en-US" sz="4200" dirty="0"/>
          </a:p>
        </p:txBody>
      </p:sp>
      <p:sp>
        <p:nvSpPr>
          <p:cNvPr id="15" name="Text 13"/>
          <p:cNvSpPr/>
          <p:nvPr/>
        </p:nvSpPr>
        <p:spPr>
          <a:xfrm>
            <a:off x="2019300" y="4838700"/>
            <a:ext cx="6014450"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1C1B1A"/>
                </a:solidFill>
                <a:latin typeface="-apple-system" pitchFamily="34" charset="0"/>
                <a:ea typeface="-apple-system" pitchFamily="34" charset="-122"/>
                <a:cs typeface="-apple-system" pitchFamily="34" charset="-120"/>
              </a:rPr>
              <a:t>Multi-institution validation</a:t>
            </a:r>
            <a:endParaRPr lang="en-US" sz="2250" dirty="0"/>
          </a:p>
        </p:txBody>
      </p:sp>
      <p:sp>
        <p:nvSpPr>
          <p:cNvPr id="16" name="Text 14"/>
          <p:cNvSpPr/>
          <p:nvPr/>
        </p:nvSpPr>
        <p:spPr>
          <a:xfrm>
            <a:off x="2019300" y="5276850"/>
            <a:ext cx="6014450" cy="352425"/>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B4845"/>
                </a:solidFill>
                <a:latin typeface="-apple-system" pitchFamily="34" charset="0"/>
                <a:ea typeface="-apple-system" pitchFamily="34" charset="-122"/>
                <a:cs typeface="-apple-system" pitchFamily="34" charset="-120"/>
              </a:rPr>
              <a:t>Test model generalizability across universities and countries</a:t>
            </a:r>
            <a:endParaRPr lang="en-US" sz="1800" dirty="0"/>
          </a:p>
        </p:txBody>
      </p:sp>
      <p:sp>
        <p:nvSpPr>
          <p:cNvPr id="17" name="Shape 15"/>
          <p:cNvSpPr/>
          <p:nvPr/>
        </p:nvSpPr>
        <p:spPr>
          <a:xfrm>
            <a:off x="9277350" y="4600575"/>
            <a:ext cx="8058150" cy="1228725"/>
          </a:xfrm>
          <a:prstGeom prst="rect">
            <a:avLst/>
          </a:prstGeom>
          <a:solidFill>
            <a:srgbClr val="FFFFFF"/>
          </a:solidFill>
          <a:ln w="9525">
            <a:solidFill>
              <a:srgbClr val="D9D3C5"/>
            </a:solidFill>
            <a:prstDash val="solid"/>
          </a:ln>
        </p:spPr>
        <p:txBody>
          <a:bodyPr/>
          <a:lstStyle/>
          <a:p>
            <a:endParaRPr lang="en-US"/>
          </a:p>
        </p:txBody>
      </p:sp>
      <p:sp>
        <p:nvSpPr>
          <p:cNvPr id="18" name="Text 16"/>
          <p:cNvSpPr/>
          <p:nvPr/>
        </p:nvSpPr>
        <p:spPr>
          <a:xfrm>
            <a:off x="9553575" y="4838700"/>
            <a:ext cx="790575" cy="5143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200" b="1" dirty="0">
                <a:solidFill>
                  <a:srgbClr val="B95D2C"/>
                </a:solidFill>
                <a:latin typeface="Georgia" pitchFamily="34" charset="0"/>
                <a:ea typeface="Georgia" pitchFamily="34" charset="-122"/>
                <a:cs typeface="Georgia" pitchFamily="34" charset="-120"/>
              </a:rPr>
              <a:t>04</a:t>
            </a:r>
            <a:endParaRPr lang="en-US" sz="4200" dirty="0"/>
          </a:p>
        </p:txBody>
      </p:sp>
      <p:sp>
        <p:nvSpPr>
          <p:cNvPr id="19" name="Text 17"/>
          <p:cNvSpPr/>
          <p:nvPr/>
        </p:nvSpPr>
        <p:spPr>
          <a:xfrm>
            <a:off x="10344150" y="4838700"/>
            <a:ext cx="6274281"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1C1B1A"/>
                </a:solidFill>
                <a:latin typeface="-apple-system" pitchFamily="34" charset="0"/>
                <a:ea typeface="-apple-system" pitchFamily="34" charset="-122"/>
                <a:cs typeface="-apple-system" pitchFamily="34" charset="-120"/>
              </a:rPr>
              <a:t>Deep learning</a:t>
            </a:r>
            <a:endParaRPr lang="en-US" sz="2250" dirty="0"/>
          </a:p>
        </p:txBody>
      </p:sp>
      <p:sp>
        <p:nvSpPr>
          <p:cNvPr id="20" name="Text 18"/>
          <p:cNvSpPr/>
          <p:nvPr/>
        </p:nvSpPr>
        <p:spPr>
          <a:xfrm>
            <a:off x="10344150" y="5276850"/>
            <a:ext cx="6274281" cy="352425"/>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4B4845"/>
                </a:solidFill>
                <a:latin typeface="-apple-system" pitchFamily="34" charset="0"/>
                <a:ea typeface="-apple-system" pitchFamily="34" charset="-122"/>
                <a:cs typeface="-apple-system" pitchFamily="34" charset="-120"/>
              </a:rPr>
              <a:t>Explore TabNet and other neural architectures for tabular gains</a:t>
            </a:r>
            <a:endParaRPr lang="en-US" sz="1800" dirty="0"/>
          </a:p>
        </p:txBody>
      </p:sp>
      <p:sp>
        <p:nvSpPr>
          <p:cNvPr id="21" name="Shape 19"/>
          <p:cNvSpPr/>
          <p:nvPr/>
        </p:nvSpPr>
        <p:spPr>
          <a:xfrm>
            <a:off x="952500" y="6096000"/>
            <a:ext cx="8058150" cy="1543050"/>
          </a:xfrm>
          <a:prstGeom prst="rect">
            <a:avLst/>
          </a:prstGeom>
          <a:solidFill>
            <a:srgbClr val="FFFFFF"/>
          </a:solidFill>
          <a:ln w="9525">
            <a:solidFill>
              <a:srgbClr val="D9D3C5"/>
            </a:solidFill>
            <a:prstDash val="solid"/>
          </a:ln>
        </p:spPr>
        <p:txBody>
          <a:bodyPr/>
          <a:lstStyle/>
          <a:p>
            <a:endParaRPr lang="en-US"/>
          </a:p>
        </p:txBody>
      </p:sp>
      <p:sp>
        <p:nvSpPr>
          <p:cNvPr id="22" name="Text 20"/>
          <p:cNvSpPr/>
          <p:nvPr/>
        </p:nvSpPr>
        <p:spPr>
          <a:xfrm>
            <a:off x="1228725" y="6334125"/>
            <a:ext cx="790575" cy="5143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4200" b="1" dirty="0">
                <a:solidFill>
                  <a:srgbClr val="B95D2C"/>
                </a:solidFill>
                <a:latin typeface="Georgia" pitchFamily="34" charset="0"/>
                <a:ea typeface="Georgia" pitchFamily="34" charset="-122"/>
                <a:cs typeface="Georgia" pitchFamily="34" charset="-120"/>
              </a:rPr>
              <a:t>05</a:t>
            </a:r>
            <a:endParaRPr lang="en-US" sz="4200" dirty="0"/>
          </a:p>
        </p:txBody>
      </p:sp>
      <p:sp>
        <p:nvSpPr>
          <p:cNvPr id="23" name="Text 21"/>
          <p:cNvSpPr/>
          <p:nvPr/>
        </p:nvSpPr>
        <p:spPr>
          <a:xfrm>
            <a:off x="2019300" y="6334125"/>
            <a:ext cx="6916579" cy="381000"/>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2250" b="1" dirty="0">
                <a:solidFill>
                  <a:srgbClr val="1C1B1A"/>
                </a:solidFill>
                <a:latin typeface="-apple-system" pitchFamily="34" charset="0"/>
                <a:ea typeface="-apple-system" pitchFamily="34" charset="-122"/>
                <a:cs typeface="-apple-system" pitchFamily="34" charset="-120"/>
              </a:rPr>
              <a:t>Temporal modeling</a:t>
            </a:r>
            <a:endParaRPr lang="en-US" sz="2250" dirty="0"/>
          </a:p>
        </p:txBody>
      </p:sp>
      <p:sp>
        <p:nvSpPr>
          <p:cNvPr id="24" name="Text 22"/>
          <p:cNvSpPr/>
          <p:nvPr/>
        </p:nvSpPr>
        <p:spPr>
          <a:xfrm>
            <a:off x="2019300" y="6772275"/>
            <a:ext cx="6916579" cy="66675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800" dirty="0">
                <a:solidFill>
                  <a:srgbClr val="4B4845"/>
                </a:solidFill>
                <a:latin typeface="-apple-system" pitchFamily="34" charset="0"/>
                <a:ea typeface="-apple-system" pitchFamily="34" charset="-122"/>
                <a:cs typeface="-apple-system" pitchFamily="34" charset="-120"/>
              </a:rPr>
              <a:t>Sequence models that track how student risk evolves semester by semester</a:t>
            </a:r>
            <a:endParaRPr lang="en-US" sz="1800" dirty="0"/>
          </a:p>
        </p:txBody>
      </p:sp>
      <p:sp>
        <p:nvSpPr>
          <p:cNvPr id="25" name="Shape 23"/>
          <p:cNvSpPr/>
          <p:nvPr/>
        </p:nvSpPr>
        <p:spPr>
          <a:xfrm>
            <a:off x="9277350" y="6096000"/>
            <a:ext cx="8058150" cy="1543050"/>
          </a:xfrm>
          <a:prstGeom prst="rect">
            <a:avLst/>
          </a:prstGeom>
          <a:ln w="9525">
            <a:solidFill>
              <a:srgbClr val="D9D3C5"/>
            </a:solidFill>
            <a:prstDash val="dash"/>
          </a:ln>
        </p:spPr>
        <p:txBody>
          <a:bodyPr/>
          <a:lstStyle/>
          <a:p>
            <a:endParaRPr lang="en-US"/>
          </a:p>
        </p:txBody>
      </p:sp>
      <p:sp>
        <p:nvSpPr>
          <p:cNvPr id="26" name="Text 24"/>
          <p:cNvSpPr/>
          <p:nvPr/>
        </p:nvSpPr>
        <p:spPr>
          <a:xfrm>
            <a:off x="11441309" y="6396038"/>
            <a:ext cx="3730231" cy="981075"/>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1650" kern="0" spc="66" dirty="0">
                <a:solidFill>
                  <a:srgbClr val="807C76"/>
                </a:solidFill>
                <a:latin typeface="Courier New" pitchFamily="34" charset="0"/>
                <a:ea typeface="Courier New" pitchFamily="34" charset="-122"/>
                <a:cs typeface="Courier New" pitchFamily="34" charset="-120"/>
              </a:rPr>
              <a:t>Each direction addresses a current limitation — </a:t>
            </a:r>
            <a:r>
              <a:rPr lang="en-US" sz="1650" kern="0" spc="66" dirty="0">
                <a:solidFill>
                  <a:srgbClr val="B95D2C"/>
                </a:solidFill>
                <a:latin typeface="Courier New" pitchFamily="34" charset="0"/>
                <a:ea typeface="Courier New" pitchFamily="34" charset="-122"/>
                <a:cs typeface="Courier New" pitchFamily="34" charset="-120"/>
              </a:rPr>
              <a:t>limitations → opportunities</a:t>
            </a:r>
            <a:endParaRPr lang="en-US" sz="1650" dirty="0"/>
          </a:p>
        </p:txBody>
      </p:sp>
      <p:sp>
        <p:nvSpPr>
          <p:cNvPr id="27" name="Text 25"/>
          <p:cNvSpPr/>
          <p:nvPr/>
        </p:nvSpPr>
        <p:spPr>
          <a:xfrm>
            <a:off x="16692116" y="7762875"/>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807C76"/>
                </a:solidFill>
                <a:latin typeface="Courier New" pitchFamily="34" charset="0"/>
                <a:ea typeface="Courier New" pitchFamily="34" charset="-122"/>
                <a:cs typeface="Courier New" pitchFamily="34" charset="-120"/>
              </a:rPr>
              <a:t>18/19</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4"/>
        </a:solidFill>
        <a:effectLst/>
      </p:bgPr>
    </p:bg>
    <p:spTree>
      <p:nvGrpSpPr>
        <p:cNvPr id="1" name=""/>
        <p:cNvGrpSpPr/>
        <p:nvPr/>
      </p:nvGrpSpPr>
      <p:grpSpPr>
        <a:xfrm>
          <a:off x="0" y="0"/>
          <a:ext cx="0" cy="0"/>
          <a:chOff x="0" y="0"/>
          <a:chExt cx="0" cy="0"/>
        </a:xfrm>
      </p:grpSpPr>
      <p:sp>
        <p:nvSpPr>
          <p:cNvPr id="2" name="Shape 0"/>
          <p:cNvSpPr/>
          <p:nvPr/>
        </p:nvSpPr>
        <p:spPr>
          <a:xfrm>
            <a:off x="0" y="0"/>
            <a:ext cx="18288000" cy="6924675"/>
          </a:xfrm>
          <a:prstGeom prst="rect">
            <a:avLst/>
          </a:prstGeom>
          <a:solidFill>
            <a:srgbClr val="0E3A53"/>
          </a:solidFill>
          <a:ln/>
        </p:spPr>
        <p:txBody>
          <a:bodyPr/>
          <a:lstStyle/>
          <a:p>
            <a:endParaRPr lang="en-US"/>
          </a:p>
        </p:txBody>
      </p:sp>
      <p:sp>
        <p:nvSpPr>
          <p:cNvPr id="3" name="Shape 1"/>
          <p:cNvSpPr/>
          <p:nvPr/>
        </p:nvSpPr>
        <p:spPr>
          <a:xfrm>
            <a:off x="1143000" y="1237506"/>
            <a:ext cx="533400" cy="19050"/>
          </a:xfrm>
          <a:prstGeom prst="rect">
            <a:avLst/>
          </a:prstGeom>
          <a:solidFill>
            <a:srgbClr val="FFFFFF">
              <a:alpha val="60000"/>
            </a:srgbClr>
          </a:solidFill>
          <a:ln/>
        </p:spPr>
        <p:txBody>
          <a:bodyPr/>
          <a:lstStyle/>
          <a:p>
            <a:endParaRPr lang="en-US"/>
          </a:p>
        </p:txBody>
      </p:sp>
      <p:sp>
        <p:nvSpPr>
          <p:cNvPr id="4" name="Text 2"/>
          <p:cNvSpPr/>
          <p:nvPr/>
        </p:nvSpPr>
        <p:spPr>
          <a:xfrm>
            <a:off x="1847850" y="1143000"/>
            <a:ext cx="1502843"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324" dirty="0">
                <a:solidFill>
                  <a:srgbClr val="FFFFFF">
                    <a:alpha val="60000"/>
                  </a:srgbClr>
                </a:solidFill>
                <a:latin typeface="Courier New" pitchFamily="34" charset="0"/>
                <a:ea typeface="Courier New" pitchFamily="34" charset="-122"/>
                <a:cs typeface="Courier New" pitchFamily="34" charset="-120"/>
              </a:rPr>
              <a:t>17 · END</a:t>
            </a:r>
            <a:endParaRPr lang="en-US" sz="1800" dirty="0"/>
          </a:p>
        </p:txBody>
      </p:sp>
      <p:sp>
        <p:nvSpPr>
          <p:cNvPr id="5" name="Text 3"/>
          <p:cNvSpPr/>
          <p:nvPr/>
        </p:nvSpPr>
        <p:spPr>
          <a:xfrm>
            <a:off x="1143000" y="2162175"/>
            <a:ext cx="16482060" cy="161925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12000" kern="0" spc="-240" dirty="0">
                <a:solidFill>
                  <a:srgbClr val="FFFFFF"/>
                </a:solidFill>
                <a:latin typeface="Georgia" pitchFamily="34" charset="0"/>
                <a:ea typeface="Georgia" pitchFamily="34" charset="-122"/>
                <a:cs typeface="Georgia" pitchFamily="34" charset="-120"/>
              </a:rPr>
              <a:t>Thank you.</a:t>
            </a:r>
            <a:endParaRPr lang="en-US" sz="12000" dirty="0"/>
          </a:p>
        </p:txBody>
      </p:sp>
      <p:sp>
        <p:nvSpPr>
          <p:cNvPr id="6" name="Text 4"/>
          <p:cNvSpPr/>
          <p:nvPr/>
        </p:nvSpPr>
        <p:spPr>
          <a:xfrm>
            <a:off x="1143000" y="3971925"/>
            <a:ext cx="16482060" cy="533400"/>
          </a:xfrm>
          <a:prstGeom prst="rect">
            <a:avLst/>
          </a:prstGeom>
          <a:noFill/>
          <a:ln/>
        </p:spPr>
        <p:txBody>
          <a:bodyPr wrap="square" lIns="25400" tIns="25400" rIns="25400" bIns="25400" rtlCol="0" anchor="t">
            <a:normAutofit lnSpcReduction="10000"/>
          </a:bodyPr>
          <a:lstStyle/>
          <a:p>
            <a:pPr marL="0" indent="0" algn="l">
              <a:buNone/>
            </a:pPr>
            <a:r>
              <a:rPr lang="en-US" sz="3300" dirty="0">
                <a:solidFill>
                  <a:srgbClr val="FFFFFF">
                    <a:alpha val="70000"/>
                  </a:srgbClr>
                </a:solidFill>
                <a:latin typeface="-apple-system" pitchFamily="34" charset="0"/>
                <a:ea typeface="-apple-system" pitchFamily="34" charset="-122"/>
                <a:cs typeface="-apple-system" pitchFamily="34" charset="-120"/>
              </a:rPr>
              <a:t>Questions welcome.</a:t>
            </a:r>
            <a:endParaRPr lang="en-US" sz="3300" dirty="0"/>
          </a:p>
        </p:txBody>
      </p:sp>
      <p:sp>
        <p:nvSpPr>
          <p:cNvPr id="7" name="Text 5"/>
          <p:cNvSpPr/>
          <p:nvPr/>
        </p:nvSpPr>
        <p:spPr>
          <a:xfrm>
            <a:off x="1143000" y="4467225"/>
            <a:ext cx="4570583" cy="4381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b="1" dirty="0">
                <a:solidFill>
                  <a:srgbClr val="FFFFFF"/>
                </a:solidFill>
                <a:latin typeface="-apple-system" pitchFamily="34" charset="0"/>
                <a:ea typeface="-apple-system" pitchFamily="34" charset="-122"/>
                <a:cs typeface="-apple-system" pitchFamily="34" charset="-120"/>
              </a:rPr>
              <a:t>Lam Nguyen</a:t>
            </a:r>
            <a:r>
              <a:rPr lang="en-US" sz="2100" dirty="0">
                <a:solidFill>
                  <a:srgbClr val="FFFFFF">
                    <a:alpha val="55000"/>
                  </a:srgbClr>
                </a:solidFill>
                <a:latin typeface="-apple-system" pitchFamily="34" charset="0"/>
                <a:ea typeface="-apple-system" pitchFamily="34" charset="-122"/>
                <a:cs typeface="-apple-system" pitchFamily="34" charset="-120"/>
              </a:rPr>
              <a:t>· 018229432</a:t>
            </a:r>
            <a:endParaRPr lang="en-US" sz="2100" dirty="0"/>
          </a:p>
        </p:txBody>
      </p:sp>
      <p:sp>
        <p:nvSpPr>
          <p:cNvPr id="8" name="Text 6"/>
          <p:cNvSpPr/>
          <p:nvPr/>
        </p:nvSpPr>
        <p:spPr>
          <a:xfrm>
            <a:off x="1143000" y="4867275"/>
            <a:ext cx="4570583" cy="4381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b="1" dirty="0">
                <a:solidFill>
                  <a:srgbClr val="FFFFFF"/>
                </a:solidFill>
                <a:latin typeface="-apple-system" pitchFamily="34" charset="0"/>
                <a:ea typeface="-apple-system" pitchFamily="34" charset="-122"/>
                <a:cs typeface="-apple-system" pitchFamily="34" charset="-120"/>
              </a:rPr>
              <a:t>Tri Ngo</a:t>
            </a:r>
            <a:r>
              <a:rPr lang="en-US" sz="2100" dirty="0">
                <a:solidFill>
                  <a:srgbClr val="FFFFFF">
                    <a:alpha val="55000"/>
                  </a:srgbClr>
                </a:solidFill>
                <a:latin typeface="-apple-system" pitchFamily="34" charset="0"/>
                <a:ea typeface="-apple-system" pitchFamily="34" charset="-122"/>
                <a:cs typeface="-apple-system" pitchFamily="34" charset="-120"/>
              </a:rPr>
              <a:t>· 015712749</a:t>
            </a:r>
            <a:endParaRPr lang="en-US" sz="2100" dirty="0"/>
          </a:p>
        </p:txBody>
      </p:sp>
      <p:sp>
        <p:nvSpPr>
          <p:cNvPr id="9" name="Text 7"/>
          <p:cNvSpPr/>
          <p:nvPr/>
        </p:nvSpPr>
        <p:spPr>
          <a:xfrm>
            <a:off x="1143000" y="5381625"/>
            <a:ext cx="4570583" cy="43815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00" dirty="0">
                <a:solidFill>
                  <a:srgbClr val="FFFFFF">
                    <a:alpha val="60000"/>
                  </a:srgbClr>
                </a:solidFill>
                <a:latin typeface="-apple-system" pitchFamily="34" charset="0"/>
                <a:ea typeface="-apple-system" pitchFamily="34" charset="-122"/>
                <a:cs typeface="-apple-system" pitchFamily="34" charset="-120"/>
              </a:rPr>
              <a:t>CMPE 255 · Data Mining · Spring 2026</a:t>
            </a:r>
            <a:endParaRPr lang="en-US" sz="2100" dirty="0"/>
          </a:p>
        </p:txBody>
      </p:sp>
      <p:sp>
        <p:nvSpPr>
          <p:cNvPr id="10" name="Text 8"/>
          <p:cNvSpPr/>
          <p:nvPr/>
        </p:nvSpPr>
        <p:spPr>
          <a:xfrm>
            <a:off x="12594345" y="5019675"/>
            <a:ext cx="4550655"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kern="0" spc="54" dirty="0">
                <a:solidFill>
                  <a:srgbClr val="FFFFFF">
                    <a:alpha val="55000"/>
                  </a:srgbClr>
                </a:solidFill>
                <a:latin typeface="Courier New" pitchFamily="34" charset="0"/>
                <a:ea typeface="Courier New" pitchFamily="34" charset="-122"/>
                <a:cs typeface="Courier New" pitchFamily="34" charset="-120"/>
              </a:rPr>
              <a:t>REPOSITORY</a:t>
            </a:r>
            <a:endParaRPr lang="en-US" sz="1350" dirty="0"/>
          </a:p>
        </p:txBody>
      </p:sp>
      <p:sp>
        <p:nvSpPr>
          <p:cNvPr id="11" name="Text 9"/>
          <p:cNvSpPr/>
          <p:nvPr/>
        </p:nvSpPr>
        <p:spPr>
          <a:xfrm>
            <a:off x="12594345" y="5305425"/>
            <a:ext cx="4550655" cy="514350"/>
          </a:xfrm>
          <a:prstGeom prst="rect">
            <a:avLst/>
          </a:prstGeom>
          <a:noFill/>
          <a:ln/>
        </p:spPr>
        <p:txBody>
          <a:bodyPr wrap="square" lIns="25400" tIns="25400" rIns="25400" bIns="25400" rtlCol="0" anchor="t">
            <a:normAutofit lnSpcReduction="10000"/>
          </a:bodyPr>
          <a:lstStyle/>
          <a:p>
            <a:pPr marL="0" indent="0" algn="r">
              <a:buNone/>
            </a:pPr>
            <a:r>
              <a:rPr lang="en-US" sz="1650" kern="0" spc="33" dirty="0">
                <a:solidFill>
                  <a:srgbClr val="FFFFFF"/>
                </a:solidFill>
                <a:latin typeface="Courier New" pitchFamily="34" charset="0"/>
                <a:ea typeface="Courier New" pitchFamily="34" charset="-122"/>
                <a:cs typeface="Courier New" pitchFamily="34" charset="-120"/>
              </a:rPr>
              <a:t>github.com/Lambert-Nguyen/ cmpe255-student-dropout-prediction</a:t>
            </a:r>
            <a:endParaRPr lang="en-US" sz="1650" dirty="0"/>
          </a:p>
        </p:txBody>
      </p:sp>
      <p:sp>
        <p:nvSpPr>
          <p:cNvPr id="12" name="Text 10"/>
          <p:cNvSpPr/>
          <p:nvPr/>
        </p:nvSpPr>
        <p:spPr>
          <a:xfrm>
            <a:off x="16692116" y="6286500"/>
            <a:ext cx="1100584" cy="295275"/>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72" dirty="0">
                <a:solidFill>
                  <a:srgbClr val="FFFFFF">
                    <a:alpha val="50000"/>
                  </a:srgbClr>
                </a:solidFill>
                <a:latin typeface="Courier New" pitchFamily="34" charset="0"/>
                <a:ea typeface="Courier New" pitchFamily="34" charset="-122"/>
                <a:cs typeface="Courier New" pitchFamily="34" charset="-120"/>
              </a:rPr>
              <a:t>19/19</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2849</Words>
  <Application>Microsoft Macintosh PowerPoint</Application>
  <PresentationFormat>Custom</PresentationFormat>
  <Paragraphs>486</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-apple-system</vt: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Tri Thien Ngo</cp:lastModifiedBy>
  <cp:revision>6</cp:revision>
  <dcterms:created xsi:type="dcterms:W3CDTF">2026-05-04T03:01:19Z</dcterms:created>
  <dcterms:modified xsi:type="dcterms:W3CDTF">2026-05-04T04:30:29Z</dcterms:modified>
</cp:coreProperties>
</file>