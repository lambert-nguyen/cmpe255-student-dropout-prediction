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6" r:id="rId11"/>
    <p:sldId id="275" r:id="rId12"/>
    <p:sldId id="267" r:id="rId13"/>
    <p:sldId id="268" r:id="rId14"/>
    <p:sldId id="269" r:id="rId15"/>
    <p:sldId id="270" r:id="rId16"/>
    <p:sldId id="271" r:id="rId17"/>
    <p:sldId id="272" r:id="rId18"/>
    <p:sldId id="273" r:id="rId19"/>
    <p:sldId id="274" r:id="rId20"/>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680"/>
    <p:restoredTop sz="79219"/>
  </p:normalViewPr>
  <p:slideViewPr>
    <p:cSldViewPr snapToGrid="0" snapToObjects="1">
      <p:cViewPr varScale="1">
        <p:scale>
          <a:sx n="88" d="100"/>
          <a:sy n="88" d="100"/>
        </p:scale>
        <p:origin x="1080"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798793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[OPEN — 30s]</a:t>
            </a:r>
          </a:p>
          <a:p>
            <a:r>
              <a:rPr dirty="0"/>
              <a:t>Good [morning/afternoon], everyone. I'm Lam Nguyen and this is Tri Ngo. We're presenting our CMPE 255 data-mining project: predicting student dropout and academic success.</a:t>
            </a:r>
          </a:p>
          <a:p>
            <a:endParaRPr dirty="0"/>
          </a:p>
          <a:p>
            <a:r>
              <a:rPr dirty="0"/>
              <a:t>Our dataset is 4,424 university students from a Portuguese polytechnic, published in the UCI ML Repository as dataset 697 by Realinho and colleagues in 2021. Over the next ~15 minutes, we'll cover the motivation, the data, our preprocessing, EDA, six classification models, clustering, association-rule mining, the comparison, and what we recommend institutions actually do with this.</a:t>
            </a:r>
          </a:p>
          <a:p>
            <a:endParaRPr dirty="0"/>
          </a:p>
          <a:p>
            <a:r>
              <a:rPr dirty="0"/>
              <a:t>[TRANSITION] Let's start with why this problem matters.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[MOTIVATION — 45s]</a:t>
            </a:r>
          </a:p>
          <a:p>
            <a:r>
              <a:rPr dirty="0"/>
              <a:t>Dropout is expensive on both sides of the relationship. Students lose tuition, time, and opportunity cost — often years of investment. Universities lose recurring tuition, lose state funding tied to retention metrics, and take a reputational hit on rankings. The 32.1% headline number on the slide is from our own dataset, not a general statistic — 1,421 of the 4,424 students dropped out.</a:t>
            </a:r>
          </a:p>
          <a:p>
            <a:endParaRPr dirty="0"/>
          </a:p>
          <a:p>
            <a:r>
              <a:rPr dirty="0"/>
              <a:t>The table is the full target distribution: 1,421 Dropout, 794 still Enrolled at the cutoff date, 2,209 Graduate, totaling 4,424 — that's our sanity-check arithmetic.</a:t>
            </a:r>
          </a:p>
          <a:p>
            <a:endParaRPr dirty="0"/>
          </a:p>
          <a:p>
            <a:r>
              <a:rPr dirty="0"/>
              <a:t>The framing for this whole talk is: if we can predict who is at risk early — at enrollment plus the first one or two semesters — advisors can intervene while there's still time. That's the value proposition.</a:t>
            </a:r>
          </a:p>
          <a:p>
            <a:endParaRPr dirty="0"/>
          </a:p>
          <a:p>
            <a:r>
              <a:rPr dirty="0"/>
              <a:t>[TRANSITION] So can we actually predict it from the data we have?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[PROBLEM STATEMENT — 40s]</a:t>
            </a:r>
          </a:p>
          <a:p>
            <a:r>
              <a:t>Three things to anchor here. First, the TASK: this is a supervised 3-class classification problem — Dropout, Enrolled, or Graduate. We deliberately kept all three classes rather than collapsing Enrolled into one of the others, because mid-degree students are a real, distinct population.</a:t>
            </a:r>
          </a:p>
          <a:p>
            <a:endParaRPr/>
          </a:p>
          <a:p>
            <a:r>
              <a:t>Second, APPROACH: we combine supervised learning (six classifiers), unsupervised clustering (K-Means and Hierarchical), and association-rule mining (Apriori). The three give us complementary views — predictive accuracy, structural overlap, and human-readable rules.</a:t>
            </a:r>
          </a:p>
          <a:p>
            <a:endParaRPr/>
          </a:p>
          <a:p>
            <a:r>
              <a:t>Third, the CHALLENGE: class imbalance. Graduate is 49.9%, Dropout 32.1%, Enrolled only 17.9%. A naive model that always predicts Graduate would get 50% accuracy with zero useful information. That's why our primary metric is F1-macro, not accuracy.</a:t>
            </a:r>
          </a:p>
          <a:p>
            <a:endParaRPr/>
          </a:p>
          <a:p>
            <a:r>
              <a:t>[TRANSITION] Here's the dataset itself.</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[DATASET — 45s]</a:t>
            </a:r>
          </a:p>
          <a:p>
            <a:r>
              <a:rPr dirty="0"/>
              <a:t>The dataset is UCI Repository </a:t>
            </a:r>
            <a:r>
              <a:rPr lang="vi-VN" dirty="0"/>
              <a:t>(</a:t>
            </a:r>
            <a:r>
              <a:rPr dirty="0"/>
              <a:t>entry 697, donated by </a:t>
            </a:r>
            <a:r>
              <a:rPr dirty="0" err="1"/>
              <a:t>Realinho</a:t>
            </a:r>
            <a:r>
              <a:rPr dirty="0"/>
              <a:t>, Vieira Martins, Machado, and Baptista in 2021. Source institution is the Instituto Politécnico de </a:t>
            </a:r>
            <a:r>
              <a:rPr dirty="0" err="1"/>
              <a:t>Portalegre</a:t>
            </a:r>
            <a:r>
              <a:rPr dirty="0"/>
              <a:t> in Portugal. License is CC BY 4.0, so no usage restrictions for academic work.</a:t>
            </a:r>
            <a:r>
              <a:rPr lang="vi-VN" dirty="0"/>
              <a:t>)</a:t>
            </a:r>
            <a:endParaRPr dirty="0"/>
          </a:p>
          <a:p>
            <a:endParaRPr dirty="0"/>
          </a:p>
          <a:p>
            <a:r>
              <a:rPr dirty="0"/>
              <a:t>Four key facts on the slide:</a:t>
            </a:r>
          </a:p>
          <a:p>
            <a:pPr marL="0" marR="0" lvl="0" indent="0" algn="l" defTabSz="914400" rtl="0" eaLnBrk="1" fontAlgn="auto" latinLnBrk="0" hangingPunct="1">
              <a:lnSpc>
                <a:spcPct val="100000"/>
              </a:lnSpc>
              <a:spcBef>
                <a:spcPts val="0"/>
              </a:spcBef>
              <a:spcAft>
                <a:spcPts val="0"/>
              </a:spcAft>
              <a:buClrTx/>
              <a:buSzTx/>
              <a:buFontTx/>
              <a:buNone/>
              <a:tabLst/>
              <a:defRPr/>
            </a:pPr>
            <a:r>
              <a:rPr dirty="0"/>
              <a:t>- 4,424 student instances</a:t>
            </a:r>
            <a:r>
              <a:rPr lang="en-US" dirty="0"/>
              <a:t>- 36 input features plus 1 target — the full schema, no derived feature explosion.</a:t>
            </a:r>
          </a:p>
          <a:p>
            <a:r>
              <a:rPr dirty="0"/>
              <a:t> — large enough for stable 80/20 split, small enough to train every model in seconds.</a:t>
            </a:r>
          </a:p>
          <a:p>
            <a:r>
              <a:rPr dirty="0"/>
              <a:t>- Zero missing values — meaning we didn't have to make imputation choices that could bias results.</a:t>
            </a:r>
          </a:p>
          <a:p>
            <a:r>
              <a:rPr dirty="0"/>
              <a:t>- CC BY 4.0 license.</a:t>
            </a:r>
          </a:p>
          <a:p>
            <a:endParaRPr dirty="0"/>
          </a:p>
          <a:p>
            <a:r>
              <a:rPr dirty="0"/>
              <a:t>The features fall into four buckets shown on the right: Demographic (age, gender, marital status, nationality), Academic background (previous qualification, admission grade, course, application mode), Socio-economic (scholarship, debtor status, tuition fees, parental education and occupation), and Performance for both semester 1 and semester 2 — units enrolled, units approved, semester grade, and evaluations taken. That last bucket, semester performance, ends up being where almost all the predictive signal lives.</a:t>
            </a:r>
          </a:p>
          <a:p>
            <a:endParaRPr dirty="0"/>
          </a:p>
          <a:p>
            <a:r>
              <a:rPr dirty="0"/>
              <a:t>[TRANSITION] Before modeling, we designed a star schema for the analytical layer.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[DATA WAREHOUSE — 40s]</a:t>
            </a:r>
          </a:p>
          <a:p>
            <a:r>
              <a:rPr dirty="0"/>
              <a:t>This slide shows the conceptual star schema we designed for an institution that wanted to operationalize this. The center is the </a:t>
            </a:r>
            <a:r>
              <a:rPr dirty="0" err="1"/>
              <a:t>Student_Enrollment_Fact</a:t>
            </a:r>
            <a:r>
              <a:rPr dirty="0"/>
              <a:t> table, keyed by </a:t>
            </a:r>
            <a:r>
              <a:rPr dirty="0" err="1"/>
              <a:t>student_id</a:t>
            </a:r>
            <a:r>
              <a:rPr dirty="0"/>
              <a:t>, with </a:t>
            </a:r>
            <a:r>
              <a:rPr dirty="0" err="1"/>
              <a:t>course_id</a:t>
            </a:r>
            <a:r>
              <a:rPr dirty="0"/>
              <a:t> as a foreign key and the measures we actually mine on — semester 1 and 2 grades, units approved per semester, and the target outcome.</a:t>
            </a:r>
          </a:p>
          <a:p>
            <a:endParaRPr dirty="0"/>
          </a:p>
          <a:p>
            <a:r>
              <a:rPr dirty="0"/>
              <a:t>Around it sit four dimension tables: </a:t>
            </a:r>
            <a:r>
              <a:rPr dirty="0" err="1"/>
              <a:t>Student_Dim</a:t>
            </a:r>
            <a:r>
              <a:rPr dirty="0"/>
              <a:t> (age, gender, marital, nationality), </a:t>
            </a:r>
            <a:r>
              <a:rPr dirty="0" err="1"/>
              <a:t>Family_Dim</a:t>
            </a:r>
            <a:r>
              <a:rPr dirty="0"/>
              <a:t> (parental qualifications and occupations), </a:t>
            </a:r>
            <a:r>
              <a:rPr dirty="0" err="1"/>
              <a:t>Academic_Dim</a:t>
            </a:r>
            <a:r>
              <a:rPr dirty="0"/>
              <a:t> (previous qualification, application mode, admission grade, course), and </a:t>
            </a:r>
            <a:r>
              <a:rPr dirty="0" err="1"/>
              <a:t>Economic_Dim</a:t>
            </a:r>
            <a:r>
              <a:rPr dirty="0"/>
              <a:t> (scholarship, debtor, tuition status, plus macro indicators like unemployment rate and GDP).</a:t>
            </a:r>
          </a:p>
          <a:p>
            <a:endParaRPr dirty="0"/>
          </a:p>
          <a:p>
            <a:r>
              <a:rPr dirty="0"/>
              <a:t>The arrow row at the bottom is the ETL pipeline: pull from source databases, encode </a:t>
            </a:r>
            <a:r>
              <a:rPr dirty="0" err="1"/>
              <a:t>categoricals</a:t>
            </a:r>
            <a:r>
              <a:rPr dirty="0"/>
              <a:t>, normalize </a:t>
            </a:r>
            <a:r>
              <a:rPr dirty="0" err="1"/>
              <a:t>numerics</a:t>
            </a:r>
            <a:r>
              <a:rPr dirty="0"/>
              <a:t> with </a:t>
            </a:r>
            <a:r>
              <a:rPr dirty="0" err="1"/>
              <a:t>StandardScaler</a:t>
            </a:r>
            <a:r>
              <a:rPr dirty="0"/>
              <a:t>, load into the star schema. This isn't running in production — it's a design artifact showing how the project would integrate with a real institutional warehouse.</a:t>
            </a:r>
          </a:p>
          <a:p>
            <a:endParaRPr dirty="0"/>
          </a:p>
          <a:p>
            <a:r>
              <a:rPr dirty="0"/>
              <a:t>[TRANSITION] Now the actual preprocessing we ran.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[PREPROCESSING — 45s]</a:t>
            </a:r>
          </a:p>
          <a:p>
            <a:r>
              <a:t>Six numbered steps, all reproducible.</a:t>
            </a:r>
          </a:p>
          <a:p>
            <a:endParaRPr/>
          </a:p>
          <a:p>
            <a:r>
              <a:t>1. Inspection — confirmed 4,424 rows, 36 features, zero missing. No imputation needed.</a:t>
            </a:r>
          </a:p>
          <a:p>
            <a:r>
              <a:t>2. Feature typing — separated integer-coded categoricals (e.g., marital status, course code) from continuous variables (grades, age).</a:t>
            </a:r>
          </a:p>
          <a:p>
            <a:r>
              <a:t>3. Target encoding — Dropout=0, Enrolled=1, Graduate=2. Numeric labels for sklearn.</a:t>
            </a:r>
          </a:p>
          <a:p>
            <a:r>
              <a:t>4. Normalization — StandardScaler on all numeric features. Required for distance-based methods (KNN, SVM-RBF) and helpful for logistic regression's convergence; tree models don't need it but we apply uniformly to keep one matrix.</a:t>
            </a:r>
          </a:p>
          <a:p>
            <a:r>
              <a:t>5. Stratified 80/20 split — 3,539 train, 885 test. Stratification preserves the class ratios (32/18/50) in both folds so test-set evaluation is meaningful for every class.</a:t>
            </a:r>
          </a:p>
          <a:p>
            <a:r>
              <a:t>6. Reproducibility — random_state=42 everywhere, including model init, train/test split, and CV folds.</a:t>
            </a:r>
          </a:p>
          <a:p>
            <a:endParaRPr/>
          </a:p>
          <a:p>
            <a:r>
              <a:t>The footnote: we keep an unscaled copy for EDA so plot axes are in real units (grades 0–20, age in years), not z-scores.</a:t>
            </a:r>
          </a:p>
          <a:p>
            <a:endParaRPr/>
          </a:p>
          <a:p>
            <a:r>
              <a:t>[TRANSITION] Onto exploratory analysis — first the target distribution.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[EDA · TARGET DISTRIBUTION — 30s]</a:t>
            </a:r>
          </a:p>
          <a:p>
            <a:r>
              <a:t>Headline number: 4,424 students total. The distribution: Graduate 2,209 (49.9%), Dropout 1,421 (32.1%), Enrolled 794 (17.9%).</a:t>
            </a:r>
          </a:p>
          <a:p>
            <a:endParaRPr/>
          </a:p>
          <a:p>
            <a:r>
              <a:t>Two things to take away. First, this is moderate, not severe imbalance — Enrolled is roughly 1:2.8 vs Graduate, not 1:100 like fraud detection. So we don't need SMOTE or aggressive resampling. Second, the imbalance is still enough that accuracy alone would be misleading, which is why our headline metric is F1-macro — it averages per-class F1 with equal weight, so the 794 Enrolled students count as much as the 2,209 Graduates.</a:t>
            </a:r>
          </a:p>
          <a:p>
            <a:endParaRPr/>
          </a:p>
          <a:p>
            <a:r>
              <a:t>[TRANSITION] Now the most important univariate signal.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[EDA · DISTRIBUTIONS — 60s]</a:t>
            </a:r>
          </a:p>
          <a:p>
            <a:r>
              <a:t>Two visuals. Left: KDE plots of approved curricular units, broken out by outcome. Dropout students pile up at zero — they're failing or not completing courses. Graduates spread across higher values. Enrolled sits in between. The separation is visually obvious, which tells us this single feature carries strong signal even before any model sees it.</a:t>
            </a:r>
          </a:p>
          <a:p>
            <a:endParaRPr/>
          </a:p>
          <a:p>
            <a:r>
              <a:t>Right: top 9 features ranked by absolute Spearman rank correlation with the target. Reading them top to bottom — the four highest are all curricular-unit measures: 2nd-sem approved at +0.65, 1st-sem approved +0.59, 2nd-sem grade +0.56, 1st-sem grade +0.49. That +0.65 is the largest monotonic relationship in the entire dataset.</a:t>
            </a:r>
          </a:p>
          <a:p>
            <a:endParaRPr/>
          </a:p>
          <a:p>
            <a:r>
              <a:t>Below the academic block: tuition fees up to date +0.40, scholarship holder +0.30, admission grade +0.12. And two negative correlations: debtor at −0.24 (more debt → more dropout) and age at enrollment at −0.29 (older entrants drop out more often).</a:t>
            </a:r>
          </a:p>
          <a:p>
            <a:endParaRPr/>
          </a:p>
          <a:p>
            <a:r>
              <a:t>We use Spearman rather than Pearson because several variables are ordinal or have non-linear relationships with the outcome.</a:t>
            </a:r>
          </a:p>
          <a:p>
            <a:endParaRPr/>
          </a:p>
          <a:p>
            <a:r>
              <a:t>[TRANSITION] Three more views — grades, finance, and a 2D projection.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[EDA · THREE LENSES — 70s]</a:t>
            </a:r>
          </a:p>
          <a:p>
            <a:r>
              <a:t>Left chart — boxplots of semester grades by outcome. Graduate medians sit clearly above Enrolled which sit above Dropout, with Dropout having a long lower whisker including students with zero grade. Same pattern in both semesters.</a:t>
            </a:r>
          </a:p>
          <a:p>
            <a:endParaRPr/>
          </a:p>
          <a:p>
            <a:r>
              <a:t>Middle chart — financial factors versus outcome. Three binary signals split on the outcome distribution.</a:t>
            </a:r>
          </a:p>
          <a:p>
            <a:endParaRPr/>
          </a:p>
          <a:p>
            <a:r>
              <a:t>The table summarizes the dropout rate by financial factor:</a:t>
            </a:r>
          </a:p>
          <a:p>
            <a:r>
              <a:t>- Scholarship holders drop out at 12% versus 39% for non-holders — a 27-point reduction, or 3.3× lower rate.</a:t>
            </a:r>
          </a:p>
          <a:p>
            <a:r>
              <a:t>- Debtors drop out at 62% versus 28% for non-debtors — a 34-point increase.</a:t>
            </a:r>
          </a:p>
          <a:p>
            <a:r>
              <a:t>- Tuition up to date is the most decisive single binary in the dataset: 25% dropout when paid versus 86% when not — a 61-point gap.</a:t>
            </a:r>
          </a:p>
          <a:p>
            <a:endParaRPr/>
          </a:p>
          <a:p>
            <a:r>
              <a:t>The causal direction is debatable — students likely stop paying because they're disengaging, not the other way around — but as a leading indicator it's extraordinary.</a:t>
            </a:r>
          </a:p>
          <a:p>
            <a:endParaRPr/>
          </a:p>
          <a:p>
            <a:r>
              <a:t>Right chart — PCA projection of the full 36-feature space down to 2 components. We see three identifiable regions but with substantial overlap, especially Enrolled mixing into both Dropout and Graduate. That tells us classification is non-trivial: a linear classifier in 2D wouldn't work, but the structure exists for richer models to exploit.</a:t>
            </a:r>
          </a:p>
          <a:p>
            <a:endParaRPr/>
          </a:p>
          <a:p>
            <a:r>
              <a:t>[TRANSITION] Quick note on the plotting toolkit, then onto modeling.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[VISUALIZATION TOOLKIT — 25s]</a:t>
            </a:r>
          </a:p>
          <a:p>
            <a:r>
              <a:t>Quick survey of the chart types we used throughout the analysis: correlation heatmap for global feature relationships, KDE plots for per-class distributions, boxplots for grade comparisons, stacked bar charts for categorical breakdowns, PCA scatter for low-dimensional structure, and feature-importance bar charts for the trained models. One consistent palette keeps the deck readable.</a:t>
            </a:r>
          </a:p>
          <a:p>
            <a:endParaRPr/>
          </a:p>
          <a:p>
            <a:r>
              <a:t>[NOTE — speaker only] If asked: the model-parameter text on this slide (max_depth=10, multinomial max_iter=1000) bled in from a slide template; the actual modeling parameters are on the next slide.</a:t>
            </a:r>
          </a:p>
          <a:p>
            <a:endParaRPr/>
          </a:p>
          <a:p>
            <a:r>
              <a:t>[TRANSITION] Now the modeling itself.</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[MODELING — 50s]</a:t>
            </a:r>
          </a:p>
          <a:p>
            <a:r>
              <a:t>Six classifiers across five algorithm families — picked to span the methodology landscape, not because we expected all of them to win.</a:t>
            </a:r>
          </a:p>
          <a:p>
            <a:endParaRPr/>
          </a:p>
          <a:p>
            <a:r>
              <a:t>- TREE: Decision Tree, max_depth=10. Interpretable baseline.</a:t>
            </a:r>
          </a:p>
          <a:p>
            <a:r>
              <a:t>- ENSEMBLE: Random Forest, n_estimators=200. Bagging baseline.</a:t>
            </a:r>
          </a:p>
          <a:p>
            <a:r>
              <a:t>- INSTANCE: KNN, k=11 — chosen by grid search over k=1..30 on the validation fold.</a:t>
            </a:r>
          </a:p>
          <a:p>
            <a:r>
              <a:t>- LINEAR: Logistic Regression, multinomial with softmax, max_iter=1000.</a:t>
            </a:r>
          </a:p>
          <a:p>
            <a:r>
              <a:t>- KERNEL: SVM with RBF kernel, probability=True so we can compute ROC curves.</a:t>
            </a:r>
          </a:p>
          <a:p>
            <a:r>
              <a:t>- BOOSTING: XGBoost, n_estimators=200, max_depth=6, learning_rate=0.1.</a:t>
            </a:r>
          </a:p>
          <a:p>
            <a:endParaRPr/>
          </a:p>
          <a:p>
            <a:r>
              <a:t>Common protocol across all six: random_state=42, the same 80/20 stratified split from preprocessing, 5-fold cross-validation on the train fold, and F1-macro as the primary metric. Test set is held out and only touched once per model for the final number.</a:t>
            </a:r>
          </a:p>
          <a:p>
            <a:endParaRPr/>
          </a:p>
          <a:p>
            <a:r>
              <a:t>[TRANSITION] How they did.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[CLASSIFICATION RESULTS — 70s]</a:t>
            </a:r>
          </a:p>
          <a:p>
            <a:r>
              <a:t>Three confusion matrices side by side — best, mid-range, weakest — so we're showing the full performance spectrum, not just the headline.</a:t>
            </a:r>
          </a:p>
          <a:p>
            <a:endParaRPr/>
          </a:p>
          <a:p>
            <a:r>
              <a:t>XGBoost on the left: F1-macro 0.706. Logistic Regression in the middle: 0.683 — a strong linear baseline, only 2-3 points behind boosting. KNN on the right: 0.586 — clearly the weakest, but useful as a non-parametric reference point.</a:t>
            </a:r>
          </a:p>
          <a:p>
            <a:endParaRPr/>
          </a:p>
          <a:p>
            <a:r>
              <a:t>Per-class recall on the XGBoost test set, n=885:</a:t>
            </a:r>
          </a:p>
          <a:p>
            <a:r>
              <a:t>- Dropout: 213 correct out of 284 = 75.0% recall.</a:t>
            </a:r>
          </a:p>
          <a:p>
            <a:r>
              <a:t>- Enrolled: 71 correct out of 159 = 44.7% recall.</a:t>
            </a:r>
          </a:p>
          <a:p>
            <a:r>
              <a:t>- Graduate: 397 correct out of 442 = 89.8% recall.</a:t>
            </a:r>
          </a:p>
          <a:p>
            <a:endParaRPr/>
          </a:p>
          <a:p>
            <a:r>
              <a:t>Total correct = 213+71+397 = 681 out of 885 = 76.95% accuracy — matches our headline.</a:t>
            </a:r>
          </a:p>
          <a:p>
            <a:endParaRPr/>
          </a:p>
          <a:p>
            <a:r>
              <a:t>The Enrolled gap is the story to tell. Three drivers:</a:t>
            </a:r>
          </a:p>
          <a:p>
            <a:r>
              <a:t>1. Smallest class — 159 test instances vs 442 Graduate, so fewer training examples to fit a boundary.</a:t>
            </a:r>
          </a:p>
          <a:p>
            <a:r>
              <a:t>2. Geometrically wedged between the other two — students mid-degree look like graduates one year, dropouts the next.</a:t>
            </a:r>
          </a:p>
          <a:p>
            <a:r>
              <a:t>3. The 88 misclassified Enrolled split nearly evenly — 37 → Dropout, 51 → Graduate — so the model isn't biased toward one direction; it's genuinely uncertain.</a:t>
            </a:r>
          </a:p>
          <a:p>
            <a:endParaRPr/>
          </a:p>
          <a:p>
            <a:r>
              <a:t>This is also why we report F1-macro rather than accuracy — the Enrolled class would be invisible in an accuracy number.</a:t>
            </a:r>
          </a:p>
          <a:p>
            <a:endParaRPr/>
          </a:p>
          <a:p>
            <a:r>
              <a:t>[TRANSITION] What unsupervised methods say about the same data.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[UNSUPERVISED ANALYSIS — 50s]</a:t>
            </a:r>
          </a:p>
          <a:p>
            <a:r>
              <a:t>We ran K-Means with k=3 (matching the three target classes) and Hierarchical Agglomerative with Ward linkage. Silhouette scores: K-Means 0.2145, Hierarchical 0.1158.</a:t>
            </a:r>
          </a:p>
          <a:p>
            <a:endParaRPr/>
          </a:p>
          <a:p>
            <a:r>
              <a:t>Calibration on the slide is from Rousseeuw's original 1987 paper: above 0.7 is strong structure, 0.5 to 0.7 reasonable, 0.25 to 0.5 weak, below 0.25 means no substantial structure.</a:t>
            </a:r>
          </a:p>
          <a:p>
            <a:endParaRPr/>
          </a:p>
          <a:p>
            <a:r>
              <a:t>So K-Means lands in the "weak / no substantial structure" boundary; Hierarchical is firmly in the no-structure zone.</a:t>
            </a:r>
          </a:p>
          <a:p>
            <a:endParaRPr/>
          </a:p>
          <a:p>
            <a:r>
              <a:t>What this tells us — and this is the slide's punchline: the natural geometry of the feature space does not separate cleanly into three groups. Dropout, Enrolled, and Graduate students live in overlapping regions. That's why supervised learning is required — we need the labels to draw boundaries that wouldn't emerge on their own.</a:t>
            </a:r>
          </a:p>
          <a:p>
            <a:endParaRPr/>
          </a:p>
          <a:p>
            <a:r>
              <a:t>This is also a defense of our methodology: we tried clustering, it didn't yield separable structure, and that result motivated leaning on supervised models.</a:t>
            </a:r>
          </a:p>
          <a:p>
            <a:endParaRPr/>
          </a:p>
          <a:p>
            <a:r>
              <a:t>[TRANSITION] One more lens — association rules.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[ASSOCIATION RULE MINING — 70s]</a:t>
            </a:r>
          </a:p>
          <a:p>
            <a:r>
              <a:rPr dirty="0"/>
              <a:t>We binned numeric features (grades, age, admission scores into Low/Mid/High terciles) and ran </a:t>
            </a:r>
            <a:r>
              <a:rPr dirty="0" err="1"/>
              <a:t>Apriori</a:t>
            </a:r>
            <a:r>
              <a:rPr dirty="0"/>
              <a:t> at </a:t>
            </a:r>
            <a:r>
              <a:rPr dirty="0" err="1"/>
              <a:t>min_support</a:t>
            </a:r>
            <a:r>
              <a:rPr dirty="0"/>
              <a:t>=0.05 and </a:t>
            </a:r>
            <a:r>
              <a:rPr dirty="0" err="1"/>
              <a:t>min_confidence</a:t>
            </a:r>
            <a:r>
              <a:rPr dirty="0"/>
              <a:t>=0.60. Output: 189 frequent </a:t>
            </a:r>
            <a:r>
              <a:rPr dirty="0" err="1"/>
              <a:t>itemsets</a:t>
            </a:r>
            <a:r>
              <a:rPr dirty="0"/>
              <a:t>, 334 total rules, of which 85 have the target as the consequent — those are the actionable ones for an advisor.</a:t>
            </a:r>
          </a:p>
          <a:p>
            <a:endParaRPr dirty="0"/>
          </a:p>
          <a:p>
            <a:r>
              <a:rPr dirty="0"/>
              <a:t>Top rules table — read each as: antecedent → consequent | support | confidence | lift.</a:t>
            </a:r>
          </a:p>
          <a:p>
            <a:endParaRPr dirty="0"/>
          </a:p>
          <a:p>
            <a:r>
              <a:rPr dirty="0"/>
              <a:t>Headline: CU1_Low + </a:t>
            </a:r>
            <a:r>
              <a:rPr dirty="0" err="1"/>
              <a:t>Age_Mid</a:t>
            </a:r>
            <a:r>
              <a:rPr dirty="0"/>
              <a:t> → Dropout, support 5.8%, confidence 87.4%, lift 2.72×. In plain English: students with low first-semester approved units who fall in the mid-age band drop out 87% of the time — and that's 2.7× the base dropout rate.</a:t>
            </a:r>
          </a:p>
          <a:p>
            <a:endParaRPr dirty="0"/>
          </a:p>
          <a:p>
            <a:r>
              <a:rPr dirty="0"/>
              <a:t>The next four rules all involve CU1_Low — low first-semester approved units — combined with low admission grade or unpaid tuition, all predicting dropout with confidence 70-86% and lift around 2.2-2.7×.</a:t>
            </a:r>
          </a:p>
          <a:p>
            <a:endParaRPr dirty="0"/>
          </a:p>
          <a:p>
            <a:r>
              <a:rPr dirty="0"/>
              <a:t>The last row is the inverse — a graduation rule. Tuition up to date plus high CU1 plus scholarship plus mid admission grade predicts the Young + Graduate combination at confidence 80%, lift 2.09×. We kept it to show the rule mining works in both directions.</a:t>
            </a:r>
          </a:p>
          <a:p>
            <a:endParaRPr dirty="0"/>
          </a:p>
          <a:p>
            <a:r>
              <a:rPr dirty="0"/>
              <a:t>Why this matters operationally: confidence and lift give advisors a defensible threshold. "Low first-semester approved units" alone — slide row 3 — already has 77% confidence of dropout at 17.5% support, meaning the rule covers a non-trivial slice of the population.</a:t>
            </a:r>
          </a:p>
          <a:p>
            <a:endParaRPr dirty="0"/>
          </a:p>
          <a:p>
            <a:r>
              <a:rPr dirty="0"/>
              <a:t>[TRANSITION] Side-by-side model comparison.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[MODEL COMPARISON — 60s]</a:t>
            </a:r>
          </a:p>
          <a:p>
            <a:r>
              <a:t>Single table, six rows, sorted by F1-macro descending.</a:t>
            </a:r>
          </a:p>
          <a:p>
            <a:endParaRPr/>
          </a:p>
          <a:p>
            <a:r>
              <a:t>- XGBoost — F1-macro 0.7056 (best), accuracy 76.95%, weighted F1 0.7634, CV mean 0.7136 ± 0.0131.</a:t>
            </a:r>
          </a:p>
          <a:p>
            <a:r>
              <a:t>- Random Forest — accuracy 77.06% (best), F1-macro 0.6887, weighted F1 0.7548, CV 0.6956 ± 0.0087 (tightest CV).</a:t>
            </a:r>
          </a:p>
          <a:p>
            <a:r>
              <a:t>- Logistic Regression — 76.84% / 0.6826 / 0.7531 / 0.6782 ± 0.0089.</a:t>
            </a:r>
          </a:p>
          <a:p>
            <a:r>
              <a:t>- SVM — 75.93% / 0.6797 / 0.7466 / 0.6798 ± 0.0220.</a:t>
            </a:r>
          </a:p>
          <a:p>
            <a:r>
              <a:t>- Decision Tree — 71.19% / 0.6346 / 0.7052 / 0.6443 ± 0.0101.</a:t>
            </a:r>
          </a:p>
          <a:p>
            <a:r>
              <a:t>- KNN k=11 — 69.49% / 0.5860 / 0.6694 / 0.6036 ± 0.0094.</a:t>
            </a:r>
          </a:p>
          <a:p>
            <a:endParaRPr/>
          </a:p>
          <a:p>
            <a:r>
              <a:t>Two things to notice. First, top three models cluster within 0.7 percentage points on accuracy — XGBoost, Random Forest, Logistic Regression are all essentially tied on accuracy. The differentiator is F1-macro, where XGBoost opens a clear 1.7-point gap. That's because XGBoost handles the Enrolled minority class better.</a:t>
            </a:r>
          </a:p>
          <a:p>
            <a:endParaRPr/>
          </a:p>
          <a:p>
            <a:r>
              <a:t>Second, the CV standard deviations are all tight — between 0.009 and 0.022. Performance is consistent across folds, not luck.</a:t>
            </a:r>
          </a:p>
          <a:p>
            <a:endParaRPr/>
          </a:p>
          <a:p>
            <a:r>
              <a:t>We declare XGBoost our best model on F1-macro, while acknowledging Random Forest narrowly wins on raw accuracy with the most stable CV.</a:t>
            </a:r>
          </a:p>
          <a:p>
            <a:endParaRPr/>
          </a:p>
          <a:p>
            <a:r>
              <a:t>[TRANSITION] What the models care about.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[FEATURE IMPORTANCE — 60s]</a:t>
            </a:r>
          </a:p>
          <a:p>
            <a:r>
              <a:t>Two methods, two views.</a:t>
            </a:r>
          </a:p>
          <a:p>
            <a:endParaRPr/>
          </a:p>
          <a:p>
            <a:r>
              <a:t>Random Forest mean decrease in impurity, top 5:</a:t>
            </a:r>
          </a:p>
          <a:p>
            <a:r>
              <a:t>1. Curricular units 2nd sem (approved) — 0.155</a:t>
            </a:r>
          </a:p>
          <a:p>
            <a:r>
              <a:t>2. Curricular units 2nd sem (grade) — 0.092</a:t>
            </a:r>
          </a:p>
          <a:p>
            <a:r>
              <a:t>3. Curricular units 1st sem (approved) — 0.089</a:t>
            </a:r>
          </a:p>
          <a:p>
            <a:r>
              <a:t>4. Curricular units 1st sem (grade) — 0.066</a:t>
            </a:r>
          </a:p>
          <a:p>
            <a:r>
              <a:t>5. Admission grade — 0.044</a:t>
            </a:r>
          </a:p>
          <a:p>
            <a:endParaRPr/>
          </a:p>
          <a:p>
            <a:r>
              <a:t>XGBoost gain-based importance, top 5:</a:t>
            </a:r>
          </a:p>
          <a:p>
            <a:r>
              <a:t>1. Curricular units 2nd sem (approved) — 0.215</a:t>
            </a:r>
          </a:p>
          <a:p>
            <a:r>
              <a:t>2. Tuition fees up to date — 0.117</a:t>
            </a:r>
          </a:p>
          <a:p>
            <a:r>
              <a:t>3. Curricular units 1st sem (enrolled) — 0.052</a:t>
            </a:r>
          </a:p>
          <a:p>
            <a:r>
              <a:t>4. Curricular units 2nd sem (enrolled) — 0.038</a:t>
            </a:r>
          </a:p>
          <a:p>
            <a:r>
              <a:t>5. Scholarship holder — 0.032</a:t>
            </a:r>
          </a:p>
          <a:p>
            <a:endParaRPr/>
          </a:p>
          <a:p>
            <a:r>
              <a:t>Both models converge on 2nd-semester approved units as the #1 predictor — Random Forest 0.155, XGBoost 0.215. Same top feature, two different importance methods.</a:t>
            </a:r>
          </a:p>
          <a:p>
            <a:endParaRPr/>
          </a:p>
          <a:p>
            <a:r>
              <a:t>The interesting divergence: Random Forest is grade-centric — four of its top five are grade or unit measures. XGBoost gives much more weight to financial signals — tuition is its #2 at 0.117 and scholarship makes the top 5. That's consistent with what we saw on slide 9: tuition status creates a 61-point swing in dropout rate. XGBoost is just better at exploiting that.</a:t>
            </a:r>
          </a:p>
          <a:p>
            <a:endParaRPr/>
          </a:p>
          <a:p>
            <a:r>
              <a:t>Practically: if you only had one feature to monitor, monitor 2nd-semester approved units. If you have two, add tuition status.</a:t>
            </a:r>
          </a:p>
          <a:p>
            <a:endParaRPr/>
          </a:p>
          <a:p>
            <a:r>
              <a:t>[TRANSITION] What to take away.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[CONCLUSIONS — 60s]</a:t>
            </a:r>
          </a:p>
          <a:p>
            <a:r>
              <a:t>Five takeaways summarizing the whole project.</a:t>
            </a:r>
          </a:p>
          <a:p>
            <a:endParaRPr/>
          </a:p>
          <a:p>
            <a:r>
              <a:t>1. BEST MODEL: XGBoost wins on F1-macro at 0.7056 — vs Random Forest 0.689 and Logistic Regression 0.683.</a:t>
            </a:r>
          </a:p>
          <a:p>
            <a:endParaRPr/>
          </a:p>
          <a:p>
            <a:r>
              <a:t>2. TOP PREDICTOR: Second-semester approved units, by every measure — Spearman ρ ≈ 0.65, Random Forest MDI 0.155, XGBoost gain 0.215.</a:t>
            </a:r>
          </a:p>
          <a:p>
            <a:endParaRPr/>
          </a:p>
          <a:p>
            <a:r>
              <a:t>3. STRONGEST RULE: Low first-semester approved units → 77.1% dropout probability, lift 2.40×. Pulled from the Apriori results on slide 14.</a:t>
            </a:r>
          </a:p>
          <a:p>
            <a:endParaRPr/>
          </a:p>
          <a:p>
            <a:r>
              <a:t>4. CLUSTERING: K-Means k=3 silhouette only 0.21, Hierarchical 0.12 — confirms that classes overlap geometrically and supervision is required.</a:t>
            </a:r>
          </a:p>
          <a:p>
            <a:endParaRPr/>
          </a:p>
          <a:p>
            <a:r>
              <a:t>5. RECOMMENDATION — and this is the real-world deliverable: flag any student with fewer than 3 approved curricular units after semester 1 for immediate academic advising. Concrete, defensible, and based on the rule with the highest support among Dropout consequents.</a:t>
            </a:r>
          </a:p>
          <a:p>
            <a:endParaRPr/>
          </a:p>
          <a:p>
            <a:r>
              <a:t>The closing line: data mining can reliably identify at-risk students early enough for meaningful intervention. That's the project in one sentence.</a:t>
            </a:r>
          </a:p>
          <a:p>
            <a:endParaRPr/>
          </a:p>
          <a:p>
            <a:r>
              <a:t>[TRANSITION] Where this could go next.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[FUTURE WORK — 50s]</a:t>
            </a:r>
          </a:p>
          <a:p>
            <a:r>
              <a:t>Five directions, each closing a current limitation.</a:t>
            </a:r>
          </a:p>
          <a:p>
            <a:endParaRPr/>
          </a:p>
          <a:p>
            <a:r>
              <a:t>1. Real-time prediction — current system is one-shot at end of semester; live ingestion would let risk update mid-term.</a:t>
            </a:r>
          </a:p>
          <a:p>
            <a:endParaRPr/>
          </a:p>
          <a:p>
            <a:r>
              <a:t>2. Advisor dashboard — Streamlit or Flask front end so advisors can query a student's risk score without running a notebook. This is the highest-leverage next step for actual deployment.</a:t>
            </a:r>
          </a:p>
          <a:p>
            <a:endParaRPr/>
          </a:p>
          <a:p>
            <a:r>
              <a:t>3. Multi-institution validation — our model trained on one Portuguese polytechnic. Cross-institution and cross-country tests would validate generalizability.</a:t>
            </a:r>
          </a:p>
          <a:p>
            <a:endParaRPr/>
          </a:p>
          <a:p>
            <a:r>
              <a:t>4. Deep learning — TabNet and similar architectures often add a few points on tabular data; worth benchmarking against XGBoost.</a:t>
            </a:r>
          </a:p>
          <a:p>
            <a:endParaRPr/>
          </a:p>
          <a:p>
            <a:r>
              <a:t>5. Temporal modeling — sequence models like LSTM or temporal transformers tracking how risk evolves semester by semester, instead of treating each student as a static snapshot.</a:t>
            </a:r>
          </a:p>
          <a:p>
            <a:endParaRPr/>
          </a:p>
          <a:p>
            <a:r>
              <a:t>The honest framing: every direction here is a current limitation reframed as an opportunity.</a:t>
            </a:r>
          </a:p>
          <a:p>
            <a:endParaRPr/>
          </a:p>
          <a:p>
            <a:r>
              <a:t>[TRANSITION] That's our project.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 20s]</a:t>
            </a:r>
          </a:p>
          <a:p>
            <a:r>
              <a:t>Thank you. We're happy to take questions on any part of the methodology, the modeling choices, the dataset, or how this would apply in a real institution.</a:t>
            </a:r>
          </a:p>
          <a:p>
            <a:endParaRPr/>
          </a:p>
          <a:p>
            <a:r>
              <a:t>Full code, notebooks, and figures are in the GitHub repo at github.com/Lambert-Nguyen/cmpe255-student-dropout-prediction.</a:t>
            </a:r>
          </a:p>
          <a:p>
            <a:endParaRPr/>
          </a:p>
          <a:p>
            <a:r>
              <a:t>[Pause for Q&amp;A]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1.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0" y="0"/>
            <a:ext cx="18288000" cy="8677275"/>
          </a:xfrm>
          <a:prstGeom prst="rect">
            <a:avLst/>
          </a:prstGeom>
          <a:solidFill>
            <a:srgbClr val="0E3A53"/>
          </a:solidFill>
          <a:ln/>
        </p:spPr>
        <p:txBody>
          <a:bodyPr/>
          <a:lstStyle/>
          <a:p>
            <a:endParaRPr lang="en-US"/>
          </a:p>
        </p:txBody>
      </p:sp>
      <p:sp>
        <p:nvSpPr>
          <p:cNvPr id="3" name="Shape 1"/>
          <p:cNvSpPr/>
          <p:nvPr/>
        </p:nvSpPr>
        <p:spPr>
          <a:xfrm>
            <a:off x="1143000" y="1237506"/>
            <a:ext cx="533400" cy="19050"/>
          </a:xfrm>
          <a:prstGeom prst="rect">
            <a:avLst/>
          </a:prstGeom>
          <a:solidFill>
            <a:srgbClr val="FFFFFF">
              <a:alpha val="60000"/>
            </a:srgbClr>
          </a:solidFill>
          <a:ln/>
        </p:spPr>
        <p:txBody>
          <a:bodyPr/>
          <a:lstStyle/>
          <a:p>
            <a:endParaRPr lang="en-US"/>
          </a:p>
        </p:txBody>
      </p:sp>
      <p:sp>
        <p:nvSpPr>
          <p:cNvPr id="4" name="Text 2"/>
          <p:cNvSpPr/>
          <p:nvPr/>
        </p:nvSpPr>
        <p:spPr>
          <a:xfrm>
            <a:off x="1847850" y="1143000"/>
            <a:ext cx="661248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FFFFFF">
                    <a:alpha val="60000"/>
                  </a:srgbClr>
                </a:solidFill>
                <a:latin typeface="Courier New" pitchFamily="34" charset="0"/>
                <a:ea typeface="Courier New" pitchFamily="34" charset="-122"/>
                <a:cs typeface="Courier New" pitchFamily="34" charset="-120"/>
              </a:rPr>
              <a:t>CMPE 255 · DATA MINING · SPRING 2026</a:t>
            </a:r>
            <a:endParaRPr lang="en-US" sz="1800" dirty="0"/>
          </a:p>
        </p:txBody>
      </p:sp>
      <p:sp>
        <p:nvSpPr>
          <p:cNvPr id="5" name="Text 3"/>
          <p:cNvSpPr/>
          <p:nvPr/>
        </p:nvSpPr>
        <p:spPr>
          <a:xfrm>
            <a:off x="1143000" y="2162175"/>
            <a:ext cx="14716125" cy="3238500"/>
          </a:xfrm>
          <a:prstGeom prst="rect">
            <a:avLst/>
          </a:prstGeom>
          <a:noFill/>
          <a:ln/>
        </p:spPr>
        <p:txBody>
          <a:bodyPr wrap="square" lIns="25400" tIns="25400" rIns="25400" bIns="25400" rtlCol="0" anchor="t">
            <a:normAutofit/>
          </a:bodyPr>
          <a:lstStyle/>
          <a:p>
            <a:pPr marL="0" indent="0" algn="l">
              <a:lnSpc>
                <a:spcPct val="104000"/>
              </a:lnSpc>
              <a:buNone/>
            </a:pPr>
            <a:r>
              <a:rPr lang="en-US" sz="8100" kern="0" spc="-122" dirty="0">
                <a:solidFill>
                  <a:srgbClr val="FFFFFF"/>
                </a:solidFill>
                <a:latin typeface="Georgia" pitchFamily="34" charset="0"/>
                <a:ea typeface="Georgia" pitchFamily="34" charset="-122"/>
                <a:cs typeface="Georgia" pitchFamily="34" charset="-120"/>
              </a:rPr>
              <a:t>Predicting Student Dropout &amp; Academic Success</a:t>
            </a:r>
            <a:endParaRPr lang="en-US" sz="8100" dirty="0"/>
          </a:p>
        </p:txBody>
      </p:sp>
      <p:sp>
        <p:nvSpPr>
          <p:cNvPr id="6" name="Text 4"/>
          <p:cNvSpPr/>
          <p:nvPr/>
        </p:nvSpPr>
        <p:spPr>
          <a:xfrm>
            <a:off x="1143000" y="5705475"/>
            <a:ext cx="12753975" cy="552450"/>
          </a:xfrm>
          <a:prstGeom prst="rect">
            <a:avLst/>
          </a:prstGeom>
          <a:noFill/>
          <a:ln/>
        </p:spPr>
        <p:txBody>
          <a:bodyPr wrap="square" lIns="25400" tIns="25400" rIns="25400" bIns="25400" rtlCol="0" anchor="t">
            <a:normAutofit lnSpcReduction="10000"/>
          </a:bodyPr>
          <a:lstStyle/>
          <a:p>
            <a:pPr marL="0" indent="0" algn="l">
              <a:buNone/>
            </a:pPr>
            <a:r>
              <a:rPr lang="en-US" sz="3300" kern="0" spc="-16" dirty="0">
                <a:solidFill>
                  <a:srgbClr val="FFFFFF">
                    <a:alpha val="78000"/>
                  </a:srgbClr>
                </a:solidFill>
                <a:latin typeface="Arial" pitchFamily="34" charset="0"/>
                <a:ea typeface="Arial" pitchFamily="34" charset="-122"/>
                <a:cs typeface="Arial" pitchFamily="34" charset="-120"/>
              </a:rPr>
              <a:t>A data-mining study of 4,424 university students</a:t>
            </a:r>
            <a:endParaRPr lang="en-US" sz="3300" dirty="0"/>
          </a:p>
        </p:txBody>
      </p:sp>
      <p:sp>
        <p:nvSpPr>
          <p:cNvPr id="7" name="Text 5"/>
          <p:cNvSpPr/>
          <p:nvPr/>
        </p:nvSpPr>
        <p:spPr>
          <a:xfrm>
            <a:off x="1143000" y="6219825"/>
            <a:ext cx="3196005" cy="4381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pple-system" pitchFamily="34" charset="0"/>
                <a:ea typeface="-apple-system" pitchFamily="34" charset="-122"/>
                <a:cs typeface="-apple-system" pitchFamily="34" charset="-120"/>
              </a:rPr>
              <a:t>Lam Nguyen</a:t>
            </a:r>
            <a:r>
              <a:rPr lang="en-US" sz="2100" dirty="0">
                <a:solidFill>
                  <a:srgbClr val="FFFFFF">
                    <a:alpha val="55000"/>
                  </a:srgbClr>
                </a:solidFill>
                <a:latin typeface="-apple-system" pitchFamily="34" charset="0"/>
                <a:ea typeface="-apple-system" pitchFamily="34" charset="-122"/>
                <a:cs typeface="-apple-system" pitchFamily="34" charset="-120"/>
              </a:rPr>
              <a:t>· 018229432</a:t>
            </a:r>
            <a:endParaRPr lang="en-US" sz="2100" dirty="0"/>
          </a:p>
        </p:txBody>
      </p:sp>
      <p:sp>
        <p:nvSpPr>
          <p:cNvPr id="8" name="Text 6"/>
          <p:cNvSpPr/>
          <p:nvPr/>
        </p:nvSpPr>
        <p:spPr>
          <a:xfrm>
            <a:off x="1143000" y="6619875"/>
            <a:ext cx="3196005" cy="4381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pple-system" pitchFamily="34" charset="0"/>
                <a:ea typeface="-apple-system" pitchFamily="34" charset="-122"/>
                <a:cs typeface="-apple-system" pitchFamily="34" charset="-120"/>
              </a:rPr>
              <a:t>Tri Ngo</a:t>
            </a:r>
            <a:r>
              <a:rPr lang="en-US" sz="2100" dirty="0">
                <a:solidFill>
                  <a:srgbClr val="FFFFFF">
                    <a:alpha val="55000"/>
                  </a:srgbClr>
                </a:solidFill>
                <a:latin typeface="-apple-system" pitchFamily="34" charset="0"/>
                <a:ea typeface="-apple-system" pitchFamily="34" charset="-122"/>
                <a:cs typeface="-apple-system" pitchFamily="34" charset="-120"/>
              </a:rPr>
              <a:t>· 015712749</a:t>
            </a:r>
            <a:endParaRPr lang="en-US" sz="2100" dirty="0"/>
          </a:p>
        </p:txBody>
      </p:sp>
      <p:sp>
        <p:nvSpPr>
          <p:cNvPr id="9" name="Text 7"/>
          <p:cNvSpPr/>
          <p:nvPr/>
        </p:nvSpPr>
        <p:spPr>
          <a:xfrm>
            <a:off x="1143000" y="7134225"/>
            <a:ext cx="3196005" cy="4381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dirty="0">
                <a:solidFill>
                  <a:srgbClr val="FFFFFF">
                    <a:alpha val="65000"/>
                  </a:srgbClr>
                </a:solidFill>
                <a:latin typeface="-apple-system" pitchFamily="34" charset="0"/>
                <a:ea typeface="-apple-system" pitchFamily="34" charset="-122"/>
                <a:cs typeface="-apple-system" pitchFamily="34" charset="-120"/>
              </a:rPr>
              <a:t>San José State University</a:t>
            </a:r>
            <a:endParaRPr lang="en-US" sz="2100" dirty="0"/>
          </a:p>
        </p:txBody>
      </p:sp>
      <p:sp>
        <p:nvSpPr>
          <p:cNvPr id="10" name="Text 8"/>
          <p:cNvSpPr/>
          <p:nvPr/>
        </p:nvSpPr>
        <p:spPr>
          <a:xfrm>
            <a:off x="15468302" y="7277100"/>
            <a:ext cx="1676698"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kern="0" spc="180" dirty="0">
                <a:solidFill>
                  <a:srgbClr val="FFFFFF">
                    <a:alpha val="55000"/>
                  </a:srgbClr>
                </a:solidFill>
                <a:latin typeface="Courier New" pitchFamily="34" charset="0"/>
                <a:ea typeface="Courier New" pitchFamily="34" charset="-122"/>
                <a:cs typeface="Courier New" pitchFamily="34" charset="-120"/>
              </a:rPr>
              <a:t>APRIL 2026</a:t>
            </a:r>
            <a:endParaRPr lang="en-US" sz="1800" dirty="0"/>
          </a:p>
        </p:txBody>
      </p:sp>
      <p:sp>
        <p:nvSpPr>
          <p:cNvPr id="11" name="Text 9"/>
          <p:cNvSpPr/>
          <p:nvPr/>
        </p:nvSpPr>
        <p:spPr>
          <a:xfrm>
            <a:off x="16692116" y="803910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FFFFFF">
                    <a:alpha val="50000"/>
                  </a:srgbClr>
                </a:solidFill>
                <a:latin typeface="Courier New" pitchFamily="34" charset="0"/>
                <a:ea typeface="Courier New" pitchFamily="34" charset="-122"/>
                <a:cs typeface="Courier New" pitchFamily="34" charset="-120"/>
              </a:rPr>
              <a:t>01/19</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275520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01 · MOTIVATION</a:t>
            </a:r>
            <a:endParaRPr lang="en-US" sz="1800" dirty="0"/>
          </a:p>
        </p:txBody>
      </p:sp>
      <p:sp>
        <p:nvSpPr>
          <p:cNvPr id="4" name="Text 2"/>
          <p:cNvSpPr/>
          <p:nvPr/>
        </p:nvSpPr>
        <p:spPr>
          <a:xfrm>
            <a:off x="952500" y="1704975"/>
            <a:ext cx="7946708" cy="12954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Why student dropout matters</a:t>
            </a:r>
            <a:endParaRPr lang="en-US" sz="4800" dirty="0"/>
          </a:p>
        </p:txBody>
      </p:sp>
      <p:sp>
        <p:nvSpPr>
          <p:cNvPr id="5" name="Text 3"/>
          <p:cNvSpPr/>
          <p:nvPr/>
        </p:nvSpPr>
        <p:spPr>
          <a:xfrm>
            <a:off x="952500" y="3343275"/>
            <a:ext cx="7456170" cy="19050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550" dirty="0">
                <a:solidFill>
                  <a:srgbClr val="4B4845"/>
                </a:solidFill>
                <a:latin typeface="-apple-system" pitchFamily="34" charset="0"/>
                <a:ea typeface="-apple-system" pitchFamily="34" charset="-122"/>
                <a:cs typeface="-apple-system" pitchFamily="34" charset="-120"/>
              </a:rPr>
              <a:t>Dropout costs students years of investment and costs universities funding, reputation, and capacity. Early identification of at-risk students unlocks targeted academic advising before it's too late.</a:t>
            </a:r>
            <a:endParaRPr lang="en-US" sz="2550" dirty="0"/>
          </a:p>
        </p:txBody>
      </p:sp>
      <p:sp>
        <p:nvSpPr>
          <p:cNvPr id="6" name="Text 4"/>
          <p:cNvSpPr/>
          <p:nvPr/>
        </p:nvSpPr>
        <p:spPr>
          <a:xfrm>
            <a:off x="9620250" y="1704975"/>
            <a:ext cx="7946708" cy="1409700"/>
          </a:xfrm>
          <a:prstGeom prst="rect">
            <a:avLst/>
          </a:prstGeom>
          <a:noFill/>
          <a:ln/>
        </p:spPr>
        <p:txBody>
          <a:bodyPr wrap="square" lIns="25400" tIns="25400" rIns="25400" bIns="25400" rtlCol="0" anchor="t">
            <a:normAutofit fontScale="92500" lnSpcReduction="10000"/>
          </a:bodyPr>
          <a:lstStyle/>
          <a:p>
            <a:pPr marL="0" indent="0" algn="l">
              <a:lnSpc>
                <a:spcPct val="90000"/>
              </a:lnSpc>
              <a:buNone/>
            </a:pPr>
            <a:r>
              <a:rPr lang="en-US" sz="12000" b="1" kern="0" spc="-240" dirty="0">
                <a:solidFill>
                  <a:srgbClr val="E24B4A"/>
                </a:solidFill>
                <a:latin typeface="Georgia" pitchFamily="34" charset="0"/>
                <a:ea typeface="Georgia" pitchFamily="34" charset="-122"/>
                <a:cs typeface="Georgia" pitchFamily="34" charset="-120"/>
              </a:rPr>
              <a:t>32.1</a:t>
            </a:r>
            <a:r>
              <a:rPr lang="en-US" sz="5700" b="1" kern="0" spc="-240" dirty="0">
                <a:solidFill>
                  <a:srgbClr val="E24B4A"/>
                </a:solidFill>
                <a:latin typeface="Georgia" pitchFamily="34" charset="0"/>
                <a:ea typeface="Georgia" pitchFamily="34" charset="-122"/>
                <a:cs typeface="Georgia" pitchFamily="34" charset="-120"/>
              </a:rPr>
              <a:t>%</a:t>
            </a:r>
            <a:endParaRPr lang="en-US" sz="12000" dirty="0"/>
          </a:p>
        </p:txBody>
      </p:sp>
      <p:sp>
        <p:nvSpPr>
          <p:cNvPr id="7" name="Text 5"/>
          <p:cNvSpPr/>
          <p:nvPr/>
        </p:nvSpPr>
        <p:spPr>
          <a:xfrm>
            <a:off x="9620250" y="3391958"/>
            <a:ext cx="7946708" cy="352425"/>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4B4845"/>
                </a:solidFill>
                <a:latin typeface="-apple-system" pitchFamily="34" charset="0"/>
                <a:ea typeface="-apple-system" pitchFamily="34" charset="-122"/>
                <a:cs typeface="-apple-system" pitchFamily="34" charset="-120"/>
              </a:rPr>
              <a:t>of students in our dataset dropped out before graduating</a:t>
            </a:r>
            <a:endParaRPr lang="en-US" sz="2100" dirty="0"/>
          </a:p>
        </p:txBody>
      </p:sp>
      <p:sp>
        <p:nvSpPr>
          <p:cNvPr id="8" name="Shape 6"/>
          <p:cNvSpPr/>
          <p:nvPr/>
        </p:nvSpPr>
        <p:spPr>
          <a:xfrm>
            <a:off x="9620250" y="4352925"/>
            <a:ext cx="3016746" cy="19050"/>
          </a:xfrm>
          <a:prstGeom prst="rect">
            <a:avLst/>
          </a:prstGeom>
          <a:solidFill>
            <a:srgbClr val="1C1B1A"/>
          </a:solidFill>
          <a:ln/>
        </p:spPr>
        <p:txBody>
          <a:bodyPr/>
          <a:lstStyle/>
          <a:p>
            <a:endParaRPr lang="en-US"/>
          </a:p>
        </p:txBody>
      </p:sp>
      <p:sp>
        <p:nvSpPr>
          <p:cNvPr id="9" name="Text 7"/>
          <p:cNvSpPr/>
          <p:nvPr/>
        </p:nvSpPr>
        <p:spPr>
          <a:xfrm>
            <a:off x="9829800" y="3943350"/>
            <a:ext cx="2688148"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OUTCOME</a:t>
            </a:r>
            <a:endParaRPr lang="en-US" sz="1650" dirty="0"/>
          </a:p>
        </p:txBody>
      </p:sp>
      <p:sp>
        <p:nvSpPr>
          <p:cNvPr id="10" name="Shape 8"/>
          <p:cNvSpPr/>
          <p:nvPr/>
        </p:nvSpPr>
        <p:spPr>
          <a:xfrm>
            <a:off x="12636996" y="4352925"/>
            <a:ext cx="2362795" cy="19050"/>
          </a:xfrm>
          <a:prstGeom prst="rect">
            <a:avLst/>
          </a:prstGeom>
          <a:solidFill>
            <a:srgbClr val="1C1B1A"/>
          </a:solidFill>
          <a:ln/>
        </p:spPr>
        <p:txBody>
          <a:bodyPr/>
          <a:lstStyle/>
          <a:p>
            <a:endParaRPr lang="en-US"/>
          </a:p>
        </p:txBody>
      </p:sp>
      <p:sp>
        <p:nvSpPr>
          <p:cNvPr id="11" name="Text 9"/>
          <p:cNvSpPr/>
          <p:nvPr/>
        </p:nvSpPr>
        <p:spPr>
          <a:xfrm>
            <a:off x="12770346" y="3943350"/>
            <a:ext cx="2019895"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COUNT</a:t>
            </a:r>
            <a:endParaRPr lang="en-US" sz="1650" dirty="0"/>
          </a:p>
        </p:txBody>
      </p:sp>
      <p:sp>
        <p:nvSpPr>
          <p:cNvPr id="12" name="Shape 10"/>
          <p:cNvSpPr/>
          <p:nvPr/>
        </p:nvSpPr>
        <p:spPr>
          <a:xfrm>
            <a:off x="14999791" y="4352925"/>
            <a:ext cx="2335857" cy="19050"/>
          </a:xfrm>
          <a:prstGeom prst="rect">
            <a:avLst/>
          </a:prstGeom>
          <a:solidFill>
            <a:srgbClr val="1C1B1A"/>
          </a:solidFill>
          <a:ln/>
        </p:spPr>
        <p:txBody>
          <a:bodyPr/>
          <a:lstStyle/>
          <a:p>
            <a:endParaRPr lang="en-US"/>
          </a:p>
        </p:txBody>
      </p:sp>
      <p:sp>
        <p:nvSpPr>
          <p:cNvPr id="13" name="Text 11"/>
          <p:cNvSpPr/>
          <p:nvPr/>
        </p:nvSpPr>
        <p:spPr>
          <a:xfrm>
            <a:off x="15133141" y="3943350"/>
            <a:ext cx="1992957"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SHARE</a:t>
            </a:r>
            <a:endParaRPr lang="en-US" sz="1650" dirty="0"/>
          </a:p>
        </p:txBody>
      </p:sp>
      <p:sp>
        <p:nvSpPr>
          <p:cNvPr id="14" name="Shape 12"/>
          <p:cNvSpPr/>
          <p:nvPr/>
        </p:nvSpPr>
        <p:spPr>
          <a:xfrm>
            <a:off x="9620250" y="5043488"/>
            <a:ext cx="3016746" cy="9525"/>
          </a:xfrm>
          <a:prstGeom prst="rect">
            <a:avLst/>
          </a:prstGeom>
          <a:solidFill>
            <a:srgbClr val="D9D3C5"/>
          </a:solidFill>
          <a:ln/>
        </p:spPr>
        <p:txBody>
          <a:bodyPr/>
          <a:lstStyle/>
          <a:p>
            <a:endParaRPr lang="en-US"/>
          </a:p>
        </p:txBody>
      </p:sp>
      <p:sp>
        <p:nvSpPr>
          <p:cNvPr id="15" name="Text 13"/>
          <p:cNvSpPr/>
          <p:nvPr/>
        </p:nvSpPr>
        <p:spPr>
          <a:xfrm>
            <a:off x="9829800" y="4543425"/>
            <a:ext cx="2688148" cy="366712"/>
          </a:xfrm>
          <a:prstGeom prst="rect">
            <a:avLst/>
          </a:prstGeom>
          <a:noFill/>
          <a:ln/>
        </p:spPr>
        <p:txBody>
          <a:bodyPr wrap="square" lIns="25400" tIns="25400" rIns="25400" bIns="25400" rtlCol="0" anchor="ctr">
            <a:normAutofit lnSpcReduction="10000"/>
          </a:bodyPr>
          <a:lstStyle/>
          <a:p>
            <a:pPr marL="0" indent="0" algn="l">
              <a:buNone/>
            </a:pPr>
            <a:r>
              <a:rPr lang="en-US" sz="2100" b="1" dirty="0">
                <a:solidFill>
                  <a:srgbClr val="E24B4A"/>
                </a:solidFill>
                <a:latin typeface="Arial" pitchFamily="34" charset="0"/>
                <a:ea typeface="Arial" pitchFamily="34" charset="-122"/>
                <a:cs typeface="Arial" pitchFamily="34" charset="-120"/>
              </a:rPr>
              <a:t>Dropout</a:t>
            </a:r>
            <a:endParaRPr lang="en-US" sz="2100" dirty="0"/>
          </a:p>
        </p:txBody>
      </p:sp>
      <p:sp>
        <p:nvSpPr>
          <p:cNvPr id="16" name="Shape 14"/>
          <p:cNvSpPr/>
          <p:nvPr/>
        </p:nvSpPr>
        <p:spPr>
          <a:xfrm>
            <a:off x="12636996" y="5043488"/>
            <a:ext cx="2362795" cy="9525"/>
          </a:xfrm>
          <a:prstGeom prst="rect">
            <a:avLst/>
          </a:prstGeom>
          <a:solidFill>
            <a:srgbClr val="D9D3C5"/>
          </a:solidFill>
          <a:ln/>
        </p:spPr>
        <p:txBody>
          <a:bodyPr/>
          <a:lstStyle/>
          <a:p>
            <a:endParaRPr lang="en-US"/>
          </a:p>
        </p:txBody>
      </p:sp>
      <p:sp>
        <p:nvSpPr>
          <p:cNvPr id="17" name="Text 15"/>
          <p:cNvSpPr/>
          <p:nvPr/>
        </p:nvSpPr>
        <p:spPr>
          <a:xfrm>
            <a:off x="12770346" y="4543425"/>
            <a:ext cx="2019895" cy="366712"/>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1,421</a:t>
            </a:r>
            <a:endParaRPr lang="en-US" sz="2100" dirty="0"/>
          </a:p>
        </p:txBody>
      </p:sp>
      <p:sp>
        <p:nvSpPr>
          <p:cNvPr id="18" name="Shape 16"/>
          <p:cNvSpPr/>
          <p:nvPr/>
        </p:nvSpPr>
        <p:spPr>
          <a:xfrm>
            <a:off x="14999791" y="5043488"/>
            <a:ext cx="2335857" cy="9525"/>
          </a:xfrm>
          <a:prstGeom prst="rect">
            <a:avLst/>
          </a:prstGeom>
          <a:solidFill>
            <a:srgbClr val="D9D3C5"/>
          </a:solidFill>
          <a:ln/>
        </p:spPr>
        <p:txBody>
          <a:bodyPr/>
          <a:lstStyle/>
          <a:p>
            <a:endParaRPr lang="en-US"/>
          </a:p>
        </p:txBody>
      </p:sp>
      <p:sp>
        <p:nvSpPr>
          <p:cNvPr id="19" name="Text 17"/>
          <p:cNvSpPr/>
          <p:nvPr/>
        </p:nvSpPr>
        <p:spPr>
          <a:xfrm>
            <a:off x="15133141" y="4543425"/>
            <a:ext cx="1992957"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32.1%</a:t>
            </a:r>
            <a:endParaRPr lang="en-US" sz="2100" dirty="0"/>
          </a:p>
        </p:txBody>
      </p:sp>
      <p:sp>
        <p:nvSpPr>
          <p:cNvPr id="20" name="Shape 18"/>
          <p:cNvSpPr/>
          <p:nvPr/>
        </p:nvSpPr>
        <p:spPr>
          <a:xfrm>
            <a:off x="9620250" y="5719763"/>
            <a:ext cx="3016746" cy="9525"/>
          </a:xfrm>
          <a:prstGeom prst="rect">
            <a:avLst/>
          </a:prstGeom>
          <a:solidFill>
            <a:srgbClr val="D9D3C5"/>
          </a:solidFill>
          <a:ln/>
        </p:spPr>
        <p:txBody>
          <a:bodyPr/>
          <a:lstStyle/>
          <a:p>
            <a:endParaRPr lang="en-US"/>
          </a:p>
        </p:txBody>
      </p:sp>
      <p:sp>
        <p:nvSpPr>
          <p:cNvPr id="21" name="Text 19"/>
          <p:cNvSpPr/>
          <p:nvPr/>
        </p:nvSpPr>
        <p:spPr>
          <a:xfrm>
            <a:off x="9829800" y="5224463"/>
            <a:ext cx="2688148" cy="361950"/>
          </a:xfrm>
          <a:prstGeom prst="rect">
            <a:avLst/>
          </a:prstGeom>
          <a:noFill/>
          <a:ln/>
        </p:spPr>
        <p:txBody>
          <a:bodyPr wrap="square" lIns="25400" tIns="25400" rIns="25400" bIns="25400" rtlCol="0" anchor="ctr">
            <a:normAutofit lnSpcReduction="10000"/>
          </a:bodyPr>
          <a:lstStyle/>
          <a:p>
            <a:pPr marL="0" indent="0" algn="l">
              <a:buNone/>
            </a:pPr>
            <a:r>
              <a:rPr lang="en-US" sz="2100" b="1" dirty="0">
                <a:solidFill>
                  <a:srgbClr val="EF9F27"/>
                </a:solidFill>
                <a:latin typeface="Arial" pitchFamily="34" charset="0"/>
                <a:ea typeface="Arial" pitchFamily="34" charset="-122"/>
                <a:cs typeface="Arial" pitchFamily="34" charset="-120"/>
              </a:rPr>
              <a:t>Enrolled</a:t>
            </a:r>
            <a:endParaRPr lang="en-US" sz="2100" dirty="0"/>
          </a:p>
        </p:txBody>
      </p:sp>
      <p:sp>
        <p:nvSpPr>
          <p:cNvPr id="22" name="Shape 20"/>
          <p:cNvSpPr/>
          <p:nvPr/>
        </p:nvSpPr>
        <p:spPr>
          <a:xfrm>
            <a:off x="12636996" y="5719763"/>
            <a:ext cx="2362795" cy="9525"/>
          </a:xfrm>
          <a:prstGeom prst="rect">
            <a:avLst/>
          </a:prstGeom>
          <a:solidFill>
            <a:srgbClr val="D9D3C5"/>
          </a:solidFill>
          <a:ln/>
        </p:spPr>
        <p:txBody>
          <a:bodyPr/>
          <a:lstStyle/>
          <a:p>
            <a:endParaRPr lang="en-US"/>
          </a:p>
        </p:txBody>
      </p:sp>
      <p:sp>
        <p:nvSpPr>
          <p:cNvPr id="23" name="Text 21"/>
          <p:cNvSpPr/>
          <p:nvPr/>
        </p:nvSpPr>
        <p:spPr>
          <a:xfrm>
            <a:off x="12770346" y="5224463"/>
            <a:ext cx="2019895"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794</a:t>
            </a:r>
            <a:endParaRPr lang="en-US" sz="2100" dirty="0"/>
          </a:p>
        </p:txBody>
      </p:sp>
      <p:sp>
        <p:nvSpPr>
          <p:cNvPr id="24" name="Shape 22"/>
          <p:cNvSpPr/>
          <p:nvPr/>
        </p:nvSpPr>
        <p:spPr>
          <a:xfrm>
            <a:off x="14999791" y="5719763"/>
            <a:ext cx="2335857" cy="9525"/>
          </a:xfrm>
          <a:prstGeom prst="rect">
            <a:avLst/>
          </a:prstGeom>
          <a:solidFill>
            <a:srgbClr val="D9D3C5"/>
          </a:solidFill>
          <a:ln/>
        </p:spPr>
        <p:txBody>
          <a:bodyPr/>
          <a:lstStyle/>
          <a:p>
            <a:endParaRPr lang="en-US"/>
          </a:p>
        </p:txBody>
      </p:sp>
      <p:sp>
        <p:nvSpPr>
          <p:cNvPr id="25" name="Text 23"/>
          <p:cNvSpPr/>
          <p:nvPr/>
        </p:nvSpPr>
        <p:spPr>
          <a:xfrm>
            <a:off x="15133141" y="5224463"/>
            <a:ext cx="1992957"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17.9%</a:t>
            </a:r>
            <a:endParaRPr lang="en-US" sz="2100" dirty="0"/>
          </a:p>
        </p:txBody>
      </p:sp>
      <p:sp>
        <p:nvSpPr>
          <p:cNvPr id="26" name="Shape 24"/>
          <p:cNvSpPr/>
          <p:nvPr/>
        </p:nvSpPr>
        <p:spPr>
          <a:xfrm>
            <a:off x="9620250" y="6400800"/>
            <a:ext cx="3016746" cy="9525"/>
          </a:xfrm>
          <a:prstGeom prst="rect">
            <a:avLst/>
          </a:prstGeom>
          <a:solidFill>
            <a:srgbClr val="D9D3C5"/>
          </a:solidFill>
          <a:ln/>
        </p:spPr>
        <p:txBody>
          <a:bodyPr/>
          <a:lstStyle/>
          <a:p>
            <a:endParaRPr lang="en-US"/>
          </a:p>
        </p:txBody>
      </p:sp>
      <p:sp>
        <p:nvSpPr>
          <p:cNvPr id="27" name="Text 25"/>
          <p:cNvSpPr/>
          <p:nvPr/>
        </p:nvSpPr>
        <p:spPr>
          <a:xfrm>
            <a:off x="9829800" y="5900738"/>
            <a:ext cx="2688148" cy="366712"/>
          </a:xfrm>
          <a:prstGeom prst="rect">
            <a:avLst/>
          </a:prstGeom>
          <a:noFill/>
          <a:ln/>
        </p:spPr>
        <p:txBody>
          <a:bodyPr wrap="square" lIns="25400" tIns="25400" rIns="25400" bIns="25400" rtlCol="0" anchor="ctr">
            <a:normAutofit lnSpcReduction="10000"/>
          </a:bodyPr>
          <a:lstStyle/>
          <a:p>
            <a:pPr marL="0" indent="0" algn="l">
              <a:buNone/>
            </a:pPr>
            <a:r>
              <a:rPr lang="en-US" sz="2100" b="1" dirty="0">
                <a:solidFill>
                  <a:srgbClr val="1D9E75"/>
                </a:solidFill>
                <a:latin typeface="Arial" pitchFamily="34" charset="0"/>
                <a:ea typeface="Arial" pitchFamily="34" charset="-122"/>
                <a:cs typeface="Arial" pitchFamily="34" charset="-120"/>
              </a:rPr>
              <a:t>Graduate</a:t>
            </a:r>
            <a:endParaRPr lang="en-US" sz="2100" dirty="0"/>
          </a:p>
        </p:txBody>
      </p:sp>
      <p:sp>
        <p:nvSpPr>
          <p:cNvPr id="28" name="Shape 26"/>
          <p:cNvSpPr/>
          <p:nvPr/>
        </p:nvSpPr>
        <p:spPr>
          <a:xfrm>
            <a:off x="12636996" y="6400800"/>
            <a:ext cx="2362795" cy="9525"/>
          </a:xfrm>
          <a:prstGeom prst="rect">
            <a:avLst/>
          </a:prstGeom>
          <a:solidFill>
            <a:srgbClr val="D9D3C5"/>
          </a:solidFill>
          <a:ln/>
        </p:spPr>
        <p:txBody>
          <a:bodyPr/>
          <a:lstStyle/>
          <a:p>
            <a:endParaRPr lang="en-US"/>
          </a:p>
        </p:txBody>
      </p:sp>
      <p:sp>
        <p:nvSpPr>
          <p:cNvPr id="29" name="Text 27"/>
          <p:cNvSpPr/>
          <p:nvPr/>
        </p:nvSpPr>
        <p:spPr>
          <a:xfrm>
            <a:off x="12770346" y="5900738"/>
            <a:ext cx="2019895" cy="366712"/>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2,209</a:t>
            </a:r>
            <a:endParaRPr lang="en-US" sz="2100" dirty="0"/>
          </a:p>
        </p:txBody>
      </p:sp>
      <p:sp>
        <p:nvSpPr>
          <p:cNvPr id="30" name="Shape 28"/>
          <p:cNvSpPr/>
          <p:nvPr/>
        </p:nvSpPr>
        <p:spPr>
          <a:xfrm>
            <a:off x="14999791" y="6400800"/>
            <a:ext cx="2335857" cy="9525"/>
          </a:xfrm>
          <a:prstGeom prst="rect">
            <a:avLst/>
          </a:prstGeom>
          <a:solidFill>
            <a:srgbClr val="D9D3C5"/>
          </a:solidFill>
          <a:ln/>
        </p:spPr>
        <p:txBody>
          <a:bodyPr/>
          <a:lstStyle/>
          <a:p>
            <a:endParaRPr lang="en-US"/>
          </a:p>
        </p:txBody>
      </p:sp>
      <p:sp>
        <p:nvSpPr>
          <p:cNvPr id="31" name="Text 29"/>
          <p:cNvSpPr/>
          <p:nvPr/>
        </p:nvSpPr>
        <p:spPr>
          <a:xfrm>
            <a:off x="15133141" y="5900738"/>
            <a:ext cx="1992957" cy="366712"/>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49.9%</a:t>
            </a:r>
            <a:endParaRPr lang="en-US" sz="2100" dirty="0"/>
          </a:p>
        </p:txBody>
      </p:sp>
      <p:sp>
        <p:nvSpPr>
          <p:cNvPr id="32" name="Shape 30"/>
          <p:cNvSpPr/>
          <p:nvPr/>
        </p:nvSpPr>
        <p:spPr>
          <a:xfrm>
            <a:off x="9620250" y="6410325"/>
            <a:ext cx="7715250" cy="19050"/>
          </a:xfrm>
          <a:prstGeom prst="rect">
            <a:avLst/>
          </a:prstGeom>
          <a:solidFill>
            <a:srgbClr val="1C1B1A"/>
          </a:solidFill>
          <a:ln/>
        </p:spPr>
        <p:txBody>
          <a:bodyPr/>
          <a:lstStyle/>
          <a:p>
            <a:endParaRPr lang="en-US"/>
          </a:p>
        </p:txBody>
      </p:sp>
      <p:sp>
        <p:nvSpPr>
          <p:cNvPr id="33" name="Shape 31"/>
          <p:cNvSpPr/>
          <p:nvPr/>
        </p:nvSpPr>
        <p:spPr>
          <a:xfrm>
            <a:off x="9620250" y="7081838"/>
            <a:ext cx="3016746" cy="9525"/>
          </a:xfrm>
          <a:prstGeom prst="rect">
            <a:avLst/>
          </a:prstGeom>
          <a:solidFill>
            <a:srgbClr val="D9D3C5"/>
          </a:solidFill>
          <a:ln/>
        </p:spPr>
        <p:txBody>
          <a:bodyPr/>
          <a:lstStyle/>
          <a:p>
            <a:endParaRPr lang="en-US"/>
          </a:p>
        </p:txBody>
      </p:sp>
      <p:sp>
        <p:nvSpPr>
          <p:cNvPr id="34" name="Text 32"/>
          <p:cNvSpPr/>
          <p:nvPr/>
        </p:nvSpPr>
        <p:spPr>
          <a:xfrm>
            <a:off x="9829800" y="6581775"/>
            <a:ext cx="2688148" cy="366712"/>
          </a:xfrm>
          <a:prstGeom prst="rect">
            <a:avLst/>
          </a:prstGeom>
          <a:noFill/>
          <a:ln/>
        </p:spPr>
        <p:txBody>
          <a:bodyPr wrap="square" lIns="25400" tIns="25400" rIns="25400" bIns="25400" rtlCol="0" anchor="ctr">
            <a:normAutofit lnSpcReduction="10000"/>
          </a:bodyPr>
          <a:lstStyle/>
          <a:p>
            <a:pPr marL="0" indent="0" algn="l">
              <a:buNone/>
            </a:pPr>
            <a:r>
              <a:rPr lang="en-US" sz="2100" b="1" dirty="0">
                <a:solidFill>
                  <a:srgbClr val="1C1B1A"/>
                </a:solidFill>
                <a:latin typeface="Arial" pitchFamily="34" charset="0"/>
                <a:ea typeface="Arial" pitchFamily="34" charset="-122"/>
                <a:cs typeface="Arial" pitchFamily="34" charset="-120"/>
              </a:rPr>
              <a:t>Total</a:t>
            </a:r>
            <a:endParaRPr lang="en-US" sz="2100" dirty="0"/>
          </a:p>
        </p:txBody>
      </p:sp>
      <p:sp>
        <p:nvSpPr>
          <p:cNvPr id="35" name="Shape 33"/>
          <p:cNvSpPr/>
          <p:nvPr/>
        </p:nvSpPr>
        <p:spPr>
          <a:xfrm>
            <a:off x="12636996" y="7081838"/>
            <a:ext cx="2362795" cy="9525"/>
          </a:xfrm>
          <a:prstGeom prst="rect">
            <a:avLst/>
          </a:prstGeom>
          <a:solidFill>
            <a:srgbClr val="D9D3C5"/>
          </a:solidFill>
          <a:ln/>
        </p:spPr>
        <p:txBody>
          <a:bodyPr/>
          <a:lstStyle/>
          <a:p>
            <a:endParaRPr lang="en-US"/>
          </a:p>
        </p:txBody>
      </p:sp>
      <p:sp>
        <p:nvSpPr>
          <p:cNvPr id="36" name="Text 34"/>
          <p:cNvSpPr/>
          <p:nvPr/>
        </p:nvSpPr>
        <p:spPr>
          <a:xfrm>
            <a:off x="12770346" y="6581775"/>
            <a:ext cx="2019895"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4,424</a:t>
            </a:r>
            <a:endParaRPr lang="en-US" sz="2100" dirty="0"/>
          </a:p>
        </p:txBody>
      </p:sp>
      <p:sp>
        <p:nvSpPr>
          <p:cNvPr id="37" name="Shape 35"/>
          <p:cNvSpPr/>
          <p:nvPr/>
        </p:nvSpPr>
        <p:spPr>
          <a:xfrm>
            <a:off x="14999791" y="7081838"/>
            <a:ext cx="2335857" cy="9525"/>
          </a:xfrm>
          <a:prstGeom prst="rect">
            <a:avLst/>
          </a:prstGeom>
          <a:solidFill>
            <a:srgbClr val="D9D3C5"/>
          </a:solidFill>
          <a:ln/>
        </p:spPr>
        <p:txBody>
          <a:bodyPr/>
          <a:lstStyle/>
          <a:p>
            <a:endParaRPr lang="en-US"/>
          </a:p>
        </p:txBody>
      </p:sp>
      <p:sp>
        <p:nvSpPr>
          <p:cNvPr id="38" name="Text 36"/>
          <p:cNvSpPr/>
          <p:nvPr/>
        </p:nvSpPr>
        <p:spPr>
          <a:xfrm>
            <a:off x="15133141" y="6581775"/>
            <a:ext cx="1992957"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100%</a:t>
            </a:r>
            <a:endParaRPr lang="en-US" sz="2100" dirty="0"/>
          </a:p>
        </p:txBody>
      </p:sp>
      <p:sp>
        <p:nvSpPr>
          <p:cNvPr id="39" name="Text 37"/>
          <p:cNvSpPr/>
          <p:nvPr/>
        </p:nvSpPr>
        <p:spPr>
          <a:xfrm>
            <a:off x="9620250" y="7362825"/>
            <a:ext cx="794670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807C76"/>
                </a:solidFill>
                <a:latin typeface="Courier New" pitchFamily="34" charset="0"/>
                <a:ea typeface="Courier New" pitchFamily="34" charset="-122"/>
                <a:cs typeface="Courier New" pitchFamily="34" charset="-120"/>
              </a:rPr>
              <a:t>Source: UCI ML Repository, Dataset 697 (Realinho et al., 2021)</a:t>
            </a:r>
            <a:endParaRPr lang="en-US" sz="1350" dirty="0"/>
          </a:p>
        </p:txBody>
      </p:sp>
      <p:sp>
        <p:nvSpPr>
          <p:cNvPr id="40" name="Text 38"/>
          <p:cNvSpPr/>
          <p:nvPr/>
        </p:nvSpPr>
        <p:spPr>
          <a:xfrm>
            <a:off x="16692116" y="767715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02/19</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040967"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02 · PROBLEM STATEMENT</a:t>
            </a:r>
            <a:endParaRPr lang="en-US" sz="1800" dirty="0"/>
          </a:p>
        </p:txBody>
      </p:sp>
      <p:sp>
        <p:nvSpPr>
          <p:cNvPr id="4" name="Text 2"/>
          <p:cNvSpPr/>
          <p:nvPr/>
        </p:nvSpPr>
        <p:spPr>
          <a:xfrm>
            <a:off x="952500" y="1704975"/>
            <a:ext cx="14716125" cy="12954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Can we predict a student's outcome from enrollment-time data?</a:t>
            </a:r>
            <a:endParaRPr lang="en-US" sz="4800" dirty="0"/>
          </a:p>
        </p:txBody>
      </p:sp>
      <p:sp>
        <p:nvSpPr>
          <p:cNvPr id="5" name="Shape 3"/>
          <p:cNvSpPr/>
          <p:nvPr/>
        </p:nvSpPr>
        <p:spPr>
          <a:xfrm>
            <a:off x="952500" y="3495675"/>
            <a:ext cx="5308550" cy="2305050"/>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304925" y="3810000"/>
            <a:ext cx="4741811"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TASK</a:t>
            </a:r>
            <a:endParaRPr lang="en-US" sz="1350" dirty="0"/>
          </a:p>
        </p:txBody>
      </p:sp>
      <p:sp>
        <p:nvSpPr>
          <p:cNvPr id="7" name="Text 5"/>
          <p:cNvSpPr/>
          <p:nvPr/>
        </p:nvSpPr>
        <p:spPr>
          <a:xfrm>
            <a:off x="1304925" y="4133850"/>
            <a:ext cx="4741811"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b="1" kern="0" spc="-63" dirty="0">
                <a:solidFill>
                  <a:srgbClr val="1C1B1A"/>
                </a:solidFill>
                <a:latin typeface="Georgia" pitchFamily="34" charset="0"/>
                <a:ea typeface="Georgia" pitchFamily="34" charset="-122"/>
                <a:cs typeface="Georgia" pitchFamily="34" charset="-120"/>
              </a:rPr>
              <a:t>3-class</a:t>
            </a:r>
            <a:endParaRPr lang="en-US" sz="4200" dirty="0"/>
          </a:p>
        </p:txBody>
      </p:sp>
      <p:sp>
        <p:nvSpPr>
          <p:cNvPr id="8" name="Text 6"/>
          <p:cNvSpPr/>
          <p:nvPr/>
        </p:nvSpPr>
        <p:spPr>
          <a:xfrm>
            <a:off x="1304925" y="4800600"/>
            <a:ext cx="4741811" cy="72390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4B4845"/>
                </a:solidFill>
                <a:latin typeface="-apple-system" pitchFamily="34" charset="0"/>
                <a:ea typeface="-apple-system" pitchFamily="34" charset="-122"/>
                <a:cs typeface="-apple-system" pitchFamily="34" charset="-120"/>
              </a:rPr>
              <a:t>Supervised classification: Dropout / Enrolled / Graduate</a:t>
            </a:r>
            <a:endParaRPr lang="en-US" sz="1950" dirty="0"/>
          </a:p>
        </p:txBody>
      </p:sp>
      <p:sp>
        <p:nvSpPr>
          <p:cNvPr id="9" name="Shape 7"/>
          <p:cNvSpPr/>
          <p:nvPr/>
        </p:nvSpPr>
        <p:spPr>
          <a:xfrm>
            <a:off x="6489650" y="3495675"/>
            <a:ext cx="5308550" cy="2305050"/>
          </a:xfrm>
          <a:prstGeom prst="rect">
            <a:avLst/>
          </a:prstGeom>
          <a:solidFill>
            <a:srgbClr val="FFFFFF"/>
          </a:solidFill>
          <a:ln w="9525">
            <a:solidFill>
              <a:srgbClr val="D9D3C5"/>
            </a:solidFill>
            <a:prstDash val="solid"/>
          </a:ln>
        </p:spPr>
        <p:txBody>
          <a:bodyPr/>
          <a:lstStyle/>
          <a:p>
            <a:endParaRPr lang="en-US"/>
          </a:p>
        </p:txBody>
      </p:sp>
      <p:sp>
        <p:nvSpPr>
          <p:cNvPr id="10" name="Text 8"/>
          <p:cNvSpPr/>
          <p:nvPr/>
        </p:nvSpPr>
        <p:spPr>
          <a:xfrm>
            <a:off x="6842075" y="3810000"/>
            <a:ext cx="4741811"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APPROACH</a:t>
            </a:r>
            <a:endParaRPr lang="en-US" sz="1350" dirty="0"/>
          </a:p>
        </p:txBody>
      </p:sp>
      <p:sp>
        <p:nvSpPr>
          <p:cNvPr id="11" name="Text 9"/>
          <p:cNvSpPr/>
          <p:nvPr/>
        </p:nvSpPr>
        <p:spPr>
          <a:xfrm>
            <a:off x="6842075" y="4133850"/>
            <a:ext cx="4741811"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b="1" kern="0" spc="-63" dirty="0">
                <a:solidFill>
                  <a:srgbClr val="1C1B1A"/>
                </a:solidFill>
                <a:latin typeface="Georgia" pitchFamily="34" charset="0"/>
                <a:ea typeface="Georgia" pitchFamily="34" charset="-122"/>
                <a:cs typeface="Georgia" pitchFamily="34" charset="-120"/>
              </a:rPr>
              <a:t>Sup. + Unsup.</a:t>
            </a:r>
            <a:endParaRPr lang="en-US" sz="4200" dirty="0"/>
          </a:p>
        </p:txBody>
      </p:sp>
      <p:sp>
        <p:nvSpPr>
          <p:cNvPr id="12" name="Text 10"/>
          <p:cNvSpPr/>
          <p:nvPr/>
        </p:nvSpPr>
        <p:spPr>
          <a:xfrm>
            <a:off x="6842075" y="4800600"/>
            <a:ext cx="4741811" cy="72390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4B4845"/>
                </a:solidFill>
                <a:latin typeface="-apple-system" pitchFamily="34" charset="0"/>
                <a:ea typeface="-apple-system" pitchFamily="34" charset="-122"/>
                <a:cs typeface="-apple-system" pitchFamily="34" charset="-120"/>
              </a:rPr>
              <a:t>Classification, clustering, and association rule mining</a:t>
            </a:r>
            <a:endParaRPr lang="en-US" sz="1950" dirty="0"/>
          </a:p>
        </p:txBody>
      </p:sp>
      <p:sp>
        <p:nvSpPr>
          <p:cNvPr id="13" name="Shape 11"/>
          <p:cNvSpPr/>
          <p:nvPr/>
        </p:nvSpPr>
        <p:spPr>
          <a:xfrm>
            <a:off x="12026801" y="3495675"/>
            <a:ext cx="5308699" cy="2305050"/>
          </a:xfrm>
          <a:prstGeom prst="rect">
            <a:avLst/>
          </a:prstGeom>
          <a:solidFill>
            <a:srgbClr val="FFFFFF"/>
          </a:solidFill>
          <a:ln w="9525">
            <a:solidFill>
              <a:srgbClr val="D9D3C5"/>
            </a:solidFill>
            <a:prstDash val="solid"/>
          </a:ln>
        </p:spPr>
        <p:txBody>
          <a:bodyPr/>
          <a:lstStyle/>
          <a:p>
            <a:endParaRPr lang="en-US"/>
          </a:p>
        </p:txBody>
      </p:sp>
      <p:sp>
        <p:nvSpPr>
          <p:cNvPr id="14" name="Text 12"/>
          <p:cNvSpPr/>
          <p:nvPr/>
        </p:nvSpPr>
        <p:spPr>
          <a:xfrm>
            <a:off x="12379226" y="3810000"/>
            <a:ext cx="474196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E24B4A"/>
                </a:solidFill>
                <a:latin typeface="Courier New" pitchFamily="34" charset="0"/>
                <a:ea typeface="Courier New" pitchFamily="34" charset="-122"/>
                <a:cs typeface="Courier New" pitchFamily="34" charset="-120"/>
              </a:rPr>
              <a:t>CHALLENGE</a:t>
            </a:r>
            <a:endParaRPr lang="en-US" sz="1350" dirty="0"/>
          </a:p>
        </p:txBody>
      </p:sp>
      <p:sp>
        <p:nvSpPr>
          <p:cNvPr id="15" name="Text 13"/>
          <p:cNvSpPr/>
          <p:nvPr/>
        </p:nvSpPr>
        <p:spPr>
          <a:xfrm>
            <a:off x="12379226" y="4133850"/>
            <a:ext cx="4741965"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b="1" kern="0" spc="-63" dirty="0">
                <a:solidFill>
                  <a:srgbClr val="1C1B1A"/>
                </a:solidFill>
                <a:latin typeface="Georgia" pitchFamily="34" charset="0"/>
                <a:ea typeface="Georgia" pitchFamily="34" charset="-122"/>
                <a:cs typeface="Georgia" pitchFamily="34" charset="-120"/>
              </a:rPr>
              <a:t>Imbalance</a:t>
            </a:r>
            <a:endParaRPr lang="en-US" sz="4200" dirty="0"/>
          </a:p>
        </p:txBody>
      </p:sp>
      <p:sp>
        <p:nvSpPr>
          <p:cNvPr id="16" name="Text 14"/>
          <p:cNvSpPr/>
          <p:nvPr/>
        </p:nvSpPr>
        <p:spPr>
          <a:xfrm>
            <a:off x="12379226" y="4800600"/>
            <a:ext cx="4741965" cy="72390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4B4845"/>
                </a:solidFill>
                <a:latin typeface="-apple-system" pitchFamily="34" charset="0"/>
                <a:ea typeface="-apple-system" pitchFamily="34" charset="-122"/>
                <a:cs typeface="-apple-system" pitchFamily="34" charset="-120"/>
              </a:rPr>
              <a:t>Graduate 2,209 (49.9%) · Dropout 1,421 (32.1%) · Enrolled 794 (17.9%)</a:t>
            </a:r>
            <a:endParaRPr lang="en-US" sz="1950" dirty="0"/>
          </a:p>
        </p:txBody>
      </p:sp>
      <p:sp>
        <p:nvSpPr>
          <p:cNvPr id="17" name="Text 15"/>
          <p:cNvSpPr/>
          <p:nvPr/>
        </p:nvSpPr>
        <p:spPr>
          <a:xfrm>
            <a:off x="952500" y="6415088"/>
            <a:ext cx="1413718"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kern="0" spc="270" dirty="0">
                <a:solidFill>
                  <a:srgbClr val="807C76"/>
                </a:solidFill>
                <a:latin typeface="Courier New" pitchFamily="34" charset="0"/>
                <a:ea typeface="Courier New" pitchFamily="34" charset="-122"/>
                <a:cs typeface="Courier New" pitchFamily="34" charset="-120"/>
              </a:rPr>
              <a:t>OUTCOME →</a:t>
            </a:r>
            <a:endParaRPr lang="en-US" sz="1500" dirty="0"/>
          </a:p>
        </p:txBody>
      </p:sp>
      <p:sp>
        <p:nvSpPr>
          <p:cNvPr id="18" name="Text 16"/>
          <p:cNvSpPr/>
          <p:nvPr/>
        </p:nvSpPr>
        <p:spPr>
          <a:xfrm>
            <a:off x="2480518" y="6334125"/>
            <a:ext cx="10286111" cy="41910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1C1B1A"/>
                </a:solidFill>
                <a:latin typeface="-apple-system" pitchFamily="34" charset="0"/>
                <a:ea typeface="-apple-system" pitchFamily="34" charset="-122"/>
                <a:cs typeface="-apple-system" pitchFamily="34" charset="-120"/>
              </a:rPr>
              <a:t>An early-warning framework that flags at-risk students for intervention</a:t>
            </a:r>
            <a:endParaRPr lang="en-US" sz="2550" dirty="0"/>
          </a:p>
        </p:txBody>
      </p:sp>
      <p:sp>
        <p:nvSpPr>
          <p:cNvPr id="19" name="Text 17"/>
          <p:cNvSpPr/>
          <p:nvPr/>
        </p:nvSpPr>
        <p:spPr>
          <a:xfrm>
            <a:off x="16692116" y="683895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03/19</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221616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03 · DATASET</a:t>
            </a:r>
            <a:endParaRPr lang="en-US" sz="1800" dirty="0"/>
          </a:p>
        </p:txBody>
      </p:sp>
      <p:sp>
        <p:nvSpPr>
          <p:cNvPr id="4" name="Text 2"/>
          <p:cNvSpPr/>
          <p:nvPr/>
        </p:nvSpPr>
        <p:spPr>
          <a:xfrm>
            <a:off x="952500" y="1704975"/>
            <a:ext cx="6703961" cy="12954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UCI Repository Dataset 697</a:t>
            </a:r>
            <a:endParaRPr lang="en-US" sz="4800" dirty="0"/>
          </a:p>
        </p:txBody>
      </p:sp>
      <p:sp>
        <p:nvSpPr>
          <p:cNvPr id="5" name="Shape 3"/>
          <p:cNvSpPr/>
          <p:nvPr/>
        </p:nvSpPr>
        <p:spPr>
          <a:xfrm>
            <a:off x="952500" y="3895725"/>
            <a:ext cx="6508700" cy="9525"/>
          </a:xfrm>
          <a:prstGeom prst="rect">
            <a:avLst/>
          </a:prstGeom>
          <a:solidFill>
            <a:srgbClr val="D9D3C5"/>
          </a:solidFill>
          <a:ln/>
        </p:spPr>
        <p:txBody>
          <a:bodyPr/>
          <a:lstStyle/>
          <a:p>
            <a:endParaRPr lang="en-US"/>
          </a:p>
        </p:txBody>
      </p:sp>
      <p:sp>
        <p:nvSpPr>
          <p:cNvPr id="6" name="Text 4"/>
          <p:cNvSpPr/>
          <p:nvPr/>
        </p:nvSpPr>
        <p:spPr>
          <a:xfrm>
            <a:off x="952500" y="3486150"/>
            <a:ext cx="139660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INSTANCES</a:t>
            </a:r>
            <a:endParaRPr lang="en-US" sz="1650" dirty="0"/>
          </a:p>
        </p:txBody>
      </p:sp>
      <p:sp>
        <p:nvSpPr>
          <p:cNvPr id="7" name="Text 5"/>
          <p:cNvSpPr/>
          <p:nvPr/>
        </p:nvSpPr>
        <p:spPr>
          <a:xfrm>
            <a:off x="4542020" y="3343275"/>
            <a:ext cx="2995381"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4,424 students</a:t>
            </a:r>
            <a:endParaRPr lang="en-US" sz="2400" dirty="0"/>
          </a:p>
        </p:txBody>
      </p:sp>
      <p:sp>
        <p:nvSpPr>
          <p:cNvPr id="8" name="Shape 6"/>
          <p:cNvSpPr/>
          <p:nvPr/>
        </p:nvSpPr>
        <p:spPr>
          <a:xfrm>
            <a:off x="952500" y="4667250"/>
            <a:ext cx="6508700" cy="9525"/>
          </a:xfrm>
          <a:prstGeom prst="rect">
            <a:avLst/>
          </a:prstGeom>
          <a:solidFill>
            <a:srgbClr val="D9D3C5"/>
          </a:solidFill>
          <a:ln/>
        </p:spPr>
        <p:txBody>
          <a:bodyPr/>
          <a:lstStyle/>
          <a:p>
            <a:endParaRPr lang="en-US"/>
          </a:p>
        </p:txBody>
      </p:sp>
      <p:sp>
        <p:nvSpPr>
          <p:cNvPr id="9" name="Text 7"/>
          <p:cNvSpPr/>
          <p:nvPr/>
        </p:nvSpPr>
        <p:spPr>
          <a:xfrm>
            <a:off x="952500" y="4257675"/>
            <a:ext cx="1249859"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FEATURES</a:t>
            </a:r>
            <a:endParaRPr lang="en-US" sz="1650" dirty="0"/>
          </a:p>
        </p:txBody>
      </p:sp>
      <p:sp>
        <p:nvSpPr>
          <p:cNvPr id="10" name="Text 8"/>
          <p:cNvSpPr/>
          <p:nvPr/>
        </p:nvSpPr>
        <p:spPr>
          <a:xfrm>
            <a:off x="4542019" y="4114800"/>
            <a:ext cx="2995381"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36 + 1 target</a:t>
            </a:r>
            <a:endParaRPr lang="en-US" sz="2400" dirty="0"/>
          </a:p>
        </p:txBody>
      </p:sp>
      <p:sp>
        <p:nvSpPr>
          <p:cNvPr id="11" name="Shape 9"/>
          <p:cNvSpPr/>
          <p:nvPr/>
        </p:nvSpPr>
        <p:spPr>
          <a:xfrm>
            <a:off x="952500" y="5438775"/>
            <a:ext cx="6508700" cy="9525"/>
          </a:xfrm>
          <a:prstGeom prst="rect">
            <a:avLst/>
          </a:prstGeom>
          <a:solidFill>
            <a:srgbClr val="D9D3C5"/>
          </a:solidFill>
          <a:ln/>
        </p:spPr>
        <p:txBody>
          <a:bodyPr/>
          <a:lstStyle/>
          <a:p>
            <a:endParaRPr lang="en-US"/>
          </a:p>
        </p:txBody>
      </p:sp>
      <p:sp>
        <p:nvSpPr>
          <p:cNvPr id="12" name="Text 10"/>
          <p:cNvSpPr/>
          <p:nvPr/>
        </p:nvSpPr>
        <p:spPr>
          <a:xfrm>
            <a:off x="952500" y="5029200"/>
            <a:ext cx="2130177"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MISSING VALUES</a:t>
            </a:r>
            <a:endParaRPr lang="en-US" sz="1650" dirty="0"/>
          </a:p>
        </p:txBody>
      </p:sp>
      <p:sp>
        <p:nvSpPr>
          <p:cNvPr id="13" name="Text 11"/>
          <p:cNvSpPr/>
          <p:nvPr/>
        </p:nvSpPr>
        <p:spPr>
          <a:xfrm>
            <a:off x="4542019" y="4886325"/>
            <a:ext cx="2995381"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None</a:t>
            </a:r>
            <a:endParaRPr lang="en-US" sz="2400" dirty="0"/>
          </a:p>
        </p:txBody>
      </p:sp>
      <p:sp>
        <p:nvSpPr>
          <p:cNvPr id="14" name="Shape 12"/>
          <p:cNvSpPr/>
          <p:nvPr/>
        </p:nvSpPr>
        <p:spPr>
          <a:xfrm>
            <a:off x="952500" y="6210300"/>
            <a:ext cx="6508700" cy="9525"/>
          </a:xfrm>
          <a:prstGeom prst="rect">
            <a:avLst/>
          </a:prstGeom>
          <a:solidFill>
            <a:srgbClr val="D9D3C5"/>
          </a:solidFill>
          <a:ln/>
        </p:spPr>
        <p:txBody>
          <a:bodyPr/>
          <a:lstStyle/>
          <a:p>
            <a:endParaRPr lang="en-US"/>
          </a:p>
        </p:txBody>
      </p:sp>
      <p:sp>
        <p:nvSpPr>
          <p:cNvPr id="15" name="Text 13"/>
          <p:cNvSpPr/>
          <p:nvPr/>
        </p:nvSpPr>
        <p:spPr>
          <a:xfrm>
            <a:off x="952500" y="5800725"/>
            <a:ext cx="110326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LICENSE</a:t>
            </a:r>
            <a:endParaRPr lang="en-US" sz="1650" dirty="0"/>
          </a:p>
        </p:txBody>
      </p:sp>
      <p:sp>
        <p:nvSpPr>
          <p:cNvPr id="16" name="Text 14"/>
          <p:cNvSpPr/>
          <p:nvPr/>
        </p:nvSpPr>
        <p:spPr>
          <a:xfrm>
            <a:off x="4542020" y="5657850"/>
            <a:ext cx="2995382"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CC BY 4.0</a:t>
            </a:r>
            <a:endParaRPr lang="en-US" sz="2400" dirty="0"/>
          </a:p>
        </p:txBody>
      </p:sp>
      <p:sp>
        <p:nvSpPr>
          <p:cNvPr id="17" name="Text 15"/>
          <p:cNvSpPr/>
          <p:nvPr/>
        </p:nvSpPr>
        <p:spPr>
          <a:xfrm>
            <a:off x="952500" y="6562725"/>
            <a:ext cx="6703961" cy="5524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350" dirty="0">
                <a:solidFill>
                  <a:srgbClr val="807C76"/>
                </a:solidFill>
                <a:latin typeface="Courier New" pitchFamily="34" charset="0"/>
                <a:ea typeface="Courier New" pitchFamily="34" charset="-122"/>
                <a:cs typeface="Courier New" pitchFamily="34" charset="-120"/>
              </a:rPr>
              <a:t>Source: Instituto Politécnico de Portalegre, PT Citation: Realinho et al., 2021</a:t>
            </a:r>
            <a:endParaRPr lang="en-US" sz="1350" dirty="0"/>
          </a:p>
        </p:txBody>
      </p:sp>
      <p:sp>
        <p:nvSpPr>
          <p:cNvPr id="18" name="Text 16"/>
          <p:cNvSpPr/>
          <p:nvPr/>
        </p:nvSpPr>
        <p:spPr>
          <a:xfrm>
            <a:off x="8223200" y="1704975"/>
            <a:ext cx="4496543"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DEMOGRAPHIC</a:t>
            </a:r>
            <a:endParaRPr lang="en-US" sz="1350" dirty="0"/>
          </a:p>
        </p:txBody>
      </p:sp>
      <p:sp>
        <p:nvSpPr>
          <p:cNvPr id="19" name="Text 17"/>
          <p:cNvSpPr/>
          <p:nvPr/>
        </p:nvSpPr>
        <p:spPr>
          <a:xfrm>
            <a:off x="8049845" y="2047875"/>
            <a:ext cx="4615130" cy="165735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Marital status</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Nationality</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Gender</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Age at enrollment</a:t>
            </a:r>
            <a:endParaRPr lang="en-US" sz="1950" dirty="0"/>
          </a:p>
        </p:txBody>
      </p:sp>
      <p:sp>
        <p:nvSpPr>
          <p:cNvPr id="20" name="Text 18"/>
          <p:cNvSpPr/>
          <p:nvPr/>
        </p:nvSpPr>
        <p:spPr>
          <a:xfrm>
            <a:off x="12969776" y="1704975"/>
            <a:ext cx="449669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ACADEMIC BACKGROUND</a:t>
            </a:r>
            <a:endParaRPr lang="en-US" sz="1350" dirty="0"/>
          </a:p>
        </p:txBody>
      </p:sp>
      <p:sp>
        <p:nvSpPr>
          <p:cNvPr id="21" name="Text 19"/>
          <p:cNvSpPr/>
          <p:nvPr/>
        </p:nvSpPr>
        <p:spPr>
          <a:xfrm>
            <a:off x="12796421" y="2047875"/>
            <a:ext cx="4615279" cy="165735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Previous qualification</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Admission grade</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Course</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Application mode</a:t>
            </a:r>
            <a:endParaRPr lang="en-US" sz="1950" dirty="0"/>
          </a:p>
        </p:txBody>
      </p:sp>
      <p:sp>
        <p:nvSpPr>
          <p:cNvPr id="22" name="Text 20"/>
          <p:cNvSpPr/>
          <p:nvPr/>
        </p:nvSpPr>
        <p:spPr>
          <a:xfrm>
            <a:off x="8223200" y="4010025"/>
            <a:ext cx="4496543"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SOCIO-ECONOMIC</a:t>
            </a:r>
            <a:endParaRPr lang="en-US" sz="1350" dirty="0"/>
          </a:p>
        </p:txBody>
      </p:sp>
      <p:sp>
        <p:nvSpPr>
          <p:cNvPr id="23" name="Text 21"/>
          <p:cNvSpPr/>
          <p:nvPr/>
        </p:nvSpPr>
        <p:spPr>
          <a:xfrm>
            <a:off x="8049845" y="4352925"/>
            <a:ext cx="4615130" cy="165735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Scholarship holder</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Debtor</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Tuition fees up to date</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Parental education / occupation</a:t>
            </a:r>
            <a:endParaRPr lang="en-US" sz="1950" dirty="0"/>
          </a:p>
        </p:txBody>
      </p:sp>
      <p:sp>
        <p:nvSpPr>
          <p:cNvPr id="24" name="Text 22"/>
          <p:cNvSpPr/>
          <p:nvPr/>
        </p:nvSpPr>
        <p:spPr>
          <a:xfrm>
            <a:off x="12969776" y="4010025"/>
            <a:ext cx="449669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PERFORMANCE (SEM 1 &amp; 2)</a:t>
            </a:r>
            <a:endParaRPr lang="en-US" sz="1350" dirty="0"/>
          </a:p>
        </p:txBody>
      </p:sp>
      <p:sp>
        <p:nvSpPr>
          <p:cNvPr id="25" name="Text 23"/>
          <p:cNvSpPr/>
          <p:nvPr/>
        </p:nvSpPr>
        <p:spPr>
          <a:xfrm>
            <a:off x="12796421" y="4352925"/>
            <a:ext cx="4615279" cy="165735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Units enrolled</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Units approved</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Semester grade</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Evaluations taken</a:t>
            </a:r>
            <a:endParaRPr lang="en-US" sz="1950" dirty="0"/>
          </a:p>
        </p:txBody>
      </p:sp>
      <p:sp>
        <p:nvSpPr>
          <p:cNvPr id="26" name="Text 24"/>
          <p:cNvSpPr/>
          <p:nvPr/>
        </p:nvSpPr>
        <p:spPr>
          <a:xfrm>
            <a:off x="16692116" y="720090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04/19</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348992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04 · DATA WAREHOUSE</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Star schema for the analytical layer</a:t>
            </a:r>
            <a:endParaRPr lang="en-US" sz="4800" dirty="0"/>
          </a:p>
        </p:txBody>
      </p:sp>
      <p:sp>
        <p:nvSpPr>
          <p:cNvPr id="5" name="Shape 3"/>
          <p:cNvSpPr/>
          <p:nvPr/>
        </p:nvSpPr>
        <p:spPr>
          <a:xfrm>
            <a:off x="952500" y="2809875"/>
            <a:ext cx="4802832" cy="1704975"/>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171575" y="3028950"/>
            <a:ext cx="4495623" cy="257175"/>
          </a:xfrm>
          <a:prstGeom prst="rect">
            <a:avLst/>
          </a:prstGeom>
          <a:noFill/>
          <a:ln/>
        </p:spPr>
        <p:txBody>
          <a:bodyPr wrap="square" lIns="25400" tIns="25400" rIns="25400" bIns="25400" rtlCol="0" anchor="t">
            <a:normAutofit/>
          </a:bodyPr>
          <a:lstStyle/>
          <a:p>
            <a:pPr marL="0" indent="0" algn="l">
              <a:buNone/>
            </a:pPr>
            <a:r>
              <a:rPr lang="en-US" sz="1350" b="1" kern="0" spc="135" dirty="0">
                <a:solidFill>
                  <a:srgbClr val="0E3A53"/>
                </a:solidFill>
                <a:latin typeface="Courier New" pitchFamily="34" charset="0"/>
                <a:ea typeface="Courier New" pitchFamily="34" charset="-122"/>
                <a:cs typeface="Courier New" pitchFamily="34" charset="-120"/>
              </a:rPr>
              <a:t>STUDENT_DIM</a:t>
            </a:r>
            <a:endParaRPr lang="en-US" sz="1350" dirty="0"/>
          </a:p>
        </p:txBody>
      </p:sp>
      <p:sp>
        <p:nvSpPr>
          <p:cNvPr id="7" name="Text 5"/>
          <p:cNvSpPr/>
          <p:nvPr/>
        </p:nvSpPr>
        <p:spPr>
          <a:xfrm>
            <a:off x="1051560" y="3362325"/>
            <a:ext cx="4560897" cy="971550"/>
          </a:xfrm>
          <a:prstGeom prst="rect">
            <a:avLst/>
          </a:prstGeom>
          <a:noFill/>
          <a:ln/>
        </p:spPr>
        <p:txBody>
          <a:bodyPr wrap="square" lIns="25400" tIns="25400" rIns="25400" bIns="25400" rtlCol="0" anchor="t">
            <a:normAutofit/>
          </a:bodyPr>
          <a:lstStyle/>
          <a:p>
            <a:pPr marL="0" indent="0" algn="l">
              <a:buNone/>
            </a:pPr>
            <a:r>
              <a:rPr lang="en-US" sz="1350" dirty="0">
                <a:solidFill>
                  <a:srgbClr val="4B4845"/>
                </a:solidFill>
                <a:latin typeface="Courier New" pitchFamily="34" charset="0"/>
                <a:ea typeface="Courier New" pitchFamily="34" charset="-122"/>
                <a:cs typeface="Courier New" pitchFamily="34" charset="-120"/>
              </a:rPr>
              <a:t>age</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gender</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marital_status</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nationality</a:t>
            </a:r>
            <a:endParaRPr lang="en-US" sz="1350" dirty="0"/>
          </a:p>
        </p:txBody>
      </p:sp>
      <p:sp>
        <p:nvSpPr>
          <p:cNvPr id="8" name="Shape 6"/>
          <p:cNvSpPr/>
          <p:nvPr/>
        </p:nvSpPr>
        <p:spPr>
          <a:xfrm>
            <a:off x="952500" y="4743450"/>
            <a:ext cx="4802832" cy="1704975"/>
          </a:xfrm>
          <a:prstGeom prst="rect">
            <a:avLst/>
          </a:prstGeom>
          <a:solidFill>
            <a:srgbClr val="FFFFFF"/>
          </a:solidFill>
          <a:ln w="9525">
            <a:solidFill>
              <a:srgbClr val="D9D3C5"/>
            </a:solidFill>
            <a:prstDash val="solid"/>
          </a:ln>
        </p:spPr>
        <p:txBody>
          <a:bodyPr/>
          <a:lstStyle/>
          <a:p>
            <a:endParaRPr lang="en-US"/>
          </a:p>
        </p:txBody>
      </p:sp>
      <p:sp>
        <p:nvSpPr>
          <p:cNvPr id="9" name="Text 7"/>
          <p:cNvSpPr/>
          <p:nvPr/>
        </p:nvSpPr>
        <p:spPr>
          <a:xfrm>
            <a:off x="1171575" y="4962525"/>
            <a:ext cx="4495623" cy="257175"/>
          </a:xfrm>
          <a:prstGeom prst="rect">
            <a:avLst/>
          </a:prstGeom>
          <a:noFill/>
          <a:ln/>
        </p:spPr>
        <p:txBody>
          <a:bodyPr wrap="square" lIns="25400" tIns="25400" rIns="25400" bIns="25400" rtlCol="0" anchor="t">
            <a:normAutofit/>
          </a:bodyPr>
          <a:lstStyle/>
          <a:p>
            <a:pPr marL="0" indent="0" algn="l">
              <a:buNone/>
            </a:pPr>
            <a:r>
              <a:rPr lang="en-US" sz="1350" b="1" kern="0" spc="135" dirty="0">
                <a:solidFill>
                  <a:srgbClr val="0E3A53"/>
                </a:solidFill>
                <a:latin typeface="Courier New" pitchFamily="34" charset="0"/>
                <a:ea typeface="Courier New" pitchFamily="34" charset="-122"/>
                <a:cs typeface="Courier New" pitchFamily="34" charset="-120"/>
              </a:rPr>
              <a:t>FAMILY_DIM</a:t>
            </a:r>
            <a:endParaRPr lang="en-US" sz="1350" dirty="0"/>
          </a:p>
        </p:txBody>
      </p:sp>
      <p:sp>
        <p:nvSpPr>
          <p:cNvPr id="10" name="Text 8"/>
          <p:cNvSpPr/>
          <p:nvPr/>
        </p:nvSpPr>
        <p:spPr>
          <a:xfrm>
            <a:off x="1051560" y="5295900"/>
            <a:ext cx="4560897" cy="971550"/>
          </a:xfrm>
          <a:prstGeom prst="rect">
            <a:avLst/>
          </a:prstGeom>
          <a:noFill/>
          <a:ln/>
        </p:spPr>
        <p:txBody>
          <a:bodyPr wrap="square" lIns="25400" tIns="25400" rIns="25400" bIns="25400" rtlCol="0" anchor="t">
            <a:normAutofit/>
          </a:bodyPr>
          <a:lstStyle/>
          <a:p>
            <a:pPr marL="0" indent="0" algn="l">
              <a:buNone/>
            </a:pPr>
            <a:r>
              <a:rPr lang="en-US" sz="1350" dirty="0">
                <a:solidFill>
                  <a:srgbClr val="4B4845"/>
                </a:solidFill>
                <a:latin typeface="Courier New" pitchFamily="34" charset="0"/>
                <a:ea typeface="Courier New" pitchFamily="34" charset="-122"/>
                <a:cs typeface="Courier New" pitchFamily="34" charset="-120"/>
              </a:rPr>
              <a:t>mother_qualification</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father_qualification</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mother_occupation</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father_occupation</a:t>
            </a:r>
            <a:endParaRPr lang="en-US" sz="1350" dirty="0"/>
          </a:p>
        </p:txBody>
      </p:sp>
      <p:sp>
        <p:nvSpPr>
          <p:cNvPr id="11" name="Shape 9"/>
          <p:cNvSpPr/>
          <p:nvPr/>
        </p:nvSpPr>
        <p:spPr>
          <a:xfrm>
            <a:off x="6022032" y="3095625"/>
            <a:ext cx="6243786" cy="3067050"/>
          </a:xfrm>
          <a:prstGeom prst="rect">
            <a:avLst/>
          </a:prstGeom>
          <a:solidFill>
            <a:srgbClr val="0E3A53"/>
          </a:solidFill>
          <a:ln w="19050">
            <a:solidFill>
              <a:srgbClr val="0E3A53"/>
            </a:solidFill>
            <a:prstDash val="solid"/>
          </a:ln>
        </p:spPr>
        <p:txBody>
          <a:bodyPr/>
          <a:lstStyle/>
          <a:p>
            <a:endParaRPr lang="en-US"/>
          </a:p>
        </p:txBody>
      </p:sp>
      <p:sp>
        <p:nvSpPr>
          <p:cNvPr id="12" name="Text 10"/>
          <p:cNvSpPr/>
          <p:nvPr/>
        </p:nvSpPr>
        <p:spPr>
          <a:xfrm>
            <a:off x="6307782" y="3419475"/>
            <a:ext cx="5842455" cy="285750"/>
          </a:xfrm>
          <a:prstGeom prst="rect">
            <a:avLst/>
          </a:prstGeom>
          <a:noFill/>
          <a:ln/>
        </p:spPr>
        <p:txBody>
          <a:bodyPr wrap="square" lIns="25400" tIns="25400" rIns="25400" bIns="25400" rtlCol="0" anchor="t">
            <a:normAutofit/>
          </a:bodyPr>
          <a:lstStyle/>
          <a:p>
            <a:pPr marL="0" indent="0" algn="l">
              <a:buNone/>
            </a:pPr>
            <a:r>
              <a:rPr lang="en-US" sz="1500" b="1" kern="0" spc="150" dirty="0">
                <a:solidFill>
                  <a:srgbClr val="FFFFFF">
                    <a:alpha val="70000"/>
                  </a:srgbClr>
                </a:solidFill>
                <a:latin typeface="Courier New" pitchFamily="34" charset="0"/>
                <a:ea typeface="Courier New" pitchFamily="34" charset="-122"/>
                <a:cs typeface="Courier New" pitchFamily="34" charset="-120"/>
              </a:rPr>
              <a:t>FACT</a:t>
            </a:r>
            <a:endParaRPr lang="en-US" sz="1500" dirty="0"/>
          </a:p>
        </p:txBody>
      </p:sp>
      <p:sp>
        <p:nvSpPr>
          <p:cNvPr id="13" name="Text 11"/>
          <p:cNvSpPr/>
          <p:nvPr/>
        </p:nvSpPr>
        <p:spPr>
          <a:xfrm>
            <a:off x="6307782" y="3819525"/>
            <a:ext cx="5842455" cy="39052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2700" b="1" dirty="0">
                <a:solidFill>
                  <a:srgbClr val="FFFFFF"/>
                </a:solidFill>
                <a:latin typeface="Georgia" pitchFamily="34" charset="0"/>
                <a:ea typeface="Georgia" pitchFamily="34" charset="-122"/>
                <a:cs typeface="Georgia" pitchFamily="34" charset="-120"/>
              </a:rPr>
              <a:t>Student_Enrollment_Fact</a:t>
            </a:r>
            <a:endParaRPr lang="en-US" sz="2700" dirty="0"/>
          </a:p>
        </p:txBody>
      </p:sp>
      <p:sp>
        <p:nvSpPr>
          <p:cNvPr id="14" name="Text 12"/>
          <p:cNvSpPr/>
          <p:nvPr/>
        </p:nvSpPr>
        <p:spPr>
          <a:xfrm>
            <a:off x="6161097" y="4343400"/>
            <a:ext cx="5895171" cy="1533525"/>
          </a:xfrm>
          <a:prstGeom prst="rect">
            <a:avLst/>
          </a:prstGeom>
          <a:noFill/>
          <a:ln/>
        </p:spPr>
        <p:txBody>
          <a:bodyPr wrap="square" lIns="25400" tIns="25400" rIns="25400" bIns="25400" rtlCol="0" anchor="t">
            <a:normAutofit/>
          </a:bodyPr>
          <a:lstStyle/>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student_id PK</a:t>
            </a:r>
            <a:endParaRPr lang="en-US" sz="1650" dirty="0"/>
          </a:p>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course_id FK</a:t>
            </a:r>
            <a:endParaRPr lang="en-US" sz="1650" dirty="0"/>
          </a:p>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sem1_grade · sem1_approved</a:t>
            </a:r>
            <a:endParaRPr lang="en-US" sz="1650" dirty="0"/>
          </a:p>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sem2_grade · sem2_approved</a:t>
            </a:r>
            <a:endParaRPr lang="en-US" sz="1650" dirty="0"/>
          </a:p>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target_outcome</a:t>
            </a:r>
            <a:endParaRPr lang="en-US" sz="1650" dirty="0"/>
          </a:p>
        </p:txBody>
      </p:sp>
      <p:sp>
        <p:nvSpPr>
          <p:cNvPr id="15" name="Shape 13"/>
          <p:cNvSpPr/>
          <p:nvPr/>
        </p:nvSpPr>
        <p:spPr>
          <a:xfrm>
            <a:off x="12532519" y="2809875"/>
            <a:ext cx="4802981" cy="1704975"/>
          </a:xfrm>
          <a:prstGeom prst="rect">
            <a:avLst/>
          </a:prstGeom>
          <a:solidFill>
            <a:srgbClr val="FFFFFF"/>
          </a:solidFill>
          <a:ln w="9525">
            <a:solidFill>
              <a:srgbClr val="D9D3C5"/>
            </a:solidFill>
            <a:prstDash val="solid"/>
          </a:ln>
        </p:spPr>
        <p:txBody>
          <a:bodyPr/>
          <a:lstStyle/>
          <a:p>
            <a:endParaRPr lang="en-US"/>
          </a:p>
        </p:txBody>
      </p:sp>
      <p:sp>
        <p:nvSpPr>
          <p:cNvPr id="16" name="Text 14"/>
          <p:cNvSpPr/>
          <p:nvPr/>
        </p:nvSpPr>
        <p:spPr>
          <a:xfrm>
            <a:off x="12751594" y="3028950"/>
            <a:ext cx="4495776" cy="257175"/>
          </a:xfrm>
          <a:prstGeom prst="rect">
            <a:avLst/>
          </a:prstGeom>
          <a:noFill/>
          <a:ln/>
        </p:spPr>
        <p:txBody>
          <a:bodyPr wrap="square" lIns="25400" tIns="25400" rIns="25400" bIns="25400" rtlCol="0" anchor="t">
            <a:normAutofit/>
          </a:bodyPr>
          <a:lstStyle/>
          <a:p>
            <a:pPr marL="0" indent="0" algn="l">
              <a:buNone/>
            </a:pPr>
            <a:r>
              <a:rPr lang="en-US" sz="1350" b="1" kern="0" spc="135" dirty="0">
                <a:solidFill>
                  <a:srgbClr val="0E3A53"/>
                </a:solidFill>
                <a:latin typeface="Courier New" pitchFamily="34" charset="0"/>
                <a:ea typeface="Courier New" pitchFamily="34" charset="-122"/>
                <a:cs typeface="Courier New" pitchFamily="34" charset="-120"/>
              </a:rPr>
              <a:t>ACADEMIC_DIM</a:t>
            </a:r>
            <a:endParaRPr lang="en-US" sz="1350" dirty="0"/>
          </a:p>
        </p:txBody>
      </p:sp>
      <p:sp>
        <p:nvSpPr>
          <p:cNvPr id="17" name="Text 15"/>
          <p:cNvSpPr/>
          <p:nvPr/>
        </p:nvSpPr>
        <p:spPr>
          <a:xfrm>
            <a:off x="12631579" y="3362325"/>
            <a:ext cx="4561046" cy="971550"/>
          </a:xfrm>
          <a:prstGeom prst="rect">
            <a:avLst/>
          </a:prstGeom>
          <a:noFill/>
          <a:ln/>
        </p:spPr>
        <p:txBody>
          <a:bodyPr wrap="square" lIns="25400" tIns="25400" rIns="25400" bIns="25400" rtlCol="0" anchor="t">
            <a:normAutofit/>
          </a:bodyPr>
          <a:lstStyle/>
          <a:p>
            <a:pPr marL="0" indent="0" algn="l">
              <a:buNone/>
            </a:pPr>
            <a:r>
              <a:rPr lang="en-US" sz="1350" dirty="0">
                <a:solidFill>
                  <a:srgbClr val="4B4845"/>
                </a:solidFill>
                <a:latin typeface="Courier New" pitchFamily="34" charset="0"/>
                <a:ea typeface="Courier New" pitchFamily="34" charset="-122"/>
                <a:cs typeface="Courier New" pitchFamily="34" charset="-120"/>
              </a:rPr>
              <a:t>prev_qualification</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application_mode</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admission_grade</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course</a:t>
            </a:r>
            <a:endParaRPr lang="en-US" sz="1350" dirty="0"/>
          </a:p>
        </p:txBody>
      </p:sp>
      <p:sp>
        <p:nvSpPr>
          <p:cNvPr id="18" name="Shape 16"/>
          <p:cNvSpPr/>
          <p:nvPr/>
        </p:nvSpPr>
        <p:spPr>
          <a:xfrm>
            <a:off x="12532519" y="4743450"/>
            <a:ext cx="4802981" cy="1704975"/>
          </a:xfrm>
          <a:prstGeom prst="rect">
            <a:avLst/>
          </a:prstGeom>
          <a:solidFill>
            <a:srgbClr val="FFFFFF"/>
          </a:solidFill>
          <a:ln w="9525">
            <a:solidFill>
              <a:srgbClr val="D9D3C5"/>
            </a:solidFill>
            <a:prstDash val="solid"/>
          </a:ln>
        </p:spPr>
        <p:txBody>
          <a:bodyPr/>
          <a:lstStyle/>
          <a:p>
            <a:endParaRPr lang="en-US"/>
          </a:p>
        </p:txBody>
      </p:sp>
      <p:sp>
        <p:nvSpPr>
          <p:cNvPr id="19" name="Text 17"/>
          <p:cNvSpPr/>
          <p:nvPr/>
        </p:nvSpPr>
        <p:spPr>
          <a:xfrm>
            <a:off x="12751594" y="4962525"/>
            <a:ext cx="4495776" cy="257175"/>
          </a:xfrm>
          <a:prstGeom prst="rect">
            <a:avLst/>
          </a:prstGeom>
          <a:noFill/>
          <a:ln/>
        </p:spPr>
        <p:txBody>
          <a:bodyPr wrap="square" lIns="25400" tIns="25400" rIns="25400" bIns="25400" rtlCol="0" anchor="t">
            <a:normAutofit/>
          </a:bodyPr>
          <a:lstStyle/>
          <a:p>
            <a:pPr marL="0" indent="0" algn="l">
              <a:buNone/>
            </a:pPr>
            <a:r>
              <a:rPr lang="en-US" sz="1350" b="1" kern="0" spc="135" dirty="0">
                <a:solidFill>
                  <a:srgbClr val="0E3A53"/>
                </a:solidFill>
                <a:latin typeface="Courier New" pitchFamily="34" charset="0"/>
                <a:ea typeface="Courier New" pitchFamily="34" charset="-122"/>
                <a:cs typeface="Courier New" pitchFamily="34" charset="-120"/>
              </a:rPr>
              <a:t>ECONOMIC_DIM</a:t>
            </a:r>
            <a:endParaRPr lang="en-US" sz="1350" dirty="0"/>
          </a:p>
        </p:txBody>
      </p:sp>
      <p:sp>
        <p:nvSpPr>
          <p:cNvPr id="20" name="Text 18"/>
          <p:cNvSpPr/>
          <p:nvPr/>
        </p:nvSpPr>
        <p:spPr>
          <a:xfrm>
            <a:off x="12631579" y="5295900"/>
            <a:ext cx="4561046" cy="971550"/>
          </a:xfrm>
          <a:prstGeom prst="rect">
            <a:avLst/>
          </a:prstGeom>
          <a:noFill/>
          <a:ln/>
        </p:spPr>
        <p:txBody>
          <a:bodyPr wrap="square" lIns="25400" tIns="25400" rIns="25400" bIns="25400" rtlCol="0" anchor="t">
            <a:normAutofit/>
          </a:bodyPr>
          <a:lstStyle/>
          <a:p>
            <a:pPr marL="0" indent="0" algn="l">
              <a:buNone/>
            </a:pPr>
            <a:r>
              <a:rPr lang="en-US" sz="1350" dirty="0">
                <a:solidFill>
                  <a:srgbClr val="4B4845"/>
                </a:solidFill>
                <a:latin typeface="Courier New" pitchFamily="34" charset="0"/>
                <a:ea typeface="Courier New" pitchFamily="34" charset="-122"/>
                <a:cs typeface="Courier New" pitchFamily="34" charset="-120"/>
              </a:rPr>
              <a:t>scholarship</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debtor</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tuition_fees</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unemployment_rate · GDP</a:t>
            </a:r>
            <a:endParaRPr lang="en-US" sz="1350" dirty="0"/>
          </a:p>
        </p:txBody>
      </p:sp>
      <p:sp>
        <p:nvSpPr>
          <p:cNvPr id="21" name="Text 19"/>
          <p:cNvSpPr/>
          <p:nvPr/>
        </p:nvSpPr>
        <p:spPr>
          <a:xfrm>
            <a:off x="952500" y="6943725"/>
            <a:ext cx="746968"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ETL ›</a:t>
            </a:r>
            <a:endParaRPr lang="en-US" sz="1650" dirty="0"/>
          </a:p>
        </p:txBody>
      </p:sp>
      <p:sp>
        <p:nvSpPr>
          <p:cNvPr id="22" name="Text 20"/>
          <p:cNvSpPr/>
          <p:nvPr/>
        </p:nvSpPr>
        <p:spPr>
          <a:xfrm>
            <a:off x="1775668" y="6943725"/>
            <a:ext cx="1417588"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4B4845"/>
                </a:solidFill>
                <a:latin typeface="Courier New" pitchFamily="34" charset="0"/>
                <a:ea typeface="Courier New" pitchFamily="34" charset="-122"/>
                <a:cs typeface="Courier New" pitchFamily="34" charset="-120"/>
              </a:rPr>
              <a:t>Source DBs</a:t>
            </a:r>
            <a:endParaRPr lang="en-US" sz="1650" dirty="0"/>
          </a:p>
        </p:txBody>
      </p:sp>
      <p:sp>
        <p:nvSpPr>
          <p:cNvPr id="23" name="Text 21"/>
          <p:cNvSpPr/>
          <p:nvPr/>
        </p:nvSpPr>
        <p:spPr>
          <a:xfrm>
            <a:off x="3269456" y="6943725"/>
            <a:ext cx="21044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24" name="Text 22"/>
          <p:cNvSpPr/>
          <p:nvPr/>
        </p:nvSpPr>
        <p:spPr>
          <a:xfrm>
            <a:off x="3556099" y="6943725"/>
            <a:ext cx="1015157"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4B4845"/>
                </a:solidFill>
                <a:latin typeface="Courier New" pitchFamily="34" charset="0"/>
                <a:ea typeface="Courier New" pitchFamily="34" charset="-122"/>
                <a:cs typeface="Courier New" pitchFamily="34" charset="-120"/>
              </a:rPr>
              <a:t>Extract</a:t>
            </a:r>
            <a:endParaRPr lang="en-US" sz="1650" dirty="0"/>
          </a:p>
        </p:txBody>
      </p:sp>
      <p:sp>
        <p:nvSpPr>
          <p:cNvPr id="25" name="Text 23"/>
          <p:cNvSpPr/>
          <p:nvPr/>
        </p:nvSpPr>
        <p:spPr>
          <a:xfrm>
            <a:off x="4647456" y="6943725"/>
            <a:ext cx="21044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26" name="Text 24"/>
          <p:cNvSpPr/>
          <p:nvPr/>
        </p:nvSpPr>
        <p:spPr>
          <a:xfrm>
            <a:off x="4934099" y="6943725"/>
            <a:ext cx="4144735"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4B4845"/>
                </a:solidFill>
                <a:latin typeface="Courier New" pitchFamily="34" charset="0"/>
                <a:ea typeface="Courier New" pitchFamily="34" charset="-122"/>
                <a:cs typeface="Courier New" pitchFamily="34" charset="-120"/>
              </a:rPr>
              <a:t>Transform</a:t>
            </a:r>
            <a:r>
              <a:rPr lang="en-US" sz="1650" kern="0" spc="66" dirty="0">
                <a:solidFill>
                  <a:srgbClr val="807C76"/>
                </a:solidFill>
                <a:latin typeface="Courier New" pitchFamily="34" charset="0"/>
                <a:ea typeface="Courier New" pitchFamily="34" charset="-122"/>
                <a:cs typeface="Courier New" pitchFamily="34" charset="-120"/>
              </a:rPr>
              <a:t>(encode · normalize)</a:t>
            </a:r>
            <a:endParaRPr lang="en-US" sz="1650" dirty="0"/>
          </a:p>
        </p:txBody>
      </p:sp>
      <p:sp>
        <p:nvSpPr>
          <p:cNvPr id="27" name="Text 25"/>
          <p:cNvSpPr/>
          <p:nvPr/>
        </p:nvSpPr>
        <p:spPr>
          <a:xfrm>
            <a:off x="9110514" y="6943725"/>
            <a:ext cx="21044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28" name="Text 26"/>
          <p:cNvSpPr/>
          <p:nvPr/>
        </p:nvSpPr>
        <p:spPr>
          <a:xfrm>
            <a:off x="9397157" y="6943725"/>
            <a:ext cx="612874"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4B4845"/>
                </a:solidFill>
                <a:latin typeface="Courier New" pitchFamily="34" charset="0"/>
                <a:ea typeface="Courier New" pitchFamily="34" charset="-122"/>
                <a:cs typeface="Courier New" pitchFamily="34" charset="-120"/>
              </a:rPr>
              <a:t>Load</a:t>
            </a:r>
            <a:endParaRPr lang="en-US" sz="1650" dirty="0"/>
          </a:p>
        </p:txBody>
      </p:sp>
      <p:sp>
        <p:nvSpPr>
          <p:cNvPr id="29" name="Text 27"/>
          <p:cNvSpPr/>
          <p:nvPr/>
        </p:nvSpPr>
        <p:spPr>
          <a:xfrm>
            <a:off x="10086231" y="6943725"/>
            <a:ext cx="21044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30" name="Text 28"/>
          <p:cNvSpPr/>
          <p:nvPr/>
        </p:nvSpPr>
        <p:spPr>
          <a:xfrm>
            <a:off x="10372874" y="6924675"/>
            <a:ext cx="1615529" cy="314325"/>
          </a:xfrm>
          <a:prstGeom prst="rect">
            <a:avLst/>
          </a:prstGeom>
          <a:noFill/>
          <a:ln/>
        </p:spPr>
        <p:txBody>
          <a:bodyPr wrap="square" lIns="25400" tIns="25400" rIns="25400" bIns="25400" rtlCol="0" anchor="t">
            <a:normAutofit/>
          </a:bodyPr>
          <a:lstStyle/>
          <a:p>
            <a:pPr marL="0" indent="0" algn="l">
              <a:buNone/>
            </a:pPr>
            <a:r>
              <a:rPr lang="en-US" sz="1650" b="1" kern="0" spc="66" dirty="0">
                <a:solidFill>
                  <a:srgbClr val="0E3A53"/>
                </a:solidFill>
                <a:latin typeface="Courier New" pitchFamily="34" charset="0"/>
                <a:ea typeface="Courier New" pitchFamily="34" charset="-122"/>
                <a:cs typeface="Courier New" pitchFamily="34" charset="-120"/>
              </a:rPr>
              <a:t>Star Schema</a:t>
            </a:r>
            <a:endParaRPr lang="en-US" sz="1650" dirty="0"/>
          </a:p>
        </p:txBody>
      </p:sp>
      <p:sp>
        <p:nvSpPr>
          <p:cNvPr id="31" name="Text 29"/>
          <p:cNvSpPr/>
          <p:nvPr/>
        </p:nvSpPr>
        <p:spPr>
          <a:xfrm>
            <a:off x="16692116" y="732472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05/19</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330624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05 · PREPROCESSING</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From raw CSV to model-ready matrix</a:t>
            </a:r>
            <a:endParaRPr lang="en-US" sz="4800" dirty="0"/>
          </a:p>
        </p:txBody>
      </p:sp>
      <p:sp>
        <p:nvSpPr>
          <p:cNvPr id="5" name="Shape 3"/>
          <p:cNvSpPr/>
          <p:nvPr/>
        </p:nvSpPr>
        <p:spPr>
          <a:xfrm>
            <a:off x="952500" y="2790825"/>
            <a:ext cx="609600" cy="609600"/>
          </a:xfrm>
          <a:prstGeom prst="ellipse">
            <a:avLst/>
          </a:prstGeom>
          <a:solidFill>
            <a:srgbClr val="0E3A53"/>
          </a:solidFill>
          <a:ln/>
        </p:spPr>
        <p:txBody>
          <a:bodyPr/>
          <a:lstStyle/>
          <a:p>
            <a:endParaRPr lang="en-US"/>
          </a:p>
        </p:txBody>
      </p:sp>
      <p:sp>
        <p:nvSpPr>
          <p:cNvPr id="6" name="Text 4"/>
          <p:cNvSpPr/>
          <p:nvPr/>
        </p:nvSpPr>
        <p:spPr>
          <a:xfrm>
            <a:off x="914400" y="2790825"/>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1</a:t>
            </a:r>
            <a:endParaRPr lang="en-US" sz="2250" dirty="0"/>
          </a:p>
        </p:txBody>
      </p:sp>
      <p:sp>
        <p:nvSpPr>
          <p:cNvPr id="7" name="Text 5"/>
          <p:cNvSpPr/>
          <p:nvPr/>
        </p:nvSpPr>
        <p:spPr>
          <a:xfrm>
            <a:off x="1771650" y="2847975"/>
            <a:ext cx="720109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C1B1A"/>
                </a:solidFill>
                <a:latin typeface="Arial" pitchFamily="34" charset="0"/>
                <a:ea typeface="Arial" pitchFamily="34" charset="-122"/>
                <a:cs typeface="Arial" pitchFamily="34" charset="-120"/>
              </a:rPr>
              <a:t>Inspection</a:t>
            </a:r>
            <a:endParaRPr lang="en-US" sz="2250" dirty="0"/>
          </a:p>
        </p:txBody>
      </p:sp>
      <p:sp>
        <p:nvSpPr>
          <p:cNvPr id="8" name="Text 6"/>
          <p:cNvSpPr/>
          <p:nvPr/>
        </p:nvSpPr>
        <p:spPr>
          <a:xfrm>
            <a:off x="1771650" y="3248025"/>
            <a:ext cx="720109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4,424 rows · 36 features · 0 missing values</a:t>
            </a:r>
            <a:endParaRPr lang="en-US" sz="1800" dirty="0"/>
          </a:p>
        </p:txBody>
      </p:sp>
      <p:sp>
        <p:nvSpPr>
          <p:cNvPr id="9" name="Shape 7"/>
          <p:cNvSpPr/>
          <p:nvPr/>
        </p:nvSpPr>
        <p:spPr>
          <a:xfrm>
            <a:off x="9525000" y="2790825"/>
            <a:ext cx="609600" cy="609600"/>
          </a:xfrm>
          <a:prstGeom prst="ellipse">
            <a:avLst/>
          </a:prstGeom>
          <a:solidFill>
            <a:srgbClr val="0E3A53"/>
          </a:solidFill>
          <a:ln/>
        </p:spPr>
        <p:txBody>
          <a:bodyPr/>
          <a:lstStyle/>
          <a:p>
            <a:endParaRPr lang="en-US"/>
          </a:p>
        </p:txBody>
      </p:sp>
      <p:sp>
        <p:nvSpPr>
          <p:cNvPr id="10" name="Text 8"/>
          <p:cNvSpPr/>
          <p:nvPr/>
        </p:nvSpPr>
        <p:spPr>
          <a:xfrm>
            <a:off x="9486900" y="2790825"/>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2</a:t>
            </a:r>
            <a:endParaRPr lang="en-US" sz="2250" dirty="0"/>
          </a:p>
        </p:txBody>
      </p:sp>
      <p:sp>
        <p:nvSpPr>
          <p:cNvPr id="11" name="Text 9"/>
          <p:cNvSpPr/>
          <p:nvPr/>
        </p:nvSpPr>
        <p:spPr>
          <a:xfrm>
            <a:off x="10344150" y="2847975"/>
            <a:ext cx="720109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C1B1A"/>
                </a:solidFill>
                <a:latin typeface="Arial" pitchFamily="34" charset="0"/>
                <a:ea typeface="Arial" pitchFamily="34" charset="-122"/>
                <a:cs typeface="Arial" pitchFamily="34" charset="-120"/>
              </a:rPr>
              <a:t>Feature typing</a:t>
            </a:r>
            <a:endParaRPr lang="en-US" sz="2250" dirty="0"/>
          </a:p>
        </p:txBody>
      </p:sp>
      <p:sp>
        <p:nvSpPr>
          <p:cNvPr id="12" name="Text 10"/>
          <p:cNvSpPr/>
          <p:nvPr/>
        </p:nvSpPr>
        <p:spPr>
          <a:xfrm>
            <a:off x="10344150" y="3248025"/>
            <a:ext cx="720109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Categorical (int-coded) vs continuous</a:t>
            </a:r>
            <a:endParaRPr lang="en-US" sz="1800" dirty="0"/>
          </a:p>
        </p:txBody>
      </p:sp>
      <p:sp>
        <p:nvSpPr>
          <p:cNvPr id="13" name="Shape 11"/>
          <p:cNvSpPr/>
          <p:nvPr/>
        </p:nvSpPr>
        <p:spPr>
          <a:xfrm>
            <a:off x="952500" y="3924300"/>
            <a:ext cx="609600" cy="609600"/>
          </a:xfrm>
          <a:prstGeom prst="ellipse">
            <a:avLst/>
          </a:prstGeom>
          <a:solidFill>
            <a:srgbClr val="0E3A53"/>
          </a:solidFill>
          <a:ln/>
        </p:spPr>
        <p:txBody>
          <a:bodyPr/>
          <a:lstStyle/>
          <a:p>
            <a:endParaRPr lang="en-US"/>
          </a:p>
        </p:txBody>
      </p:sp>
      <p:sp>
        <p:nvSpPr>
          <p:cNvPr id="14" name="Text 12"/>
          <p:cNvSpPr/>
          <p:nvPr/>
        </p:nvSpPr>
        <p:spPr>
          <a:xfrm>
            <a:off x="914400" y="3924300"/>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3</a:t>
            </a:r>
            <a:endParaRPr lang="en-US" sz="2250" dirty="0"/>
          </a:p>
        </p:txBody>
      </p:sp>
      <p:sp>
        <p:nvSpPr>
          <p:cNvPr id="15" name="Text 13"/>
          <p:cNvSpPr/>
          <p:nvPr/>
        </p:nvSpPr>
        <p:spPr>
          <a:xfrm>
            <a:off x="1771650" y="3981450"/>
            <a:ext cx="720109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C1B1A"/>
                </a:solidFill>
                <a:latin typeface="Arial" pitchFamily="34" charset="0"/>
                <a:ea typeface="Arial" pitchFamily="34" charset="-122"/>
                <a:cs typeface="Arial" pitchFamily="34" charset="-120"/>
              </a:rPr>
              <a:t>Target encoding</a:t>
            </a:r>
            <a:endParaRPr lang="en-US" sz="2250" dirty="0"/>
          </a:p>
        </p:txBody>
      </p:sp>
      <p:sp>
        <p:nvSpPr>
          <p:cNvPr id="16" name="Text 14"/>
          <p:cNvSpPr/>
          <p:nvPr/>
        </p:nvSpPr>
        <p:spPr>
          <a:xfrm>
            <a:off x="1771650" y="4381500"/>
            <a:ext cx="720109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Dropout 0 · Enrolled 1 · Graduate 2</a:t>
            </a:r>
            <a:endParaRPr lang="en-US" sz="1800" dirty="0"/>
          </a:p>
        </p:txBody>
      </p:sp>
      <p:sp>
        <p:nvSpPr>
          <p:cNvPr id="17" name="Shape 15"/>
          <p:cNvSpPr/>
          <p:nvPr/>
        </p:nvSpPr>
        <p:spPr>
          <a:xfrm>
            <a:off x="9525000" y="3924300"/>
            <a:ext cx="609600" cy="609600"/>
          </a:xfrm>
          <a:prstGeom prst="ellipse">
            <a:avLst/>
          </a:prstGeom>
          <a:solidFill>
            <a:srgbClr val="0E3A53"/>
          </a:solidFill>
          <a:ln/>
        </p:spPr>
        <p:txBody>
          <a:bodyPr/>
          <a:lstStyle/>
          <a:p>
            <a:endParaRPr lang="en-US"/>
          </a:p>
        </p:txBody>
      </p:sp>
      <p:sp>
        <p:nvSpPr>
          <p:cNvPr id="18" name="Text 16"/>
          <p:cNvSpPr/>
          <p:nvPr/>
        </p:nvSpPr>
        <p:spPr>
          <a:xfrm>
            <a:off x="9486900" y="3924300"/>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4</a:t>
            </a:r>
            <a:endParaRPr lang="en-US" sz="2250" dirty="0"/>
          </a:p>
        </p:txBody>
      </p:sp>
      <p:sp>
        <p:nvSpPr>
          <p:cNvPr id="19" name="Text 17"/>
          <p:cNvSpPr/>
          <p:nvPr/>
        </p:nvSpPr>
        <p:spPr>
          <a:xfrm>
            <a:off x="10344150" y="3981450"/>
            <a:ext cx="720109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C1B1A"/>
                </a:solidFill>
                <a:latin typeface="Arial" pitchFamily="34" charset="0"/>
                <a:ea typeface="Arial" pitchFamily="34" charset="-122"/>
                <a:cs typeface="Arial" pitchFamily="34" charset="-120"/>
              </a:rPr>
              <a:t>Normalization</a:t>
            </a:r>
            <a:endParaRPr lang="en-US" sz="2250" dirty="0"/>
          </a:p>
        </p:txBody>
      </p:sp>
      <p:sp>
        <p:nvSpPr>
          <p:cNvPr id="20" name="Text 18"/>
          <p:cNvSpPr/>
          <p:nvPr/>
        </p:nvSpPr>
        <p:spPr>
          <a:xfrm>
            <a:off x="10344150" y="4381500"/>
            <a:ext cx="720109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StandardScaler on all numeric features</a:t>
            </a:r>
            <a:endParaRPr lang="en-US" sz="1800" dirty="0"/>
          </a:p>
        </p:txBody>
      </p:sp>
      <p:sp>
        <p:nvSpPr>
          <p:cNvPr id="21" name="Shape 19"/>
          <p:cNvSpPr/>
          <p:nvPr/>
        </p:nvSpPr>
        <p:spPr>
          <a:xfrm>
            <a:off x="952500" y="5057775"/>
            <a:ext cx="609600" cy="609600"/>
          </a:xfrm>
          <a:prstGeom prst="ellipse">
            <a:avLst/>
          </a:prstGeom>
          <a:solidFill>
            <a:srgbClr val="0E3A53"/>
          </a:solidFill>
          <a:ln/>
        </p:spPr>
        <p:txBody>
          <a:bodyPr/>
          <a:lstStyle/>
          <a:p>
            <a:endParaRPr lang="en-US"/>
          </a:p>
        </p:txBody>
      </p:sp>
      <p:sp>
        <p:nvSpPr>
          <p:cNvPr id="22" name="Text 20"/>
          <p:cNvSpPr/>
          <p:nvPr/>
        </p:nvSpPr>
        <p:spPr>
          <a:xfrm>
            <a:off x="914400" y="5057775"/>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5</a:t>
            </a:r>
            <a:endParaRPr lang="en-US" sz="2250" dirty="0"/>
          </a:p>
        </p:txBody>
      </p:sp>
      <p:sp>
        <p:nvSpPr>
          <p:cNvPr id="23" name="Text 21"/>
          <p:cNvSpPr/>
          <p:nvPr/>
        </p:nvSpPr>
        <p:spPr>
          <a:xfrm>
            <a:off x="1771650" y="5114925"/>
            <a:ext cx="720109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C1B1A"/>
                </a:solidFill>
                <a:latin typeface="Arial" pitchFamily="34" charset="0"/>
                <a:ea typeface="Arial" pitchFamily="34" charset="-122"/>
                <a:cs typeface="Arial" pitchFamily="34" charset="-120"/>
              </a:rPr>
              <a:t>Stratified split</a:t>
            </a:r>
            <a:endParaRPr lang="en-US" sz="2250" dirty="0"/>
          </a:p>
        </p:txBody>
      </p:sp>
      <p:sp>
        <p:nvSpPr>
          <p:cNvPr id="24" name="Text 22"/>
          <p:cNvSpPr/>
          <p:nvPr/>
        </p:nvSpPr>
        <p:spPr>
          <a:xfrm>
            <a:off x="1771650" y="5514975"/>
            <a:ext cx="720109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80% train (3,539) · 20% test (885)</a:t>
            </a:r>
            <a:endParaRPr lang="en-US" sz="1800" dirty="0"/>
          </a:p>
        </p:txBody>
      </p:sp>
      <p:sp>
        <p:nvSpPr>
          <p:cNvPr id="25" name="Shape 23"/>
          <p:cNvSpPr/>
          <p:nvPr/>
        </p:nvSpPr>
        <p:spPr>
          <a:xfrm>
            <a:off x="9525000" y="5057775"/>
            <a:ext cx="609600" cy="609600"/>
          </a:xfrm>
          <a:prstGeom prst="ellipse">
            <a:avLst/>
          </a:prstGeom>
          <a:solidFill>
            <a:srgbClr val="0E3A53"/>
          </a:solidFill>
          <a:ln/>
        </p:spPr>
        <p:txBody>
          <a:bodyPr/>
          <a:lstStyle/>
          <a:p>
            <a:endParaRPr lang="en-US"/>
          </a:p>
        </p:txBody>
      </p:sp>
      <p:sp>
        <p:nvSpPr>
          <p:cNvPr id="26" name="Text 24"/>
          <p:cNvSpPr/>
          <p:nvPr/>
        </p:nvSpPr>
        <p:spPr>
          <a:xfrm>
            <a:off x="9486900" y="5057775"/>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6</a:t>
            </a:r>
            <a:endParaRPr lang="en-US" sz="2250" dirty="0"/>
          </a:p>
        </p:txBody>
      </p:sp>
      <p:sp>
        <p:nvSpPr>
          <p:cNvPr id="27" name="Text 25"/>
          <p:cNvSpPr/>
          <p:nvPr/>
        </p:nvSpPr>
        <p:spPr>
          <a:xfrm>
            <a:off x="10344150" y="5114925"/>
            <a:ext cx="720109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C1B1A"/>
                </a:solidFill>
                <a:latin typeface="Arial" pitchFamily="34" charset="0"/>
                <a:ea typeface="Arial" pitchFamily="34" charset="-122"/>
                <a:cs typeface="Arial" pitchFamily="34" charset="-120"/>
              </a:rPr>
              <a:t>Reproducibility</a:t>
            </a:r>
            <a:endParaRPr lang="en-US" sz="2250" dirty="0"/>
          </a:p>
        </p:txBody>
      </p:sp>
      <p:sp>
        <p:nvSpPr>
          <p:cNvPr id="28" name="Text 26"/>
          <p:cNvSpPr/>
          <p:nvPr/>
        </p:nvSpPr>
        <p:spPr>
          <a:xfrm>
            <a:off x="10344150" y="5514975"/>
            <a:ext cx="720109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random_state=42 across all operations</a:t>
            </a:r>
            <a:endParaRPr lang="en-US" sz="1800" dirty="0"/>
          </a:p>
        </p:txBody>
      </p:sp>
      <p:sp>
        <p:nvSpPr>
          <p:cNvPr id="29" name="Shape 27"/>
          <p:cNvSpPr/>
          <p:nvPr/>
        </p:nvSpPr>
        <p:spPr>
          <a:xfrm>
            <a:off x="952500" y="6362700"/>
            <a:ext cx="16383000" cy="666750"/>
          </a:xfrm>
          <a:prstGeom prst="rect">
            <a:avLst/>
          </a:prstGeom>
          <a:solidFill>
            <a:srgbClr val="F2EEE6"/>
          </a:solidFill>
          <a:ln/>
        </p:spPr>
        <p:txBody>
          <a:bodyPr/>
          <a:lstStyle/>
          <a:p>
            <a:endParaRPr lang="en-US"/>
          </a:p>
        </p:txBody>
      </p:sp>
      <p:sp>
        <p:nvSpPr>
          <p:cNvPr id="30" name="Shape 28"/>
          <p:cNvSpPr/>
          <p:nvPr/>
        </p:nvSpPr>
        <p:spPr>
          <a:xfrm>
            <a:off x="952500" y="6362700"/>
            <a:ext cx="38100" cy="666750"/>
          </a:xfrm>
          <a:prstGeom prst="rect">
            <a:avLst/>
          </a:prstGeom>
          <a:solidFill>
            <a:srgbClr val="EF9F27"/>
          </a:solidFill>
          <a:ln/>
        </p:spPr>
        <p:txBody>
          <a:bodyPr/>
          <a:lstStyle/>
          <a:p>
            <a:endParaRPr lang="en-US"/>
          </a:p>
        </p:txBody>
      </p:sp>
      <p:sp>
        <p:nvSpPr>
          <p:cNvPr id="31" name="Text 29"/>
          <p:cNvSpPr/>
          <p:nvPr/>
        </p:nvSpPr>
        <p:spPr>
          <a:xfrm>
            <a:off x="1257300" y="6553200"/>
            <a:ext cx="16302990" cy="323850"/>
          </a:xfrm>
          <a:prstGeom prst="rect">
            <a:avLst/>
          </a:prstGeom>
          <a:noFill/>
          <a:ln/>
        </p:spPr>
        <p:txBody>
          <a:bodyPr wrap="square" lIns="25400" tIns="25400" rIns="25400" bIns="25400" rtlCol="0" anchor="t">
            <a:normAutofit lnSpcReduction="10000"/>
          </a:bodyPr>
          <a:lstStyle/>
          <a:p>
            <a:pPr marL="0" indent="0" algn="l">
              <a:buNone/>
            </a:pPr>
            <a:r>
              <a:rPr lang="en-US" sz="1950" i="1" dirty="0">
                <a:solidFill>
                  <a:srgbClr val="4B4845"/>
                </a:solidFill>
                <a:latin typeface="-apple-system" pitchFamily="34" charset="0"/>
                <a:ea typeface="-apple-system" pitchFamily="34" charset="-122"/>
                <a:cs typeface="-apple-system" pitchFamily="34" charset="-120"/>
              </a:rPr>
              <a:t>Stratified split preserves class ratios in both train and test sets. An unscaled copy is kept for EDA.</a:t>
            </a:r>
            <a:endParaRPr lang="en-US" sz="1950" dirty="0"/>
          </a:p>
        </p:txBody>
      </p:sp>
      <p:sp>
        <p:nvSpPr>
          <p:cNvPr id="32" name="Text 30"/>
          <p:cNvSpPr/>
          <p:nvPr/>
        </p:nvSpPr>
        <p:spPr>
          <a:xfrm>
            <a:off x="16692116" y="71532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06/19</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551040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06 · EDA — TARGET DISTRIBUTION</a:t>
            </a:r>
            <a:endParaRPr lang="en-US" sz="1800" dirty="0"/>
          </a:p>
        </p:txBody>
      </p:sp>
      <p:sp>
        <p:nvSpPr>
          <p:cNvPr id="4" name="Text 2"/>
          <p:cNvSpPr/>
          <p:nvPr/>
        </p:nvSpPr>
        <p:spPr>
          <a:xfrm>
            <a:off x="952500" y="1704975"/>
            <a:ext cx="6295896" cy="12954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Three classes, uneven sizes</a:t>
            </a:r>
            <a:endParaRPr lang="en-US" sz="4800" dirty="0"/>
          </a:p>
        </p:txBody>
      </p:sp>
      <p:sp>
        <p:nvSpPr>
          <p:cNvPr id="5" name="Text 3"/>
          <p:cNvSpPr/>
          <p:nvPr/>
        </p:nvSpPr>
        <p:spPr>
          <a:xfrm>
            <a:off x="952500" y="3343275"/>
            <a:ext cx="6295896" cy="1152525"/>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9750" b="1" kern="0" spc="-195" dirty="0">
                <a:solidFill>
                  <a:srgbClr val="1C1B1A"/>
                </a:solidFill>
                <a:latin typeface="Georgia" pitchFamily="34" charset="0"/>
                <a:ea typeface="Georgia" pitchFamily="34" charset="-122"/>
                <a:cs typeface="Georgia" pitchFamily="34" charset="-120"/>
              </a:rPr>
              <a:t>4,424</a:t>
            </a:r>
            <a:endParaRPr lang="en-US" sz="9750" dirty="0"/>
          </a:p>
        </p:txBody>
      </p:sp>
      <p:sp>
        <p:nvSpPr>
          <p:cNvPr id="6" name="Text 4"/>
          <p:cNvSpPr/>
          <p:nvPr/>
        </p:nvSpPr>
        <p:spPr>
          <a:xfrm>
            <a:off x="952500" y="4591050"/>
            <a:ext cx="6295896" cy="352425"/>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4B4845"/>
                </a:solidFill>
                <a:latin typeface="-apple-system" pitchFamily="34" charset="0"/>
                <a:ea typeface="-apple-system" pitchFamily="34" charset="-122"/>
                <a:cs typeface="-apple-system" pitchFamily="34" charset="-120"/>
              </a:rPr>
              <a:t>students total</a:t>
            </a:r>
            <a:endParaRPr lang="en-US" sz="2100" dirty="0"/>
          </a:p>
        </p:txBody>
      </p:sp>
      <p:sp>
        <p:nvSpPr>
          <p:cNvPr id="7" name="Shape 5"/>
          <p:cNvSpPr/>
          <p:nvPr/>
        </p:nvSpPr>
        <p:spPr>
          <a:xfrm>
            <a:off x="952500" y="5248275"/>
            <a:ext cx="6112520" cy="990600"/>
          </a:xfrm>
          <a:prstGeom prst="rect">
            <a:avLst/>
          </a:prstGeom>
          <a:solidFill>
            <a:srgbClr val="F2EEE6"/>
          </a:solidFill>
          <a:ln/>
        </p:spPr>
        <p:txBody>
          <a:bodyPr/>
          <a:lstStyle/>
          <a:p>
            <a:endParaRPr lang="en-US"/>
          </a:p>
        </p:txBody>
      </p:sp>
      <p:sp>
        <p:nvSpPr>
          <p:cNvPr id="8" name="Shape 6"/>
          <p:cNvSpPr/>
          <p:nvPr/>
        </p:nvSpPr>
        <p:spPr>
          <a:xfrm>
            <a:off x="952500" y="5248275"/>
            <a:ext cx="38100" cy="990600"/>
          </a:xfrm>
          <a:prstGeom prst="rect">
            <a:avLst/>
          </a:prstGeom>
          <a:solidFill>
            <a:srgbClr val="EF9F27"/>
          </a:solidFill>
          <a:ln/>
        </p:spPr>
        <p:txBody>
          <a:bodyPr/>
          <a:lstStyle/>
          <a:p>
            <a:endParaRPr lang="en-US"/>
          </a:p>
        </p:txBody>
      </p:sp>
      <p:sp>
        <p:nvSpPr>
          <p:cNvPr id="9" name="Text 7"/>
          <p:cNvSpPr/>
          <p:nvPr/>
        </p:nvSpPr>
        <p:spPr>
          <a:xfrm>
            <a:off x="1219200" y="5419725"/>
            <a:ext cx="5800596" cy="6858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i="1" dirty="0">
                <a:solidFill>
                  <a:srgbClr val="4B4845"/>
                </a:solidFill>
                <a:latin typeface="-apple-system" pitchFamily="34" charset="0"/>
                <a:ea typeface="-apple-system" pitchFamily="34" charset="-122"/>
                <a:cs typeface="-apple-system" pitchFamily="34" charset="-120"/>
              </a:rPr>
              <a:t>Enrolled is the underrepresented class — stratified sampling and F1-macro keep it visible.</a:t>
            </a:r>
            <a:endParaRPr lang="en-US" sz="1800" dirty="0"/>
          </a:p>
        </p:txBody>
      </p:sp>
      <p:sp>
        <p:nvSpPr>
          <p:cNvPr id="10" name="Text 8"/>
          <p:cNvSpPr/>
          <p:nvPr/>
        </p:nvSpPr>
        <p:spPr>
          <a:xfrm>
            <a:off x="7827020" y="2981325"/>
            <a:ext cx="1981200" cy="41910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1C1B1A"/>
                </a:solidFill>
                <a:latin typeface="-apple-system" pitchFamily="34" charset="0"/>
                <a:ea typeface="-apple-system" pitchFamily="34" charset="-122"/>
                <a:cs typeface="-apple-system" pitchFamily="34" charset="-120"/>
              </a:rPr>
              <a:t>Graduate</a:t>
            </a:r>
            <a:endParaRPr lang="en-US" sz="2550" dirty="0"/>
          </a:p>
        </p:txBody>
      </p:sp>
      <p:sp>
        <p:nvSpPr>
          <p:cNvPr id="11" name="Shape 9"/>
          <p:cNvSpPr/>
          <p:nvPr/>
        </p:nvSpPr>
        <p:spPr>
          <a:xfrm>
            <a:off x="9960620" y="2905125"/>
            <a:ext cx="4860280" cy="533400"/>
          </a:xfrm>
          <a:prstGeom prst="rect">
            <a:avLst/>
          </a:prstGeom>
          <a:solidFill>
            <a:srgbClr val="F2EEE6"/>
          </a:solidFill>
          <a:ln w="9525">
            <a:solidFill>
              <a:srgbClr val="D9D3C5"/>
            </a:solidFill>
            <a:prstDash val="solid"/>
          </a:ln>
        </p:spPr>
        <p:txBody>
          <a:bodyPr/>
          <a:lstStyle/>
          <a:p>
            <a:endParaRPr lang="en-US"/>
          </a:p>
        </p:txBody>
      </p:sp>
      <p:sp>
        <p:nvSpPr>
          <p:cNvPr id="12" name="Shape 10"/>
          <p:cNvSpPr/>
          <p:nvPr/>
        </p:nvSpPr>
        <p:spPr>
          <a:xfrm>
            <a:off x="9970145" y="2914650"/>
            <a:ext cx="4841230" cy="514350"/>
          </a:xfrm>
          <a:prstGeom prst="rect">
            <a:avLst/>
          </a:prstGeom>
          <a:solidFill>
            <a:srgbClr val="1D9E75"/>
          </a:solidFill>
          <a:ln/>
        </p:spPr>
        <p:txBody>
          <a:bodyPr/>
          <a:lstStyle/>
          <a:p>
            <a:endParaRPr lang="en-US"/>
          </a:p>
        </p:txBody>
      </p:sp>
      <p:sp>
        <p:nvSpPr>
          <p:cNvPr id="13" name="Text 11"/>
          <p:cNvSpPr/>
          <p:nvPr/>
        </p:nvSpPr>
        <p:spPr>
          <a:xfrm>
            <a:off x="14973300" y="2914650"/>
            <a:ext cx="2362200" cy="552450"/>
          </a:xfrm>
          <a:prstGeom prst="rect">
            <a:avLst/>
          </a:prstGeom>
          <a:noFill/>
          <a:ln/>
        </p:spPr>
        <p:txBody>
          <a:bodyPr wrap="square" lIns="25400" tIns="25400" rIns="25400" bIns="25400" rtlCol="0" anchor="t">
            <a:normAutofit/>
          </a:bodyPr>
          <a:lstStyle/>
          <a:p>
            <a:pPr marL="0" indent="0" algn="r">
              <a:buNone/>
            </a:pPr>
            <a:r>
              <a:rPr lang="en-US" sz="3000" b="1" dirty="0">
                <a:solidFill>
                  <a:srgbClr val="1C1B1A"/>
                </a:solidFill>
                <a:latin typeface="Georgia" pitchFamily="34" charset="0"/>
                <a:ea typeface="Georgia" pitchFamily="34" charset="-122"/>
                <a:cs typeface="Georgia" pitchFamily="34" charset="-120"/>
              </a:rPr>
              <a:t>2,209 </a:t>
            </a:r>
            <a:r>
              <a:rPr lang="en-US" sz="1800" dirty="0">
                <a:solidFill>
                  <a:srgbClr val="807C76"/>
                </a:solidFill>
                <a:latin typeface="Georgia" pitchFamily="34" charset="0"/>
                <a:ea typeface="Georgia" pitchFamily="34" charset="-122"/>
                <a:cs typeface="Georgia" pitchFamily="34" charset="-120"/>
              </a:rPr>
              <a:t>49.9%</a:t>
            </a:r>
            <a:endParaRPr lang="en-US" sz="3000" dirty="0"/>
          </a:p>
        </p:txBody>
      </p:sp>
      <p:sp>
        <p:nvSpPr>
          <p:cNvPr id="14" name="Text 12"/>
          <p:cNvSpPr/>
          <p:nvPr/>
        </p:nvSpPr>
        <p:spPr>
          <a:xfrm>
            <a:off x="7827020" y="3781425"/>
            <a:ext cx="1981200" cy="41910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1C1B1A"/>
                </a:solidFill>
                <a:latin typeface="-apple-system" pitchFamily="34" charset="0"/>
                <a:ea typeface="-apple-system" pitchFamily="34" charset="-122"/>
                <a:cs typeface="-apple-system" pitchFamily="34" charset="-120"/>
              </a:rPr>
              <a:t>Dropout</a:t>
            </a:r>
            <a:endParaRPr lang="en-US" sz="2550" dirty="0"/>
          </a:p>
        </p:txBody>
      </p:sp>
      <p:sp>
        <p:nvSpPr>
          <p:cNvPr id="15" name="Shape 13"/>
          <p:cNvSpPr/>
          <p:nvPr/>
        </p:nvSpPr>
        <p:spPr>
          <a:xfrm>
            <a:off x="9960620" y="3705225"/>
            <a:ext cx="4860280" cy="533400"/>
          </a:xfrm>
          <a:prstGeom prst="rect">
            <a:avLst/>
          </a:prstGeom>
          <a:solidFill>
            <a:srgbClr val="F2EEE6"/>
          </a:solidFill>
          <a:ln w="9525">
            <a:solidFill>
              <a:srgbClr val="D9D3C5"/>
            </a:solidFill>
            <a:prstDash val="solid"/>
          </a:ln>
        </p:spPr>
        <p:txBody>
          <a:bodyPr/>
          <a:lstStyle/>
          <a:p>
            <a:endParaRPr lang="en-US"/>
          </a:p>
        </p:txBody>
      </p:sp>
      <p:sp>
        <p:nvSpPr>
          <p:cNvPr id="16" name="Shape 14"/>
          <p:cNvSpPr/>
          <p:nvPr/>
        </p:nvSpPr>
        <p:spPr>
          <a:xfrm>
            <a:off x="9970145" y="3714750"/>
            <a:ext cx="3114229" cy="514350"/>
          </a:xfrm>
          <a:prstGeom prst="rect">
            <a:avLst/>
          </a:prstGeom>
          <a:solidFill>
            <a:srgbClr val="E24B4A"/>
          </a:solidFill>
          <a:ln/>
        </p:spPr>
        <p:txBody>
          <a:bodyPr/>
          <a:lstStyle/>
          <a:p>
            <a:endParaRPr lang="en-US"/>
          </a:p>
        </p:txBody>
      </p:sp>
      <p:sp>
        <p:nvSpPr>
          <p:cNvPr id="17" name="Text 15"/>
          <p:cNvSpPr/>
          <p:nvPr/>
        </p:nvSpPr>
        <p:spPr>
          <a:xfrm>
            <a:off x="14973300" y="3714750"/>
            <a:ext cx="2362200" cy="552450"/>
          </a:xfrm>
          <a:prstGeom prst="rect">
            <a:avLst/>
          </a:prstGeom>
          <a:noFill/>
          <a:ln/>
        </p:spPr>
        <p:txBody>
          <a:bodyPr wrap="square" lIns="25400" tIns="25400" rIns="25400" bIns="25400" rtlCol="0" anchor="t">
            <a:normAutofit/>
          </a:bodyPr>
          <a:lstStyle/>
          <a:p>
            <a:pPr marL="0" indent="0" algn="r">
              <a:buNone/>
            </a:pPr>
            <a:r>
              <a:rPr lang="en-US" sz="3000" b="1" dirty="0">
                <a:solidFill>
                  <a:srgbClr val="1C1B1A"/>
                </a:solidFill>
                <a:latin typeface="Georgia" pitchFamily="34" charset="0"/>
                <a:ea typeface="Georgia" pitchFamily="34" charset="-122"/>
                <a:cs typeface="Georgia" pitchFamily="34" charset="-120"/>
              </a:rPr>
              <a:t>1,421 </a:t>
            </a:r>
            <a:r>
              <a:rPr lang="en-US" sz="1800" dirty="0">
                <a:solidFill>
                  <a:srgbClr val="807C76"/>
                </a:solidFill>
                <a:latin typeface="Georgia" pitchFamily="34" charset="0"/>
                <a:ea typeface="Georgia" pitchFamily="34" charset="-122"/>
                <a:cs typeface="Georgia" pitchFamily="34" charset="-120"/>
              </a:rPr>
              <a:t>32.1%</a:t>
            </a:r>
            <a:endParaRPr lang="en-US" sz="3000" dirty="0"/>
          </a:p>
        </p:txBody>
      </p:sp>
      <p:sp>
        <p:nvSpPr>
          <p:cNvPr id="18" name="Text 16"/>
          <p:cNvSpPr/>
          <p:nvPr/>
        </p:nvSpPr>
        <p:spPr>
          <a:xfrm>
            <a:off x="7827020" y="4581525"/>
            <a:ext cx="1981200" cy="41910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1C1B1A"/>
                </a:solidFill>
                <a:latin typeface="-apple-system" pitchFamily="34" charset="0"/>
                <a:ea typeface="-apple-system" pitchFamily="34" charset="-122"/>
                <a:cs typeface="-apple-system" pitchFamily="34" charset="-120"/>
              </a:rPr>
              <a:t>Enrolled</a:t>
            </a:r>
            <a:endParaRPr lang="en-US" sz="2550" dirty="0"/>
          </a:p>
        </p:txBody>
      </p:sp>
      <p:sp>
        <p:nvSpPr>
          <p:cNvPr id="19" name="Shape 17"/>
          <p:cNvSpPr/>
          <p:nvPr/>
        </p:nvSpPr>
        <p:spPr>
          <a:xfrm>
            <a:off x="9960620" y="4505325"/>
            <a:ext cx="4860280" cy="533400"/>
          </a:xfrm>
          <a:prstGeom prst="rect">
            <a:avLst/>
          </a:prstGeom>
          <a:solidFill>
            <a:srgbClr val="F2EEE6"/>
          </a:solidFill>
          <a:ln w="9525">
            <a:solidFill>
              <a:srgbClr val="D9D3C5"/>
            </a:solidFill>
            <a:prstDash val="solid"/>
          </a:ln>
        </p:spPr>
        <p:txBody>
          <a:bodyPr/>
          <a:lstStyle/>
          <a:p>
            <a:endParaRPr lang="en-US"/>
          </a:p>
        </p:txBody>
      </p:sp>
      <p:sp>
        <p:nvSpPr>
          <p:cNvPr id="20" name="Shape 18"/>
          <p:cNvSpPr/>
          <p:nvPr/>
        </p:nvSpPr>
        <p:spPr>
          <a:xfrm>
            <a:off x="9970145" y="4514850"/>
            <a:ext cx="1740098" cy="514350"/>
          </a:xfrm>
          <a:prstGeom prst="rect">
            <a:avLst/>
          </a:prstGeom>
          <a:solidFill>
            <a:srgbClr val="EF9F27"/>
          </a:solidFill>
          <a:ln/>
        </p:spPr>
        <p:txBody>
          <a:bodyPr/>
          <a:lstStyle/>
          <a:p>
            <a:endParaRPr lang="en-US"/>
          </a:p>
        </p:txBody>
      </p:sp>
      <p:sp>
        <p:nvSpPr>
          <p:cNvPr id="21" name="Text 19"/>
          <p:cNvSpPr/>
          <p:nvPr/>
        </p:nvSpPr>
        <p:spPr>
          <a:xfrm>
            <a:off x="14973300" y="4514850"/>
            <a:ext cx="2362200" cy="552450"/>
          </a:xfrm>
          <a:prstGeom prst="rect">
            <a:avLst/>
          </a:prstGeom>
          <a:noFill/>
          <a:ln/>
        </p:spPr>
        <p:txBody>
          <a:bodyPr wrap="square" lIns="25400" tIns="25400" rIns="25400" bIns="25400" rtlCol="0" anchor="t">
            <a:normAutofit/>
          </a:bodyPr>
          <a:lstStyle/>
          <a:p>
            <a:pPr marL="0" indent="0" algn="r">
              <a:buNone/>
            </a:pPr>
            <a:r>
              <a:rPr lang="en-US" sz="3000" b="1" dirty="0">
                <a:solidFill>
                  <a:srgbClr val="1C1B1A"/>
                </a:solidFill>
                <a:latin typeface="Georgia" pitchFamily="34" charset="0"/>
                <a:ea typeface="Georgia" pitchFamily="34" charset="-122"/>
                <a:cs typeface="Georgia" pitchFamily="34" charset="-120"/>
              </a:rPr>
              <a:t>794 </a:t>
            </a:r>
            <a:r>
              <a:rPr lang="en-US" sz="1800" dirty="0">
                <a:solidFill>
                  <a:srgbClr val="807C76"/>
                </a:solidFill>
                <a:latin typeface="Georgia" pitchFamily="34" charset="0"/>
                <a:ea typeface="Georgia" pitchFamily="34" charset="-122"/>
                <a:cs typeface="Georgia" pitchFamily="34" charset="-120"/>
              </a:rPr>
              <a:t>17.9%</a:t>
            </a:r>
            <a:endParaRPr lang="en-US" sz="3000" dirty="0"/>
          </a:p>
        </p:txBody>
      </p:sp>
      <p:sp>
        <p:nvSpPr>
          <p:cNvPr id="22" name="Text 20"/>
          <p:cNvSpPr/>
          <p:nvPr/>
        </p:nvSpPr>
        <p:spPr>
          <a:xfrm>
            <a:off x="16692116" y="636270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07/19</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408327"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07 · EDA — DISTRIBUTIONS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Approved curricular units separate the classes</a:t>
            </a:r>
            <a:endParaRPr lang="en-US" sz="4800" dirty="0"/>
          </a:p>
        </p:txBody>
      </p:sp>
      <p:sp>
        <p:nvSpPr>
          <p:cNvPr id="5" name="Shape 3"/>
          <p:cNvSpPr/>
          <p:nvPr/>
        </p:nvSpPr>
        <p:spPr>
          <a:xfrm>
            <a:off x="952500" y="2638425"/>
            <a:ext cx="8401943" cy="6315075"/>
          </a:xfrm>
          <a:prstGeom prst="rect">
            <a:avLst/>
          </a:prstGeom>
          <a:solidFill>
            <a:srgbClr val="FFFFFF"/>
          </a:solidFill>
          <a:ln w="9525">
            <a:solidFill>
              <a:srgbClr val="D9D3C5"/>
            </a:solidFill>
            <a:prstDash val="solid"/>
          </a:ln>
        </p:spPr>
        <p:txBody>
          <a:bodyPr/>
          <a:lstStyle/>
          <a:p>
            <a:endParaRPr lang="en-US"/>
          </a:p>
        </p:txBody>
      </p:sp>
      <p:pic>
        <p:nvPicPr>
          <p:cNvPr id="6" name="Image 0" descr="preencoded.png"/>
          <p:cNvPicPr>
            <a:picLocks noChangeAspect="1"/>
          </p:cNvPicPr>
          <p:nvPr/>
        </p:nvPicPr>
        <p:blipFill>
          <a:blip r:embed="rId3"/>
          <a:srcRect/>
          <a:stretch/>
        </p:blipFill>
        <p:spPr>
          <a:xfrm>
            <a:off x="1114425" y="2842766"/>
            <a:ext cx="8078093" cy="5906244"/>
          </a:xfrm>
          <a:prstGeom prst="rect">
            <a:avLst/>
          </a:prstGeom>
        </p:spPr>
      </p:pic>
      <p:sp>
        <p:nvSpPr>
          <p:cNvPr id="7" name="Text 4"/>
          <p:cNvSpPr/>
          <p:nvPr/>
        </p:nvSpPr>
        <p:spPr>
          <a:xfrm>
            <a:off x="9697343" y="2638425"/>
            <a:ext cx="7867302"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SPEARMAN Ρ VS TARGET (TOP 9 BY |Ρ|)</a:t>
            </a:r>
            <a:endParaRPr lang="en-US" sz="1350" dirty="0"/>
          </a:p>
        </p:txBody>
      </p:sp>
      <p:sp>
        <p:nvSpPr>
          <p:cNvPr id="8" name="Shape 5"/>
          <p:cNvSpPr/>
          <p:nvPr/>
        </p:nvSpPr>
        <p:spPr>
          <a:xfrm>
            <a:off x="9697343" y="3524250"/>
            <a:ext cx="6013103" cy="19050"/>
          </a:xfrm>
          <a:prstGeom prst="rect">
            <a:avLst/>
          </a:prstGeom>
          <a:solidFill>
            <a:srgbClr val="1C1B1A"/>
          </a:solidFill>
          <a:ln/>
        </p:spPr>
        <p:txBody>
          <a:bodyPr/>
          <a:lstStyle/>
          <a:p>
            <a:endParaRPr lang="en-US"/>
          </a:p>
        </p:txBody>
      </p:sp>
      <p:sp>
        <p:nvSpPr>
          <p:cNvPr id="9" name="Text 6"/>
          <p:cNvSpPr/>
          <p:nvPr/>
        </p:nvSpPr>
        <p:spPr>
          <a:xfrm>
            <a:off x="9906893" y="3114675"/>
            <a:ext cx="5774396"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FEATURE</a:t>
            </a:r>
            <a:endParaRPr lang="en-US" sz="1650" dirty="0"/>
          </a:p>
        </p:txBody>
      </p:sp>
      <p:sp>
        <p:nvSpPr>
          <p:cNvPr id="10" name="Shape 7"/>
          <p:cNvSpPr/>
          <p:nvPr/>
        </p:nvSpPr>
        <p:spPr>
          <a:xfrm>
            <a:off x="15710446" y="3524250"/>
            <a:ext cx="1625203" cy="19050"/>
          </a:xfrm>
          <a:prstGeom prst="rect">
            <a:avLst/>
          </a:prstGeom>
          <a:solidFill>
            <a:srgbClr val="1C1B1A"/>
          </a:solidFill>
          <a:ln/>
        </p:spPr>
        <p:txBody>
          <a:bodyPr/>
          <a:lstStyle/>
          <a:p>
            <a:endParaRPr lang="en-US"/>
          </a:p>
        </p:txBody>
      </p:sp>
      <p:sp>
        <p:nvSpPr>
          <p:cNvPr id="11" name="Text 8"/>
          <p:cNvSpPr/>
          <p:nvPr/>
        </p:nvSpPr>
        <p:spPr>
          <a:xfrm>
            <a:off x="15843796" y="3114675"/>
            <a:ext cx="1282303"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Ρ</a:t>
            </a:r>
            <a:endParaRPr lang="en-US" sz="1650" dirty="0"/>
          </a:p>
        </p:txBody>
      </p:sp>
      <p:sp>
        <p:nvSpPr>
          <p:cNvPr id="12" name="Shape 9"/>
          <p:cNvSpPr/>
          <p:nvPr/>
        </p:nvSpPr>
        <p:spPr>
          <a:xfrm>
            <a:off x="9697343" y="3543300"/>
            <a:ext cx="6013103" cy="604838"/>
          </a:xfrm>
          <a:prstGeom prst="rect">
            <a:avLst/>
          </a:prstGeom>
          <a:solidFill>
            <a:srgbClr val="1D9E75">
              <a:alpha val="8000"/>
            </a:srgbClr>
          </a:solidFill>
          <a:ln/>
        </p:spPr>
        <p:txBody>
          <a:bodyPr/>
          <a:lstStyle/>
          <a:p>
            <a:endParaRPr lang="en-US"/>
          </a:p>
        </p:txBody>
      </p:sp>
      <p:sp>
        <p:nvSpPr>
          <p:cNvPr id="13" name="Shape 10"/>
          <p:cNvSpPr/>
          <p:nvPr/>
        </p:nvSpPr>
        <p:spPr>
          <a:xfrm>
            <a:off x="9697343" y="4138613"/>
            <a:ext cx="6013103" cy="9525"/>
          </a:xfrm>
          <a:prstGeom prst="rect">
            <a:avLst/>
          </a:prstGeom>
          <a:solidFill>
            <a:srgbClr val="D9D3C5"/>
          </a:solidFill>
          <a:ln/>
        </p:spPr>
        <p:txBody>
          <a:bodyPr/>
          <a:lstStyle/>
          <a:p>
            <a:endParaRPr lang="en-US"/>
          </a:p>
        </p:txBody>
      </p:sp>
      <p:sp>
        <p:nvSpPr>
          <p:cNvPr id="14" name="Text 11"/>
          <p:cNvSpPr/>
          <p:nvPr/>
        </p:nvSpPr>
        <p:spPr>
          <a:xfrm>
            <a:off x="9906893" y="3714750"/>
            <a:ext cx="5774396" cy="290513"/>
          </a:xfrm>
          <a:prstGeom prst="rect">
            <a:avLst/>
          </a:prstGeom>
          <a:noFill/>
          <a:ln/>
        </p:spPr>
        <p:txBody>
          <a:bodyPr wrap="square" lIns="25400" tIns="25400" rIns="25400" bIns="25400" rtlCol="0" anchor="ctr">
            <a:normAutofit/>
          </a:bodyPr>
          <a:lstStyle/>
          <a:p>
            <a:pPr marL="0" indent="0" algn="l">
              <a:buNone/>
            </a:pPr>
            <a:r>
              <a:rPr lang="en-US" sz="1500" b="1" dirty="0">
                <a:solidFill>
                  <a:srgbClr val="1C1B1A"/>
                </a:solidFill>
                <a:latin typeface="Arial" pitchFamily="34" charset="0"/>
                <a:ea typeface="Arial" pitchFamily="34" charset="-122"/>
                <a:cs typeface="Arial" pitchFamily="34" charset="-120"/>
              </a:rPr>
              <a:t>Curricular units 2nd sem (approved)</a:t>
            </a:r>
            <a:endParaRPr lang="en-US" sz="1500" dirty="0"/>
          </a:p>
        </p:txBody>
      </p:sp>
      <p:sp>
        <p:nvSpPr>
          <p:cNvPr id="15" name="Shape 12"/>
          <p:cNvSpPr/>
          <p:nvPr/>
        </p:nvSpPr>
        <p:spPr>
          <a:xfrm>
            <a:off x="15710446" y="3543300"/>
            <a:ext cx="1625203" cy="604838"/>
          </a:xfrm>
          <a:prstGeom prst="rect">
            <a:avLst/>
          </a:prstGeom>
          <a:solidFill>
            <a:srgbClr val="1D9E75">
              <a:alpha val="8000"/>
            </a:srgbClr>
          </a:solidFill>
          <a:ln/>
        </p:spPr>
        <p:txBody>
          <a:bodyPr/>
          <a:lstStyle/>
          <a:p>
            <a:endParaRPr lang="en-US"/>
          </a:p>
        </p:txBody>
      </p:sp>
      <p:sp>
        <p:nvSpPr>
          <p:cNvPr id="16" name="Shape 13"/>
          <p:cNvSpPr/>
          <p:nvPr/>
        </p:nvSpPr>
        <p:spPr>
          <a:xfrm>
            <a:off x="15710446" y="4138613"/>
            <a:ext cx="1625203" cy="9525"/>
          </a:xfrm>
          <a:prstGeom prst="rect">
            <a:avLst/>
          </a:prstGeom>
          <a:solidFill>
            <a:srgbClr val="D9D3C5"/>
          </a:solidFill>
          <a:ln/>
        </p:spPr>
        <p:txBody>
          <a:bodyPr/>
          <a:lstStyle/>
          <a:p>
            <a:endParaRPr lang="en-US"/>
          </a:p>
        </p:txBody>
      </p:sp>
      <p:sp>
        <p:nvSpPr>
          <p:cNvPr id="17" name="Text 14"/>
          <p:cNvSpPr/>
          <p:nvPr/>
        </p:nvSpPr>
        <p:spPr>
          <a:xfrm>
            <a:off x="15843796" y="3714750"/>
            <a:ext cx="1282303" cy="290513"/>
          </a:xfrm>
          <a:prstGeom prst="rect">
            <a:avLst/>
          </a:prstGeom>
          <a:noFill/>
          <a:ln/>
        </p:spPr>
        <p:txBody>
          <a:bodyPr wrap="square" lIns="25400" tIns="25400" rIns="25400" bIns="25400" rtlCol="0" anchor="ctr">
            <a:normAutofit lnSpcReduction="10000"/>
          </a:bodyPr>
          <a:lstStyle/>
          <a:p>
            <a:pPr marL="0" indent="0" algn="r">
              <a:buNone/>
            </a:pPr>
            <a:r>
              <a:rPr lang="en-US" sz="1650" b="1" dirty="0">
                <a:solidFill>
                  <a:srgbClr val="1C1B1A"/>
                </a:solidFill>
                <a:latin typeface="Arial" pitchFamily="34" charset="0"/>
                <a:ea typeface="Arial" pitchFamily="34" charset="-122"/>
                <a:cs typeface="Arial" pitchFamily="34" charset="-120"/>
              </a:rPr>
              <a:t>+0.65</a:t>
            </a:r>
            <a:endParaRPr lang="en-US" sz="1650" dirty="0"/>
          </a:p>
        </p:txBody>
      </p:sp>
      <p:sp>
        <p:nvSpPr>
          <p:cNvPr id="18" name="Shape 15"/>
          <p:cNvSpPr/>
          <p:nvPr/>
        </p:nvSpPr>
        <p:spPr>
          <a:xfrm>
            <a:off x="9697343" y="4738688"/>
            <a:ext cx="6013103" cy="9525"/>
          </a:xfrm>
          <a:prstGeom prst="rect">
            <a:avLst/>
          </a:prstGeom>
          <a:solidFill>
            <a:srgbClr val="D9D3C5"/>
          </a:solidFill>
          <a:ln/>
        </p:spPr>
        <p:txBody>
          <a:bodyPr/>
          <a:lstStyle/>
          <a:p>
            <a:endParaRPr lang="en-US"/>
          </a:p>
        </p:txBody>
      </p:sp>
      <p:sp>
        <p:nvSpPr>
          <p:cNvPr id="19" name="Text 16"/>
          <p:cNvSpPr/>
          <p:nvPr/>
        </p:nvSpPr>
        <p:spPr>
          <a:xfrm>
            <a:off x="9906893" y="4319588"/>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Curricular units 1st sem (approved)</a:t>
            </a:r>
            <a:endParaRPr lang="en-US" sz="1500" dirty="0"/>
          </a:p>
        </p:txBody>
      </p:sp>
      <p:sp>
        <p:nvSpPr>
          <p:cNvPr id="20" name="Shape 17"/>
          <p:cNvSpPr/>
          <p:nvPr/>
        </p:nvSpPr>
        <p:spPr>
          <a:xfrm>
            <a:off x="15710446" y="4738688"/>
            <a:ext cx="1625203" cy="9525"/>
          </a:xfrm>
          <a:prstGeom prst="rect">
            <a:avLst/>
          </a:prstGeom>
          <a:solidFill>
            <a:srgbClr val="D9D3C5"/>
          </a:solidFill>
          <a:ln/>
        </p:spPr>
        <p:txBody>
          <a:bodyPr/>
          <a:lstStyle/>
          <a:p>
            <a:endParaRPr lang="en-US"/>
          </a:p>
        </p:txBody>
      </p:sp>
      <p:sp>
        <p:nvSpPr>
          <p:cNvPr id="21" name="Text 18"/>
          <p:cNvSpPr/>
          <p:nvPr/>
        </p:nvSpPr>
        <p:spPr>
          <a:xfrm>
            <a:off x="15843796" y="4319588"/>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1C1B1A"/>
                </a:solidFill>
                <a:latin typeface="Arial" pitchFamily="34" charset="0"/>
                <a:ea typeface="Arial" pitchFamily="34" charset="-122"/>
                <a:cs typeface="Arial" pitchFamily="34" charset="-120"/>
              </a:rPr>
              <a:t>+0.59</a:t>
            </a:r>
            <a:endParaRPr lang="en-US" sz="1650" dirty="0"/>
          </a:p>
        </p:txBody>
      </p:sp>
      <p:sp>
        <p:nvSpPr>
          <p:cNvPr id="22" name="Shape 19"/>
          <p:cNvSpPr/>
          <p:nvPr/>
        </p:nvSpPr>
        <p:spPr>
          <a:xfrm>
            <a:off x="9697343" y="5338763"/>
            <a:ext cx="6013103" cy="9525"/>
          </a:xfrm>
          <a:prstGeom prst="rect">
            <a:avLst/>
          </a:prstGeom>
          <a:solidFill>
            <a:srgbClr val="D9D3C5"/>
          </a:solidFill>
          <a:ln/>
        </p:spPr>
        <p:txBody>
          <a:bodyPr/>
          <a:lstStyle/>
          <a:p>
            <a:endParaRPr lang="en-US"/>
          </a:p>
        </p:txBody>
      </p:sp>
      <p:sp>
        <p:nvSpPr>
          <p:cNvPr id="23" name="Text 20"/>
          <p:cNvSpPr/>
          <p:nvPr/>
        </p:nvSpPr>
        <p:spPr>
          <a:xfrm>
            <a:off x="9906893" y="4919663"/>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Curricular units 2nd sem (grade)</a:t>
            </a:r>
            <a:endParaRPr lang="en-US" sz="1500" dirty="0"/>
          </a:p>
        </p:txBody>
      </p:sp>
      <p:sp>
        <p:nvSpPr>
          <p:cNvPr id="24" name="Shape 21"/>
          <p:cNvSpPr/>
          <p:nvPr/>
        </p:nvSpPr>
        <p:spPr>
          <a:xfrm>
            <a:off x="15710446" y="5338763"/>
            <a:ext cx="1625203" cy="9525"/>
          </a:xfrm>
          <a:prstGeom prst="rect">
            <a:avLst/>
          </a:prstGeom>
          <a:solidFill>
            <a:srgbClr val="D9D3C5"/>
          </a:solidFill>
          <a:ln/>
        </p:spPr>
        <p:txBody>
          <a:bodyPr/>
          <a:lstStyle/>
          <a:p>
            <a:endParaRPr lang="en-US"/>
          </a:p>
        </p:txBody>
      </p:sp>
      <p:sp>
        <p:nvSpPr>
          <p:cNvPr id="25" name="Text 22"/>
          <p:cNvSpPr/>
          <p:nvPr/>
        </p:nvSpPr>
        <p:spPr>
          <a:xfrm>
            <a:off x="15843796" y="4919663"/>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1C1B1A"/>
                </a:solidFill>
                <a:latin typeface="Arial" pitchFamily="34" charset="0"/>
                <a:ea typeface="Arial" pitchFamily="34" charset="-122"/>
                <a:cs typeface="Arial" pitchFamily="34" charset="-120"/>
              </a:rPr>
              <a:t>+0.56</a:t>
            </a:r>
            <a:endParaRPr lang="en-US" sz="1650" dirty="0"/>
          </a:p>
        </p:txBody>
      </p:sp>
      <p:sp>
        <p:nvSpPr>
          <p:cNvPr id="26" name="Shape 23"/>
          <p:cNvSpPr/>
          <p:nvPr/>
        </p:nvSpPr>
        <p:spPr>
          <a:xfrm>
            <a:off x="9697343" y="5938838"/>
            <a:ext cx="6013103" cy="9525"/>
          </a:xfrm>
          <a:prstGeom prst="rect">
            <a:avLst/>
          </a:prstGeom>
          <a:solidFill>
            <a:srgbClr val="D9D3C5"/>
          </a:solidFill>
          <a:ln/>
        </p:spPr>
        <p:txBody>
          <a:bodyPr/>
          <a:lstStyle/>
          <a:p>
            <a:endParaRPr lang="en-US"/>
          </a:p>
        </p:txBody>
      </p:sp>
      <p:sp>
        <p:nvSpPr>
          <p:cNvPr id="27" name="Text 24"/>
          <p:cNvSpPr/>
          <p:nvPr/>
        </p:nvSpPr>
        <p:spPr>
          <a:xfrm>
            <a:off x="9906893" y="5519738"/>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Curricular units 1st sem (grade)</a:t>
            </a:r>
            <a:endParaRPr lang="en-US" sz="1500" dirty="0"/>
          </a:p>
        </p:txBody>
      </p:sp>
      <p:sp>
        <p:nvSpPr>
          <p:cNvPr id="28" name="Shape 25"/>
          <p:cNvSpPr/>
          <p:nvPr/>
        </p:nvSpPr>
        <p:spPr>
          <a:xfrm>
            <a:off x="15710446" y="5938838"/>
            <a:ext cx="1625203" cy="9525"/>
          </a:xfrm>
          <a:prstGeom prst="rect">
            <a:avLst/>
          </a:prstGeom>
          <a:solidFill>
            <a:srgbClr val="D9D3C5"/>
          </a:solidFill>
          <a:ln/>
        </p:spPr>
        <p:txBody>
          <a:bodyPr/>
          <a:lstStyle/>
          <a:p>
            <a:endParaRPr lang="en-US"/>
          </a:p>
        </p:txBody>
      </p:sp>
      <p:sp>
        <p:nvSpPr>
          <p:cNvPr id="29" name="Text 26"/>
          <p:cNvSpPr/>
          <p:nvPr/>
        </p:nvSpPr>
        <p:spPr>
          <a:xfrm>
            <a:off x="15843796" y="5519738"/>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1C1B1A"/>
                </a:solidFill>
                <a:latin typeface="Arial" pitchFamily="34" charset="0"/>
                <a:ea typeface="Arial" pitchFamily="34" charset="-122"/>
                <a:cs typeface="Arial" pitchFamily="34" charset="-120"/>
              </a:rPr>
              <a:t>+0.49</a:t>
            </a:r>
            <a:endParaRPr lang="en-US" sz="1650" dirty="0"/>
          </a:p>
        </p:txBody>
      </p:sp>
      <p:sp>
        <p:nvSpPr>
          <p:cNvPr id="30" name="Shape 27"/>
          <p:cNvSpPr/>
          <p:nvPr/>
        </p:nvSpPr>
        <p:spPr>
          <a:xfrm>
            <a:off x="9697343" y="6538913"/>
            <a:ext cx="6013103" cy="9525"/>
          </a:xfrm>
          <a:prstGeom prst="rect">
            <a:avLst/>
          </a:prstGeom>
          <a:solidFill>
            <a:srgbClr val="D9D3C5"/>
          </a:solidFill>
          <a:ln/>
        </p:spPr>
        <p:txBody>
          <a:bodyPr/>
          <a:lstStyle/>
          <a:p>
            <a:endParaRPr lang="en-US"/>
          </a:p>
        </p:txBody>
      </p:sp>
      <p:sp>
        <p:nvSpPr>
          <p:cNvPr id="31" name="Text 28"/>
          <p:cNvSpPr/>
          <p:nvPr/>
        </p:nvSpPr>
        <p:spPr>
          <a:xfrm>
            <a:off x="9906893" y="6119813"/>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Tuition fees up to date</a:t>
            </a:r>
            <a:endParaRPr lang="en-US" sz="1500" dirty="0"/>
          </a:p>
        </p:txBody>
      </p:sp>
      <p:sp>
        <p:nvSpPr>
          <p:cNvPr id="32" name="Shape 29"/>
          <p:cNvSpPr/>
          <p:nvPr/>
        </p:nvSpPr>
        <p:spPr>
          <a:xfrm>
            <a:off x="15710446" y="6538913"/>
            <a:ext cx="1625203" cy="9525"/>
          </a:xfrm>
          <a:prstGeom prst="rect">
            <a:avLst/>
          </a:prstGeom>
          <a:solidFill>
            <a:srgbClr val="D9D3C5"/>
          </a:solidFill>
          <a:ln/>
        </p:spPr>
        <p:txBody>
          <a:bodyPr/>
          <a:lstStyle/>
          <a:p>
            <a:endParaRPr lang="en-US"/>
          </a:p>
        </p:txBody>
      </p:sp>
      <p:sp>
        <p:nvSpPr>
          <p:cNvPr id="33" name="Text 30"/>
          <p:cNvSpPr/>
          <p:nvPr/>
        </p:nvSpPr>
        <p:spPr>
          <a:xfrm>
            <a:off x="15843796" y="6119813"/>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1C1B1A"/>
                </a:solidFill>
                <a:latin typeface="Arial" pitchFamily="34" charset="0"/>
                <a:ea typeface="Arial" pitchFamily="34" charset="-122"/>
                <a:cs typeface="Arial" pitchFamily="34" charset="-120"/>
              </a:rPr>
              <a:t>+0.40</a:t>
            </a:r>
            <a:endParaRPr lang="en-US" sz="1650" dirty="0"/>
          </a:p>
        </p:txBody>
      </p:sp>
      <p:sp>
        <p:nvSpPr>
          <p:cNvPr id="34" name="Shape 31"/>
          <p:cNvSpPr/>
          <p:nvPr/>
        </p:nvSpPr>
        <p:spPr>
          <a:xfrm>
            <a:off x="9697343" y="7138988"/>
            <a:ext cx="6013103" cy="9525"/>
          </a:xfrm>
          <a:prstGeom prst="rect">
            <a:avLst/>
          </a:prstGeom>
          <a:solidFill>
            <a:srgbClr val="D9D3C5"/>
          </a:solidFill>
          <a:ln/>
        </p:spPr>
        <p:txBody>
          <a:bodyPr/>
          <a:lstStyle/>
          <a:p>
            <a:endParaRPr lang="en-US"/>
          </a:p>
        </p:txBody>
      </p:sp>
      <p:sp>
        <p:nvSpPr>
          <p:cNvPr id="35" name="Text 32"/>
          <p:cNvSpPr/>
          <p:nvPr/>
        </p:nvSpPr>
        <p:spPr>
          <a:xfrm>
            <a:off x="9906893" y="6719888"/>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Scholarship holder</a:t>
            </a:r>
            <a:endParaRPr lang="en-US" sz="1500" dirty="0"/>
          </a:p>
        </p:txBody>
      </p:sp>
      <p:sp>
        <p:nvSpPr>
          <p:cNvPr id="36" name="Shape 33"/>
          <p:cNvSpPr/>
          <p:nvPr/>
        </p:nvSpPr>
        <p:spPr>
          <a:xfrm>
            <a:off x="15710446" y="7138988"/>
            <a:ext cx="1625203" cy="9525"/>
          </a:xfrm>
          <a:prstGeom prst="rect">
            <a:avLst/>
          </a:prstGeom>
          <a:solidFill>
            <a:srgbClr val="D9D3C5"/>
          </a:solidFill>
          <a:ln/>
        </p:spPr>
        <p:txBody>
          <a:bodyPr/>
          <a:lstStyle/>
          <a:p>
            <a:endParaRPr lang="en-US"/>
          </a:p>
        </p:txBody>
      </p:sp>
      <p:sp>
        <p:nvSpPr>
          <p:cNvPr id="37" name="Text 34"/>
          <p:cNvSpPr/>
          <p:nvPr/>
        </p:nvSpPr>
        <p:spPr>
          <a:xfrm>
            <a:off x="15843796" y="6719888"/>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1C1B1A"/>
                </a:solidFill>
                <a:latin typeface="Arial" pitchFamily="34" charset="0"/>
                <a:ea typeface="Arial" pitchFamily="34" charset="-122"/>
                <a:cs typeface="Arial" pitchFamily="34" charset="-120"/>
              </a:rPr>
              <a:t>+0.30</a:t>
            </a:r>
            <a:endParaRPr lang="en-US" sz="1650" dirty="0"/>
          </a:p>
        </p:txBody>
      </p:sp>
      <p:sp>
        <p:nvSpPr>
          <p:cNvPr id="38" name="Shape 35"/>
          <p:cNvSpPr/>
          <p:nvPr/>
        </p:nvSpPr>
        <p:spPr>
          <a:xfrm>
            <a:off x="9697343" y="7739062"/>
            <a:ext cx="6013103" cy="9525"/>
          </a:xfrm>
          <a:prstGeom prst="rect">
            <a:avLst/>
          </a:prstGeom>
          <a:solidFill>
            <a:srgbClr val="D9D3C5"/>
          </a:solidFill>
          <a:ln/>
        </p:spPr>
        <p:txBody>
          <a:bodyPr/>
          <a:lstStyle/>
          <a:p>
            <a:endParaRPr lang="en-US"/>
          </a:p>
        </p:txBody>
      </p:sp>
      <p:sp>
        <p:nvSpPr>
          <p:cNvPr id="39" name="Text 36"/>
          <p:cNvSpPr/>
          <p:nvPr/>
        </p:nvSpPr>
        <p:spPr>
          <a:xfrm>
            <a:off x="9906893" y="7319962"/>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Admission grade</a:t>
            </a:r>
            <a:endParaRPr lang="en-US" sz="1500" dirty="0"/>
          </a:p>
        </p:txBody>
      </p:sp>
      <p:sp>
        <p:nvSpPr>
          <p:cNvPr id="40" name="Shape 37"/>
          <p:cNvSpPr/>
          <p:nvPr/>
        </p:nvSpPr>
        <p:spPr>
          <a:xfrm>
            <a:off x="15710446" y="7739062"/>
            <a:ext cx="1625203" cy="9525"/>
          </a:xfrm>
          <a:prstGeom prst="rect">
            <a:avLst/>
          </a:prstGeom>
          <a:solidFill>
            <a:srgbClr val="D9D3C5"/>
          </a:solidFill>
          <a:ln/>
        </p:spPr>
        <p:txBody>
          <a:bodyPr/>
          <a:lstStyle/>
          <a:p>
            <a:endParaRPr lang="en-US"/>
          </a:p>
        </p:txBody>
      </p:sp>
      <p:sp>
        <p:nvSpPr>
          <p:cNvPr id="41" name="Text 38"/>
          <p:cNvSpPr/>
          <p:nvPr/>
        </p:nvSpPr>
        <p:spPr>
          <a:xfrm>
            <a:off x="15843796" y="7319962"/>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1C1B1A"/>
                </a:solidFill>
                <a:latin typeface="Arial" pitchFamily="34" charset="0"/>
                <a:ea typeface="Arial" pitchFamily="34" charset="-122"/>
                <a:cs typeface="Arial" pitchFamily="34" charset="-120"/>
              </a:rPr>
              <a:t>+0.12</a:t>
            </a:r>
            <a:endParaRPr lang="en-US" sz="1650" dirty="0"/>
          </a:p>
        </p:txBody>
      </p:sp>
      <p:sp>
        <p:nvSpPr>
          <p:cNvPr id="42" name="Shape 39"/>
          <p:cNvSpPr/>
          <p:nvPr/>
        </p:nvSpPr>
        <p:spPr>
          <a:xfrm>
            <a:off x="9697343" y="8339137"/>
            <a:ext cx="6013103" cy="9525"/>
          </a:xfrm>
          <a:prstGeom prst="rect">
            <a:avLst/>
          </a:prstGeom>
          <a:solidFill>
            <a:srgbClr val="D9D3C5"/>
          </a:solidFill>
          <a:ln/>
        </p:spPr>
        <p:txBody>
          <a:bodyPr/>
          <a:lstStyle/>
          <a:p>
            <a:endParaRPr lang="en-US"/>
          </a:p>
        </p:txBody>
      </p:sp>
      <p:sp>
        <p:nvSpPr>
          <p:cNvPr id="43" name="Text 40"/>
          <p:cNvSpPr/>
          <p:nvPr/>
        </p:nvSpPr>
        <p:spPr>
          <a:xfrm>
            <a:off x="9906893" y="7920038"/>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Debtor</a:t>
            </a:r>
            <a:endParaRPr lang="en-US" sz="1500" dirty="0"/>
          </a:p>
        </p:txBody>
      </p:sp>
      <p:sp>
        <p:nvSpPr>
          <p:cNvPr id="44" name="Shape 41"/>
          <p:cNvSpPr/>
          <p:nvPr/>
        </p:nvSpPr>
        <p:spPr>
          <a:xfrm>
            <a:off x="15710446" y="8339137"/>
            <a:ext cx="1625203" cy="9525"/>
          </a:xfrm>
          <a:prstGeom prst="rect">
            <a:avLst/>
          </a:prstGeom>
          <a:solidFill>
            <a:srgbClr val="D9D3C5"/>
          </a:solidFill>
          <a:ln/>
        </p:spPr>
        <p:txBody>
          <a:bodyPr/>
          <a:lstStyle/>
          <a:p>
            <a:endParaRPr lang="en-US"/>
          </a:p>
        </p:txBody>
      </p:sp>
      <p:sp>
        <p:nvSpPr>
          <p:cNvPr id="45" name="Text 42"/>
          <p:cNvSpPr/>
          <p:nvPr/>
        </p:nvSpPr>
        <p:spPr>
          <a:xfrm>
            <a:off x="15843796" y="7920038"/>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E24B4A"/>
                </a:solidFill>
                <a:latin typeface="Arial" pitchFamily="34" charset="0"/>
                <a:ea typeface="Arial" pitchFamily="34" charset="-122"/>
                <a:cs typeface="Arial" pitchFamily="34" charset="-120"/>
              </a:rPr>
              <a:t>−0.24</a:t>
            </a:r>
            <a:endParaRPr lang="en-US" sz="1650" dirty="0"/>
          </a:p>
        </p:txBody>
      </p:sp>
      <p:sp>
        <p:nvSpPr>
          <p:cNvPr id="46" name="Shape 43"/>
          <p:cNvSpPr/>
          <p:nvPr/>
        </p:nvSpPr>
        <p:spPr>
          <a:xfrm>
            <a:off x="9697343" y="8939213"/>
            <a:ext cx="6013103" cy="9525"/>
          </a:xfrm>
          <a:prstGeom prst="rect">
            <a:avLst/>
          </a:prstGeom>
          <a:solidFill>
            <a:srgbClr val="D9D3C5"/>
          </a:solidFill>
          <a:ln/>
        </p:spPr>
        <p:txBody>
          <a:bodyPr/>
          <a:lstStyle/>
          <a:p>
            <a:endParaRPr lang="en-US"/>
          </a:p>
        </p:txBody>
      </p:sp>
      <p:sp>
        <p:nvSpPr>
          <p:cNvPr id="47" name="Text 44"/>
          <p:cNvSpPr/>
          <p:nvPr/>
        </p:nvSpPr>
        <p:spPr>
          <a:xfrm>
            <a:off x="9906893" y="8520113"/>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Age at enrollment</a:t>
            </a:r>
            <a:endParaRPr lang="en-US" sz="1500" dirty="0"/>
          </a:p>
        </p:txBody>
      </p:sp>
      <p:sp>
        <p:nvSpPr>
          <p:cNvPr id="48" name="Shape 45"/>
          <p:cNvSpPr/>
          <p:nvPr/>
        </p:nvSpPr>
        <p:spPr>
          <a:xfrm>
            <a:off x="15710446" y="8939213"/>
            <a:ext cx="1625203" cy="9525"/>
          </a:xfrm>
          <a:prstGeom prst="rect">
            <a:avLst/>
          </a:prstGeom>
          <a:solidFill>
            <a:srgbClr val="D9D3C5"/>
          </a:solidFill>
          <a:ln/>
        </p:spPr>
        <p:txBody>
          <a:bodyPr/>
          <a:lstStyle/>
          <a:p>
            <a:endParaRPr lang="en-US"/>
          </a:p>
        </p:txBody>
      </p:sp>
      <p:sp>
        <p:nvSpPr>
          <p:cNvPr id="49" name="Text 46"/>
          <p:cNvSpPr/>
          <p:nvPr/>
        </p:nvSpPr>
        <p:spPr>
          <a:xfrm>
            <a:off x="15843796" y="8520113"/>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E24B4A"/>
                </a:solidFill>
                <a:latin typeface="Arial" pitchFamily="34" charset="0"/>
                <a:ea typeface="Arial" pitchFamily="34" charset="-122"/>
                <a:cs typeface="Arial" pitchFamily="34" charset="-120"/>
              </a:rPr>
              <a:t>−0.29</a:t>
            </a:r>
            <a:endParaRPr lang="en-US" sz="1650" dirty="0"/>
          </a:p>
        </p:txBody>
      </p:sp>
      <p:sp>
        <p:nvSpPr>
          <p:cNvPr id="50" name="Text 47"/>
          <p:cNvSpPr/>
          <p:nvPr/>
        </p:nvSpPr>
        <p:spPr>
          <a:xfrm>
            <a:off x="918210" y="931968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i="1" dirty="0">
                <a:solidFill>
                  <a:srgbClr val="4B4845"/>
                </a:solidFill>
                <a:latin typeface="-apple-system" pitchFamily="34" charset="0"/>
                <a:ea typeface="-apple-system" pitchFamily="34" charset="-122"/>
                <a:cs typeface="-apple-system" pitchFamily="34" charset="-120"/>
              </a:rPr>
              <a:t>Dropout students cluster near zero approved units, while graduates spread across higher values. 2nd-semester approved units has the largest |ρ| ≈ 0.65 — the single strongest monotonic predictor in the dataset.</a:t>
            </a:r>
            <a:endParaRPr lang="en-US" sz="1800" dirty="0"/>
          </a:p>
        </p:txBody>
      </p:sp>
      <p:sp>
        <p:nvSpPr>
          <p:cNvPr id="51" name="Text 48"/>
          <p:cNvSpPr/>
          <p:nvPr/>
        </p:nvSpPr>
        <p:spPr>
          <a:xfrm>
            <a:off x="16692116" y="9732436"/>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08/19</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2246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08 · EDA — THREE LENSES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Grades, finance, and a 2D projection</a:t>
            </a:r>
            <a:endParaRPr lang="en-US" sz="4800" dirty="0"/>
          </a:p>
        </p:txBody>
      </p:sp>
      <p:sp>
        <p:nvSpPr>
          <p:cNvPr id="5" name="Text 3"/>
          <p:cNvSpPr/>
          <p:nvPr/>
        </p:nvSpPr>
        <p:spPr>
          <a:xfrm>
            <a:off x="952500" y="2600325"/>
            <a:ext cx="544159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SEMESTER GRADES BY OUTCOME</a:t>
            </a:r>
            <a:endParaRPr lang="en-US" sz="1350" dirty="0"/>
          </a:p>
        </p:txBody>
      </p:sp>
      <p:sp>
        <p:nvSpPr>
          <p:cNvPr id="6" name="Shape 4"/>
          <p:cNvSpPr/>
          <p:nvPr/>
        </p:nvSpPr>
        <p:spPr>
          <a:xfrm>
            <a:off x="952500" y="2905125"/>
            <a:ext cx="5283101" cy="4457700"/>
          </a:xfrm>
          <a:prstGeom prst="rect">
            <a:avLst/>
          </a:prstGeom>
          <a:solidFill>
            <a:srgbClr val="FFFFFF"/>
          </a:solidFill>
          <a:ln w="9525">
            <a:solidFill>
              <a:srgbClr val="D9D3C5"/>
            </a:solidFill>
            <a:prstDash val="solid"/>
          </a:ln>
        </p:spPr>
        <p:txBody>
          <a:bodyPr/>
          <a:lstStyle/>
          <a:p>
            <a:endParaRPr lang="en-US"/>
          </a:p>
        </p:txBody>
      </p:sp>
      <p:pic>
        <p:nvPicPr>
          <p:cNvPr id="7" name="Image 0" descr="preencoded.png"/>
          <p:cNvPicPr>
            <a:picLocks noChangeAspect="1"/>
          </p:cNvPicPr>
          <p:nvPr/>
        </p:nvPicPr>
        <p:blipFill>
          <a:blip r:embed="rId3"/>
          <a:srcRect/>
          <a:stretch/>
        </p:blipFill>
        <p:spPr>
          <a:xfrm>
            <a:off x="1114425" y="4082653"/>
            <a:ext cx="4959251" cy="2102495"/>
          </a:xfrm>
          <a:prstGeom prst="rect">
            <a:avLst/>
          </a:prstGeom>
        </p:spPr>
      </p:pic>
      <p:sp>
        <p:nvSpPr>
          <p:cNvPr id="8" name="Text 5"/>
          <p:cNvSpPr/>
          <p:nvPr/>
        </p:nvSpPr>
        <p:spPr>
          <a:xfrm>
            <a:off x="6502301" y="2600325"/>
            <a:ext cx="5441747"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FINANCIAL FACTORS VS OUTCOME</a:t>
            </a:r>
            <a:endParaRPr lang="en-US" sz="1350" dirty="0"/>
          </a:p>
        </p:txBody>
      </p:sp>
      <p:sp>
        <p:nvSpPr>
          <p:cNvPr id="9" name="Shape 6"/>
          <p:cNvSpPr/>
          <p:nvPr/>
        </p:nvSpPr>
        <p:spPr>
          <a:xfrm>
            <a:off x="6502301" y="2905125"/>
            <a:ext cx="5283250" cy="4457700"/>
          </a:xfrm>
          <a:prstGeom prst="rect">
            <a:avLst/>
          </a:prstGeom>
          <a:solidFill>
            <a:srgbClr val="FFFFFF"/>
          </a:solidFill>
          <a:ln w="9525">
            <a:solidFill>
              <a:srgbClr val="D9D3C5"/>
            </a:solidFill>
            <a:prstDash val="solid"/>
          </a:ln>
        </p:spPr>
        <p:txBody>
          <a:bodyPr/>
          <a:lstStyle/>
          <a:p>
            <a:endParaRPr lang="en-US"/>
          </a:p>
        </p:txBody>
      </p:sp>
      <p:pic>
        <p:nvPicPr>
          <p:cNvPr id="10" name="Image 1" descr="preencoded.png"/>
          <p:cNvPicPr>
            <a:picLocks noChangeAspect="1"/>
          </p:cNvPicPr>
          <p:nvPr/>
        </p:nvPicPr>
        <p:blipFill>
          <a:blip r:embed="rId4"/>
          <a:srcRect/>
          <a:stretch/>
        </p:blipFill>
        <p:spPr>
          <a:xfrm>
            <a:off x="6664226" y="4312890"/>
            <a:ext cx="4959400" cy="1642021"/>
          </a:xfrm>
          <a:prstGeom prst="rect">
            <a:avLst/>
          </a:prstGeom>
        </p:spPr>
      </p:pic>
      <p:sp>
        <p:nvSpPr>
          <p:cNvPr id="11" name="Text 7"/>
          <p:cNvSpPr/>
          <p:nvPr/>
        </p:nvSpPr>
        <p:spPr>
          <a:xfrm>
            <a:off x="12052250" y="2600325"/>
            <a:ext cx="544159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PCA 2D PROJECTION</a:t>
            </a:r>
            <a:endParaRPr lang="en-US" sz="1350" dirty="0"/>
          </a:p>
        </p:txBody>
      </p:sp>
      <p:sp>
        <p:nvSpPr>
          <p:cNvPr id="12" name="Shape 8"/>
          <p:cNvSpPr/>
          <p:nvPr/>
        </p:nvSpPr>
        <p:spPr>
          <a:xfrm>
            <a:off x="12052250" y="2905125"/>
            <a:ext cx="5283101" cy="4457700"/>
          </a:xfrm>
          <a:prstGeom prst="rect">
            <a:avLst/>
          </a:prstGeom>
          <a:solidFill>
            <a:srgbClr val="FFFFFF"/>
          </a:solidFill>
          <a:ln w="9525">
            <a:solidFill>
              <a:srgbClr val="D9D3C5"/>
            </a:solidFill>
            <a:prstDash val="solid"/>
          </a:ln>
        </p:spPr>
        <p:txBody>
          <a:bodyPr/>
          <a:lstStyle/>
          <a:p>
            <a:endParaRPr lang="en-US"/>
          </a:p>
        </p:txBody>
      </p:sp>
      <p:pic>
        <p:nvPicPr>
          <p:cNvPr id="13" name="Image 2" descr="preencoded.png"/>
          <p:cNvPicPr>
            <a:picLocks noChangeAspect="1"/>
          </p:cNvPicPr>
          <p:nvPr/>
        </p:nvPicPr>
        <p:blipFill>
          <a:blip r:embed="rId5"/>
          <a:srcRect/>
          <a:stretch/>
        </p:blipFill>
        <p:spPr>
          <a:xfrm>
            <a:off x="12214175" y="3408908"/>
            <a:ext cx="4959251" cy="3449985"/>
          </a:xfrm>
          <a:prstGeom prst="rect">
            <a:avLst/>
          </a:prstGeom>
        </p:spPr>
      </p:pic>
      <p:sp>
        <p:nvSpPr>
          <p:cNvPr id="14" name="Text 9"/>
          <p:cNvSpPr/>
          <p:nvPr/>
        </p:nvSpPr>
        <p:spPr>
          <a:xfrm>
            <a:off x="952500" y="7591425"/>
            <a:ext cx="963737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DROPOUT RATE BY FINANCIAL FACTOR (FROM MIDDLE CHART)</a:t>
            </a:r>
            <a:endParaRPr lang="en-US" sz="1350" dirty="0"/>
          </a:p>
        </p:txBody>
      </p:sp>
      <p:sp>
        <p:nvSpPr>
          <p:cNvPr id="15" name="Shape 10"/>
          <p:cNvSpPr/>
          <p:nvPr/>
        </p:nvSpPr>
        <p:spPr>
          <a:xfrm>
            <a:off x="952500" y="8458200"/>
            <a:ext cx="2633811" cy="19050"/>
          </a:xfrm>
          <a:prstGeom prst="rect">
            <a:avLst/>
          </a:prstGeom>
          <a:solidFill>
            <a:srgbClr val="1C1B1A"/>
          </a:solidFill>
          <a:ln/>
        </p:spPr>
        <p:txBody>
          <a:bodyPr/>
          <a:lstStyle/>
          <a:p>
            <a:endParaRPr lang="en-US"/>
          </a:p>
        </p:txBody>
      </p:sp>
      <p:sp>
        <p:nvSpPr>
          <p:cNvPr id="16" name="Text 11"/>
          <p:cNvSpPr/>
          <p:nvPr/>
        </p:nvSpPr>
        <p:spPr>
          <a:xfrm>
            <a:off x="1162050" y="8048625"/>
            <a:ext cx="2293726"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FACTOR</a:t>
            </a:r>
            <a:endParaRPr lang="en-US" sz="1650" dirty="0"/>
          </a:p>
        </p:txBody>
      </p:sp>
      <p:sp>
        <p:nvSpPr>
          <p:cNvPr id="17" name="Shape 12"/>
          <p:cNvSpPr/>
          <p:nvPr/>
        </p:nvSpPr>
        <p:spPr>
          <a:xfrm>
            <a:off x="3586311" y="8458200"/>
            <a:ext cx="2678609" cy="19050"/>
          </a:xfrm>
          <a:prstGeom prst="rect">
            <a:avLst/>
          </a:prstGeom>
          <a:solidFill>
            <a:srgbClr val="1C1B1A"/>
          </a:solidFill>
          <a:ln/>
        </p:spPr>
        <p:txBody>
          <a:bodyPr/>
          <a:lstStyle/>
          <a:p>
            <a:endParaRPr lang="en-US"/>
          </a:p>
        </p:txBody>
      </p:sp>
      <p:sp>
        <p:nvSpPr>
          <p:cNvPr id="18" name="Text 13"/>
          <p:cNvSpPr/>
          <p:nvPr/>
        </p:nvSpPr>
        <p:spPr>
          <a:xfrm>
            <a:off x="3715503" y="8048625"/>
            <a:ext cx="2339867"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DROPOUT IF NO</a:t>
            </a:r>
            <a:endParaRPr lang="en-US" sz="1650" dirty="0"/>
          </a:p>
        </p:txBody>
      </p:sp>
      <p:sp>
        <p:nvSpPr>
          <p:cNvPr id="19" name="Shape 14"/>
          <p:cNvSpPr/>
          <p:nvPr/>
        </p:nvSpPr>
        <p:spPr>
          <a:xfrm>
            <a:off x="6264920" y="8458200"/>
            <a:ext cx="2808684" cy="19050"/>
          </a:xfrm>
          <a:prstGeom prst="rect">
            <a:avLst/>
          </a:prstGeom>
          <a:solidFill>
            <a:srgbClr val="1C1B1A"/>
          </a:solidFill>
          <a:ln/>
        </p:spPr>
        <p:txBody>
          <a:bodyPr/>
          <a:lstStyle/>
          <a:p>
            <a:endParaRPr lang="en-US"/>
          </a:p>
        </p:txBody>
      </p:sp>
      <p:sp>
        <p:nvSpPr>
          <p:cNvPr id="20" name="Text 15"/>
          <p:cNvSpPr/>
          <p:nvPr/>
        </p:nvSpPr>
        <p:spPr>
          <a:xfrm>
            <a:off x="6390209" y="8048625"/>
            <a:ext cx="2473845"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DROPOUT IF YES</a:t>
            </a:r>
            <a:endParaRPr lang="en-US" sz="1650" dirty="0"/>
          </a:p>
        </p:txBody>
      </p:sp>
      <p:sp>
        <p:nvSpPr>
          <p:cNvPr id="21" name="Shape 16"/>
          <p:cNvSpPr/>
          <p:nvPr/>
        </p:nvSpPr>
        <p:spPr>
          <a:xfrm>
            <a:off x="9073604" y="8458200"/>
            <a:ext cx="1236018" cy="19050"/>
          </a:xfrm>
          <a:prstGeom prst="rect">
            <a:avLst/>
          </a:prstGeom>
          <a:solidFill>
            <a:srgbClr val="1C1B1A"/>
          </a:solidFill>
          <a:ln/>
        </p:spPr>
        <p:txBody>
          <a:bodyPr/>
          <a:lstStyle/>
          <a:p>
            <a:endParaRPr lang="en-US"/>
          </a:p>
        </p:txBody>
      </p:sp>
      <p:sp>
        <p:nvSpPr>
          <p:cNvPr id="22" name="Text 17"/>
          <p:cNvSpPr/>
          <p:nvPr/>
        </p:nvSpPr>
        <p:spPr>
          <a:xfrm>
            <a:off x="9206954" y="8048625"/>
            <a:ext cx="893118"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Δ</a:t>
            </a:r>
            <a:endParaRPr lang="en-US" sz="1650" dirty="0"/>
          </a:p>
        </p:txBody>
      </p:sp>
      <p:sp>
        <p:nvSpPr>
          <p:cNvPr id="23" name="Shape 18"/>
          <p:cNvSpPr/>
          <p:nvPr/>
        </p:nvSpPr>
        <p:spPr>
          <a:xfrm>
            <a:off x="952500" y="9053513"/>
            <a:ext cx="2633811" cy="9525"/>
          </a:xfrm>
          <a:prstGeom prst="rect">
            <a:avLst/>
          </a:prstGeom>
          <a:solidFill>
            <a:srgbClr val="D9D3C5"/>
          </a:solidFill>
          <a:ln/>
        </p:spPr>
        <p:txBody>
          <a:bodyPr/>
          <a:lstStyle/>
          <a:p>
            <a:endParaRPr lang="en-US"/>
          </a:p>
        </p:txBody>
      </p:sp>
      <p:sp>
        <p:nvSpPr>
          <p:cNvPr id="24" name="Text 19"/>
          <p:cNvSpPr/>
          <p:nvPr/>
        </p:nvSpPr>
        <p:spPr>
          <a:xfrm>
            <a:off x="1162050" y="8648700"/>
            <a:ext cx="2293726" cy="271463"/>
          </a:xfrm>
          <a:prstGeom prst="rect">
            <a:avLst/>
          </a:prstGeom>
          <a:noFill/>
          <a:ln/>
        </p:spPr>
        <p:txBody>
          <a:bodyPr wrap="square" lIns="25400" tIns="25400" rIns="25400" bIns="25400" rtlCol="0" anchor="ctr">
            <a:normAutofit lnSpcReduction="10000"/>
          </a:bodyPr>
          <a:lstStyle/>
          <a:p>
            <a:pPr marL="0" indent="0" algn="l">
              <a:buNone/>
            </a:pPr>
            <a:r>
              <a:rPr lang="en-US" sz="1500" dirty="0">
                <a:solidFill>
                  <a:srgbClr val="1C1B1A"/>
                </a:solidFill>
                <a:latin typeface="Arial" pitchFamily="34" charset="0"/>
                <a:ea typeface="Arial" pitchFamily="34" charset="-122"/>
                <a:cs typeface="Arial" pitchFamily="34" charset="-120"/>
              </a:rPr>
              <a:t>Scholarship holder</a:t>
            </a:r>
            <a:endParaRPr lang="en-US" sz="1500" dirty="0"/>
          </a:p>
        </p:txBody>
      </p:sp>
      <p:sp>
        <p:nvSpPr>
          <p:cNvPr id="25" name="Shape 20"/>
          <p:cNvSpPr/>
          <p:nvPr/>
        </p:nvSpPr>
        <p:spPr>
          <a:xfrm>
            <a:off x="3586311" y="9053513"/>
            <a:ext cx="2678609" cy="9525"/>
          </a:xfrm>
          <a:prstGeom prst="rect">
            <a:avLst/>
          </a:prstGeom>
          <a:solidFill>
            <a:srgbClr val="D9D3C5"/>
          </a:solidFill>
          <a:ln/>
        </p:spPr>
        <p:txBody>
          <a:bodyPr/>
          <a:lstStyle/>
          <a:p>
            <a:endParaRPr lang="en-US"/>
          </a:p>
        </p:txBody>
      </p:sp>
      <p:sp>
        <p:nvSpPr>
          <p:cNvPr id="26" name="Text 21"/>
          <p:cNvSpPr/>
          <p:nvPr/>
        </p:nvSpPr>
        <p:spPr>
          <a:xfrm>
            <a:off x="3715503" y="8648700"/>
            <a:ext cx="2339867" cy="271463"/>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39%</a:t>
            </a:r>
            <a:endParaRPr lang="en-US" sz="1500" dirty="0"/>
          </a:p>
        </p:txBody>
      </p:sp>
      <p:sp>
        <p:nvSpPr>
          <p:cNvPr id="27" name="Shape 22"/>
          <p:cNvSpPr/>
          <p:nvPr/>
        </p:nvSpPr>
        <p:spPr>
          <a:xfrm>
            <a:off x="6264920" y="9053513"/>
            <a:ext cx="2808684" cy="9525"/>
          </a:xfrm>
          <a:prstGeom prst="rect">
            <a:avLst/>
          </a:prstGeom>
          <a:solidFill>
            <a:srgbClr val="D9D3C5"/>
          </a:solidFill>
          <a:ln/>
        </p:spPr>
        <p:txBody>
          <a:bodyPr/>
          <a:lstStyle/>
          <a:p>
            <a:endParaRPr lang="en-US"/>
          </a:p>
        </p:txBody>
      </p:sp>
      <p:sp>
        <p:nvSpPr>
          <p:cNvPr id="28" name="Text 23"/>
          <p:cNvSpPr/>
          <p:nvPr/>
        </p:nvSpPr>
        <p:spPr>
          <a:xfrm>
            <a:off x="6390209" y="8648700"/>
            <a:ext cx="2473845" cy="271463"/>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D9E75"/>
                </a:solidFill>
                <a:latin typeface="Arial" pitchFamily="34" charset="0"/>
                <a:ea typeface="Arial" pitchFamily="34" charset="-122"/>
                <a:cs typeface="Arial" pitchFamily="34" charset="-120"/>
              </a:rPr>
              <a:t>12%</a:t>
            </a:r>
            <a:endParaRPr lang="en-US" sz="1500" dirty="0"/>
          </a:p>
        </p:txBody>
      </p:sp>
      <p:sp>
        <p:nvSpPr>
          <p:cNvPr id="29" name="Shape 24"/>
          <p:cNvSpPr/>
          <p:nvPr/>
        </p:nvSpPr>
        <p:spPr>
          <a:xfrm>
            <a:off x="9073604" y="9053513"/>
            <a:ext cx="1236018" cy="9525"/>
          </a:xfrm>
          <a:prstGeom prst="rect">
            <a:avLst/>
          </a:prstGeom>
          <a:solidFill>
            <a:srgbClr val="D9D3C5"/>
          </a:solidFill>
          <a:ln/>
        </p:spPr>
        <p:txBody>
          <a:bodyPr/>
          <a:lstStyle/>
          <a:p>
            <a:endParaRPr lang="en-US"/>
          </a:p>
        </p:txBody>
      </p:sp>
      <p:sp>
        <p:nvSpPr>
          <p:cNvPr id="30" name="Text 25"/>
          <p:cNvSpPr/>
          <p:nvPr/>
        </p:nvSpPr>
        <p:spPr>
          <a:xfrm>
            <a:off x="9206954" y="8648700"/>
            <a:ext cx="893118" cy="271463"/>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−27 pp</a:t>
            </a:r>
            <a:endParaRPr lang="en-US" sz="1500" dirty="0"/>
          </a:p>
        </p:txBody>
      </p:sp>
      <p:sp>
        <p:nvSpPr>
          <p:cNvPr id="31" name="Shape 26"/>
          <p:cNvSpPr/>
          <p:nvPr/>
        </p:nvSpPr>
        <p:spPr>
          <a:xfrm>
            <a:off x="952500" y="9634538"/>
            <a:ext cx="2633811" cy="9525"/>
          </a:xfrm>
          <a:prstGeom prst="rect">
            <a:avLst/>
          </a:prstGeom>
          <a:solidFill>
            <a:srgbClr val="D9D3C5"/>
          </a:solidFill>
          <a:ln/>
        </p:spPr>
        <p:txBody>
          <a:bodyPr/>
          <a:lstStyle/>
          <a:p>
            <a:endParaRPr lang="en-US"/>
          </a:p>
        </p:txBody>
      </p:sp>
      <p:sp>
        <p:nvSpPr>
          <p:cNvPr id="32" name="Text 27"/>
          <p:cNvSpPr/>
          <p:nvPr/>
        </p:nvSpPr>
        <p:spPr>
          <a:xfrm>
            <a:off x="1162050" y="9234488"/>
            <a:ext cx="2293726" cy="266700"/>
          </a:xfrm>
          <a:prstGeom prst="rect">
            <a:avLst/>
          </a:prstGeom>
          <a:noFill/>
          <a:ln/>
        </p:spPr>
        <p:txBody>
          <a:bodyPr wrap="square" lIns="25400" tIns="25400" rIns="25400" bIns="25400" rtlCol="0" anchor="ctr">
            <a:normAutofit lnSpcReduction="10000"/>
          </a:bodyPr>
          <a:lstStyle/>
          <a:p>
            <a:pPr marL="0" indent="0" algn="l">
              <a:buNone/>
            </a:pPr>
            <a:r>
              <a:rPr lang="en-US" sz="1500" dirty="0">
                <a:solidFill>
                  <a:srgbClr val="1C1B1A"/>
                </a:solidFill>
                <a:latin typeface="Arial" pitchFamily="34" charset="0"/>
                <a:ea typeface="Arial" pitchFamily="34" charset="-122"/>
                <a:cs typeface="Arial" pitchFamily="34" charset="-120"/>
              </a:rPr>
              <a:t>Debtor</a:t>
            </a:r>
            <a:endParaRPr lang="en-US" sz="1500" dirty="0"/>
          </a:p>
        </p:txBody>
      </p:sp>
      <p:sp>
        <p:nvSpPr>
          <p:cNvPr id="33" name="Shape 28"/>
          <p:cNvSpPr/>
          <p:nvPr/>
        </p:nvSpPr>
        <p:spPr>
          <a:xfrm>
            <a:off x="3586311" y="9634538"/>
            <a:ext cx="2678609" cy="9525"/>
          </a:xfrm>
          <a:prstGeom prst="rect">
            <a:avLst/>
          </a:prstGeom>
          <a:solidFill>
            <a:srgbClr val="D9D3C5"/>
          </a:solidFill>
          <a:ln/>
        </p:spPr>
        <p:txBody>
          <a:bodyPr/>
          <a:lstStyle/>
          <a:p>
            <a:endParaRPr lang="en-US"/>
          </a:p>
        </p:txBody>
      </p:sp>
      <p:sp>
        <p:nvSpPr>
          <p:cNvPr id="34" name="Text 29"/>
          <p:cNvSpPr/>
          <p:nvPr/>
        </p:nvSpPr>
        <p:spPr>
          <a:xfrm>
            <a:off x="3715503" y="9234488"/>
            <a:ext cx="2339867" cy="266700"/>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28%</a:t>
            </a:r>
            <a:endParaRPr lang="en-US" sz="1500" dirty="0"/>
          </a:p>
        </p:txBody>
      </p:sp>
      <p:sp>
        <p:nvSpPr>
          <p:cNvPr id="35" name="Shape 30"/>
          <p:cNvSpPr/>
          <p:nvPr/>
        </p:nvSpPr>
        <p:spPr>
          <a:xfrm>
            <a:off x="6264920" y="9634538"/>
            <a:ext cx="2808684" cy="9525"/>
          </a:xfrm>
          <a:prstGeom prst="rect">
            <a:avLst/>
          </a:prstGeom>
          <a:solidFill>
            <a:srgbClr val="D9D3C5"/>
          </a:solidFill>
          <a:ln/>
        </p:spPr>
        <p:txBody>
          <a:bodyPr/>
          <a:lstStyle/>
          <a:p>
            <a:endParaRPr lang="en-US"/>
          </a:p>
        </p:txBody>
      </p:sp>
      <p:sp>
        <p:nvSpPr>
          <p:cNvPr id="36" name="Text 31"/>
          <p:cNvSpPr/>
          <p:nvPr/>
        </p:nvSpPr>
        <p:spPr>
          <a:xfrm>
            <a:off x="6390209" y="9234488"/>
            <a:ext cx="2473845"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E24B4A"/>
                </a:solidFill>
                <a:latin typeface="Arial" pitchFamily="34" charset="0"/>
                <a:ea typeface="Arial" pitchFamily="34" charset="-122"/>
                <a:cs typeface="Arial" pitchFamily="34" charset="-120"/>
              </a:rPr>
              <a:t>62%</a:t>
            </a:r>
            <a:endParaRPr lang="en-US" sz="1500" dirty="0"/>
          </a:p>
        </p:txBody>
      </p:sp>
      <p:sp>
        <p:nvSpPr>
          <p:cNvPr id="37" name="Shape 32"/>
          <p:cNvSpPr/>
          <p:nvPr/>
        </p:nvSpPr>
        <p:spPr>
          <a:xfrm>
            <a:off x="9073604" y="9634538"/>
            <a:ext cx="1236018" cy="9525"/>
          </a:xfrm>
          <a:prstGeom prst="rect">
            <a:avLst/>
          </a:prstGeom>
          <a:solidFill>
            <a:srgbClr val="D9D3C5"/>
          </a:solidFill>
          <a:ln/>
        </p:spPr>
        <p:txBody>
          <a:bodyPr/>
          <a:lstStyle/>
          <a:p>
            <a:endParaRPr lang="en-US"/>
          </a:p>
        </p:txBody>
      </p:sp>
      <p:sp>
        <p:nvSpPr>
          <p:cNvPr id="38" name="Text 33"/>
          <p:cNvSpPr/>
          <p:nvPr/>
        </p:nvSpPr>
        <p:spPr>
          <a:xfrm>
            <a:off x="9206954" y="9234488"/>
            <a:ext cx="893118"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+34 pp</a:t>
            </a:r>
            <a:endParaRPr lang="en-US" sz="1500" dirty="0"/>
          </a:p>
        </p:txBody>
      </p:sp>
      <p:sp>
        <p:nvSpPr>
          <p:cNvPr id="39" name="Shape 34"/>
          <p:cNvSpPr/>
          <p:nvPr/>
        </p:nvSpPr>
        <p:spPr>
          <a:xfrm>
            <a:off x="952500" y="10215563"/>
            <a:ext cx="2633811" cy="9525"/>
          </a:xfrm>
          <a:prstGeom prst="rect">
            <a:avLst/>
          </a:prstGeom>
          <a:solidFill>
            <a:srgbClr val="D9D3C5"/>
          </a:solidFill>
          <a:ln/>
        </p:spPr>
        <p:txBody>
          <a:bodyPr/>
          <a:lstStyle/>
          <a:p>
            <a:endParaRPr lang="en-US"/>
          </a:p>
        </p:txBody>
      </p:sp>
      <p:sp>
        <p:nvSpPr>
          <p:cNvPr id="40" name="Text 35"/>
          <p:cNvSpPr/>
          <p:nvPr/>
        </p:nvSpPr>
        <p:spPr>
          <a:xfrm>
            <a:off x="1162050" y="9815513"/>
            <a:ext cx="2293726" cy="266700"/>
          </a:xfrm>
          <a:prstGeom prst="rect">
            <a:avLst/>
          </a:prstGeom>
          <a:noFill/>
          <a:ln/>
        </p:spPr>
        <p:txBody>
          <a:bodyPr wrap="square" lIns="25400" tIns="25400" rIns="25400" bIns="25400" rtlCol="0" anchor="ctr">
            <a:normAutofit lnSpcReduction="10000"/>
          </a:bodyPr>
          <a:lstStyle/>
          <a:p>
            <a:pPr marL="0" indent="0" algn="l">
              <a:buNone/>
            </a:pPr>
            <a:r>
              <a:rPr lang="en-US" sz="1500" dirty="0">
                <a:solidFill>
                  <a:srgbClr val="1C1B1A"/>
                </a:solidFill>
                <a:latin typeface="Arial" pitchFamily="34" charset="0"/>
                <a:ea typeface="Arial" pitchFamily="34" charset="-122"/>
                <a:cs typeface="Arial" pitchFamily="34" charset="-120"/>
              </a:rPr>
              <a:t>Tuition fees up to date</a:t>
            </a:r>
            <a:endParaRPr lang="en-US" sz="1500" dirty="0"/>
          </a:p>
        </p:txBody>
      </p:sp>
      <p:sp>
        <p:nvSpPr>
          <p:cNvPr id="41" name="Shape 36"/>
          <p:cNvSpPr/>
          <p:nvPr/>
        </p:nvSpPr>
        <p:spPr>
          <a:xfrm>
            <a:off x="3586311" y="10215563"/>
            <a:ext cx="2678609" cy="9525"/>
          </a:xfrm>
          <a:prstGeom prst="rect">
            <a:avLst/>
          </a:prstGeom>
          <a:solidFill>
            <a:srgbClr val="D9D3C5"/>
          </a:solidFill>
          <a:ln/>
        </p:spPr>
        <p:txBody>
          <a:bodyPr/>
          <a:lstStyle/>
          <a:p>
            <a:endParaRPr lang="en-US"/>
          </a:p>
        </p:txBody>
      </p:sp>
      <p:sp>
        <p:nvSpPr>
          <p:cNvPr id="42" name="Text 37"/>
          <p:cNvSpPr/>
          <p:nvPr/>
        </p:nvSpPr>
        <p:spPr>
          <a:xfrm>
            <a:off x="3715503" y="9815513"/>
            <a:ext cx="2339867"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E24B4A"/>
                </a:solidFill>
                <a:latin typeface="Arial" pitchFamily="34" charset="0"/>
                <a:ea typeface="Arial" pitchFamily="34" charset="-122"/>
                <a:cs typeface="Arial" pitchFamily="34" charset="-120"/>
              </a:rPr>
              <a:t>86%</a:t>
            </a:r>
            <a:endParaRPr lang="en-US" sz="1500" dirty="0"/>
          </a:p>
        </p:txBody>
      </p:sp>
      <p:sp>
        <p:nvSpPr>
          <p:cNvPr id="43" name="Shape 38"/>
          <p:cNvSpPr/>
          <p:nvPr/>
        </p:nvSpPr>
        <p:spPr>
          <a:xfrm>
            <a:off x="6264920" y="10215563"/>
            <a:ext cx="2808684" cy="9525"/>
          </a:xfrm>
          <a:prstGeom prst="rect">
            <a:avLst/>
          </a:prstGeom>
          <a:solidFill>
            <a:srgbClr val="D9D3C5"/>
          </a:solidFill>
          <a:ln/>
        </p:spPr>
        <p:txBody>
          <a:bodyPr/>
          <a:lstStyle/>
          <a:p>
            <a:endParaRPr lang="en-US"/>
          </a:p>
        </p:txBody>
      </p:sp>
      <p:sp>
        <p:nvSpPr>
          <p:cNvPr id="44" name="Text 39"/>
          <p:cNvSpPr/>
          <p:nvPr/>
        </p:nvSpPr>
        <p:spPr>
          <a:xfrm>
            <a:off x="6390209" y="9815513"/>
            <a:ext cx="2473845" cy="266700"/>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25%</a:t>
            </a:r>
            <a:endParaRPr lang="en-US" sz="1500" dirty="0"/>
          </a:p>
        </p:txBody>
      </p:sp>
      <p:sp>
        <p:nvSpPr>
          <p:cNvPr id="45" name="Shape 40"/>
          <p:cNvSpPr/>
          <p:nvPr/>
        </p:nvSpPr>
        <p:spPr>
          <a:xfrm>
            <a:off x="9073604" y="10215563"/>
            <a:ext cx="1236018" cy="9525"/>
          </a:xfrm>
          <a:prstGeom prst="rect">
            <a:avLst/>
          </a:prstGeom>
          <a:solidFill>
            <a:srgbClr val="D9D3C5"/>
          </a:solidFill>
          <a:ln/>
        </p:spPr>
        <p:txBody>
          <a:bodyPr/>
          <a:lstStyle/>
          <a:p>
            <a:endParaRPr lang="en-US"/>
          </a:p>
        </p:txBody>
      </p:sp>
      <p:sp>
        <p:nvSpPr>
          <p:cNvPr id="46" name="Text 41"/>
          <p:cNvSpPr/>
          <p:nvPr/>
        </p:nvSpPr>
        <p:spPr>
          <a:xfrm>
            <a:off x="9206954" y="9815513"/>
            <a:ext cx="893118"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−61 pp</a:t>
            </a:r>
            <a:endParaRPr lang="en-US" sz="1500" dirty="0"/>
          </a:p>
        </p:txBody>
      </p:sp>
      <p:sp>
        <p:nvSpPr>
          <p:cNvPr id="47" name="Text 42"/>
          <p:cNvSpPr/>
          <p:nvPr/>
        </p:nvSpPr>
        <p:spPr>
          <a:xfrm>
            <a:off x="10652075" y="7591425"/>
            <a:ext cx="6883927" cy="12192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B4845"/>
                </a:solidFill>
                <a:latin typeface="-apple-system" pitchFamily="34" charset="0"/>
                <a:ea typeface="-apple-system" pitchFamily="34" charset="-122"/>
                <a:cs typeface="-apple-system" pitchFamily="34" charset="-120"/>
              </a:rPr>
              <a:t>Scholarship holders drop out at 12% vs 39% for non-holders — a 3.3× lower rate. Tuition status is the most decisive single binary signal in the data. PCA projection shows moderate but imperfect class separability — a non-trivial classification problem.</a:t>
            </a:r>
            <a:endParaRPr lang="en-US" sz="1650" dirty="0"/>
          </a:p>
        </p:txBody>
      </p:sp>
      <p:sp>
        <p:nvSpPr>
          <p:cNvPr id="48" name="Text 43"/>
          <p:cNvSpPr/>
          <p:nvPr/>
        </p:nvSpPr>
        <p:spPr>
          <a:xfrm>
            <a:off x="16692116" y="103536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09/19</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49" y="952500"/>
            <a:ext cx="4603699" cy="310848"/>
          </a:xfrm>
          <a:prstGeom prst="rect">
            <a:avLst/>
          </a:prstGeom>
          <a:noFill/>
          <a:ln/>
        </p:spPr>
        <p:txBody>
          <a:bodyPr wrap="square" lIns="25400" tIns="25400" rIns="25400" bIns="25400" rtlCol="0" anchor="t">
            <a:noAutofit/>
          </a:bodyPr>
          <a:lstStyle/>
          <a:p>
            <a:r>
              <a:rPr lang="en-US" sz="1700" kern="0" spc="324" dirty="0">
                <a:solidFill>
                  <a:srgbClr val="807C76"/>
                </a:solidFill>
                <a:latin typeface="Courier New" pitchFamily="34" charset="0"/>
                <a:ea typeface="Courier New" pitchFamily="34" charset="-122"/>
                <a:cs typeface="Courier New" pitchFamily="34" charset="-120"/>
              </a:rPr>
              <a:t>09 · VISUALIZATION TOOLKIT</a:t>
            </a:r>
            <a:endParaRPr lang="en-US" sz="17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a:lnSpc>
                <a:spcPct val="104000"/>
              </a:lnSpc>
            </a:pPr>
            <a:r>
              <a:rPr lang="en-US" sz="4800" b="1" kern="0" spc="-72" dirty="0">
                <a:solidFill>
                  <a:srgbClr val="1C1B1A"/>
                </a:solidFill>
                <a:latin typeface="Georgia" pitchFamily="34" charset="0"/>
                <a:ea typeface="Georgia" pitchFamily="34" charset="-122"/>
                <a:cs typeface="Georgia" pitchFamily="34" charset="-120"/>
              </a:rPr>
              <a:t>Six chart types, one consistent palette</a:t>
            </a:r>
            <a:endParaRPr lang="en-US" sz="4800" dirty="0"/>
          </a:p>
        </p:txBody>
      </p:sp>
      <p:sp>
        <p:nvSpPr>
          <p:cNvPr id="5" name="Shape 3"/>
          <p:cNvSpPr/>
          <p:nvPr/>
        </p:nvSpPr>
        <p:spPr>
          <a:xfrm>
            <a:off x="1008493" y="2965752"/>
            <a:ext cx="5154815" cy="1571625"/>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247775" y="3067050"/>
            <a:ext cx="485954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TREE</a:t>
            </a:r>
            <a:endParaRPr lang="en-US" sz="1350" dirty="0"/>
          </a:p>
        </p:txBody>
      </p:sp>
      <p:sp>
        <p:nvSpPr>
          <p:cNvPr id="7" name="Text 5"/>
          <p:cNvSpPr/>
          <p:nvPr/>
        </p:nvSpPr>
        <p:spPr>
          <a:xfrm>
            <a:off x="2282382" y="2384727"/>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Correlation Heatmap</a:t>
            </a:r>
            <a:endParaRPr lang="en-US" sz="2850" dirty="0"/>
          </a:p>
        </p:txBody>
      </p:sp>
      <p:sp>
        <p:nvSpPr>
          <p:cNvPr id="8" name="Text 6"/>
          <p:cNvSpPr/>
          <p:nvPr/>
        </p:nvSpPr>
        <p:spPr>
          <a:xfrm>
            <a:off x="1247775" y="3876675"/>
            <a:ext cx="4859540"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max_depth = 10</a:t>
            </a:r>
            <a:endParaRPr lang="en-US" sz="1500" dirty="0"/>
          </a:p>
        </p:txBody>
      </p:sp>
      <p:sp>
        <p:nvSpPr>
          <p:cNvPr id="11" name="Text 9"/>
          <p:cNvSpPr/>
          <p:nvPr/>
        </p:nvSpPr>
        <p:spPr>
          <a:xfrm>
            <a:off x="8716310" y="2426043"/>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rPr>
              <a:t>KDE Distribution </a:t>
            </a:r>
            <a:endParaRPr lang="en-US" sz="2850" dirty="0"/>
          </a:p>
        </p:txBody>
      </p:sp>
      <p:sp>
        <p:nvSpPr>
          <p:cNvPr id="15" name="Text 13"/>
          <p:cNvSpPr/>
          <p:nvPr/>
        </p:nvSpPr>
        <p:spPr>
          <a:xfrm>
            <a:off x="14810792" y="2426799"/>
            <a:ext cx="4859694"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Boxplots</a:t>
            </a:r>
            <a:endParaRPr lang="en-US" sz="2850" dirty="0"/>
          </a:p>
        </p:txBody>
      </p:sp>
      <p:sp>
        <p:nvSpPr>
          <p:cNvPr id="17" name="Shape 15"/>
          <p:cNvSpPr/>
          <p:nvPr/>
        </p:nvSpPr>
        <p:spPr>
          <a:xfrm>
            <a:off x="952500" y="7259665"/>
            <a:ext cx="5308550" cy="1581150"/>
          </a:xfrm>
          <a:prstGeom prst="rect">
            <a:avLst/>
          </a:prstGeom>
          <a:solidFill>
            <a:srgbClr val="FFFFFF"/>
          </a:solidFill>
          <a:ln w="9525">
            <a:solidFill>
              <a:srgbClr val="D9D3C5"/>
            </a:solidFill>
            <a:prstDash val="solid"/>
          </a:ln>
        </p:spPr>
        <p:txBody>
          <a:bodyPr/>
          <a:lstStyle/>
          <a:p>
            <a:endParaRPr lang="en-US" dirty="0"/>
          </a:p>
        </p:txBody>
      </p:sp>
      <p:sp>
        <p:nvSpPr>
          <p:cNvPr id="18" name="Text 16"/>
          <p:cNvSpPr/>
          <p:nvPr/>
        </p:nvSpPr>
        <p:spPr>
          <a:xfrm>
            <a:off x="1247775" y="7535890"/>
            <a:ext cx="485954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LINEAR</a:t>
            </a:r>
            <a:endParaRPr lang="en-US" sz="1350" dirty="0"/>
          </a:p>
        </p:txBody>
      </p:sp>
      <p:sp>
        <p:nvSpPr>
          <p:cNvPr id="19" name="Text 17"/>
          <p:cNvSpPr/>
          <p:nvPr/>
        </p:nvSpPr>
        <p:spPr>
          <a:xfrm>
            <a:off x="1870494" y="6225374"/>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Stacked Bar Charts</a:t>
            </a:r>
            <a:endParaRPr lang="en-US" sz="2850" dirty="0"/>
          </a:p>
        </p:txBody>
      </p:sp>
      <p:sp>
        <p:nvSpPr>
          <p:cNvPr id="20" name="Text 18"/>
          <p:cNvSpPr/>
          <p:nvPr/>
        </p:nvSpPr>
        <p:spPr>
          <a:xfrm>
            <a:off x="1247775" y="8345515"/>
            <a:ext cx="4859540"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multinomial · max_iter=1000</a:t>
            </a:r>
            <a:endParaRPr lang="en-US" sz="1500" dirty="0"/>
          </a:p>
        </p:txBody>
      </p:sp>
      <p:sp>
        <p:nvSpPr>
          <p:cNvPr id="23" name="Text 21"/>
          <p:cNvSpPr/>
          <p:nvPr/>
        </p:nvSpPr>
        <p:spPr>
          <a:xfrm>
            <a:off x="8880032" y="6034016"/>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PCA Scatter</a:t>
            </a:r>
            <a:endParaRPr lang="en-US" sz="2850" dirty="0"/>
          </a:p>
        </p:txBody>
      </p:sp>
      <p:sp>
        <p:nvSpPr>
          <p:cNvPr id="27" name="Text 25"/>
          <p:cNvSpPr/>
          <p:nvPr/>
        </p:nvSpPr>
        <p:spPr>
          <a:xfrm>
            <a:off x="14534976" y="6067399"/>
            <a:ext cx="4859694"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Feature Importance</a:t>
            </a:r>
            <a:endParaRPr lang="en-US" sz="2850" dirty="0"/>
          </a:p>
        </p:txBody>
      </p:sp>
      <p:sp>
        <p:nvSpPr>
          <p:cNvPr id="37" name="Text 35"/>
          <p:cNvSpPr/>
          <p:nvPr/>
        </p:nvSpPr>
        <p:spPr>
          <a:xfrm>
            <a:off x="16414531" y="9707999"/>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10/19</a:t>
            </a:r>
            <a:endParaRPr lang="en-US" sz="1800" dirty="0"/>
          </a:p>
        </p:txBody>
      </p:sp>
      <p:pic>
        <p:nvPicPr>
          <p:cNvPr id="38" name="Picture 37" descr="correlation_heatmap.png">
            <a:extLst>
              <a:ext uri="{FF2B5EF4-FFF2-40B4-BE49-F238E27FC236}">
                <a16:creationId xmlns:a16="http://schemas.microsoft.com/office/drawing/2014/main" id="{79ED10D3-FEBD-4B0B-368C-A547A41F9D80}"/>
              </a:ext>
            </a:extLst>
          </p:cNvPr>
          <p:cNvPicPr>
            <a:picLocks noChangeAspect="1"/>
          </p:cNvPicPr>
          <p:nvPr/>
        </p:nvPicPr>
        <p:blipFill>
          <a:blip r:embed="rId3"/>
          <a:stretch>
            <a:fillRect/>
          </a:stretch>
        </p:blipFill>
        <p:spPr>
          <a:xfrm>
            <a:off x="952500" y="2908987"/>
            <a:ext cx="5308549" cy="2933672"/>
          </a:xfrm>
          <a:prstGeom prst="rect">
            <a:avLst/>
          </a:prstGeom>
        </p:spPr>
      </p:pic>
      <p:pic>
        <p:nvPicPr>
          <p:cNvPr id="41" name="Picture 40" descr="stacked_bar_binary.png">
            <a:extLst>
              <a:ext uri="{FF2B5EF4-FFF2-40B4-BE49-F238E27FC236}">
                <a16:creationId xmlns:a16="http://schemas.microsoft.com/office/drawing/2014/main" id="{6C6594BE-3B48-7DAF-CFA3-9ECD9D1512BB}"/>
              </a:ext>
            </a:extLst>
          </p:cNvPr>
          <p:cNvPicPr>
            <a:picLocks noChangeAspect="1"/>
          </p:cNvPicPr>
          <p:nvPr/>
        </p:nvPicPr>
        <p:blipFill>
          <a:blip r:embed="rId4"/>
          <a:stretch>
            <a:fillRect/>
          </a:stretch>
        </p:blipFill>
        <p:spPr>
          <a:xfrm>
            <a:off x="952500" y="6722403"/>
            <a:ext cx="5266803" cy="2910602"/>
          </a:xfrm>
          <a:prstGeom prst="rect">
            <a:avLst/>
          </a:prstGeom>
        </p:spPr>
      </p:pic>
      <p:pic>
        <p:nvPicPr>
          <p:cNvPr id="42" name="Picture 41" descr="feature_distributions.png">
            <a:extLst>
              <a:ext uri="{FF2B5EF4-FFF2-40B4-BE49-F238E27FC236}">
                <a16:creationId xmlns:a16="http://schemas.microsoft.com/office/drawing/2014/main" id="{FBE35525-7D2E-5F88-7976-F95D3A746968}"/>
              </a:ext>
            </a:extLst>
          </p:cNvPr>
          <p:cNvPicPr>
            <a:picLocks noChangeAspect="1"/>
          </p:cNvPicPr>
          <p:nvPr/>
        </p:nvPicPr>
        <p:blipFill>
          <a:blip r:embed="rId5"/>
          <a:stretch>
            <a:fillRect/>
          </a:stretch>
        </p:blipFill>
        <p:spPr>
          <a:xfrm>
            <a:off x="6925283" y="2908988"/>
            <a:ext cx="5308548" cy="2933671"/>
          </a:xfrm>
          <a:prstGeom prst="rect">
            <a:avLst/>
          </a:prstGeom>
        </p:spPr>
      </p:pic>
      <p:pic>
        <p:nvPicPr>
          <p:cNvPr id="43" name="Picture 42" descr="pca_scatter.png">
            <a:extLst>
              <a:ext uri="{FF2B5EF4-FFF2-40B4-BE49-F238E27FC236}">
                <a16:creationId xmlns:a16="http://schemas.microsoft.com/office/drawing/2014/main" id="{99889B69-D3CA-7AFE-E5C0-C27F7193F56A}"/>
              </a:ext>
            </a:extLst>
          </p:cNvPr>
          <p:cNvPicPr>
            <a:picLocks noChangeAspect="1"/>
          </p:cNvPicPr>
          <p:nvPr/>
        </p:nvPicPr>
        <p:blipFill>
          <a:blip r:embed="rId6"/>
          <a:stretch>
            <a:fillRect/>
          </a:stretch>
        </p:blipFill>
        <p:spPr>
          <a:xfrm>
            <a:off x="6991776" y="6653999"/>
            <a:ext cx="5304415" cy="2931387"/>
          </a:xfrm>
          <a:prstGeom prst="rect">
            <a:avLst/>
          </a:prstGeom>
        </p:spPr>
      </p:pic>
      <p:pic>
        <p:nvPicPr>
          <p:cNvPr id="44" name="Picture 43" descr="boxplots_grades.png">
            <a:extLst>
              <a:ext uri="{FF2B5EF4-FFF2-40B4-BE49-F238E27FC236}">
                <a16:creationId xmlns:a16="http://schemas.microsoft.com/office/drawing/2014/main" id="{56F1A4E9-DB1D-2249-84EA-EB7E6806375B}"/>
              </a:ext>
            </a:extLst>
          </p:cNvPr>
          <p:cNvPicPr>
            <a:picLocks noChangeAspect="1"/>
          </p:cNvPicPr>
          <p:nvPr/>
        </p:nvPicPr>
        <p:blipFill>
          <a:blip r:embed="rId7"/>
          <a:stretch>
            <a:fillRect/>
          </a:stretch>
        </p:blipFill>
        <p:spPr>
          <a:xfrm>
            <a:off x="12939809" y="2963143"/>
            <a:ext cx="5210553" cy="2879516"/>
          </a:xfrm>
          <a:prstGeom prst="rect">
            <a:avLst/>
          </a:prstGeom>
        </p:spPr>
      </p:pic>
      <p:pic>
        <p:nvPicPr>
          <p:cNvPr id="45" name="Picture 44" descr="rf_feature_importance.png">
            <a:extLst>
              <a:ext uri="{FF2B5EF4-FFF2-40B4-BE49-F238E27FC236}">
                <a16:creationId xmlns:a16="http://schemas.microsoft.com/office/drawing/2014/main" id="{E90C8382-A6D6-E939-B05A-33C42CC3790D}"/>
              </a:ext>
            </a:extLst>
          </p:cNvPr>
          <p:cNvPicPr>
            <a:picLocks noChangeAspect="1"/>
          </p:cNvPicPr>
          <p:nvPr/>
        </p:nvPicPr>
        <p:blipFill>
          <a:blip r:embed="rId8"/>
          <a:stretch>
            <a:fillRect/>
          </a:stretch>
        </p:blipFill>
        <p:spPr>
          <a:xfrm>
            <a:off x="12939810" y="6643663"/>
            <a:ext cx="5142129" cy="284170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239449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10 · MODELING</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Six classifiers across five algorithm families</a:t>
            </a:r>
            <a:endParaRPr lang="en-US" sz="4800" dirty="0"/>
          </a:p>
        </p:txBody>
      </p:sp>
      <p:sp>
        <p:nvSpPr>
          <p:cNvPr id="5" name="Shape 3"/>
          <p:cNvSpPr/>
          <p:nvPr/>
        </p:nvSpPr>
        <p:spPr>
          <a:xfrm>
            <a:off x="952500" y="2790825"/>
            <a:ext cx="5308550" cy="1581150"/>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247775" y="3067050"/>
            <a:ext cx="485954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TREE</a:t>
            </a:r>
            <a:endParaRPr lang="en-US" sz="1350" dirty="0"/>
          </a:p>
        </p:txBody>
      </p:sp>
      <p:sp>
        <p:nvSpPr>
          <p:cNvPr id="7" name="Text 5"/>
          <p:cNvSpPr/>
          <p:nvPr/>
        </p:nvSpPr>
        <p:spPr>
          <a:xfrm>
            <a:off x="1247775" y="3352800"/>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Decision Tree</a:t>
            </a:r>
            <a:endParaRPr lang="en-US" sz="2850" dirty="0"/>
          </a:p>
        </p:txBody>
      </p:sp>
      <p:sp>
        <p:nvSpPr>
          <p:cNvPr id="8" name="Text 6"/>
          <p:cNvSpPr/>
          <p:nvPr/>
        </p:nvSpPr>
        <p:spPr>
          <a:xfrm>
            <a:off x="1247775" y="3876675"/>
            <a:ext cx="4859540"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max_depth = 10</a:t>
            </a:r>
            <a:endParaRPr lang="en-US" sz="1500" dirty="0"/>
          </a:p>
        </p:txBody>
      </p:sp>
      <p:sp>
        <p:nvSpPr>
          <p:cNvPr id="9" name="Shape 7"/>
          <p:cNvSpPr/>
          <p:nvPr/>
        </p:nvSpPr>
        <p:spPr>
          <a:xfrm>
            <a:off x="6489650" y="2790825"/>
            <a:ext cx="5308550" cy="1581150"/>
          </a:xfrm>
          <a:prstGeom prst="rect">
            <a:avLst/>
          </a:prstGeom>
          <a:solidFill>
            <a:srgbClr val="FFFFFF"/>
          </a:solidFill>
          <a:ln w="9525">
            <a:solidFill>
              <a:srgbClr val="D9D3C5"/>
            </a:solidFill>
            <a:prstDash val="solid"/>
          </a:ln>
        </p:spPr>
        <p:txBody>
          <a:bodyPr/>
          <a:lstStyle/>
          <a:p>
            <a:endParaRPr lang="en-US"/>
          </a:p>
        </p:txBody>
      </p:sp>
      <p:sp>
        <p:nvSpPr>
          <p:cNvPr id="10" name="Text 8"/>
          <p:cNvSpPr/>
          <p:nvPr/>
        </p:nvSpPr>
        <p:spPr>
          <a:xfrm>
            <a:off x="6784925" y="3067050"/>
            <a:ext cx="485954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ENSEMBLE</a:t>
            </a:r>
            <a:endParaRPr lang="en-US" sz="1350" dirty="0"/>
          </a:p>
        </p:txBody>
      </p:sp>
      <p:sp>
        <p:nvSpPr>
          <p:cNvPr id="11" name="Text 9"/>
          <p:cNvSpPr/>
          <p:nvPr/>
        </p:nvSpPr>
        <p:spPr>
          <a:xfrm>
            <a:off x="6784925" y="3352800"/>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Random Forest</a:t>
            </a:r>
            <a:endParaRPr lang="en-US" sz="2850" dirty="0"/>
          </a:p>
        </p:txBody>
      </p:sp>
      <p:sp>
        <p:nvSpPr>
          <p:cNvPr id="12" name="Text 10"/>
          <p:cNvSpPr/>
          <p:nvPr/>
        </p:nvSpPr>
        <p:spPr>
          <a:xfrm>
            <a:off x="6784925" y="3876675"/>
            <a:ext cx="4859540"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n_estimators = 200</a:t>
            </a:r>
            <a:endParaRPr lang="en-US" sz="1500" dirty="0"/>
          </a:p>
        </p:txBody>
      </p:sp>
      <p:sp>
        <p:nvSpPr>
          <p:cNvPr id="13" name="Shape 11"/>
          <p:cNvSpPr/>
          <p:nvPr/>
        </p:nvSpPr>
        <p:spPr>
          <a:xfrm>
            <a:off x="12026801" y="2790825"/>
            <a:ext cx="5308699" cy="1581150"/>
          </a:xfrm>
          <a:prstGeom prst="rect">
            <a:avLst/>
          </a:prstGeom>
          <a:solidFill>
            <a:srgbClr val="FFFFFF"/>
          </a:solidFill>
          <a:ln w="9525">
            <a:solidFill>
              <a:srgbClr val="D9D3C5"/>
            </a:solidFill>
            <a:prstDash val="solid"/>
          </a:ln>
        </p:spPr>
        <p:txBody>
          <a:bodyPr/>
          <a:lstStyle/>
          <a:p>
            <a:endParaRPr lang="en-US"/>
          </a:p>
        </p:txBody>
      </p:sp>
      <p:sp>
        <p:nvSpPr>
          <p:cNvPr id="14" name="Text 12"/>
          <p:cNvSpPr/>
          <p:nvPr/>
        </p:nvSpPr>
        <p:spPr>
          <a:xfrm>
            <a:off x="12322076" y="3067050"/>
            <a:ext cx="485969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INSTANCE</a:t>
            </a:r>
            <a:endParaRPr lang="en-US" sz="1350" dirty="0"/>
          </a:p>
        </p:txBody>
      </p:sp>
      <p:sp>
        <p:nvSpPr>
          <p:cNvPr id="15" name="Text 13"/>
          <p:cNvSpPr/>
          <p:nvPr/>
        </p:nvSpPr>
        <p:spPr>
          <a:xfrm>
            <a:off x="12322076" y="3352800"/>
            <a:ext cx="4859694"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KNN</a:t>
            </a:r>
            <a:endParaRPr lang="en-US" sz="2850" dirty="0"/>
          </a:p>
        </p:txBody>
      </p:sp>
      <p:sp>
        <p:nvSpPr>
          <p:cNvPr id="16" name="Text 14"/>
          <p:cNvSpPr/>
          <p:nvPr/>
        </p:nvSpPr>
        <p:spPr>
          <a:xfrm>
            <a:off x="12322076" y="3876675"/>
            <a:ext cx="4859694"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best k = 11 (tuned)</a:t>
            </a:r>
            <a:endParaRPr lang="en-US" sz="1500" dirty="0"/>
          </a:p>
        </p:txBody>
      </p:sp>
      <p:sp>
        <p:nvSpPr>
          <p:cNvPr id="17" name="Shape 15"/>
          <p:cNvSpPr/>
          <p:nvPr/>
        </p:nvSpPr>
        <p:spPr>
          <a:xfrm>
            <a:off x="952500" y="4600575"/>
            <a:ext cx="5308550" cy="1581150"/>
          </a:xfrm>
          <a:prstGeom prst="rect">
            <a:avLst/>
          </a:prstGeom>
          <a:solidFill>
            <a:srgbClr val="FFFFFF"/>
          </a:solidFill>
          <a:ln w="9525">
            <a:solidFill>
              <a:srgbClr val="D9D3C5"/>
            </a:solidFill>
            <a:prstDash val="solid"/>
          </a:ln>
        </p:spPr>
        <p:txBody>
          <a:bodyPr/>
          <a:lstStyle/>
          <a:p>
            <a:endParaRPr lang="en-US"/>
          </a:p>
        </p:txBody>
      </p:sp>
      <p:sp>
        <p:nvSpPr>
          <p:cNvPr id="18" name="Text 16"/>
          <p:cNvSpPr/>
          <p:nvPr/>
        </p:nvSpPr>
        <p:spPr>
          <a:xfrm>
            <a:off x="1247775" y="4876800"/>
            <a:ext cx="485954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LINEAR</a:t>
            </a:r>
            <a:endParaRPr lang="en-US" sz="1350" dirty="0"/>
          </a:p>
        </p:txBody>
      </p:sp>
      <p:sp>
        <p:nvSpPr>
          <p:cNvPr id="19" name="Text 17"/>
          <p:cNvSpPr/>
          <p:nvPr/>
        </p:nvSpPr>
        <p:spPr>
          <a:xfrm>
            <a:off x="1247775" y="5162550"/>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Logistic Regression</a:t>
            </a:r>
            <a:endParaRPr lang="en-US" sz="2850" dirty="0"/>
          </a:p>
        </p:txBody>
      </p:sp>
      <p:sp>
        <p:nvSpPr>
          <p:cNvPr id="20" name="Text 18"/>
          <p:cNvSpPr/>
          <p:nvPr/>
        </p:nvSpPr>
        <p:spPr>
          <a:xfrm>
            <a:off x="1247775" y="5686425"/>
            <a:ext cx="4859540"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multinomial · max_iter=1000</a:t>
            </a:r>
            <a:endParaRPr lang="en-US" sz="1500" dirty="0"/>
          </a:p>
        </p:txBody>
      </p:sp>
      <p:sp>
        <p:nvSpPr>
          <p:cNvPr id="21" name="Shape 19"/>
          <p:cNvSpPr/>
          <p:nvPr/>
        </p:nvSpPr>
        <p:spPr>
          <a:xfrm>
            <a:off x="6489650" y="4600575"/>
            <a:ext cx="5308550" cy="1581150"/>
          </a:xfrm>
          <a:prstGeom prst="rect">
            <a:avLst/>
          </a:prstGeom>
          <a:solidFill>
            <a:srgbClr val="FFFFFF"/>
          </a:solidFill>
          <a:ln w="9525">
            <a:solidFill>
              <a:srgbClr val="D9D3C5"/>
            </a:solidFill>
            <a:prstDash val="solid"/>
          </a:ln>
        </p:spPr>
        <p:txBody>
          <a:bodyPr/>
          <a:lstStyle/>
          <a:p>
            <a:endParaRPr lang="en-US"/>
          </a:p>
        </p:txBody>
      </p:sp>
      <p:sp>
        <p:nvSpPr>
          <p:cNvPr id="22" name="Text 20"/>
          <p:cNvSpPr/>
          <p:nvPr/>
        </p:nvSpPr>
        <p:spPr>
          <a:xfrm>
            <a:off x="6784925" y="4876800"/>
            <a:ext cx="485954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KERNEL</a:t>
            </a:r>
            <a:endParaRPr lang="en-US" sz="1350" dirty="0"/>
          </a:p>
        </p:txBody>
      </p:sp>
      <p:sp>
        <p:nvSpPr>
          <p:cNvPr id="23" name="Text 21"/>
          <p:cNvSpPr/>
          <p:nvPr/>
        </p:nvSpPr>
        <p:spPr>
          <a:xfrm>
            <a:off x="6784925" y="5162550"/>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SVM</a:t>
            </a:r>
            <a:endParaRPr lang="en-US" sz="2850" dirty="0"/>
          </a:p>
        </p:txBody>
      </p:sp>
      <p:sp>
        <p:nvSpPr>
          <p:cNvPr id="24" name="Text 22"/>
          <p:cNvSpPr/>
          <p:nvPr/>
        </p:nvSpPr>
        <p:spPr>
          <a:xfrm>
            <a:off x="6784925" y="5686425"/>
            <a:ext cx="4859540"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RBF kernel · probability=True</a:t>
            </a:r>
            <a:endParaRPr lang="en-US" sz="1500" dirty="0"/>
          </a:p>
        </p:txBody>
      </p:sp>
      <p:sp>
        <p:nvSpPr>
          <p:cNvPr id="25" name="Shape 23"/>
          <p:cNvSpPr/>
          <p:nvPr/>
        </p:nvSpPr>
        <p:spPr>
          <a:xfrm>
            <a:off x="12026801" y="4600575"/>
            <a:ext cx="5308699" cy="1581150"/>
          </a:xfrm>
          <a:prstGeom prst="rect">
            <a:avLst/>
          </a:prstGeom>
          <a:solidFill>
            <a:srgbClr val="FFFFFF"/>
          </a:solidFill>
          <a:ln w="9525">
            <a:solidFill>
              <a:srgbClr val="D9D3C5"/>
            </a:solidFill>
            <a:prstDash val="solid"/>
          </a:ln>
        </p:spPr>
        <p:txBody>
          <a:bodyPr/>
          <a:lstStyle/>
          <a:p>
            <a:endParaRPr lang="en-US"/>
          </a:p>
        </p:txBody>
      </p:sp>
      <p:sp>
        <p:nvSpPr>
          <p:cNvPr id="26" name="Text 24"/>
          <p:cNvSpPr/>
          <p:nvPr/>
        </p:nvSpPr>
        <p:spPr>
          <a:xfrm>
            <a:off x="12322076" y="4876800"/>
            <a:ext cx="485969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BOOSTING</a:t>
            </a:r>
            <a:endParaRPr lang="en-US" sz="1350" dirty="0"/>
          </a:p>
        </p:txBody>
      </p:sp>
      <p:sp>
        <p:nvSpPr>
          <p:cNvPr id="27" name="Text 25"/>
          <p:cNvSpPr/>
          <p:nvPr/>
        </p:nvSpPr>
        <p:spPr>
          <a:xfrm>
            <a:off x="12322076" y="5162550"/>
            <a:ext cx="4859694"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XGBoost</a:t>
            </a:r>
            <a:endParaRPr lang="en-US" sz="2850" dirty="0"/>
          </a:p>
        </p:txBody>
      </p:sp>
      <p:sp>
        <p:nvSpPr>
          <p:cNvPr id="28" name="Text 26"/>
          <p:cNvSpPr/>
          <p:nvPr/>
        </p:nvSpPr>
        <p:spPr>
          <a:xfrm>
            <a:off x="12322076" y="5686425"/>
            <a:ext cx="4859694"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n_est=200 · depth=6 · lr=0.1</a:t>
            </a:r>
            <a:endParaRPr lang="en-US" sz="1500" dirty="0"/>
          </a:p>
        </p:txBody>
      </p:sp>
      <p:sp>
        <p:nvSpPr>
          <p:cNvPr id="29" name="Shape 27"/>
          <p:cNvSpPr/>
          <p:nvPr/>
        </p:nvSpPr>
        <p:spPr>
          <a:xfrm>
            <a:off x="952500" y="6638925"/>
            <a:ext cx="2267396" cy="390525"/>
          </a:xfrm>
          <a:prstGeom prst="roundRect">
            <a:avLst>
              <a:gd name="adj" fmla="val 50000"/>
            </a:avLst>
          </a:prstGeom>
          <a:solidFill>
            <a:srgbClr val="FAF8F4"/>
          </a:solidFill>
          <a:ln w="9525">
            <a:solidFill>
              <a:srgbClr val="D9D3C5"/>
            </a:solidFill>
            <a:prstDash val="solid"/>
          </a:ln>
        </p:spPr>
        <p:txBody>
          <a:bodyPr/>
          <a:lstStyle/>
          <a:p>
            <a:endParaRPr lang="en-US"/>
          </a:p>
        </p:txBody>
      </p:sp>
      <p:sp>
        <p:nvSpPr>
          <p:cNvPr id="30" name="Text 28"/>
          <p:cNvSpPr/>
          <p:nvPr/>
        </p:nvSpPr>
        <p:spPr>
          <a:xfrm>
            <a:off x="1114425" y="6724650"/>
            <a:ext cx="2019746"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random_state = 42</a:t>
            </a:r>
            <a:endParaRPr lang="en-US" sz="1500" dirty="0"/>
          </a:p>
        </p:txBody>
      </p:sp>
      <p:sp>
        <p:nvSpPr>
          <p:cNvPr id="31" name="Shape 29"/>
          <p:cNvSpPr/>
          <p:nvPr/>
        </p:nvSpPr>
        <p:spPr>
          <a:xfrm>
            <a:off x="3353246" y="6638925"/>
            <a:ext cx="3067496" cy="390525"/>
          </a:xfrm>
          <a:prstGeom prst="roundRect">
            <a:avLst>
              <a:gd name="adj" fmla="val 50000"/>
            </a:avLst>
          </a:prstGeom>
          <a:solidFill>
            <a:srgbClr val="FAF8F4"/>
          </a:solidFill>
          <a:ln w="9525">
            <a:solidFill>
              <a:srgbClr val="D9D3C5"/>
            </a:solidFill>
            <a:prstDash val="solid"/>
          </a:ln>
        </p:spPr>
        <p:txBody>
          <a:bodyPr/>
          <a:lstStyle/>
          <a:p>
            <a:endParaRPr lang="en-US"/>
          </a:p>
        </p:txBody>
      </p:sp>
      <p:sp>
        <p:nvSpPr>
          <p:cNvPr id="32" name="Text 30"/>
          <p:cNvSpPr/>
          <p:nvPr/>
        </p:nvSpPr>
        <p:spPr>
          <a:xfrm>
            <a:off x="3515171" y="6724650"/>
            <a:ext cx="2825956"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80 / 20 stratified split</a:t>
            </a:r>
            <a:endParaRPr lang="en-US" sz="1500" dirty="0"/>
          </a:p>
        </p:txBody>
      </p:sp>
      <p:sp>
        <p:nvSpPr>
          <p:cNvPr id="33" name="Shape 31"/>
          <p:cNvSpPr/>
          <p:nvPr/>
        </p:nvSpPr>
        <p:spPr>
          <a:xfrm>
            <a:off x="6554093" y="6638925"/>
            <a:ext cx="2953196" cy="390525"/>
          </a:xfrm>
          <a:prstGeom prst="roundRect">
            <a:avLst>
              <a:gd name="adj" fmla="val 50000"/>
            </a:avLst>
          </a:prstGeom>
          <a:solidFill>
            <a:srgbClr val="FAF8F4"/>
          </a:solidFill>
          <a:ln w="9525">
            <a:solidFill>
              <a:srgbClr val="D9D3C5"/>
            </a:solidFill>
            <a:prstDash val="solid"/>
          </a:ln>
        </p:spPr>
        <p:txBody>
          <a:bodyPr/>
          <a:lstStyle/>
          <a:p>
            <a:endParaRPr lang="en-US"/>
          </a:p>
        </p:txBody>
      </p:sp>
      <p:sp>
        <p:nvSpPr>
          <p:cNvPr id="34" name="Text 32"/>
          <p:cNvSpPr/>
          <p:nvPr/>
        </p:nvSpPr>
        <p:spPr>
          <a:xfrm>
            <a:off x="6716018" y="6724650"/>
            <a:ext cx="2708227"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5-fold cross-validation</a:t>
            </a:r>
            <a:endParaRPr lang="en-US" sz="1500" dirty="0"/>
          </a:p>
        </p:txBody>
      </p:sp>
      <p:sp>
        <p:nvSpPr>
          <p:cNvPr id="35" name="Shape 33"/>
          <p:cNvSpPr/>
          <p:nvPr/>
        </p:nvSpPr>
        <p:spPr>
          <a:xfrm>
            <a:off x="9640639" y="6638925"/>
            <a:ext cx="3067496" cy="390525"/>
          </a:xfrm>
          <a:prstGeom prst="roundRect">
            <a:avLst>
              <a:gd name="adj" fmla="val 50000"/>
            </a:avLst>
          </a:prstGeom>
          <a:solidFill>
            <a:srgbClr val="0E3A53"/>
          </a:solidFill>
          <a:ln w="9525">
            <a:solidFill>
              <a:srgbClr val="0E3A53"/>
            </a:solidFill>
            <a:prstDash val="solid"/>
          </a:ln>
        </p:spPr>
        <p:txBody>
          <a:bodyPr/>
          <a:lstStyle/>
          <a:p>
            <a:endParaRPr lang="en-US"/>
          </a:p>
        </p:txBody>
      </p:sp>
      <p:sp>
        <p:nvSpPr>
          <p:cNvPr id="36" name="Text 34"/>
          <p:cNvSpPr/>
          <p:nvPr/>
        </p:nvSpPr>
        <p:spPr>
          <a:xfrm>
            <a:off x="9802564" y="6724650"/>
            <a:ext cx="2825956"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FFFFFF"/>
                </a:solidFill>
                <a:latin typeface="Courier New" pitchFamily="34" charset="0"/>
                <a:ea typeface="Courier New" pitchFamily="34" charset="-122"/>
                <a:cs typeface="Courier New" pitchFamily="34" charset="-120"/>
              </a:rPr>
              <a:t>Primary metric: F1-macro</a:t>
            </a:r>
            <a:endParaRPr lang="en-US" sz="1500" dirty="0"/>
          </a:p>
        </p:txBody>
      </p:sp>
      <p:sp>
        <p:nvSpPr>
          <p:cNvPr id="37" name="Text 35"/>
          <p:cNvSpPr/>
          <p:nvPr/>
        </p:nvSpPr>
        <p:spPr>
          <a:xfrm>
            <a:off x="16692116" y="71532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11/19</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9593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11 · CLASSIFICATION RESULTS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Best, middle, and worst — side by side</a:t>
            </a:r>
            <a:endParaRPr lang="en-US" sz="4800" dirty="0"/>
          </a:p>
        </p:txBody>
      </p:sp>
      <p:sp>
        <p:nvSpPr>
          <p:cNvPr id="5" name="Shape 3"/>
          <p:cNvSpPr/>
          <p:nvPr/>
        </p:nvSpPr>
        <p:spPr>
          <a:xfrm>
            <a:off x="952500" y="3743325"/>
            <a:ext cx="5283101" cy="19050"/>
          </a:xfrm>
          <a:prstGeom prst="rect">
            <a:avLst/>
          </a:prstGeom>
          <a:solidFill>
            <a:srgbClr val="1D9E75"/>
          </a:solidFill>
          <a:ln/>
        </p:spPr>
        <p:txBody>
          <a:bodyPr/>
          <a:lstStyle/>
          <a:p>
            <a:endParaRPr lang="en-US"/>
          </a:p>
        </p:txBody>
      </p:sp>
      <p:sp>
        <p:nvSpPr>
          <p:cNvPr id="6" name="Text 4"/>
          <p:cNvSpPr/>
          <p:nvPr/>
        </p:nvSpPr>
        <p:spPr>
          <a:xfrm>
            <a:off x="952500" y="2676525"/>
            <a:ext cx="544159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1D9E75"/>
                </a:solidFill>
                <a:latin typeface="Courier New" pitchFamily="34" charset="0"/>
                <a:ea typeface="Courier New" pitchFamily="34" charset="-122"/>
                <a:cs typeface="Courier New" pitchFamily="34" charset="-120"/>
              </a:rPr>
              <a:t>BEST</a:t>
            </a:r>
            <a:endParaRPr lang="en-US" sz="1350" dirty="0"/>
          </a:p>
        </p:txBody>
      </p:sp>
      <p:sp>
        <p:nvSpPr>
          <p:cNvPr id="7" name="Text 5"/>
          <p:cNvSpPr/>
          <p:nvPr/>
        </p:nvSpPr>
        <p:spPr>
          <a:xfrm>
            <a:off x="952500" y="2924175"/>
            <a:ext cx="5441594" cy="32385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100" b="1" dirty="0">
                <a:solidFill>
                  <a:srgbClr val="1C1B1A"/>
                </a:solidFill>
                <a:latin typeface="Georgia" pitchFamily="34" charset="0"/>
                <a:ea typeface="Georgia" pitchFamily="34" charset="-122"/>
                <a:cs typeface="Georgia" pitchFamily="34" charset="-120"/>
              </a:rPr>
              <a:t>XGBoost</a:t>
            </a:r>
            <a:endParaRPr lang="en-US" sz="2100" dirty="0"/>
          </a:p>
        </p:txBody>
      </p:sp>
      <p:sp>
        <p:nvSpPr>
          <p:cNvPr id="8" name="Text 6"/>
          <p:cNvSpPr/>
          <p:nvPr/>
        </p:nvSpPr>
        <p:spPr>
          <a:xfrm>
            <a:off x="952500" y="3419475"/>
            <a:ext cx="95428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807C76"/>
                </a:solidFill>
                <a:latin typeface="Courier New" pitchFamily="34" charset="0"/>
                <a:ea typeface="Courier New" pitchFamily="34" charset="-122"/>
                <a:cs typeface="Courier New" pitchFamily="34" charset="-120"/>
              </a:rPr>
              <a:t>F1-MACRO</a:t>
            </a:r>
            <a:endParaRPr lang="en-US" sz="1350" dirty="0"/>
          </a:p>
        </p:txBody>
      </p:sp>
      <p:sp>
        <p:nvSpPr>
          <p:cNvPr id="9" name="Text 7"/>
          <p:cNvSpPr/>
          <p:nvPr/>
        </p:nvSpPr>
        <p:spPr>
          <a:xfrm>
            <a:off x="5556200" y="3324225"/>
            <a:ext cx="755600" cy="314325"/>
          </a:xfrm>
          <a:prstGeom prst="rect">
            <a:avLst/>
          </a:prstGeom>
          <a:noFill/>
          <a:ln/>
        </p:spPr>
        <p:txBody>
          <a:bodyPr wrap="square" lIns="25400" tIns="25400" rIns="25400" bIns="25400" rtlCol="0" anchor="t">
            <a:normAutofit fontScale="77500" lnSpcReduction="20000"/>
          </a:bodyPr>
          <a:lstStyle/>
          <a:p>
            <a:pPr marL="0" indent="0" algn="l">
              <a:lnSpc>
                <a:spcPct val="92000"/>
              </a:lnSpc>
              <a:buNone/>
            </a:pPr>
            <a:r>
              <a:rPr lang="en-US" sz="2400" b="1" kern="0" spc="-48" dirty="0">
                <a:solidFill>
                  <a:srgbClr val="1D9E75"/>
                </a:solidFill>
                <a:latin typeface="Georgia" pitchFamily="34" charset="0"/>
                <a:ea typeface="Georgia" pitchFamily="34" charset="-122"/>
                <a:cs typeface="Georgia" pitchFamily="34" charset="-120"/>
              </a:rPr>
              <a:t>0.706</a:t>
            </a:r>
            <a:endParaRPr lang="en-US" sz="2400" dirty="0"/>
          </a:p>
        </p:txBody>
      </p:sp>
      <p:sp>
        <p:nvSpPr>
          <p:cNvPr id="10" name="Shape 8"/>
          <p:cNvSpPr/>
          <p:nvPr/>
        </p:nvSpPr>
        <p:spPr>
          <a:xfrm>
            <a:off x="952500" y="3895725"/>
            <a:ext cx="5283101" cy="2286000"/>
          </a:xfrm>
          <a:prstGeom prst="rect">
            <a:avLst/>
          </a:prstGeom>
          <a:solidFill>
            <a:srgbClr val="FFFFFF"/>
          </a:solidFill>
          <a:ln w="9525">
            <a:solidFill>
              <a:srgbClr val="D9D3C5"/>
            </a:solidFill>
            <a:prstDash val="solid"/>
          </a:ln>
        </p:spPr>
        <p:txBody>
          <a:bodyPr/>
          <a:lstStyle/>
          <a:p>
            <a:endParaRPr lang="en-US"/>
          </a:p>
        </p:txBody>
      </p:sp>
      <p:pic>
        <p:nvPicPr>
          <p:cNvPr id="11" name="Image 0" descr="preencoded.png"/>
          <p:cNvPicPr>
            <a:picLocks noChangeAspect="1"/>
          </p:cNvPicPr>
          <p:nvPr/>
        </p:nvPicPr>
        <p:blipFill>
          <a:blip r:embed="rId3"/>
          <a:srcRect/>
          <a:stretch/>
        </p:blipFill>
        <p:spPr>
          <a:xfrm>
            <a:off x="2294965" y="3868054"/>
            <a:ext cx="2387763" cy="2151598"/>
          </a:xfrm>
          <a:prstGeom prst="rect">
            <a:avLst/>
          </a:prstGeom>
        </p:spPr>
      </p:pic>
      <p:sp>
        <p:nvSpPr>
          <p:cNvPr id="12" name="Shape 9"/>
          <p:cNvSpPr/>
          <p:nvPr/>
        </p:nvSpPr>
        <p:spPr>
          <a:xfrm>
            <a:off x="6502301" y="3743325"/>
            <a:ext cx="5283250" cy="19050"/>
          </a:xfrm>
          <a:prstGeom prst="rect">
            <a:avLst/>
          </a:prstGeom>
          <a:solidFill>
            <a:srgbClr val="0E3A53"/>
          </a:solidFill>
          <a:ln/>
        </p:spPr>
        <p:txBody>
          <a:bodyPr/>
          <a:lstStyle/>
          <a:p>
            <a:endParaRPr lang="en-US"/>
          </a:p>
        </p:txBody>
      </p:sp>
      <p:sp>
        <p:nvSpPr>
          <p:cNvPr id="13" name="Text 10"/>
          <p:cNvSpPr/>
          <p:nvPr/>
        </p:nvSpPr>
        <p:spPr>
          <a:xfrm>
            <a:off x="6502301" y="2676525"/>
            <a:ext cx="5441747"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MID-RANGE</a:t>
            </a:r>
            <a:endParaRPr lang="en-US" sz="1350" dirty="0"/>
          </a:p>
        </p:txBody>
      </p:sp>
      <p:sp>
        <p:nvSpPr>
          <p:cNvPr id="14" name="Text 11"/>
          <p:cNvSpPr/>
          <p:nvPr/>
        </p:nvSpPr>
        <p:spPr>
          <a:xfrm>
            <a:off x="6502301" y="2924175"/>
            <a:ext cx="5441747" cy="32385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100" b="1" dirty="0">
                <a:solidFill>
                  <a:srgbClr val="1C1B1A"/>
                </a:solidFill>
                <a:latin typeface="Georgia" pitchFamily="34" charset="0"/>
                <a:ea typeface="Georgia" pitchFamily="34" charset="-122"/>
                <a:cs typeface="Georgia" pitchFamily="34" charset="-120"/>
              </a:rPr>
              <a:t>Logistic Regression</a:t>
            </a:r>
            <a:endParaRPr lang="en-US" sz="2100" dirty="0"/>
          </a:p>
        </p:txBody>
      </p:sp>
      <p:sp>
        <p:nvSpPr>
          <p:cNvPr id="15" name="Text 12"/>
          <p:cNvSpPr/>
          <p:nvPr/>
        </p:nvSpPr>
        <p:spPr>
          <a:xfrm>
            <a:off x="6502301" y="3419475"/>
            <a:ext cx="95428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807C76"/>
                </a:solidFill>
                <a:latin typeface="Courier New" pitchFamily="34" charset="0"/>
                <a:ea typeface="Courier New" pitchFamily="34" charset="-122"/>
                <a:cs typeface="Courier New" pitchFamily="34" charset="-120"/>
              </a:rPr>
              <a:t>F1-MACRO</a:t>
            </a:r>
            <a:endParaRPr lang="en-US" sz="1350" dirty="0"/>
          </a:p>
        </p:txBody>
      </p:sp>
      <p:sp>
        <p:nvSpPr>
          <p:cNvPr id="16" name="Text 13"/>
          <p:cNvSpPr/>
          <p:nvPr/>
        </p:nvSpPr>
        <p:spPr>
          <a:xfrm>
            <a:off x="10831415" y="3381375"/>
            <a:ext cx="1030335" cy="257175"/>
          </a:xfrm>
          <a:prstGeom prst="rect">
            <a:avLst/>
          </a:prstGeom>
          <a:noFill/>
          <a:ln/>
        </p:spPr>
        <p:txBody>
          <a:bodyPr wrap="square" lIns="25400" tIns="25400" rIns="25400" bIns="25400" rtlCol="0" anchor="t">
            <a:normAutofit fontScale="70000" lnSpcReduction="20000"/>
          </a:bodyPr>
          <a:lstStyle/>
          <a:p>
            <a:pPr marL="0" indent="0" algn="l">
              <a:lnSpc>
                <a:spcPct val="92000"/>
              </a:lnSpc>
              <a:buNone/>
            </a:pPr>
            <a:r>
              <a:rPr lang="en-US" sz="2400" b="1" kern="0" spc="-48" dirty="0">
                <a:solidFill>
                  <a:srgbClr val="0E3A53"/>
                </a:solidFill>
                <a:latin typeface="Georgia" pitchFamily="34" charset="0"/>
                <a:ea typeface="Georgia" pitchFamily="34" charset="-122"/>
                <a:cs typeface="Georgia" pitchFamily="34" charset="-120"/>
              </a:rPr>
              <a:t>0.683</a:t>
            </a:r>
            <a:endParaRPr lang="en-US" sz="2400" dirty="0"/>
          </a:p>
        </p:txBody>
      </p:sp>
      <p:sp>
        <p:nvSpPr>
          <p:cNvPr id="17" name="Shape 14"/>
          <p:cNvSpPr/>
          <p:nvPr/>
        </p:nvSpPr>
        <p:spPr>
          <a:xfrm>
            <a:off x="6502301" y="3895725"/>
            <a:ext cx="5283250" cy="2286000"/>
          </a:xfrm>
          <a:prstGeom prst="rect">
            <a:avLst/>
          </a:prstGeom>
          <a:solidFill>
            <a:srgbClr val="FFFFFF"/>
          </a:solidFill>
          <a:ln w="9525">
            <a:solidFill>
              <a:srgbClr val="D9D3C5"/>
            </a:solidFill>
            <a:prstDash val="solid"/>
          </a:ln>
        </p:spPr>
        <p:txBody>
          <a:bodyPr/>
          <a:lstStyle/>
          <a:p>
            <a:endParaRPr lang="en-US"/>
          </a:p>
        </p:txBody>
      </p:sp>
      <p:pic>
        <p:nvPicPr>
          <p:cNvPr id="18" name="Image 1" descr="preencoded.png"/>
          <p:cNvPicPr>
            <a:picLocks noChangeAspect="1"/>
          </p:cNvPicPr>
          <p:nvPr/>
        </p:nvPicPr>
        <p:blipFill>
          <a:blip r:embed="rId4"/>
          <a:srcRect/>
          <a:stretch/>
        </p:blipFill>
        <p:spPr>
          <a:xfrm>
            <a:off x="8055173" y="4057650"/>
            <a:ext cx="2177355" cy="1962001"/>
          </a:xfrm>
          <a:prstGeom prst="rect">
            <a:avLst/>
          </a:prstGeom>
        </p:spPr>
      </p:pic>
      <p:sp>
        <p:nvSpPr>
          <p:cNvPr id="19" name="Shape 15"/>
          <p:cNvSpPr/>
          <p:nvPr/>
        </p:nvSpPr>
        <p:spPr>
          <a:xfrm>
            <a:off x="12052250" y="3743325"/>
            <a:ext cx="5283101" cy="19050"/>
          </a:xfrm>
          <a:prstGeom prst="rect">
            <a:avLst/>
          </a:prstGeom>
          <a:solidFill>
            <a:srgbClr val="E24B4A"/>
          </a:solidFill>
          <a:ln/>
        </p:spPr>
        <p:txBody>
          <a:bodyPr/>
          <a:lstStyle/>
          <a:p>
            <a:endParaRPr lang="en-US"/>
          </a:p>
        </p:txBody>
      </p:sp>
      <p:sp>
        <p:nvSpPr>
          <p:cNvPr id="20" name="Text 16"/>
          <p:cNvSpPr/>
          <p:nvPr/>
        </p:nvSpPr>
        <p:spPr>
          <a:xfrm>
            <a:off x="12052250" y="2676525"/>
            <a:ext cx="544159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E24B4A"/>
                </a:solidFill>
                <a:latin typeface="Courier New" pitchFamily="34" charset="0"/>
                <a:ea typeface="Courier New" pitchFamily="34" charset="-122"/>
                <a:cs typeface="Courier New" pitchFamily="34" charset="-120"/>
              </a:rPr>
              <a:t>WEAKEST</a:t>
            </a:r>
            <a:endParaRPr lang="en-US" sz="1350" dirty="0"/>
          </a:p>
        </p:txBody>
      </p:sp>
      <p:sp>
        <p:nvSpPr>
          <p:cNvPr id="21" name="Text 17"/>
          <p:cNvSpPr/>
          <p:nvPr/>
        </p:nvSpPr>
        <p:spPr>
          <a:xfrm>
            <a:off x="12052250" y="2924175"/>
            <a:ext cx="5441594" cy="32385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100" b="1" dirty="0">
                <a:solidFill>
                  <a:srgbClr val="1C1B1A"/>
                </a:solidFill>
                <a:latin typeface="Georgia" pitchFamily="34" charset="0"/>
                <a:ea typeface="Georgia" pitchFamily="34" charset="-122"/>
                <a:cs typeface="Georgia" pitchFamily="34" charset="-120"/>
              </a:rPr>
              <a:t>KNN (k=11)</a:t>
            </a:r>
            <a:endParaRPr lang="en-US" sz="2100" dirty="0"/>
          </a:p>
        </p:txBody>
      </p:sp>
      <p:sp>
        <p:nvSpPr>
          <p:cNvPr id="22" name="Text 18"/>
          <p:cNvSpPr/>
          <p:nvPr/>
        </p:nvSpPr>
        <p:spPr>
          <a:xfrm>
            <a:off x="12052250" y="3419475"/>
            <a:ext cx="95428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807C76"/>
                </a:solidFill>
                <a:latin typeface="Courier New" pitchFamily="34" charset="0"/>
                <a:ea typeface="Courier New" pitchFamily="34" charset="-122"/>
                <a:cs typeface="Courier New" pitchFamily="34" charset="-120"/>
              </a:rPr>
              <a:t>F1-MACRO</a:t>
            </a:r>
            <a:endParaRPr lang="en-US" sz="1350" dirty="0"/>
          </a:p>
        </p:txBody>
      </p:sp>
      <p:sp>
        <p:nvSpPr>
          <p:cNvPr id="23" name="Text 19"/>
          <p:cNvSpPr/>
          <p:nvPr/>
        </p:nvSpPr>
        <p:spPr>
          <a:xfrm>
            <a:off x="16455023" y="3333750"/>
            <a:ext cx="954286" cy="342899"/>
          </a:xfrm>
          <a:prstGeom prst="rect">
            <a:avLst/>
          </a:prstGeom>
          <a:noFill/>
          <a:ln/>
        </p:spPr>
        <p:txBody>
          <a:bodyPr wrap="square" lIns="25400" tIns="25400" rIns="25400" bIns="25400" rtlCol="0" anchor="t">
            <a:normAutofit fontScale="92500" lnSpcReduction="10000"/>
          </a:bodyPr>
          <a:lstStyle/>
          <a:p>
            <a:pPr marL="0" indent="0" algn="l">
              <a:lnSpc>
                <a:spcPct val="92000"/>
              </a:lnSpc>
              <a:buNone/>
            </a:pPr>
            <a:r>
              <a:rPr lang="en-US" sz="2400" b="1" kern="0" spc="-48" dirty="0">
                <a:solidFill>
                  <a:srgbClr val="E24B4A"/>
                </a:solidFill>
                <a:latin typeface="Georgia" pitchFamily="34" charset="0"/>
                <a:ea typeface="Georgia" pitchFamily="34" charset="-122"/>
                <a:cs typeface="Georgia" pitchFamily="34" charset="-120"/>
              </a:rPr>
              <a:t>0.586</a:t>
            </a:r>
            <a:endParaRPr lang="en-US" sz="2400" dirty="0"/>
          </a:p>
        </p:txBody>
      </p:sp>
      <p:sp>
        <p:nvSpPr>
          <p:cNvPr id="24" name="Shape 20"/>
          <p:cNvSpPr/>
          <p:nvPr/>
        </p:nvSpPr>
        <p:spPr>
          <a:xfrm>
            <a:off x="12052250" y="3895725"/>
            <a:ext cx="5283101" cy="2286000"/>
          </a:xfrm>
          <a:prstGeom prst="rect">
            <a:avLst/>
          </a:prstGeom>
          <a:solidFill>
            <a:srgbClr val="FFFFFF"/>
          </a:solidFill>
          <a:ln w="9525">
            <a:solidFill>
              <a:srgbClr val="D9D3C5"/>
            </a:solidFill>
            <a:prstDash val="solid"/>
          </a:ln>
        </p:spPr>
        <p:txBody>
          <a:bodyPr/>
          <a:lstStyle/>
          <a:p>
            <a:endParaRPr lang="en-US"/>
          </a:p>
        </p:txBody>
      </p:sp>
      <p:pic>
        <p:nvPicPr>
          <p:cNvPr id="25" name="Image 2" descr="preencoded.png"/>
          <p:cNvPicPr>
            <a:picLocks noChangeAspect="1"/>
          </p:cNvPicPr>
          <p:nvPr/>
        </p:nvPicPr>
        <p:blipFill>
          <a:blip r:embed="rId5"/>
          <a:srcRect/>
          <a:stretch/>
        </p:blipFill>
        <p:spPr>
          <a:xfrm>
            <a:off x="13605123" y="4057650"/>
            <a:ext cx="2177355" cy="1962001"/>
          </a:xfrm>
          <a:prstGeom prst="rect">
            <a:avLst/>
          </a:prstGeom>
        </p:spPr>
      </p:pic>
      <p:sp>
        <p:nvSpPr>
          <p:cNvPr id="26" name="Text 21"/>
          <p:cNvSpPr/>
          <p:nvPr/>
        </p:nvSpPr>
        <p:spPr>
          <a:xfrm>
            <a:off x="952500" y="6410325"/>
            <a:ext cx="8654001"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PER-CLASS RECALL — XGBOOST (N = 885 TEST SET)</a:t>
            </a:r>
            <a:endParaRPr lang="en-US" sz="1350" dirty="0"/>
          </a:p>
        </p:txBody>
      </p:sp>
      <p:sp>
        <p:nvSpPr>
          <p:cNvPr id="27" name="Shape 22"/>
          <p:cNvSpPr/>
          <p:nvPr/>
        </p:nvSpPr>
        <p:spPr>
          <a:xfrm>
            <a:off x="952500" y="7277100"/>
            <a:ext cx="1942802" cy="19050"/>
          </a:xfrm>
          <a:prstGeom prst="rect">
            <a:avLst/>
          </a:prstGeom>
          <a:solidFill>
            <a:srgbClr val="1C1B1A"/>
          </a:solidFill>
          <a:ln/>
        </p:spPr>
        <p:txBody>
          <a:bodyPr/>
          <a:lstStyle/>
          <a:p>
            <a:endParaRPr lang="en-US"/>
          </a:p>
        </p:txBody>
      </p:sp>
      <p:sp>
        <p:nvSpPr>
          <p:cNvPr id="28" name="Text 23"/>
          <p:cNvSpPr/>
          <p:nvPr/>
        </p:nvSpPr>
        <p:spPr>
          <a:xfrm>
            <a:off x="1162050" y="6867525"/>
            <a:ext cx="1599902"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CLASS</a:t>
            </a:r>
            <a:endParaRPr lang="en-US" sz="1650" dirty="0"/>
          </a:p>
        </p:txBody>
      </p:sp>
      <p:sp>
        <p:nvSpPr>
          <p:cNvPr id="29" name="Shape 24"/>
          <p:cNvSpPr/>
          <p:nvPr/>
        </p:nvSpPr>
        <p:spPr>
          <a:xfrm>
            <a:off x="2895302" y="7277100"/>
            <a:ext cx="1984325" cy="19050"/>
          </a:xfrm>
          <a:prstGeom prst="rect">
            <a:avLst/>
          </a:prstGeom>
          <a:solidFill>
            <a:srgbClr val="1C1B1A"/>
          </a:solidFill>
          <a:ln/>
        </p:spPr>
        <p:txBody>
          <a:bodyPr/>
          <a:lstStyle/>
          <a:p>
            <a:endParaRPr lang="en-US"/>
          </a:p>
        </p:txBody>
      </p:sp>
      <p:sp>
        <p:nvSpPr>
          <p:cNvPr id="30" name="Text 25"/>
          <p:cNvSpPr/>
          <p:nvPr/>
        </p:nvSpPr>
        <p:spPr>
          <a:xfrm>
            <a:off x="3028652" y="6867525"/>
            <a:ext cx="1641425"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TEST N</a:t>
            </a:r>
            <a:endParaRPr lang="en-US" sz="1650" dirty="0"/>
          </a:p>
        </p:txBody>
      </p:sp>
      <p:sp>
        <p:nvSpPr>
          <p:cNvPr id="31" name="Shape 26"/>
          <p:cNvSpPr/>
          <p:nvPr/>
        </p:nvSpPr>
        <p:spPr>
          <a:xfrm>
            <a:off x="4879628" y="7277100"/>
            <a:ext cx="2411611" cy="19050"/>
          </a:xfrm>
          <a:prstGeom prst="rect">
            <a:avLst/>
          </a:prstGeom>
          <a:solidFill>
            <a:srgbClr val="1C1B1A"/>
          </a:solidFill>
          <a:ln/>
        </p:spPr>
        <p:txBody>
          <a:bodyPr/>
          <a:lstStyle/>
          <a:p>
            <a:endParaRPr lang="en-US"/>
          </a:p>
        </p:txBody>
      </p:sp>
      <p:sp>
        <p:nvSpPr>
          <p:cNvPr id="32" name="Text 27"/>
          <p:cNvSpPr/>
          <p:nvPr/>
        </p:nvSpPr>
        <p:spPr>
          <a:xfrm>
            <a:off x="5012978" y="6867525"/>
            <a:ext cx="2068711"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CORRECT</a:t>
            </a:r>
            <a:endParaRPr lang="en-US" sz="1650" dirty="0"/>
          </a:p>
        </p:txBody>
      </p:sp>
      <p:sp>
        <p:nvSpPr>
          <p:cNvPr id="33" name="Shape 28"/>
          <p:cNvSpPr/>
          <p:nvPr/>
        </p:nvSpPr>
        <p:spPr>
          <a:xfrm>
            <a:off x="7291239" y="7277100"/>
            <a:ext cx="2063651" cy="19050"/>
          </a:xfrm>
          <a:prstGeom prst="rect">
            <a:avLst/>
          </a:prstGeom>
          <a:solidFill>
            <a:srgbClr val="1C1B1A"/>
          </a:solidFill>
          <a:ln/>
        </p:spPr>
        <p:txBody>
          <a:bodyPr/>
          <a:lstStyle/>
          <a:p>
            <a:endParaRPr lang="en-US"/>
          </a:p>
        </p:txBody>
      </p:sp>
      <p:sp>
        <p:nvSpPr>
          <p:cNvPr id="34" name="Text 29"/>
          <p:cNvSpPr/>
          <p:nvPr/>
        </p:nvSpPr>
        <p:spPr>
          <a:xfrm>
            <a:off x="7424589" y="6867525"/>
            <a:ext cx="1720751"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RECALL</a:t>
            </a:r>
            <a:endParaRPr lang="en-US" sz="1650" dirty="0"/>
          </a:p>
        </p:txBody>
      </p:sp>
      <p:sp>
        <p:nvSpPr>
          <p:cNvPr id="35" name="Shape 30"/>
          <p:cNvSpPr/>
          <p:nvPr/>
        </p:nvSpPr>
        <p:spPr>
          <a:xfrm>
            <a:off x="952500" y="7872413"/>
            <a:ext cx="1942802" cy="9525"/>
          </a:xfrm>
          <a:prstGeom prst="rect">
            <a:avLst/>
          </a:prstGeom>
          <a:solidFill>
            <a:srgbClr val="D9D3C5"/>
          </a:solidFill>
          <a:ln/>
        </p:spPr>
        <p:txBody>
          <a:bodyPr/>
          <a:lstStyle/>
          <a:p>
            <a:endParaRPr lang="en-US"/>
          </a:p>
        </p:txBody>
      </p:sp>
      <p:sp>
        <p:nvSpPr>
          <p:cNvPr id="36" name="Text 31"/>
          <p:cNvSpPr/>
          <p:nvPr/>
        </p:nvSpPr>
        <p:spPr>
          <a:xfrm>
            <a:off x="1162050" y="7467600"/>
            <a:ext cx="1599902" cy="271463"/>
          </a:xfrm>
          <a:prstGeom prst="rect">
            <a:avLst/>
          </a:prstGeom>
          <a:noFill/>
          <a:ln/>
        </p:spPr>
        <p:txBody>
          <a:bodyPr wrap="square" lIns="25400" tIns="25400" rIns="25400" bIns="25400" rtlCol="0" anchor="ctr">
            <a:normAutofit lnSpcReduction="10000"/>
          </a:bodyPr>
          <a:lstStyle/>
          <a:p>
            <a:pPr marL="0" indent="0" algn="l">
              <a:buNone/>
            </a:pPr>
            <a:r>
              <a:rPr lang="en-US" sz="1500" b="1" dirty="0">
                <a:solidFill>
                  <a:srgbClr val="E24B4A"/>
                </a:solidFill>
                <a:latin typeface="Arial" pitchFamily="34" charset="0"/>
                <a:ea typeface="Arial" pitchFamily="34" charset="-122"/>
                <a:cs typeface="Arial" pitchFamily="34" charset="-120"/>
              </a:rPr>
              <a:t>Dropout</a:t>
            </a:r>
            <a:endParaRPr lang="en-US" sz="1500" dirty="0"/>
          </a:p>
        </p:txBody>
      </p:sp>
      <p:sp>
        <p:nvSpPr>
          <p:cNvPr id="37" name="Shape 32"/>
          <p:cNvSpPr/>
          <p:nvPr/>
        </p:nvSpPr>
        <p:spPr>
          <a:xfrm>
            <a:off x="2895302" y="7872413"/>
            <a:ext cx="1984325" cy="9525"/>
          </a:xfrm>
          <a:prstGeom prst="rect">
            <a:avLst/>
          </a:prstGeom>
          <a:solidFill>
            <a:srgbClr val="D9D3C5"/>
          </a:solidFill>
          <a:ln/>
        </p:spPr>
        <p:txBody>
          <a:bodyPr/>
          <a:lstStyle/>
          <a:p>
            <a:endParaRPr lang="en-US"/>
          </a:p>
        </p:txBody>
      </p:sp>
      <p:sp>
        <p:nvSpPr>
          <p:cNvPr id="38" name="Text 33"/>
          <p:cNvSpPr/>
          <p:nvPr/>
        </p:nvSpPr>
        <p:spPr>
          <a:xfrm>
            <a:off x="3028652" y="7467600"/>
            <a:ext cx="1641425" cy="271463"/>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284</a:t>
            </a:r>
            <a:endParaRPr lang="en-US" sz="1500" dirty="0"/>
          </a:p>
        </p:txBody>
      </p:sp>
      <p:sp>
        <p:nvSpPr>
          <p:cNvPr id="39" name="Shape 34"/>
          <p:cNvSpPr/>
          <p:nvPr/>
        </p:nvSpPr>
        <p:spPr>
          <a:xfrm>
            <a:off x="4879628" y="7872413"/>
            <a:ext cx="2411611" cy="9525"/>
          </a:xfrm>
          <a:prstGeom prst="rect">
            <a:avLst/>
          </a:prstGeom>
          <a:solidFill>
            <a:srgbClr val="D9D3C5"/>
          </a:solidFill>
          <a:ln/>
        </p:spPr>
        <p:txBody>
          <a:bodyPr/>
          <a:lstStyle/>
          <a:p>
            <a:endParaRPr lang="en-US"/>
          </a:p>
        </p:txBody>
      </p:sp>
      <p:sp>
        <p:nvSpPr>
          <p:cNvPr id="40" name="Text 35"/>
          <p:cNvSpPr/>
          <p:nvPr/>
        </p:nvSpPr>
        <p:spPr>
          <a:xfrm>
            <a:off x="5012978" y="7467600"/>
            <a:ext cx="2068711" cy="271463"/>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213</a:t>
            </a:r>
            <a:endParaRPr lang="en-US" sz="1500" dirty="0"/>
          </a:p>
        </p:txBody>
      </p:sp>
      <p:sp>
        <p:nvSpPr>
          <p:cNvPr id="41" name="Shape 36"/>
          <p:cNvSpPr/>
          <p:nvPr/>
        </p:nvSpPr>
        <p:spPr>
          <a:xfrm>
            <a:off x="7291239" y="7872413"/>
            <a:ext cx="2063651" cy="9525"/>
          </a:xfrm>
          <a:prstGeom prst="rect">
            <a:avLst/>
          </a:prstGeom>
          <a:solidFill>
            <a:srgbClr val="D9D3C5"/>
          </a:solidFill>
          <a:ln/>
        </p:spPr>
        <p:txBody>
          <a:bodyPr/>
          <a:lstStyle/>
          <a:p>
            <a:endParaRPr lang="en-US"/>
          </a:p>
        </p:txBody>
      </p:sp>
      <p:sp>
        <p:nvSpPr>
          <p:cNvPr id="42" name="Text 37"/>
          <p:cNvSpPr/>
          <p:nvPr/>
        </p:nvSpPr>
        <p:spPr>
          <a:xfrm>
            <a:off x="7424589" y="7467600"/>
            <a:ext cx="1720751" cy="271463"/>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75.0%</a:t>
            </a:r>
            <a:endParaRPr lang="en-US" sz="1500" dirty="0"/>
          </a:p>
        </p:txBody>
      </p:sp>
      <p:sp>
        <p:nvSpPr>
          <p:cNvPr id="43" name="Shape 38"/>
          <p:cNvSpPr/>
          <p:nvPr/>
        </p:nvSpPr>
        <p:spPr>
          <a:xfrm>
            <a:off x="952500" y="7881937"/>
            <a:ext cx="1942802" cy="581025"/>
          </a:xfrm>
          <a:prstGeom prst="rect">
            <a:avLst/>
          </a:prstGeom>
          <a:solidFill>
            <a:srgbClr val="1D9E75">
              <a:alpha val="8000"/>
            </a:srgbClr>
          </a:solidFill>
          <a:ln/>
        </p:spPr>
        <p:txBody>
          <a:bodyPr/>
          <a:lstStyle/>
          <a:p>
            <a:endParaRPr lang="en-US"/>
          </a:p>
        </p:txBody>
      </p:sp>
      <p:sp>
        <p:nvSpPr>
          <p:cNvPr id="44" name="Shape 39"/>
          <p:cNvSpPr/>
          <p:nvPr/>
        </p:nvSpPr>
        <p:spPr>
          <a:xfrm>
            <a:off x="952500" y="8453438"/>
            <a:ext cx="1942802" cy="9525"/>
          </a:xfrm>
          <a:prstGeom prst="rect">
            <a:avLst/>
          </a:prstGeom>
          <a:solidFill>
            <a:srgbClr val="D9D3C5"/>
          </a:solidFill>
          <a:ln/>
        </p:spPr>
        <p:txBody>
          <a:bodyPr/>
          <a:lstStyle/>
          <a:p>
            <a:endParaRPr lang="en-US"/>
          </a:p>
        </p:txBody>
      </p:sp>
      <p:sp>
        <p:nvSpPr>
          <p:cNvPr id="45" name="Text 40"/>
          <p:cNvSpPr/>
          <p:nvPr/>
        </p:nvSpPr>
        <p:spPr>
          <a:xfrm>
            <a:off x="1162050" y="8053387"/>
            <a:ext cx="1599902" cy="266700"/>
          </a:xfrm>
          <a:prstGeom prst="rect">
            <a:avLst/>
          </a:prstGeom>
          <a:noFill/>
          <a:ln/>
        </p:spPr>
        <p:txBody>
          <a:bodyPr wrap="square" lIns="25400" tIns="25400" rIns="25400" bIns="25400" rtlCol="0" anchor="ctr">
            <a:normAutofit lnSpcReduction="10000"/>
          </a:bodyPr>
          <a:lstStyle/>
          <a:p>
            <a:pPr marL="0" indent="0" algn="l">
              <a:buNone/>
            </a:pPr>
            <a:r>
              <a:rPr lang="en-US" sz="1500" b="1" dirty="0">
                <a:solidFill>
                  <a:srgbClr val="EF9F27"/>
                </a:solidFill>
                <a:latin typeface="Arial" pitchFamily="34" charset="0"/>
                <a:ea typeface="Arial" pitchFamily="34" charset="-122"/>
                <a:cs typeface="Arial" pitchFamily="34" charset="-120"/>
              </a:rPr>
              <a:t>Enrolled</a:t>
            </a:r>
            <a:endParaRPr lang="en-US" sz="1500" dirty="0"/>
          </a:p>
        </p:txBody>
      </p:sp>
      <p:sp>
        <p:nvSpPr>
          <p:cNvPr id="46" name="Shape 41"/>
          <p:cNvSpPr/>
          <p:nvPr/>
        </p:nvSpPr>
        <p:spPr>
          <a:xfrm>
            <a:off x="2895302" y="7881937"/>
            <a:ext cx="1984325" cy="581025"/>
          </a:xfrm>
          <a:prstGeom prst="rect">
            <a:avLst/>
          </a:prstGeom>
          <a:solidFill>
            <a:srgbClr val="1D9E75">
              <a:alpha val="8000"/>
            </a:srgbClr>
          </a:solidFill>
          <a:ln/>
        </p:spPr>
        <p:txBody>
          <a:bodyPr/>
          <a:lstStyle/>
          <a:p>
            <a:endParaRPr lang="en-US"/>
          </a:p>
        </p:txBody>
      </p:sp>
      <p:sp>
        <p:nvSpPr>
          <p:cNvPr id="47" name="Shape 42"/>
          <p:cNvSpPr/>
          <p:nvPr/>
        </p:nvSpPr>
        <p:spPr>
          <a:xfrm>
            <a:off x="2895302" y="8453438"/>
            <a:ext cx="1984325" cy="9525"/>
          </a:xfrm>
          <a:prstGeom prst="rect">
            <a:avLst/>
          </a:prstGeom>
          <a:solidFill>
            <a:srgbClr val="D9D3C5"/>
          </a:solidFill>
          <a:ln/>
        </p:spPr>
        <p:txBody>
          <a:bodyPr/>
          <a:lstStyle/>
          <a:p>
            <a:endParaRPr lang="en-US"/>
          </a:p>
        </p:txBody>
      </p:sp>
      <p:sp>
        <p:nvSpPr>
          <p:cNvPr id="48" name="Text 43"/>
          <p:cNvSpPr/>
          <p:nvPr/>
        </p:nvSpPr>
        <p:spPr>
          <a:xfrm>
            <a:off x="3028652" y="8053387"/>
            <a:ext cx="1641425"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159</a:t>
            </a:r>
            <a:endParaRPr lang="en-US" sz="1500" dirty="0"/>
          </a:p>
        </p:txBody>
      </p:sp>
      <p:sp>
        <p:nvSpPr>
          <p:cNvPr id="49" name="Shape 44"/>
          <p:cNvSpPr/>
          <p:nvPr/>
        </p:nvSpPr>
        <p:spPr>
          <a:xfrm>
            <a:off x="4879628" y="7881937"/>
            <a:ext cx="2411611" cy="581025"/>
          </a:xfrm>
          <a:prstGeom prst="rect">
            <a:avLst/>
          </a:prstGeom>
          <a:solidFill>
            <a:srgbClr val="1D9E75">
              <a:alpha val="8000"/>
            </a:srgbClr>
          </a:solidFill>
          <a:ln/>
        </p:spPr>
        <p:txBody>
          <a:bodyPr/>
          <a:lstStyle/>
          <a:p>
            <a:endParaRPr lang="en-US"/>
          </a:p>
        </p:txBody>
      </p:sp>
      <p:sp>
        <p:nvSpPr>
          <p:cNvPr id="50" name="Shape 45"/>
          <p:cNvSpPr/>
          <p:nvPr/>
        </p:nvSpPr>
        <p:spPr>
          <a:xfrm>
            <a:off x="4879628" y="8453438"/>
            <a:ext cx="2411611" cy="9525"/>
          </a:xfrm>
          <a:prstGeom prst="rect">
            <a:avLst/>
          </a:prstGeom>
          <a:solidFill>
            <a:srgbClr val="D9D3C5"/>
          </a:solidFill>
          <a:ln/>
        </p:spPr>
        <p:txBody>
          <a:bodyPr/>
          <a:lstStyle/>
          <a:p>
            <a:endParaRPr lang="en-US"/>
          </a:p>
        </p:txBody>
      </p:sp>
      <p:sp>
        <p:nvSpPr>
          <p:cNvPr id="51" name="Text 46"/>
          <p:cNvSpPr/>
          <p:nvPr/>
        </p:nvSpPr>
        <p:spPr>
          <a:xfrm>
            <a:off x="5012978" y="8053387"/>
            <a:ext cx="2068711"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71</a:t>
            </a:r>
            <a:endParaRPr lang="en-US" sz="1500" dirty="0"/>
          </a:p>
        </p:txBody>
      </p:sp>
      <p:sp>
        <p:nvSpPr>
          <p:cNvPr id="52" name="Shape 47"/>
          <p:cNvSpPr/>
          <p:nvPr/>
        </p:nvSpPr>
        <p:spPr>
          <a:xfrm>
            <a:off x="7291239" y="7881937"/>
            <a:ext cx="2063651" cy="581025"/>
          </a:xfrm>
          <a:prstGeom prst="rect">
            <a:avLst/>
          </a:prstGeom>
          <a:solidFill>
            <a:srgbClr val="1D9E75">
              <a:alpha val="8000"/>
            </a:srgbClr>
          </a:solidFill>
          <a:ln/>
        </p:spPr>
        <p:txBody>
          <a:bodyPr/>
          <a:lstStyle/>
          <a:p>
            <a:endParaRPr lang="en-US"/>
          </a:p>
        </p:txBody>
      </p:sp>
      <p:sp>
        <p:nvSpPr>
          <p:cNvPr id="53" name="Shape 48"/>
          <p:cNvSpPr/>
          <p:nvPr/>
        </p:nvSpPr>
        <p:spPr>
          <a:xfrm>
            <a:off x="7291239" y="8453438"/>
            <a:ext cx="2063651" cy="9525"/>
          </a:xfrm>
          <a:prstGeom prst="rect">
            <a:avLst/>
          </a:prstGeom>
          <a:solidFill>
            <a:srgbClr val="D9D3C5"/>
          </a:solidFill>
          <a:ln/>
        </p:spPr>
        <p:txBody>
          <a:bodyPr/>
          <a:lstStyle/>
          <a:p>
            <a:endParaRPr lang="en-US"/>
          </a:p>
        </p:txBody>
      </p:sp>
      <p:sp>
        <p:nvSpPr>
          <p:cNvPr id="54" name="Text 49"/>
          <p:cNvSpPr/>
          <p:nvPr/>
        </p:nvSpPr>
        <p:spPr>
          <a:xfrm>
            <a:off x="7424589" y="8053387"/>
            <a:ext cx="1720751"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E24B4A"/>
                </a:solidFill>
                <a:latin typeface="Arial" pitchFamily="34" charset="0"/>
                <a:ea typeface="Arial" pitchFamily="34" charset="-122"/>
                <a:cs typeface="Arial" pitchFamily="34" charset="-120"/>
              </a:rPr>
              <a:t>44.7%</a:t>
            </a:r>
            <a:endParaRPr lang="en-US" sz="1500" dirty="0"/>
          </a:p>
        </p:txBody>
      </p:sp>
      <p:sp>
        <p:nvSpPr>
          <p:cNvPr id="55" name="Shape 50"/>
          <p:cNvSpPr/>
          <p:nvPr/>
        </p:nvSpPr>
        <p:spPr>
          <a:xfrm>
            <a:off x="952500" y="9034463"/>
            <a:ext cx="1942802" cy="9525"/>
          </a:xfrm>
          <a:prstGeom prst="rect">
            <a:avLst/>
          </a:prstGeom>
          <a:solidFill>
            <a:srgbClr val="D9D3C5"/>
          </a:solidFill>
          <a:ln/>
        </p:spPr>
        <p:txBody>
          <a:bodyPr/>
          <a:lstStyle/>
          <a:p>
            <a:endParaRPr lang="en-US"/>
          </a:p>
        </p:txBody>
      </p:sp>
      <p:sp>
        <p:nvSpPr>
          <p:cNvPr id="56" name="Text 51"/>
          <p:cNvSpPr/>
          <p:nvPr/>
        </p:nvSpPr>
        <p:spPr>
          <a:xfrm>
            <a:off x="1162050" y="8634413"/>
            <a:ext cx="1599902" cy="266700"/>
          </a:xfrm>
          <a:prstGeom prst="rect">
            <a:avLst/>
          </a:prstGeom>
          <a:noFill/>
          <a:ln/>
        </p:spPr>
        <p:txBody>
          <a:bodyPr wrap="square" lIns="25400" tIns="25400" rIns="25400" bIns="25400" rtlCol="0" anchor="ctr">
            <a:normAutofit lnSpcReduction="10000"/>
          </a:bodyPr>
          <a:lstStyle/>
          <a:p>
            <a:pPr marL="0" indent="0" algn="l">
              <a:buNone/>
            </a:pPr>
            <a:r>
              <a:rPr lang="en-US" sz="1500" b="1" dirty="0">
                <a:solidFill>
                  <a:srgbClr val="1D9E75"/>
                </a:solidFill>
                <a:latin typeface="Arial" pitchFamily="34" charset="0"/>
                <a:ea typeface="Arial" pitchFamily="34" charset="-122"/>
                <a:cs typeface="Arial" pitchFamily="34" charset="-120"/>
              </a:rPr>
              <a:t>Graduate</a:t>
            </a:r>
            <a:endParaRPr lang="en-US" sz="1500" dirty="0"/>
          </a:p>
        </p:txBody>
      </p:sp>
      <p:sp>
        <p:nvSpPr>
          <p:cNvPr id="57" name="Shape 52"/>
          <p:cNvSpPr/>
          <p:nvPr/>
        </p:nvSpPr>
        <p:spPr>
          <a:xfrm>
            <a:off x="2895302" y="9034463"/>
            <a:ext cx="1984325" cy="9525"/>
          </a:xfrm>
          <a:prstGeom prst="rect">
            <a:avLst/>
          </a:prstGeom>
          <a:solidFill>
            <a:srgbClr val="D9D3C5"/>
          </a:solidFill>
          <a:ln/>
        </p:spPr>
        <p:txBody>
          <a:bodyPr/>
          <a:lstStyle/>
          <a:p>
            <a:endParaRPr lang="en-US"/>
          </a:p>
        </p:txBody>
      </p:sp>
      <p:sp>
        <p:nvSpPr>
          <p:cNvPr id="58" name="Text 53"/>
          <p:cNvSpPr/>
          <p:nvPr/>
        </p:nvSpPr>
        <p:spPr>
          <a:xfrm>
            <a:off x="3028652" y="8634413"/>
            <a:ext cx="1641425" cy="266700"/>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442</a:t>
            </a:r>
            <a:endParaRPr lang="en-US" sz="1500" dirty="0"/>
          </a:p>
        </p:txBody>
      </p:sp>
      <p:sp>
        <p:nvSpPr>
          <p:cNvPr id="59" name="Shape 54"/>
          <p:cNvSpPr/>
          <p:nvPr/>
        </p:nvSpPr>
        <p:spPr>
          <a:xfrm>
            <a:off x="4879628" y="9034463"/>
            <a:ext cx="2411611" cy="9525"/>
          </a:xfrm>
          <a:prstGeom prst="rect">
            <a:avLst/>
          </a:prstGeom>
          <a:solidFill>
            <a:srgbClr val="D9D3C5"/>
          </a:solidFill>
          <a:ln/>
        </p:spPr>
        <p:txBody>
          <a:bodyPr/>
          <a:lstStyle/>
          <a:p>
            <a:endParaRPr lang="en-US"/>
          </a:p>
        </p:txBody>
      </p:sp>
      <p:sp>
        <p:nvSpPr>
          <p:cNvPr id="60" name="Text 55"/>
          <p:cNvSpPr/>
          <p:nvPr/>
        </p:nvSpPr>
        <p:spPr>
          <a:xfrm>
            <a:off x="5012978" y="8634413"/>
            <a:ext cx="2068711" cy="266700"/>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397</a:t>
            </a:r>
            <a:endParaRPr lang="en-US" sz="1500" dirty="0"/>
          </a:p>
        </p:txBody>
      </p:sp>
      <p:sp>
        <p:nvSpPr>
          <p:cNvPr id="61" name="Shape 56"/>
          <p:cNvSpPr/>
          <p:nvPr/>
        </p:nvSpPr>
        <p:spPr>
          <a:xfrm>
            <a:off x="7291239" y="9034463"/>
            <a:ext cx="2063651" cy="9525"/>
          </a:xfrm>
          <a:prstGeom prst="rect">
            <a:avLst/>
          </a:prstGeom>
          <a:solidFill>
            <a:srgbClr val="D9D3C5"/>
          </a:solidFill>
          <a:ln/>
        </p:spPr>
        <p:txBody>
          <a:bodyPr/>
          <a:lstStyle/>
          <a:p>
            <a:endParaRPr lang="en-US"/>
          </a:p>
        </p:txBody>
      </p:sp>
      <p:sp>
        <p:nvSpPr>
          <p:cNvPr id="62" name="Text 57"/>
          <p:cNvSpPr/>
          <p:nvPr/>
        </p:nvSpPr>
        <p:spPr>
          <a:xfrm>
            <a:off x="7424589" y="8634413"/>
            <a:ext cx="1720751"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89.8%</a:t>
            </a:r>
            <a:endParaRPr lang="en-US" sz="1500" dirty="0"/>
          </a:p>
        </p:txBody>
      </p:sp>
      <p:sp>
        <p:nvSpPr>
          <p:cNvPr id="63" name="Text 58"/>
          <p:cNvSpPr/>
          <p:nvPr/>
        </p:nvSpPr>
        <p:spPr>
          <a:xfrm>
            <a:off x="9697343" y="6410325"/>
            <a:ext cx="7867302" cy="12192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650" i="1" dirty="0">
                <a:solidFill>
                  <a:srgbClr val="4B4845"/>
                </a:solidFill>
                <a:latin typeface="-apple-system" pitchFamily="34" charset="0"/>
                <a:ea typeface="-apple-system" pitchFamily="34" charset="-122"/>
                <a:cs typeface="-apple-system" pitchFamily="34" charset="-120"/>
              </a:rPr>
              <a:t>The Enrolled class is recovered at only 44.7% — half the rate of Graduate. With just 159 test instances vs 442 for Graduate, the model has fewer training examples to learn its boundary, and the class sits geometrically between the other two — confusions go in both directions (37 → Dropout, 51 → Graduate).</a:t>
            </a:r>
            <a:endParaRPr lang="en-US" sz="1650" dirty="0"/>
          </a:p>
        </p:txBody>
      </p:sp>
      <p:sp>
        <p:nvSpPr>
          <p:cNvPr id="64" name="Text 59"/>
          <p:cNvSpPr/>
          <p:nvPr/>
        </p:nvSpPr>
        <p:spPr>
          <a:xfrm>
            <a:off x="16692116" y="91725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12/19</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775687"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12 · UNSUPERVISED ANALYSIS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Clustering reveals overlap, not boundaries</a:t>
            </a:r>
            <a:endParaRPr lang="en-US" sz="4800" dirty="0"/>
          </a:p>
        </p:txBody>
      </p:sp>
      <p:sp>
        <p:nvSpPr>
          <p:cNvPr id="5" name="Shape 3"/>
          <p:cNvSpPr/>
          <p:nvPr/>
        </p:nvSpPr>
        <p:spPr>
          <a:xfrm>
            <a:off x="952500" y="2676525"/>
            <a:ext cx="8020050" cy="4572000"/>
          </a:xfrm>
          <a:prstGeom prst="rect">
            <a:avLst/>
          </a:prstGeom>
          <a:solidFill>
            <a:srgbClr val="FFFFFF"/>
          </a:solidFill>
          <a:ln w="9525">
            <a:solidFill>
              <a:srgbClr val="D9D3C5"/>
            </a:solidFill>
            <a:prstDash val="solid"/>
          </a:ln>
        </p:spPr>
        <p:txBody>
          <a:bodyPr/>
          <a:lstStyle/>
          <a:p>
            <a:endParaRPr lang="en-US"/>
          </a:p>
        </p:txBody>
      </p:sp>
      <p:pic>
        <p:nvPicPr>
          <p:cNvPr id="6" name="Image 0" descr="preencoded.png"/>
          <p:cNvPicPr>
            <a:picLocks noChangeAspect="1"/>
          </p:cNvPicPr>
          <p:nvPr/>
        </p:nvPicPr>
        <p:blipFill>
          <a:blip r:embed="rId3"/>
          <a:srcRect/>
          <a:stretch/>
        </p:blipFill>
        <p:spPr>
          <a:xfrm>
            <a:off x="1657350" y="2905125"/>
            <a:ext cx="6591606" cy="5638800"/>
          </a:xfrm>
          <a:prstGeom prst="rect">
            <a:avLst/>
          </a:prstGeom>
        </p:spPr>
      </p:pic>
      <p:sp>
        <p:nvSpPr>
          <p:cNvPr id="7" name="Shape 4"/>
          <p:cNvSpPr/>
          <p:nvPr/>
        </p:nvSpPr>
        <p:spPr>
          <a:xfrm>
            <a:off x="9315450" y="3228975"/>
            <a:ext cx="8020050" cy="9525"/>
          </a:xfrm>
          <a:prstGeom prst="rect">
            <a:avLst/>
          </a:prstGeom>
          <a:solidFill>
            <a:srgbClr val="D9D3C5"/>
          </a:solidFill>
          <a:ln/>
        </p:spPr>
        <p:txBody>
          <a:bodyPr/>
          <a:lstStyle/>
          <a:p>
            <a:endParaRPr lang="en-US"/>
          </a:p>
        </p:txBody>
      </p:sp>
      <p:sp>
        <p:nvSpPr>
          <p:cNvPr id="8" name="Text 5"/>
          <p:cNvSpPr/>
          <p:nvPr/>
        </p:nvSpPr>
        <p:spPr>
          <a:xfrm>
            <a:off x="9315450" y="2819400"/>
            <a:ext cx="3626605"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K-MEANS (K=3) SILHOUETTE</a:t>
            </a:r>
            <a:endParaRPr lang="en-US" sz="1650" dirty="0"/>
          </a:p>
        </p:txBody>
      </p:sp>
      <p:sp>
        <p:nvSpPr>
          <p:cNvPr id="9" name="Text 6"/>
          <p:cNvSpPr/>
          <p:nvPr/>
        </p:nvSpPr>
        <p:spPr>
          <a:xfrm>
            <a:off x="16035867" y="2676525"/>
            <a:ext cx="1375833"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0.2145</a:t>
            </a:r>
            <a:endParaRPr lang="en-US" sz="2400" dirty="0"/>
          </a:p>
        </p:txBody>
      </p:sp>
      <p:sp>
        <p:nvSpPr>
          <p:cNvPr id="10" name="Shape 7"/>
          <p:cNvSpPr/>
          <p:nvPr/>
        </p:nvSpPr>
        <p:spPr>
          <a:xfrm>
            <a:off x="9315450" y="4019550"/>
            <a:ext cx="8020050" cy="9525"/>
          </a:xfrm>
          <a:prstGeom prst="rect">
            <a:avLst/>
          </a:prstGeom>
          <a:solidFill>
            <a:srgbClr val="D9D3C5"/>
          </a:solidFill>
          <a:ln/>
        </p:spPr>
        <p:txBody>
          <a:bodyPr/>
          <a:lstStyle/>
          <a:p>
            <a:endParaRPr lang="en-US"/>
          </a:p>
        </p:txBody>
      </p:sp>
      <p:sp>
        <p:nvSpPr>
          <p:cNvPr id="11" name="Text 8"/>
          <p:cNvSpPr/>
          <p:nvPr/>
        </p:nvSpPr>
        <p:spPr>
          <a:xfrm>
            <a:off x="9315450" y="3609975"/>
            <a:ext cx="453333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HIERARCHICAL (WARD) SILHOUETTE</a:t>
            </a:r>
            <a:endParaRPr lang="en-US" sz="1650" dirty="0"/>
          </a:p>
        </p:txBody>
      </p:sp>
      <p:sp>
        <p:nvSpPr>
          <p:cNvPr id="12" name="Text 9"/>
          <p:cNvSpPr/>
          <p:nvPr/>
        </p:nvSpPr>
        <p:spPr>
          <a:xfrm>
            <a:off x="16035867" y="3467100"/>
            <a:ext cx="1375833"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0.1158</a:t>
            </a:r>
            <a:endParaRPr lang="en-US" sz="2400" dirty="0"/>
          </a:p>
        </p:txBody>
      </p:sp>
      <p:sp>
        <p:nvSpPr>
          <p:cNvPr id="13" name="Shape 10"/>
          <p:cNvSpPr/>
          <p:nvPr/>
        </p:nvSpPr>
        <p:spPr>
          <a:xfrm>
            <a:off x="9315450" y="4257675"/>
            <a:ext cx="8020050" cy="1057275"/>
          </a:xfrm>
          <a:prstGeom prst="rect">
            <a:avLst/>
          </a:prstGeom>
          <a:solidFill>
            <a:srgbClr val="FFFFFF"/>
          </a:solidFill>
          <a:ln w="9525">
            <a:solidFill>
              <a:srgbClr val="D9D3C5"/>
            </a:solidFill>
            <a:prstDash val="solid"/>
          </a:ln>
        </p:spPr>
        <p:txBody>
          <a:bodyPr/>
          <a:lstStyle/>
          <a:p>
            <a:endParaRPr lang="en-US"/>
          </a:p>
        </p:txBody>
      </p:sp>
      <p:sp>
        <p:nvSpPr>
          <p:cNvPr id="14" name="Text 11"/>
          <p:cNvSpPr/>
          <p:nvPr/>
        </p:nvSpPr>
        <p:spPr>
          <a:xfrm>
            <a:off x="9496425" y="4400550"/>
            <a:ext cx="7898702" cy="809625"/>
          </a:xfrm>
          <a:prstGeom prst="rect">
            <a:avLst/>
          </a:prstGeom>
          <a:noFill/>
          <a:ln/>
        </p:spPr>
        <p:txBody>
          <a:bodyPr wrap="square" lIns="25400" tIns="25400" rIns="25400" bIns="25400" rtlCol="0" anchor="t">
            <a:normAutofit/>
          </a:bodyPr>
          <a:lstStyle/>
          <a:p>
            <a:pPr marL="0" indent="0" algn="l">
              <a:lnSpc>
                <a:spcPct val="150000"/>
              </a:lnSpc>
              <a:buNone/>
            </a:pPr>
            <a:r>
              <a:rPr lang="en-US" sz="1350" dirty="0">
                <a:solidFill>
                  <a:srgbClr val="807C76"/>
                </a:solidFill>
                <a:latin typeface="Courier New" pitchFamily="34" charset="0"/>
                <a:ea typeface="Courier New" pitchFamily="34" charset="-122"/>
                <a:cs typeface="Courier New" pitchFamily="34" charset="-120"/>
              </a:rPr>
              <a:t>Silhouette interpretation (Rousseeuw, 1987): </a:t>
            </a:r>
            <a:r>
              <a:rPr lang="en-US" sz="1350" dirty="0">
                <a:solidFill>
                  <a:srgbClr val="4B4845"/>
                </a:solidFill>
                <a:latin typeface="Courier New" pitchFamily="34" charset="0"/>
                <a:ea typeface="Courier New" pitchFamily="34" charset="-122"/>
                <a:cs typeface="Courier New" pitchFamily="34" charset="-120"/>
              </a:rPr>
              <a:t>&gt; 0.7 strong · 0.5–0.7 reasonable · 0.25–0.5 weak · &lt; 0.25 no substantial structure</a:t>
            </a:r>
            <a:endParaRPr lang="en-US" sz="1350" dirty="0"/>
          </a:p>
        </p:txBody>
      </p:sp>
      <p:sp>
        <p:nvSpPr>
          <p:cNvPr id="15" name="Shape 12"/>
          <p:cNvSpPr/>
          <p:nvPr/>
        </p:nvSpPr>
        <p:spPr>
          <a:xfrm>
            <a:off x="9315450" y="5695950"/>
            <a:ext cx="8020050" cy="1857375"/>
          </a:xfrm>
          <a:prstGeom prst="rect">
            <a:avLst/>
          </a:prstGeom>
          <a:solidFill>
            <a:srgbClr val="F2EEE6"/>
          </a:solidFill>
          <a:ln/>
        </p:spPr>
        <p:txBody>
          <a:bodyPr/>
          <a:lstStyle/>
          <a:p>
            <a:endParaRPr lang="en-US"/>
          </a:p>
        </p:txBody>
      </p:sp>
      <p:sp>
        <p:nvSpPr>
          <p:cNvPr id="16" name="Shape 13"/>
          <p:cNvSpPr/>
          <p:nvPr/>
        </p:nvSpPr>
        <p:spPr>
          <a:xfrm>
            <a:off x="9315450" y="5695950"/>
            <a:ext cx="38100" cy="1857375"/>
          </a:xfrm>
          <a:prstGeom prst="rect">
            <a:avLst/>
          </a:prstGeom>
          <a:solidFill>
            <a:srgbClr val="E24B4A"/>
          </a:solidFill>
          <a:ln/>
        </p:spPr>
        <p:txBody>
          <a:bodyPr/>
          <a:lstStyle/>
          <a:p>
            <a:endParaRPr lang="en-US"/>
          </a:p>
        </p:txBody>
      </p:sp>
      <p:sp>
        <p:nvSpPr>
          <p:cNvPr id="17" name="Text 14"/>
          <p:cNvSpPr/>
          <p:nvPr/>
        </p:nvSpPr>
        <p:spPr>
          <a:xfrm>
            <a:off x="9620250" y="5924550"/>
            <a:ext cx="7672007"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E24B4A"/>
                </a:solidFill>
                <a:latin typeface="Courier New" pitchFamily="34" charset="0"/>
                <a:ea typeface="Courier New" pitchFamily="34" charset="-122"/>
                <a:cs typeface="Courier New" pitchFamily="34" charset="-120"/>
              </a:rPr>
              <a:t>WHAT THIS TELLS US</a:t>
            </a:r>
            <a:endParaRPr lang="en-US" sz="1350" dirty="0"/>
          </a:p>
        </p:txBody>
      </p:sp>
      <p:sp>
        <p:nvSpPr>
          <p:cNvPr id="18" name="Text 15"/>
          <p:cNvSpPr/>
          <p:nvPr/>
        </p:nvSpPr>
        <p:spPr>
          <a:xfrm>
            <a:off x="9620250" y="6210300"/>
            <a:ext cx="7672007" cy="1152525"/>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2100" dirty="0">
                <a:solidFill>
                  <a:srgbClr val="1C1B1A"/>
                </a:solidFill>
                <a:latin typeface="-apple-system" pitchFamily="34" charset="0"/>
                <a:ea typeface="-apple-system" pitchFamily="34" charset="-122"/>
                <a:cs typeface="-apple-system" pitchFamily="34" charset="-120"/>
              </a:rPr>
              <a:t>Low silhouette scores indicate soft, overlapping boundaries. Unsupervised methods alone cannot reliably predict outcomes — supervision is required.</a:t>
            </a:r>
            <a:endParaRPr lang="en-US" sz="2100" dirty="0"/>
          </a:p>
        </p:txBody>
      </p:sp>
      <p:sp>
        <p:nvSpPr>
          <p:cNvPr id="19" name="Text 16"/>
          <p:cNvSpPr/>
          <p:nvPr/>
        </p:nvSpPr>
        <p:spPr>
          <a:xfrm>
            <a:off x="16692116" y="767715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13/19</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5143047"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13 · ASSOCIATION RULE MINING</a:t>
            </a:r>
            <a:endParaRPr lang="en-US" sz="1800" dirty="0"/>
          </a:p>
        </p:txBody>
      </p:sp>
      <p:sp>
        <p:nvSpPr>
          <p:cNvPr id="4" name="Text 2"/>
          <p:cNvSpPr/>
          <p:nvPr/>
        </p:nvSpPr>
        <p:spPr>
          <a:xfrm>
            <a:off x="952500" y="1704975"/>
            <a:ext cx="6248681" cy="12954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Apriori on binned features</a:t>
            </a:r>
            <a:endParaRPr lang="en-US" sz="4800" dirty="0"/>
          </a:p>
        </p:txBody>
      </p:sp>
      <p:sp>
        <p:nvSpPr>
          <p:cNvPr id="5" name="Shape 3"/>
          <p:cNvSpPr/>
          <p:nvPr/>
        </p:nvSpPr>
        <p:spPr>
          <a:xfrm>
            <a:off x="952500" y="3819525"/>
            <a:ext cx="6066681" cy="9525"/>
          </a:xfrm>
          <a:prstGeom prst="rect">
            <a:avLst/>
          </a:prstGeom>
          <a:solidFill>
            <a:srgbClr val="D9D3C5"/>
          </a:solidFill>
          <a:ln/>
        </p:spPr>
        <p:txBody>
          <a:bodyPr/>
          <a:lstStyle/>
          <a:p>
            <a:endParaRPr lang="en-US"/>
          </a:p>
        </p:txBody>
      </p:sp>
      <p:sp>
        <p:nvSpPr>
          <p:cNvPr id="6" name="Text 4"/>
          <p:cNvSpPr/>
          <p:nvPr/>
        </p:nvSpPr>
        <p:spPr>
          <a:xfrm>
            <a:off x="952500" y="3409950"/>
            <a:ext cx="1690092"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MIN_SUPPORT</a:t>
            </a:r>
            <a:endParaRPr lang="en-US" sz="1650" dirty="0"/>
          </a:p>
        </p:txBody>
      </p:sp>
      <p:sp>
        <p:nvSpPr>
          <p:cNvPr id="7" name="Text 5"/>
          <p:cNvSpPr/>
          <p:nvPr/>
        </p:nvSpPr>
        <p:spPr>
          <a:xfrm>
            <a:off x="5301408" y="3267075"/>
            <a:ext cx="1793973"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0.05</a:t>
            </a:r>
            <a:endParaRPr lang="en-US" sz="2400" dirty="0"/>
          </a:p>
        </p:txBody>
      </p:sp>
      <p:sp>
        <p:nvSpPr>
          <p:cNvPr id="8" name="Shape 6"/>
          <p:cNvSpPr/>
          <p:nvPr/>
        </p:nvSpPr>
        <p:spPr>
          <a:xfrm>
            <a:off x="952500" y="4552950"/>
            <a:ext cx="6066681" cy="9525"/>
          </a:xfrm>
          <a:prstGeom prst="rect">
            <a:avLst/>
          </a:prstGeom>
          <a:solidFill>
            <a:srgbClr val="D9D3C5"/>
          </a:solidFill>
          <a:ln/>
        </p:spPr>
        <p:txBody>
          <a:bodyPr/>
          <a:lstStyle/>
          <a:p>
            <a:endParaRPr lang="en-US"/>
          </a:p>
        </p:txBody>
      </p:sp>
      <p:sp>
        <p:nvSpPr>
          <p:cNvPr id="9" name="Text 7"/>
          <p:cNvSpPr/>
          <p:nvPr/>
        </p:nvSpPr>
        <p:spPr>
          <a:xfrm>
            <a:off x="952500" y="4143375"/>
            <a:ext cx="2130177"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MIN_CONFIDENCE</a:t>
            </a:r>
            <a:endParaRPr lang="en-US" sz="1650" dirty="0"/>
          </a:p>
        </p:txBody>
      </p:sp>
      <p:sp>
        <p:nvSpPr>
          <p:cNvPr id="10" name="Text 8"/>
          <p:cNvSpPr/>
          <p:nvPr/>
        </p:nvSpPr>
        <p:spPr>
          <a:xfrm>
            <a:off x="5301408" y="4000500"/>
            <a:ext cx="1793973"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0.60</a:t>
            </a:r>
            <a:endParaRPr lang="en-US" sz="2400" dirty="0"/>
          </a:p>
        </p:txBody>
      </p:sp>
      <p:sp>
        <p:nvSpPr>
          <p:cNvPr id="11" name="Shape 9"/>
          <p:cNvSpPr/>
          <p:nvPr/>
        </p:nvSpPr>
        <p:spPr>
          <a:xfrm>
            <a:off x="952500" y="5286375"/>
            <a:ext cx="6066681" cy="9525"/>
          </a:xfrm>
          <a:prstGeom prst="rect">
            <a:avLst/>
          </a:prstGeom>
          <a:solidFill>
            <a:srgbClr val="D9D3C5"/>
          </a:solidFill>
          <a:ln/>
        </p:spPr>
        <p:txBody>
          <a:bodyPr/>
          <a:lstStyle/>
          <a:p>
            <a:endParaRPr lang="en-US"/>
          </a:p>
        </p:txBody>
      </p:sp>
      <p:sp>
        <p:nvSpPr>
          <p:cNvPr id="12" name="Text 10"/>
          <p:cNvSpPr/>
          <p:nvPr/>
        </p:nvSpPr>
        <p:spPr>
          <a:xfrm>
            <a:off x="952500" y="4876800"/>
            <a:ext cx="2570262"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FREQUENT ITEMSETS</a:t>
            </a:r>
            <a:endParaRPr lang="en-US" sz="1650" dirty="0"/>
          </a:p>
        </p:txBody>
      </p:sp>
      <p:sp>
        <p:nvSpPr>
          <p:cNvPr id="13" name="Text 11"/>
          <p:cNvSpPr/>
          <p:nvPr/>
        </p:nvSpPr>
        <p:spPr>
          <a:xfrm>
            <a:off x="5301407" y="4733925"/>
            <a:ext cx="1793974"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189</a:t>
            </a:r>
            <a:endParaRPr lang="en-US" sz="2400" dirty="0"/>
          </a:p>
        </p:txBody>
      </p:sp>
      <p:sp>
        <p:nvSpPr>
          <p:cNvPr id="14" name="Shape 12"/>
          <p:cNvSpPr/>
          <p:nvPr/>
        </p:nvSpPr>
        <p:spPr>
          <a:xfrm>
            <a:off x="952500" y="6019800"/>
            <a:ext cx="6066681" cy="9525"/>
          </a:xfrm>
          <a:prstGeom prst="rect">
            <a:avLst/>
          </a:prstGeom>
          <a:solidFill>
            <a:srgbClr val="D9D3C5"/>
          </a:solidFill>
          <a:ln/>
        </p:spPr>
        <p:txBody>
          <a:bodyPr/>
          <a:lstStyle/>
          <a:p>
            <a:endParaRPr lang="en-US"/>
          </a:p>
        </p:txBody>
      </p:sp>
      <p:sp>
        <p:nvSpPr>
          <p:cNvPr id="15" name="Text 13"/>
          <p:cNvSpPr/>
          <p:nvPr/>
        </p:nvSpPr>
        <p:spPr>
          <a:xfrm>
            <a:off x="952500" y="5610225"/>
            <a:ext cx="1690092"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TOTAL RULES</a:t>
            </a:r>
            <a:endParaRPr lang="en-US" sz="1650" dirty="0"/>
          </a:p>
        </p:txBody>
      </p:sp>
      <p:sp>
        <p:nvSpPr>
          <p:cNvPr id="16" name="Text 14"/>
          <p:cNvSpPr/>
          <p:nvPr/>
        </p:nvSpPr>
        <p:spPr>
          <a:xfrm>
            <a:off x="5301407" y="5467350"/>
            <a:ext cx="1793974"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334</a:t>
            </a:r>
            <a:endParaRPr lang="en-US" sz="2400" dirty="0"/>
          </a:p>
        </p:txBody>
      </p:sp>
      <p:sp>
        <p:nvSpPr>
          <p:cNvPr id="17" name="Shape 15"/>
          <p:cNvSpPr/>
          <p:nvPr/>
        </p:nvSpPr>
        <p:spPr>
          <a:xfrm>
            <a:off x="952500" y="6753225"/>
            <a:ext cx="6066681" cy="9525"/>
          </a:xfrm>
          <a:prstGeom prst="rect">
            <a:avLst/>
          </a:prstGeom>
          <a:solidFill>
            <a:srgbClr val="D9D3C5"/>
          </a:solidFill>
          <a:ln/>
        </p:spPr>
        <p:txBody>
          <a:bodyPr/>
          <a:lstStyle/>
          <a:p>
            <a:endParaRPr lang="en-US"/>
          </a:p>
        </p:txBody>
      </p:sp>
      <p:sp>
        <p:nvSpPr>
          <p:cNvPr id="18" name="Text 16"/>
          <p:cNvSpPr/>
          <p:nvPr/>
        </p:nvSpPr>
        <p:spPr>
          <a:xfrm>
            <a:off x="952500" y="6343650"/>
            <a:ext cx="1836688"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TARGET RULES</a:t>
            </a:r>
            <a:endParaRPr lang="en-US" sz="1650" dirty="0"/>
          </a:p>
        </p:txBody>
      </p:sp>
      <p:sp>
        <p:nvSpPr>
          <p:cNvPr id="19" name="Text 17"/>
          <p:cNvSpPr/>
          <p:nvPr/>
        </p:nvSpPr>
        <p:spPr>
          <a:xfrm>
            <a:off x="5301408" y="6200775"/>
            <a:ext cx="1793974"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85</a:t>
            </a:r>
            <a:endParaRPr lang="en-US" sz="2400" dirty="0"/>
          </a:p>
        </p:txBody>
      </p:sp>
      <p:sp>
        <p:nvSpPr>
          <p:cNvPr id="20" name="Shape 18"/>
          <p:cNvSpPr/>
          <p:nvPr/>
        </p:nvSpPr>
        <p:spPr>
          <a:xfrm>
            <a:off x="7628781" y="2543175"/>
            <a:ext cx="4199334" cy="19050"/>
          </a:xfrm>
          <a:prstGeom prst="rect">
            <a:avLst/>
          </a:prstGeom>
          <a:solidFill>
            <a:srgbClr val="1C1B1A"/>
          </a:solidFill>
          <a:ln/>
        </p:spPr>
        <p:txBody>
          <a:bodyPr/>
          <a:lstStyle/>
          <a:p>
            <a:endParaRPr lang="en-US"/>
          </a:p>
        </p:txBody>
      </p:sp>
      <p:sp>
        <p:nvSpPr>
          <p:cNvPr id="21" name="Text 19"/>
          <p:cNvSpPr/>
          <p:nvPr/>
        </p:nvSpPr>
        <p:spPr>
          <a:xfrm>
            <a:off x="7838331" y="1876425"/>
            <a:ext cx="3906214" cy="533400"/>
          </a:xfrm>
          <a:prstGeom prst="rect">
            <a:avLst/>
          </a:prstGeom>
          <a:noFill/>
          <a:ln/>
        </p:spPr>
        <p:txBody>
          <a:bodyPr wrap="square" lIns="25400" tIns="25400" rIns="25400" bIns="25400" rtlCol="0" anchor="ctr">
            <a:normAutofit/>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ANTECEDENT</a:t>
            </a:r>
            <a:endParaRPr lang="en-US" sz="1650" dirty="0"/>
          </a:p>
        </p:txBody>
      </p:sp>
      <p:sp>
        <p:nvSpPr>
          <p:cNvPr id="22" name="Shape 20"/>
          <p:cNvSpPr/>
          <p:nvPr/>
        </p:nvSpPr>
        <p:spPr>
          <a:xfrm>
            <a:off x="11828115" y="2543175"/>
            <a:ext cx="2136874" cy="19050"/>
          </a:xfrm>
          <a:prstGeom prst="rect">
            <a:avLst/>
          </a:prstGeom>
          <a:solidFill>
            <a:srgbClr val="1C1B1A"/>
          </a:solidFill>
          <a:ln/>
        </p:spPr>
        <p:txBody>
          <a:bodyPr/>
          <a:lstStyle/>
          <a:p>
            <a:endParaRPr lang="en-US"/>
          </a:p>
        </p:txBody>
      </p:sp>
      <p:sp>
        <p:nvSpPr>
          <p:cNvPr id="23" name="Text 21"/>
          <p:cNvSpPr/>
          <p:nvPr/>
        </p:nvSpPr>
        <p:spPr>
          <a:xfrm>
            <a:off x="12037665" y="1876425"/>
            <a:ext cx="1793974" cy="533400"/>
          </a:xfrm>
          <a:prstGeom prst="rect">
            <a:avLst/>
          </a:prstGeom>
          <a:noFill/>
          <a:ln/>
        </p:spPr>
        <p:txBody>
          <a:bodyPr wrap="square" lIns="25400" tIns="25400" rIns="25400" bIns="25400" rtlCol="0" anchor="ctr">
            <a:normAutofit lnSpcReduction="10000"/>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 CONSEQUENT</a:t>
            </a:r>
            <a:endParaRPr lang="en-US" sz="1650" dirty="0"/>
          </a:p>
        </p:txBody>
      </p:sp>
      <p:sp>
        <p:nvSpPr>
          <p:cNvPr id="24" name="Shape 22"/>
          <p:cNvSpPr/>
          <p:nvPr/>
        </p:nvSpPr>
        <p:spPr>
          <a:xfrm>
            <a:off x="13964989" y="2543175"/>
            <a:ext cx="1181100" cy="19050"/>
          </a:xfrm>
          <a:prstGeom prst="rect">
            <a:avLst/>
          </a:prstGeom>
          <a:solidFill>
            <a:srgbClr val="1C1B1A"/>
          </a:solidFill>
          <a:ln/>
        </p:spPr>
        <p:txBody>
          <a:bodyPr/>
          <a:lstStyle/>
          <a:p>
            <a:endParaRPr lang="en-US"/>
          </a:p>
        </p:txBody>
      </p:sp>
      <p:sp>
        <p:nvSpPr>
          <p:cNvPr id="25" name="Text 23"/>
          <p:cNvSpPr/>
          <p:nvPr/>
        </p:nvSpPr>
        <p:spPr>
          <a:xfrm>
            <a:off x="14098339" y="1876425"/>
            <a:ext cx="838200" cy="533400"/>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SUP.</a:t>
            </a:r>
            <a:endParaRPr lang="en-US" sz="1650" dirty="0"/>
          </a:p>
        </p:txBody>
      </p:sp>
      <p:sp>
        <p:nvSpPr>
          <p:cNvPr id="26" name="Shape 24"/>
          <p:cNvSpPr/>
          <p:nvPr/>
        </p:nvSpPr>
        <p:spPr>
          <a:xfrm>
            <a:off x="15146089" y="2543175"/>
            <a:ext cx="1181100" cy="19050"/>
          </a:xfrm>
          <a:prstGeom prst="rect">
            <a:avLst/>
          </a:prstGeom>
          <a:solidFill>
            <a:srgbClr val="1C1B1A"/>
          </a:solidFill>
          <a:ln/>
        </p:spPr>
        <p:txBody>
          <a:bodyPr/>
          <a:lstStyle/>
          <a:p>
            <a:endParaRPr lang="en-US"/>
          </a:p>
        </p:txBody>
      </p:sp>
      <p:sp>
        <p:nvSpPr>
          <p:cNvPr id="27" name="Text 25"/>
          <p:cNvSpPr/>
          <p:nvPr/>
        </p:nvSpPr>
        <p:spPr>
          <a:xfrm>
            <a:off x="15279439" y="1876425"/>
            <a:ext cx="838200" cy="533400"/>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CONF.</a:t>
            </a:r>
            <a:endParaRPr lang="en-US" sz="1650" dirty="0"/>
          </a:p>
        </p:txBody>
      </p:sp>
      <p:sp>
        <p:nvSpPr>
          <p:cNvPr id="28" name="Shape 26"/>
          <p:cNvSpPr/>
          <p:nvPr/>
        </p:nvSpPr>
        <p:spPr>
          <a:xfrm>
            <a:off x="16327189" y="2543175"/>
            <a:ext cx="1008459" cy="19050"/>
          </a:xfrm>
          <a:prstGeom prst="rect">
            <a:avLst/>
          </a:prstGeom>
          <a:solidFill>
            <a:srgbClr val="1C1B1A"/>
          </a:solidFill>
          <a:ln/>
        </p:spPr>
        <p:txBody>
          <a:bodyPr/>
          <a:lstStyle/>
          <a:p>
            <a:endParaRPr lang="en-US"/>
          </a:p>
        </p:txBody>
      </p:sp>
      <p:sp>
        <p:nvSpPr>
          <p:cNvPr id="29" name="Text 27"/>
          <p:cNvSpPr/>
          <p:nvPr/>
        </p:nvSpPr>
        <p:spPr>
          <a:xfrm>
            <a:off x="16460539" y="1876425"/>
            <a:ext cx="665559" cy="533400"/>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LIFT</a:t>
            </a:r>
            <a:endParaRPr lang="en-US" sz="1650" dirty="0"/>
          </a:p>
        </p:txBody>
      </p:sp>
      <p:sp>
        <p:nvSpPr>
          <p:cNvPr id="30" name="Shape 28"/>
          <p:cNvSpPr/>
          <p:nvPr/>
        </p:nvSpPr>
        <p:spPr>
          <a:xfrm>
            <a:off x="7628781" y="2562225"/>
            <a:ext cx="4199334" cy="681038"/>
          </a:xfrm>
          <a:prstGeom prst="rect">
            <a:avLst/>
          </a:prstGeom>
          <a:solidFill>
            <a:srgbClr val="1D9E75">
              <a:alpha val="8000"/>
            </a:srgbClr>
          </a:solidFill>
          <a:ln/>
        </p:spPr>
        <p:txBody>
          <a:bodyPr/>
          <a:lstStyle/>
          <a:p>
            <a:endParaRPr lang="en-US"/>
          </a:p>
        </p:txBody>
      </p:sp>
      <p:sp>
        <p:nvSpPr>
          <p:cNvPr id="31" name="Shape 29"/>
          <p:cNvSpPr/>
          <p:nvPr/>
        </p:nvSpPr>
        <p:spPr>
          <a:xfrm>
            <a:off x="7628781" y="3233738"/>
            <a:ext cx="4199334" cy="9525"/>
          </a:xfrm>
          <a:prstGeom prst="rect">
            <a:avLst/>
          </a:prstGeom>
          <a:solidFill>
            <a:srgbClr val="D9D3C5"/>
          </a:solidFill>
          <a:ln/>
        </p:spPr>
        <p:txBody>
          <a:bodyPr/>
          <a:lstStyle/>
          <a:p>
            <a:endParaRPr lang="en-US"/>
          </a:p>
        </p:txBody>
      </p:sp>
      <p:sp>
        <p:nvSpPr>
          <p:cNvPr id="32" name="Text 30"/>
          <p:cNvSpPr/>
          <p:nvPr/>
        </p:nvSpPr>
        <p:spPr>
          <a:xfrm>
            <a:off x="7838331" y="2733675"/>
            <a:ext cx="3906214" cy="366712"/>
          </a:xfrm>
          <a:prstGeom prst="rect">
            <a:avLst/>
          </a:prstGeom>
          <a:noFill/>
          <a:ln/>
        </p:spPr>
        <p:txBody>
          <a:bodyPr wrap="square" lIns="25400" tIns="25400" rIns="25400" bIns="25400" rtlCol="0" anchor="ctr">
            <a:normAutofit/>
          </a:bodyPr>
          <a:lstStyle/>
          <a:p>
            <a:pPr marL="0" indent="0" algn="l">
              <a:buNone/>
            </a:pPr>
            <a:r>
              <a:rPr lang="en-US" sz="1650" b="1" dirty="0">
                <a:solidFill>
                  <a:srgbClr val="1C1B1A"/>
                </a:solidFill>
                <a:latin typeface="Courier New" pitchFamily="34" charset="0"/>
                <a:ea typeface="Courier New" pitchFamily="34" charset="-122"/>
                <a:cs typeface="Courier New" pitchFamily="34" charset="-120"/>
              </a:rPr>
              <a:t>CU1_Low + Age_Mid</a:t>
            </a:r>
            <a:endParaRPr lang="en-US" sz="1650" dirty="0"/>
          </a:p>
        </p:txBody>
      </p:sp>
      <p:sp>
        <p:nvSpPr>
          <p:cNvPr id="33" name="Shape 31"/>
          <p:cNvSpPr/>
          <p:nvPr/>
        </p:nvSpPr>
        <p:spPr>
          <a:xfrm>
            <a:off x="11828115" y="2562225"/>
            <a:ext cx="2136874" cy="681038"/>
          </a:xfrm>
          <a:prstGeom prst="rect">
            <a:avLst/>
          </a:prstGeom>
          <a:solidFill>
            <a:srgbClr val="1D9E75">
              <a:alpha val="8000"/>
            </a:srgbClr>
          </a:solidFill>
          <a:ln/>
        </p:spPr>
        <p:txBody>
          <a:bodyPr/>
          <a:lstStyle/>
          <a:p>
            <a:endParaRPr lang="en-US"/>
          </a:p>
        </p:txBody>
      </p:sp>
      <p:sp>
        <p:nvSpPr>
          <p:cNvPr id="34" name="Shape 32"/>
          <p:cNvSpPr/>
          <p:nvPr/>
        </p:nvSpPr>
        <p:spPr>
          <a:xfrm>
            <a:off x="11828115" y="3233738"/>
            <a:ext cx="2136874" cy="9525"/>
          </a:xfrm>
          <a:prstGeom prst="rect">
            <a:avLst/>
          </a:prstGeom>
          <a:solidFill>
            <a:srgbClr val="D9D3C5"/>
          </a:solidFill>
          <a:ln/>
        </p:spPr>
        <p:txBody>
          <a:bodyPr/>
          <a:lstStyle/>
          <a:p>
            <a:endParaRPr lang="en-US"/>
          </a:p>
        </p:txBody>
      </p:sp>
      <p:sp>
        <p:nvSpPr>
          <p:cNvPr id="35" name="Text 33"/>
          <p:cNvSpPr/>
          <p:nvPr/>
        </p:nvSpPr>
        <p:spPr>
          <a:xfrm>
            <a:off x="12037665" y="2733675"/>
            <a:ext cx="1793974" cy="366712"/>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36" name="Shape 34"/>
          <p:cNvSpPr/>
          <p:nvPr/>
        </p:nvSpPr>
        <p:spPr>
          <a:xfrm>
            <a:off x="13964989" y="2562225"/>
            <a:ext cx="1181100" cy="681038"/>
          </a:xfrm>
          <a:prstGeom prst="rect">
            <a:avLst/>
          </a:prstGeom>
          <a:solidFill>
            <a:srgbClr val="1D9E75">
              <a:alpha val="8000"/>
            </a:srgbClr>
          </a:solidFill>
          <a:ln/>
        </p:spPr>
        <p:txBody>
          <a:bodyPr/>
          <a:lstStyle/>
          <a:p>
            <a:endParaRPr lang="en-US"/>
          </a:p>
        </p:txBody>
      </p:sp>
      <p:sp>
        <p:nvSpPr>
          <p:cNvPr id="37" name="Shape 35"/>
          <p:cNvSpPr/>
          <p:nvPr/>
        </p:nvSpPr>
        <p:spPr>
          <a:xfrm>
            <a:off x="13964989" y="3233738"/>
            <a:ext cx="1181100" cy="9525"/>
          </a:xfrm>
          <a:prstGeom prst="rect">
            <a:avLst/>
          </a:prstGeom>
          <a:solidFill>
            <a:srgbClr val="D9D3C5"/>
          </a:solidFill>
          <a:ln/>
        </p:spPr>
        <p:txBody>
          <a:bodyPr/>
          <a:lstStyle/>
          <a:p>
            <a:endParaRPr lang="en-US"/>
          </a:p>
        </p:txBody>
      </p:sp>
      <p:sp>
        <p:nvSpPr>
          <p:cNvPr id="38" name="Text 36"/>
          <p:cNvSpPr/>
          <p:nvPr/>
        </p:nvSpPr>
        <p:spPr>
          <a:xfrm>
            <a:off x="14098339" y="2733675"/>
            <a:ext cx="838200"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0.058</a:t>
            </a:r>
            <a:endParaRPr lang="en-US" sz="2100" dirty="0"/>
          </a:p>
        </p:txBody>
      </p:sp>
      <p:sp>
        <p:nvSpPr>
          <p:cNvPr id="39" name="Shape 37"/>
          <p:cNvSpPr/>
          <p:nvPr/>
        </p:nvSpPr>
        <p:spPr>
          <a:xfrm>
            <a:off x="15146089" y="2562225"/>
            <a:ext cx="1181100" cy="681038"/>
          </a:xfrm>
          <a:prstGeom prst="rect">
            <a:avLst/>
          </a:prstGeom>
          <a:solidFill>
            <a:srgbClr val="1D9E75">
              <a:alpha val="8000"/>
            </a:srgbClr>
          </a:solidFill>
          <a:ln/>
        </p:spPr>
        <p:txBody>
          <a:bodyPr/>
          <a:lstStyle/>
          <a:p>
            <a:endParaRPr lang="en-US"/>
          </a:p>
        </p:txBody>
      </p:sp>
      <p:sp>
        <p:nvSpPr>
          <p:cNvPr id="40" name="Shape 38"/>
          <p:cNvSpPr/>
          <p:nvPr/>
        </p:nvSpPr>
        <p:spPr>
          <a:xfrm>
            <a:off x="15146089" y="3233738"/>
            <a:ext cx="1181100" cy="9525"/>
          </a:xfrm>
          <a:prstGeom prst="rect">
            <a:avLst/>
          </a:prstGeom>
          <a:solidFill>
            <a:srgbClr val="D9D3C5"/>
          </a:solidFill>
          <a:ln/>
        </p:spPr>
        <p:txBody>
          <a:bodyPr/>
          <a:lstStyle/>
          <a:p>
            <a:endParaRPr lang="en-US"/>
          </a:p>
        </p:txBody>
      </p:sp>
      <p:sp>
        <p:nvSpPr>
          <p:cNvPr id="41" name="Text 39"/>
          <p:cNvSpPr/>
          <p:nvPr/>
        </p:nvSpPr>
        <p:spPr>
          <a:xfrm>
            <a:off x="15279439" y="2733675"/>
            <a:ext cx="838200"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0.874</a:t>
            </a:r>
            <a:endParaRPr lang="en-US" sz="2100" dirty="0"/>
          </a:p>
        </p:txBody>
      </p:sp>
      <p:sp>
        <p:nvSpPr>
          <p:cNvPr id="42" name="Shape 40"/>
          <p:cNvSpPr/>
          <p:nvPr/>
        </p:nvSpPr>
        <p:spPr>
          <a:xfrm>
            <a:off x="16327189" y="2562225"/>
            <a:ext cx="1008459" cy="681038"/>
          </a:xfrm>
          <a:prstGeom prst="rect">
            <a:avLst/>
          </a:prstGeom>
          <a:solidFill>
            <a:srgbClr val="1D9E75">
              <a:alpha val="8000"/>
            </a:srgbClr>
          </a:solidFill>
          <a:ln/>
        </p:spPr>
        <p:txBody>
          <a:bodyPr/>
          <a:lstStyle/>
          <a:p>
            <a:endParaRPr lang="en-US"/>
          </a:p>
        </p:txBody>
      </p:sp>
      <p:sp>
        <p:nvSpPr>
          <p:cNvPr id="43" name="Shape 41"/>
          <p:cNvSpPr/>
          <p:nvPr/>
        </p:nvSpPr>
        <p:spPr>
          <a:xfrm>
            <a:off x="16327189" y="3233738"/>
            <a:ext cx="1008459" cy="9525"/>
          </a:xfrm>
          <a:prstGeom prst="rect">
            <a:avLst/>
          </a:prstGeom>
          <a:solidFill>
            <a:srgbClr val="D9D3C5"/>
          </a:solidFill>
          <a:ln/>
        </p:spPr>
        <p:txBody>
          <a:bodyPr/>
          <a:lstStyle/>
          <a:p>
            <a:endParaRPr lang="en-US"/>
          </a:p>
        </p:txBody>
      </p:sp>
      <p:sp>
        <p:nvSpPr>
          <p:cNvPr id="44" name="Text 42"/>
          <p:cNvSpPr/>
          <p:nvPr/>
        </p:nvSpPr>
        <p:spPr>
          <a:xfrm>
            <a:off x="16460539" y="2733675"/>
            <a:ext cx="665559"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2.72</a:t>
            </a:r>
            <a:endParaRPr lang="en-US" sz="2100" dirty="0"/>
          </a:p>
        </p:txBody>
      </p:sp>
      <p:sp>
        <p:nvSpPr>
          <p:cNvPr id="45" name="Shape 43"/>
          <p:cNvSpPr/>
          <p:nvPr/>
        </p:nvSpPr>
        <p:spPr>
          <a:xfrm>
            <a:off x="7628781" y="3910013"/>
            <a:ext cx="4199334" cy="9525"/>
          </a:xfrm>
          <a:prstGeom prst="rect">
            <a:avLst/>
          </a:prstGeom>
          <a:solidFill>
            <a:srgbClr val="D9D3C5"/>
          </a:solidFill>
          <a:ln/>
        </p:spPr>
        <p:txBody>
          <a:bodyPr/>
          <a:lstStyle/>
          <a:p>
            <a:endParaRPr lang="en-US"/>
          </a:p>
        </p:txBody>
      </p:sp>
      <p:sp>
        <p:nvSpPr>
          <p:cNvPr id="46" name="Text 44"/>
          <p:cNvSpPr/>
          <p:nvPr/>
        </p:nvSpPr>
        <p:spPr>
          <a:xfrm>
            <a:off x="7838331" y="3414713"/>
            <a:ext cx="3906214" cy="3619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AdmGrade_Low + CU1_Low</a:t>
            </a:r>
            <a:endParaRPr lang="en-US" sz="1650" dirty="0"/>
          </a:p>
        </p:txBody>
      </p:sp>
      <p:sp>
        <p:nvSpPr>
          <p:cNvPr id="47" name="Shape 45"/>
          <p:cNvSpPr/>
          <p:nvPr/>
        </p:nvSpPr>
        <p:spPr>
          <a:xfrm>
            <a:off x="11828115" y="3910013"/>
            <a:ext cx="2136874" cy="9525"/>
          </a:xfrm>
          <a:prstGeom prst="rect">
            <a:avLst/>
          </a:prstGeom>
          <a:solidFill>
            <a:srgbClr val="D9D3C5"/>
          </a:solidFill>
          <a:ln/>
        </p:spPr>
        <p:txBody>
          <a:bodyPr/>
          <a:lstStyle/>
          <a:p>
            <a:endParaRPr lang="en-US"/>
          </a:p>
        </p:txBody>
      </p:sp>
      <p:sp>
        <p:nvSpPr>
          <p:cNvPr id="48" name="Text 46"/>
          <p:cNvSpPr/>
          <p:nvPr/>
        </p:nvSpPr>
        <p:spPr>
          <a:xfrm>
            <a:off x="12037665" y="3414713"/>
            <a:ext cx="1793974" cy="361950"/>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49" name="Shape 47"/>
          <p:cNvSpPr/>
          <p:nvPr/>
        </p:nvSpPr>
        <p:spPr>
          <a:xfrm>
            <a:off x="13964989" y="3910013"/>
            <a:ext cx="1181100" cy="9525"/>
          </a:xfrm>
          <a:prstGeom prst="rect">
            <a:avLst/>
          </a:prstGeom>
          <a:solidFill>
            <a:srgbClr val="D9D3C5"/>
          </a:solidFill>
          <a:ln/>
        </p:spPr>
        <p:txBody>
          <a:bodyPr/>
          <a:lstStyle/>
          <a:p>
            <a:endParaRPr lang="en-US"/>
          </a:p>
        </p:txBody>
      </p:sp>
      <p:sp>
        <p:nvSpPr>
          <p:cNvPr id="50" name="Text 48"/>
          <p:cNvSpPr/>
          <p:nvPr/>
        </p:nvSpPr>
        <p:spPr>
          <a:xfrm>
            <a:off x="14098339" y="3414713"/>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0.069</a:t>
            </a:r>
            <a:endParaRPr lang="en-US" sz="2100" dirty="0"/>
          </a:p>
        </p:txBody>
      </p:sp>
      <p:sp>
        <p:nvSpPr>
          <p:cNvPr id="51" name="Shape 49"/>
          <p:cNvSpPr/>
          <p:nvPr/>
        </p:nvSpPr>
        <p:spPr>
          <a:xfrm>
            <a:off x="15146089" y="3910013"/>
            <a:ext cx="1181100" cy="9525"/>
          </a:xfrm>
          <a:prstGeom prst="rect">
            <a:avLst/>
          </a:prstGeom>
          <a:solidFill>
            <a:srgbClr val="D9D3C5"/>
          </a:solidFill>
          <a:ln/>
        </p:spPr>
        <p:txBody>
          <a:bodyPr/>
          <a:lstStyle/>
          <a:p>
            <a:endParaRPr lang="en-US"/>
          </a:p>
        </p:txBody>
      </p:sp>
      <p:sp>
        <p:nvSpPr>
          <p:cNvPr id="52" name="Text 50"/>
          <p:cNvSpPr/>
          <p:nvPr/>
        </p:nvSpPr>
        <p:spPr>
          <a:xfrm>
            <a:off x="15279439" y="3414713"/>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0.860</a:t>
            </a:r>
            <a:endParaRPr lang="en-US" sz="2100" dirty="0"/>
          </a:p>
        </p:txBody>
      </p:sp>
      <p:sp>
        <p:nvSpPr>
          <p:cNvPr id="53" name="Shape 51"/>
          <p:cNvSpPr/>
          <p:nvPr/>
        </p:nvSpPr>
        <p:spPr>
          <a:xfrm>
            <a:off x="16327189" y="3910013"/>
            <a:ext cx="1008459" cy="9525"/>
          </a:xfrm>
          <a:prstGeom prst="rect">
            <a:avLst/>
          </a:prstGeom>
          <a:solidFill>
            <a:srgbClr val="D9D3C5"/>
          </a:solidFill>
          <a:ln/>
        </p:spPr>
        <p:txBody>
          <a:bodyPr/>
          <a:lstStyle/>
          <a:p>
            <a:endParaRPr lang="en-US"/>
          </a:p>
        </p:txBody>
      </p:sp>
      <p:sp>
        <p:nvSpPr>
          <p:cNvPr id="54" name="Text 52"/>
          <p:cNvSpPr/>
          <p:nvPr/>
        </p:nvSpPr>
        <p:spPr>
          <a:xfrm>
            <a:off x="16460539" y="3414713"/>
            <a:ext cx="665559" cy="361950"/>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2.68</a:t>
            </a:r>
            <a:endParaRPr lang="en-US" sz="2100" dirty="0"/>
          </a:p>
        </p:txBody>
      </p:sp>
      <p:sp>
        <p:nvSpPr>
          <p:cNvPr id="55" name="Shape 53"/>
          <p:cNvSpPr/>
          <p:nvPr/>
        </p:nvSpPr>
        <p:spPr>
          <a:xfrm>
            <a:off x="7628781" y="4586288"/>
            <a:ext cx="4199334" cy="9525"/>
          </a:xfrm>
          <a:prstGeom prst="rect">
            <a:avLst/>
          </a:prstGeom>
          <a:solidFill>
            <a:srgbClr val="D9D3C5"/>
          </a:solidFill>
          <a:ln/>
        </p:spPr>
        <p:txBody>
          <a:bodyPr/>
          <a:lstStyle/>
          <a:p>
            <a:endParaRPr lang="en-US"/>
          </a:p>
        </p:txBody>
      </p:sp>
      <p:sp>
        <p:nvSpPr>
          <p:cNvPr id="56" name="Text 54"/>
          <p:cNvSpPr/>
          <p:nvPr/>
        </p:nvSpPr>
        <p:spPr>
          <a:xfrm>
            <a:off x="7838331" y="4090987"/>
            <a:ext cx="3906214" cy="3619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CU1_Low</a:t>
            </a:r>
            <a:endParaRPr lang="en-US" sz="1650" dirty="0"/>
          </a:p>
        </p:txBody>
      </p:sp>
      <p:sp>
        <p:nvSpPr>
          <p:cNvPr id="57" name="Shape 55"/>
          <p:cNvSpPr/>
          <p:nvPr/>
        </p:nvSpPr>
        <p:spPr>
          <a:xfrm>
            <a:off x="11828115" y="4586288"/>
            <a:ext cx="2136874" cy="9525"/>
          </a:xfrm>
          <a:prstGeom prst="rect">
            <a:avLst/>
          </a:prstGeom>
          <a:solidFill>
            <a:srgbClr val="D9D3C5"/>
          </a:solidFill>
          <a:ln/>
        </p:spPr>
        <p:txBody>
          <a:bodyPr/>
          <a:lstStyle/>
          <a:p>
            <a:endParaRPr lang="en-US"/>
          </a:p>
        </p:txBody>
      </p:sp>
      <p:sp>
        <p:nvSpPr>
          <p:cNvPr id="58" name="Text 56"/>
          <p:cNvSpPr/>
          <p:nvPr/>
        </p:nvSpPr>
        <p:spPr>
          <a:xfrm>
            <a:off x="12037665" y="4090987"/>
            <a:ext cx="1793974" cy="361950"/>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59" name="Shape 57"/>
          <p:cNvSpPr/>
          <p:nvPr/>
        </p:nvSpPr>
        <p:spPr>
          <a:xfrm>
            <a:off x="13964989" y="4586288"/>
            <a:ext cx="1181100" cy="9525"/>
          </a:xfrm>
          <a:prstGeom prst="rect">
            <a:avLst/>
          </a:prstGeom>
          <a:solidFill>
            <a:srgbClr val="D9D3C5"/>
          </a:solidFill>
          <a:ln/>
        </p:spPr>
        <p:txBody>
          <a:bodyPr/>
          <a:lstStyle/>
          <a:p>
            <a:endParaRPr lang="en-US"/>
          </a:p>
        </p:txBody>
      </p:sp>
      <p:sp>
        <p:nvSpPr>
          <p:cNvPr id="60" name="Text 58"/>
          <p:cNvSpPr/>
          <p:nvPr/>
        </p:nvSpPr>
        <p:spPr>
          <a:xfrm>
            <a:off x="14098339" y="4090987"/>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0.175</a:t>
            </a:r>
            <a:endParaRPr lang="en-US" sz="2100" dirty="0"/>
          </a:p>
        </p:txBody>
      </p:sp>
      <p:sp>
        <p:nvSpPr>
          <p:cNvPr id="61" name="Shape 59"/>
          <p:cNvSpPr/>
          <p:nvPr/>
        </p:nvSpPr>
        <p:spPr>
          <a:xfrm>
            <a:off x="15146089" y="4586288"/>
            <a:ext cx="1181100" cy="9525"/>
          </a:xfrm>
          <a:prstGeom prst="rect">
            <a:avLst/>
          </a:prstGeom>
          <a:solidFill>
            <a:srgbClr val="D9D3C5"/>
          </a:solidFill>
          <a:ln/>
        </p:spPr>
        <p:txBody>
          <a:bodyPr/>
          <a:lstStyle/>
          <a:p>
            <a:endParaRPr lang="en-US"/>
          </a:p>
        </p:txBody>
      </p:sp>
      <p:sp>
        <p:nvSpPr>
          <p:cNvPr id="62" name="Text 60"/>
          <p:cNvSpPr/>
          <p:nvPr/>
        </p:nvSpPr>
        <p:spPr>
          <a:xfrm>
            <a:off x="15279439" y="4090987"/>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0.771</a:t>
            </a:r>
            <a:endParaRPr lang="en-US" sz="2100" dirty="0"/>
          </a:p>
        </p:txBody>
      </p:sp>
      <p:sp>
        <p:nvSpPr>
          <p:cNvPr id="63" name="Shape 61"/>
          <p:cNvSpPr/>
          <p:nvPr/>
        </p:nvSpPr>
        <p:spPr>
          <a:xfrm>
            <a:off x="16327189" y="4586288"/>
            <a:ext cx="1008459" cy="9525"/>
          </a:xfrm>
          <a:prstGeom prst="rect">
            <a:avLst/>
          </a:prstGeom>
          <a:solidFill>
            <a:srgbClr val="D9D3C5"/>
          </a:solidFill>
          <a:ln/>
        </p:spPr>
        <p:txBody>
          <a:bodyPr/>
          <a:lstStyle/>
          <a:p>
            <a:endParaRPr lang="en-US"/>
          </a:p>
        </p:txBody>
      </p:sp>
      <p:sp>
        <p:nvSpPr>
          <p:cNvPr id="64" name="Text 62"/>
          <p:cNvSpPr/>
          <p:nvPr/>
        </p:nvSpPr>
        <p:spPr>
          <a:xfrm>
            <a:off x="16460539" y="4090987"/>
            <a:ext cx="665559" cy="361950"/>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2.40</a:t>
            </a:r>
            <a:endParaRPr lang="en-US" sz="2100" dirty="0"/>
          </a:p>
        </p:txBody>
      </p:sp>
      <p:sp>
        <p:nvSpPr>
          <p:cNvPr id="65" name="Shape 63"/>
          <p:cNvSpPr/>
          <p:nvPr/>
        </p:nvSpPr>
        <p:spPr>
          <a:xfrm>
            <a:off x="7628781" y="5262563"/>
            <a:ext cx="4199334" cy="9525"/>
          </a:xfrm>
          <a:prstGeom prst="rect">
            <a:avLst/>
          </a:prstGeom>
          <a:solidFill>
            <a:srgbClr val="D9D3C5"/>
          </a:solidFill>
          <a:ln/>
        </p:spPr>
        <p:txBody>
          <a:bodyPr/>
          <a:lstStyle/>
          <a:p>
            <a:endParaRPr lang="en-US"/>
          </a:p>
        </p:txBody>
      </p:sp>
      <p:sp>
        <p:nvSpPr>
          <p:cNvPr id="66" name="Text 64"/>
          <p:cNvSpPr/>
          <p:nvPr/>
        </p:nvSpPr>
        <p:spPr>
          <a:xfrm>
            <a:off x="7838331" y="4767263"/>
            <a:ext cx="3906214" cy="3619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CU1_Low + AdmGrade_Med</a:t>
            </a:r>
            <a:endParaRPr lang="en-US" sz="1650" dirty="0"/>
          </a:p>
        </p:txBody>
      </p:sp>
      <p:sp>
        <p:nvSpPr>
          <p:cNvPr id="67" name="Shape 65"/>
          <p:cNvSpPr/>
          <p:nvPr/>
        </p:nvSpPr>
        <p:spPr>
          <a:xfrm>
            <a:off x="11828115" y="5262563"/>
            <a:ext cx="2136874" cy="9525"/>
          </a:xfrm>
          <a:prstGeom prst="rect">
            <a:avLst/>
          </a:prstGeom>
          <a:solidFill>
            <a:srgbClr val="D9D3C5"/>
          </a:solidFill>
          <a:ln/>
        </p:spPr>
        <p:txBody>
          <a:bodyPr/>
          <a:lstStyle/>
          <a:p>
            <a:endParaRPr lang="en-US"/>
          </a:p>
        </p:txBody>
      </p:sp>
      <p:sp>
        <p:nvSpPr>
          <p:cNvPr id="68" name="Text 66"/>
          <p:cNvSpPr/>
          <p:nvPr/>
        </p:nvSpPr>
        <p:spPr>
          <a:xfrm>
            <a:off x="12037665" y="4767263"/>
            <a:ext cx="1793974" cy="361950"/>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69" name="Shape 67"/>
          <p:cNvSpPr/>
          <p:nvPr/>
        </p:nvSpPr>
        <p:spPr>
          <a:xfrm>
            <a:off x="13964989" y="5262563"/>
            <a:ext cx="1181100" cy="9525"/>
          </a:xfrm>
          <a:prstGeom prst="rect">
            <a:avLst/>
          </a:prstGeom>
          <a:solidFill>
            <a:srgbClr val="D9D3C5"/>
          </a:solidFill>
          <a:ln/>
        </p:spPr>
        <p:txBody>
          <a:bodyPr/>
          <a:lstStyle/>
          <a:p>
            <a:endParaRPr lang="en-US"/>
          </a:p>
        </p:txBody>
      </p:sp>
      <p:sp>
        <p:nvSpPr>
          <p:cNvPr id="70" name="Text 68"/>
          <p:cNvSpPr/>
          <p:nvPr/>
        </p:nvSpPr>
        <p:spPr>
          <a:xfrm>
            <a:off x="14098339" y="4767263"/>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0.084</a:t>
            </a:r>
            <a:endParaRPr lang="en-US" sz="2100" dirty="0"/>
          </a:p>
        </p:txBody>
      </p:sp>
      <p:sp>
        <p:nvSpPr>
          <p:cNvPr id="71" name="Shape 69"/>
          <p:cNvSpPr/>
          <p:nvPr/>
        </p:nvSpPr>
        <p:spPr>
          <a:xfrm>
            <a:off x="15146089" y="5262563"/>
            <a:ext cx="1181100" cy="9525"/>
          </a:xfrm>
          <a:prstGeom prst="rect">
            <a:avLst/>
          </a:prstGeom>
          <a:solidFill>
            <a:srgbClr val="D9D3C5"/>
          </a:solidFill>
          <a:ln/>
        </p:spPr>
        <p:txBody>
          <a:bodyPr/>
          <a:lstStyle/>
          <a:p>
            <a:endParaRPr lang="en-US"/>
          </a:p>
        </p:txBody>
      </p:sp>
      <p:sp>
        <p:nvSpPr>
          <p:cNvPr id="72" name="Text 70"/>
          <p:cNvSpPr/>
          <p:nvPr/>
        </p:nvSpPr>
        <p:spPr>
          <a:xfrm>
            <a:off x="15279439" y="4767263"/>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0.764</a:t>
            </a:r>
            <a:endParaRPr lang="en-US" sz="2100" dirty="0"/>
          </a:p>
        </p:txBody>
      </p:sp>
      <p:sp>
        <p:nvSpPr>
          <p:cNvPr id="73" name="Shape 71"/>
          <p:cNvSpPr/>
          <p:nvPr/>
        </p:nvSpPr>
        <p:spPr>
          <a:xfrm>
            <a:off x="16327189" y="5262563"/>
            <a:ext cx="1008459" cy="9525"/>
          </a:xfrm>
          <a:prstGeom prst="rect">
            <a:avLst/>
          </a:prstGeom>
          <a:solidFill>
            <a:srgbClr val="D9D3C5"/>
          </a:solidFill>
          <a:ln/>
        </p:spPr>
        <p:txBody>
          <a:bodyPr/>
          <a:lstStyle/>
          <a:p>
            <a:endParaRPr lang="en-US"/>
          </a:p>
        </p:txBody>
      </p:sp>
      <p:sp>
        <p:nvSpPr>
          <p:cNvPr id="74" name="Text 72"/>
          <p:cNvSpPr/>
          <p:nvPr/>
        </p:nvSpPr>
        <p:spPr>
          <a:xfrm>
            <a:off x="16460539" y="4767263"/>
            <a:ext cx="665559" cy="361950"/>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2.38</a:t>
            </a:r>
            <a:endParaRPr lang="en-US" sz="2100" dirty="0"/>
          </a:p>
        </p:txBody>
      </p:sp>
      <p:sp>
        <p:nvSpPr>
          <p:cNvPr id="75" name="Shape 73"/>
          <p:cNvSpPr/>
          <p:nvPr/>
        </p:nvSpPr>
        <p:spPr>
          <a:xfrm>
            <a:off x="7628781" y="5938838"/>
            <a:ext cx="4199334" cy="9525"/>
          </a:xfrm>
          <a:prstGeom prst="rect">
            <a:avLst/>
          </a:prstGeom>
          <a:solidFill>
            <a:srgbClr val="D9D3C5"/>
          </a:solidFill>
          <a:ln/>
        </p:spPr>
        <p:txBody>
          <a:bodyPr/>
          <a:lstStyle/>
          <a:p>
            <a:endParaRPr lang="en-US"/>
          </a:p>
        </p:txBody>
      </p:sp>
      <p:sp>
        <p:nvSpPr>
          <p:cNvPr id="76" name="Text 74"/>
          <p:cNvSpPr/>
          <p:nvPr/>
        </p:nvSpPr>
        <p:spPr>
          <a:xfrm>
            <a:off x="7838331" y="5443538"/>
            <a:ext cx="3906214" cy="3619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TuitionUpToDate + CU1_Low</a:t>
            </a:r>
            <a:endParaRPr lang="en-US" sz="1650" dirty="0"/>
          </a:p>
        </p:txBody>
      </p:sp>
      <p:sp>
        <p:nvSpPr>
          <p:cNvPr id="77" name="Shape 75"/>
          <p:cNvSpPr/>
          <p:nvPr/>
        </p:nvSpPr>
        <p:spPr>
          <a:xfrm>
            <a:off x="11828115" y="5938838"/>
            <a:ext cx="2136874" cy="9525"/>
          </a:xfrm>
          <a:prstGeom prst="rect">
            <a:avLst/>
          </a:prstGeom>
          <a:solidFill>
            <a:srgbClr val="D9D3C5"/>
          </a:solidFill>
          <a:ln/>
        </p:spPr>
        <p:txBody>
          <a:bodyPr/>
          <a:lstStyle/>
          <a:p>
            <a:endParaRPr lang="en-US"/>
          </a:p>
        </p:txBody>
      </p:sp>
      <p:sp>
        <p:nvSpPr>
          <p:cNvPr id="78" name="Text 76"/>
          <p:cNvSpPr/>
          <p:nvPr/>
        </p:nvSpPr>
        <p:spPr>
          <a:xfrm>
            <a:off x="12037665" y="5443538"/>
            <a:ext cx="1793974" cy="361950"/>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79" name="Shape 77"/>
          <p:cNvSpPr/>
          <p:nvPr/>
        </p:nvSpPr>
        <p:spPr>
          <a:xfrm>
            <a:off x="13964989" y="5938838"/>
            <a:ext cx="1181100" cy="9525"/>
          </a:xfrm>
          <a:prstGeom prst="rect">
            <a:avLst/>
          </a:prstGeom>
          <a:solidFill>
            <a:srgbClr val="D9D3C5"/>
          </a:solidFill>
          <a:ln/>
        </p:spPr>
        <p:txBody>
          <a:bodyPr/>
          <a:lstStyle/>
          <a:p>
            <a:endParaRPr lang="en-US"/>
          </a:p>
        </p:txBody>
      </p:sp>
      <p:sp>
        <p:nvSpPr>
          <p:cNvPr id="80" name="Text 78"/>
          <p:cNvSpPr/>
          <p:nvPr/>
        </p:nvSpPr>
        <p:spPr>
          <a:xfrm>
            <a:off x="14098339" y="5443538"/>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0.115</a:t>
            </a:r>
            <a:endParaRPr lang="en-US" sz="2100" dirty="0"/>
          </a:p>
        </p:txBody>
      </p:sp>
      <p:sp>
        <p:nvSpPr>
          <p:cNvPr id="81" name="Shape 79"/>
          <p:cNvSpPr/>
          <p:nvPr/>
        </p:nvSpPr>
        <p:spPr>
          <a:xfrm>
            <a:off x="15146089" y="5938838"/>
            <a:ext cx="1181100" cy="9525"/>
          </a:xfrm>
          <a:prstGeom prst="rect">
            <a:avLst/>
          </a:prstGeom>
          <a:solidFill>
            <a:srgbClr val="D9D3C5"/>
          </a:solidFill>
          <a:ln/>
        </p:spPr>
        <p:txBody>
          <a:bodyPr/>
          <a:lstStyle/>
          <a:p>
            <a:endParaRPr lang="en-US"/>
          </a:p>
        </p:txBody>
      </p:sp>
      <p:sp>
        <p:nvSpPr>
          <p:cNvPr id="82" name="Text 80"/>
          <p:cNvSpPr/>
          <p:nvPr/>
        </p:nvSpPr>
        <p:spPr>
          <a:xfrm>
            <a:off x="15279439" y="5443538"/>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0.696</a:t>
            </a:r>
            <a:endParaRPr lang="en-US" sz="2100" dirty="0"/>
          </a:p>
        </p:txBody>
      </p:sp>
      <p:sp>
        <p:nvSpPr>
          <p:cNvPr id="83" name="Shape 81"/>
          <p:cNvSpPr/>
          <p:nvPr/>
        </p:nvSpPr>
        <p:spPr>
          <a:xfrm>
            <a:off x="16327189" y="5938838"/>
            <a:ext cx="1008459" cy="9525"/>
          </a:xfrm>
          <a:prstGeom prst="rect">
            <a:avLst/>
          </a:prstGeom>
          <a:solidFill>
            <a:srgbClr val="D9D3C5"/>
          </a:solidFill>
          <a:ln/>
        </p:spPr>
        <p:txBody>
          <a:bodyPr/>
          <a:lstStyle/>
          <a:p>
            <a:endParaRPr lang="en-US"/>
          </a:p>
        </p:txBody>
      </p:sp>
      <p:sp>
        <p:nvSpPr>
          <p:cNvPr id="84" name="Text 82"/>
          <p:cNvSpPr/>
          <p:nvPr/>
        </p:nvSpPr>
        <p:spPr>
          <a:xfrm>
            <a:off x="16460539" y="5443538"/>
            <a:ext cx="665559" cy="361950"/>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2.17</a:t>
            </a:r>
            <a:endParaRPr lang="en-US" sz="2100" dirty="0"/>
          </a:p>
        </p:txBody>
      </p:sp>
      <p:sp>
        <p:nvSpPr>
          <p:cNvPr id="85" name="Shape 83"/>
          <p:cNvSpPr/>
          <p:nvPr/>
        </p:nvSpPr>
        <p:spPr>
          <a:xfrm>
            <a:off x="7628781" y="6843713"/>
            <a:ext cx="4199334" cy="9525"/>
          </a:xfrm>
          <a:prstGeom prst="rect">
            <a:avLst/>
          </a:prstGeom>
          <a:solidFill>
            <a:srgbClr val="D9D3C5"/>
          </a:solidFill>
          <a:ln/>
        </p:spPr>
        <p:txBody>
          <a:bodyPr/>
          <a:lstStyle/>
          <a:p>
            <a:endParaRPr lang="en-US"/>
          </a:p>
        </p:txBody>
      </p:sp>
      <p:sp>
        <p:nvSpPr>
          <p:cNvPr id="86" name="Text 84"/>
          <p:cNvSpPr/>
          <p:nvPr/>
        </p:nvSpPr>
        <p:spPr>
          <a:xfrm>
            <a:off x="7838331" y="6119813"/>
            <a:ext cx="3906214" cy="5905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TuitionUpToDate + CU1_High + Scholarship + AdmGrade_Med</a:t>
            </a:r>
            <a:endParaRPr lang="en-US" sz="1650" dirty="0"/>
          </a:p>
        </p:txBody>
      </p:sp>
      <p:sp>
        <p:nvSpPr>
          <p:cNvPr id="87" name="Shape 85"/>
          <p:cNvSpPr/>
          <p:nvPr/>
        </p:nvSpPr>
        <p:spPr>
          <a:xfrm>
            <a:off x="11828115" y="6843713"/>
            <a:ext cx="2136874" cy="9525"/>
          </a:xfrm>
          <a:prstGeom prst="rect">
            <a:avLst/>
          </a:prstGeom>
          <a:solidFill>
            <a:srgbClr val="D9D3C5"/>
          </a:solidFill>
          <a:ln/>
        </p:spPr>
        <p:txBody>
          <a:bodyPr/>
          <a:lstStyle/>
          <a:p>
            <a:endParaRPr lang="en-US"/>
          </a:p>
        </p:txBody>
      </p:sp>
      <p:sp>
        <p:nvSpPr>
          <p:cNvPr id="88" name="Text 86"/>
          <p:cNvSpPr/>
          <p:nvPr/>
        </p:nvSpPr>
        <p:spPr>
          <a:xfrm>
            <a:off x="12037665" y="6119813"/>
            <a:ext cx="1793974" cy="590550"/>
          </a:xfrm>
          <a:prstGeom prst="rect">
            <a:avLst/>
          </a:prstGeom>
          <a:noFill/>
          <a:ln/>
        </p:spPr>
        <p:txBody>
          <a:bodyPr wrap="square" lIns="25400" tIns="25400" rIns="25400" bIns="25400" rtlCol="0" anchor="ctr">
            <a:normAutofit/>
          </a:bodyPr>
          <a:lstStyle/>
          <a:p>
            <a:pPr marL="0" indent="0" algn="l">
              <a:buNone/>
            </a:pPr>
            <a:r>
              <a:rPr lang="en-US" sz="1650" b="1" dirty="0">
                <a:solidFill>
                  <a:srgbClr val="1D9E75"/>
                </a:solidFill>
                <a:latin typeface="Courier New" pitchFamily="34" charset="0"/>
                <a:ea typeface="Courier New" pitchFamily="34" charset="-122"/>
                <a:cs typeface="Courier New" pitchFamily="34" charset="-120"/>
              </a:rPr>
              <a:t>Age_Young + Graduate</a:t>
            </a:r>
            <a:endParaRPr lang="en-US" sz="1650" dirty="0"/>
          </a:p>
        </p:txBody>
      </p:sp>
      <p:sp>
        <p:nvSpPr>
          <p:cNvPr id="89" name="Shape 87"/>
          <p:cNvSpPr/>
          <p:nvPr/>
        </p:nvSpPr>
        <p:spPr>
          <a:xfrm>
            <a:off x="13964989" y="6843713"/>
            <a:ext cx="1181100" cy="9525"/>
          </a:xfrm>
          <a:prstGeom prst="rect">
            <a:avLst/>
          </a:prstGeom>
          <a:solidFill>
            <a:srgbClr val="D9D3C5"/>
          </a:solidFill>
          <a:ln/>
        </p:spPr>
        <p:txBody>
          <a:bodyPr/>
          <a:lstStyle/>
          <a:p>
            <a:endParaRPr lang="en-US"/>
          </a:p>
        </p:txBody>
      </p:sp>
      <p:sp>
        <p:nvSpPr>
          <p:cNvPr id="90" name="Text 88"/>
          <p:cNvSpPr/>
          <p:nvPr/>
        </p:nvSpPr>
        <p:spPr>
          <a:xfrm>
            <a:off x="14098339" y="6119813"/>
            <a:ext cx="838200" cy="5905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0.078</a:t>
            </a:r>
            <a:endParaRPr lang="en-US" sz="2100" dirty="0"/>
          </a:p>
        </p:txBody>
      </p:sp>
      <p:sp>
        <p:nvSpPr>
          <p:cNvPr id="91" name="Shape 89"/>
          <p:cNvSpPr/>
          <p:nvPr/>
        </p:nvSpPr>
        <p:spPr>
          <a:xfrm>
            <a:off x="15146089" y="6843713"/>
            <a:ext cx="1181100" cy="9525"/>
          </a:xfrm>
          <a:prstGeom prst="rect">
            <a:avLst/>
          </a:prstGeom>
          <a:solidFill>
            <a:srgbClr val="D9D3C5"/>
          </a:solidFill>
          <a:ln/>
        </p:spPr>
        <p:txBody>
          <a:bodyPr/>
          <a:lstStyle/>
          <a:p>
            <a:endParaRPr lang="en-US"/>
          </a:p>
        </p:txBody>
      </p:sp>
      <p:sp>
        <p:nvSpPr>
          <p:cNvPr id="92" name="Text 90"/>
          <p:cNvSpPr/>
          <p:nvPr/>
        </p:nvSpPr>
        <p:spPr>
          <a:xfrm>
            <a:off x="15279439" y="6119813"/>
            <a:ext cx="838200" cy="5905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0.801</a:t>
            </a:r>
            <a:endParaRPr lang="en-US" sz="2100" dirty="0"/>
          </a:p>
        </p:txBody>
      </p:sp>
      <p:sp>
        <p:nvSpPr>
          <p:cNvPr id="93" name="Shape 91"/>
          <p:cNvSpPr/>
          <p:nvPr/>
        </p:nvSpPr>
        <p:spPr>
          <a:xfrm>
            <a:off x="16327189" y="6843713"/>
            <a:ext cx="1008459" cy="9525"/>
          </a:xfrm>
          <a:prstGeom prst="rect">
            <a:avLst/>
          </a:prstGeom>
          <a:solidFill>
            <a:srgbClr val="D9D3C5"/>
          </a:solidFill>
          <a:ln/>
        </p:spPr>
        <p:txBody>
          <a:bodyPr/>
          <a:lstStyle/>
          <a:p>
            <a:endParaRPr lang="en-US"/>
          </a:p>
        </p:txBody>
      </p:sp>
      <p:sp>
        <p:nvSpPr>
          <p:cNvPr id="94" name="Text 92"/>
          <p:cNvSpPr/>
          <p:nvPr/>
        </p:nvSpPr>
        <p:spPr>
          <a:xfrm>
            <a:off x="16460539" y="6119813"/>
            <a:ext cx="665559" cy="590550"/>
          </a:xfrm>
          <a:prstGeom prst="rect">
            <a:avLst/>
          </a:prstGeom>
          <a:noFill/>
          <a:ln/>
        </p:spPr>
        <p:txBody>
          <a:bodyPr wrap="square" lIns="25400" tIns="25400" rIns="25400" bIns="25400" rtlCol="0" anchor="ctr">
            <a:normAutofit/>
          </a:bodyPr>
          <a:lstStyle/>
          <a:p>
            <a:pPr marL="0" indent="0" algn="r">
              <a:buNone/>
            </a:pPr>
            <a:r>
              <a:rPr lang="en-US" sz="2100" b="1" dirty="0">
                <a:solidFill>
                  <a:srgbClr val="1C1B1A"/>
                </a:solidFill>
                <a:latin typeface="Arial" pitchFamily="34" charset="0"/>
                <a:ea typeface="Arial" pitchFamily="34" charset="-122"/>
                <a:cs typeface="Arial" pitchFamily="34" charset="-120"/>
              </a:rPr>
              <a:t>2.09</a:t>
            </a:r>
            <a:endParaRPr lang="en-US" sz="2100" dirty="0"/>
          </a:p>
        </p:txBody>
      </p:sp>
      <p:sp>
        <p:nvSpPr>
          <p:cNvPr id="95" name="Shape 93"/>
          <p:cNvSpPr/>
          <p:nvPr/>
        </p:nvSpPr>
        <p:spPr>
          <a:xfrm>
            <a:off x="7628781" y="7086600"/>
            <a:ext cx="9706719" cy="1047750"/>
          </a:xfrm>
          <a:prstGeom prst="rect">
            <a:avLst/>
          </a:prstGeom>
          <a:solidFill>
            <a:srgbClr val="F2EEE6"/>
          </a:solidFill>
          <a:ln/>
        </p:spPr>
        <p:txBody>
          <a:bodyPr/>
          <a:lstStyle/>
          <a:p>
            <a:endParaRPr lang="en-US"/>
          </a:p>
        </p:txBody>
      </p:sp>
      <p:sp>
        <p:nvSpPr>
          <p:cNvPr id="96" name="Shape 94"/>
          <p:cNvSpPr/>
          <p:nvPr/>
        </p:nvSpPr>
        <p:spPr>
          <a:xfrm>
            <a:off x="7628781" y="7086600"/>
            <a:ext cx="38100" cy="1047750"/>
          </a:xfrm>
          <a:prstGeom prst="rect">
            <a:avLst/>
          </a:prstGeom>
          <a:solidFill>
            <a:srgbClr val="E24B4A"/>
          </a:solidFill>
          <a:ln/>
        </p:spPr>
        <p:txBody>
          <a:bodyPr/>
          <a:lstStyle/>
          <a:p>
            <a:endParaRPr lang="en-US"/>
          </a:p>
        </p:txBody>
      </p:sp>
      <p:sp>
        <p:nvSpPr>
          <p:cNvPr id="97" name="Text 95"/>
          <p:cNvSpPr/>
          <p:nvPr/>
        </p:nvSpPr>
        <p:spPr>
          <a:xfrm>
            <a:off x="7628781" y="7277100"/>
            <a:ext cx="9769321" cy="704850"/>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C1B1A"/>
                </a:solidFill>
                <a:latin typeface="-apple-system" pitchFamily="34" charset="0"/>
                <a:ea typeface="-apple-system" pitchFamily="34" charset="-122"/>
                <a:cs typeface="-apple-system" pitchFamily="34" charset="-120"/>
              </a:rPr>
              <a:t>Top finding:</a:t>
            </a:r>
            <a:r>
              <a:rPr lang="en-US" sz="1800" dirty="0">
                <a:solidFill>
                  <a:srgbClr val="1C1B1A"/>
                </a:solidFill>
                <a:latin typeface="-apple-system" pitchFamily="34" charset="0"/>
                <a:ea typeface="-apple-system" pitchFamily="34" charset="-122"/>
                <a:cs typeface="-apple-system" pitchFamily="34" charset="-120"/>
              </a:rPr>
              <a:t>low 1st-semester approved units + mid age → Dropout · </a:t>
            </a:r>
            <a:r>
              <a:rPr lang="en-US" sz="1800" dirty="0">
                <a:solidFill>
                  <a:srgbClr val="1C1B1A"/>
                </a:solidFill>
                <a:latin typeface="Courier New" pitchFamily="34" charset="0"/>
                <a:ea typeface="Courier New" pitchFamily="34" charset="-122"/>
                <a:cs typeface="Courier New" pitchFamily="34" charset="-120"/>
              </a:rPr>
              <a:t>conf 87.4% · lift 2.72×</a:t>
            </a:r>
            <a:endParaRPr lang="en-US" sz="1800" dirty="0"/>
          </a:p>
        </p:txBody>
      </p:sp>
      <p:sp>
        <p:nvSpPr>
          <p:cNvPr id="98" name="Text 96"/>
          <p:cNvSpPr/>
          <p:nvPr/>
        </p:nvSpPr>
        <p:spPr>
          <a:xfrm>
            <a:off x="16692116" y="82581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14/19</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385728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14 · MODEL COMPARISON</a:t>
            </a:r>
            <a:endParaRPr lang="en-US" sz="1800" dirty="0"/>
          </a:p>
        </p:txBody>
      </p:sp>
      <p:sp>
        <p:nvSpPr>
          <p:cNvPr id="4" name="Text 2"/>
          <p:cNvSpPr/>
          <p:nvPr/>
        </p:nvSpPr>
        <p:spPr>
          <a:xfrm>
            <a:off x="952500" y="1290638"/>
            <a:ext cx="16874490" cy="1081087"/>
          </a:xfrm>
          <a:prstGeom prst="rect">
            <a:avLst/>
          </a:prstGeom>
          <a:noFill/>
          <a:ln/>
        </p:spPr>
        <p:txBody>
          <a:bodyPr wrap="square" lIns="25400" tIns="25400" rIns="25400" bIns="25400" rtlCol="0" anchor="t">
            <a:normAutofit fontScale="925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XGBoost wins on F1-macro · Random Forest on accuracy</a:t>
            </a:r>
            <a:endParaRPr lang="en-US" sz="4800" dirty="0"/>
          </a:p>
        </p:txBody>
      </p:sp>
      <p:sp>
        <p:nvSpPr>
          <p:cNvPr id="5" name="Shape 3"/>
          <p:cNvSpPr/>
          <p:nvPr/>
        </p:nvSpPr>
        <p:spPr>
          <a:xfrm>
            <a:off x="952500" y="3295650"/>
            <a:ext cx="4616053" cy="19050"/>
          </a:xfrm>
          <a:prstGeom prst="rect">
            <a:avLst/>
          </a:prstGeom>
          <a:solidFill>
            <a:srgbClr val="1C1B1A"/>
          </a:solidFill>
          <a:ln/>
        </p:spPr>
        <p:txBody>
          <a:bodyPr/>
          <a:lstStyle/>
          <a:p>
            <a:endParaRPr lang="en-US"/>
          </a:p>
        </p:txBody>
      </p:sp>
      <p:sp>
        <p:nvSpPr>
          <p:cNvPr id="6" name="Text 4"/>
          <p:cNvSpPr/>
          <p:nvPr/>
        </p:nvSpPr>
        <p:spPr>
          <a:xfrm>
            <a:off x="1162050" y="2886075"/>
            <a:ext cx="4335435"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MODEL</a:t>
            </a:r>
            <a:endParaRPr lang="en-US" sz="1650" dirty="0"/>
          </a:p>
        </p:txBody>
      </p:sp>
      <p:sp>
        <p:nvSpPr>
          <p:cNvPr id="7" name="Shape 5"/>
          <p:cNvSpPr/>
          <p:nvPr/>
        </p:nvSpPr>
        <p:spPr>
          <a:xfrm>
            <a:off x="5568553" y="3295650"/>
            <a:ext cx="2408634" cy="19050"/>
          </a:xfrm>
          <a:prstGeom prst="rect">
            <a:avLst/>
          </a:prstGeom>
          <a:solidFill>
            <a:srgbClr val="1C1B1A"/>
          </a:solidFill>
          <a:ln/>
        </p:spPr>
        <p:txBody>
          <a:bodyPr/>
          <a:lstStyle/>
          <a:p>
            <a:endParaRPr lang="en-US"/>
          </a:p>
        </p:txBody>
      </p:sp>
      <p:sp>
        <p:nvSpPr>
          <p:cNvPr id="8" name="Text 6"/>
          <p:cNvSpPr/>
          <p:nvPr/>
        </p:nvSpPr>
        <p:spPr>
          <a:xfrm>
            <a:off x="5701903" y="2886075"/>
            <a:ext cx="2065734"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ACCURACY</a:t>
            </a:r>
            <a:endParaRPr lang="en-US" sz="1650" dirty="0"/>
          </a:p>
        </p:txBody>
      </p:sp>
      <p:sp>
        <p:nvSpPr>
          <p:cNvPr id="9" name="Shape 7"/>
          <p:cNvSpPr/>
          <p:nvPr/>
        </p:nvSpPr>
        <p:spPr>
          <a:xfrm>
            <a:off x="7977188" y="3295650"/>
            <a:ext cx="2564011" cy="19050"/>
          </a:xfrm>
          <a:prstGeom prst="rect">
            <a:avLst/>
          </a:prstGeom>
          <a:solidFill>
            <a:srgbClr val="1C1B1A"/>
          </a:solidFill>
          <a:ln/>
        </p:spPr>
        <p:txBody>
          <a:bodyPr/>
          <a:lstStyle/>
          <a:p>
            <a:endParaRPr lang="en-US"/>
          </a:p>
        </p:txBody>
      </p:sp>
      <p:sp>
        <p:nvSpPr>
          <p:cNvPr id="10" name="Text 8"/>
          <p:cNvSpPr/>
          <p:nvPr/>
        </p:nvSpPr>
        <p:spPr>
          <a:xfrm>
            <a:off x="8109817" y="2886075"/>
            <a:ext cx="2221831"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F1 (MACRO)</a:t>
            </a:r>
            <a:endParaRPr lang="en-US" sz="1650" dirty="0"/>
          </a:p>
        </p:txBody>
      </p:sp>
      <p:sp>
        <p:nvSpPr>
          <p:cNvPr id="11" name="Shape 9"/>
          <p:cNvSpPr/>
          <p:nvPr/>
        </p:nvSpPr>
        <p:spPr>
          <a:xfrm>
            <a:off x="10541198" y="3295650"/>
            <a:ext cx="3107829" cy="19050"/>
          </a:xfrm>
          <a:prstGeom prst="rect">
            <a:avLst/>
          </a:prstGeom>
          <a:solidFill>
            <a:srgbClr val="1C1B1A"/>
          </a:solidFill>
          <a:ln/>
        </p:spPr>
        <p:txBody>
          <a:bodyPr/>
          <a:lstStyle/>
          <a:p>
            <a:endParaRPr lang="en-US"/>
          </a:p>
        </p:txBody>
      </p:sp>
      <p:sp>
        <p:nvSpPr>
          <p:cNvPr id="12" name="Text 10"/>
          <p:cNvSpPr/>
          <p:nvPr/>
        </p:nvSpPr>
        <p:spPr>
          <a:xfrm>
            <a:off x="10657514" y="2886075"/>
            <a:ext cx="2781964"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F1 (WEIGHTED)</a:t>
            </a:r>
            <a:endParaRPr lang="en-US" sz="1650" dirty="0"/>
          </a:p>
        </p:txBody>
      </p:sp>
      <p:sp>
        <p:nvSpPr>
          <p:cNvPr id="13" name="Shape 11"/>
          <p:cNvSpPr/>
          <p:nvPr/>
        </p:nvSpPr>
        <p:spPr>
          <a:xfrm>
            <a:off x="13649027" y="3295650"/>
            <a:ext cx="3687068" cy="19050"/>
          </a:xfrm>
          <a:prstGeom prst="rect">
            <a:avLst/>
          </a:prstGeom>
          <a:solidFill>
            <a:srgbClr val="1C1B1A"/>
          </a:solidFill>
          <a:ln/>
        </p:spPr>
        <p:txBody>
          <a:bodyPr/>
          <a:lstStyle/>
          <a:p>
            <a:endParaRPr lang="en-US"/>
          </a:p>
        </p:txBody>
      </p:sp>
      <p:sp>
        <p:nvSpPr>
          <p:cNvPr id="14" name="Text 12"/>
          <p:cNvSpPr/>
          <p:nvPr/>
        </p:nvSpPr>
        <p:spPr>
          <a:xfrm>
            <a:off x="13747965" y="2886075"/>
            <a:ext cx="3378580"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CV F1 MEAN ± STD</a:t>
            </a:r>
            <a:endParaRPr lang="en-US" sz="1650" dirty="0"/>
          </a:p>
        </p:txBody>
      </p:sp>
      <p:sp>
        <p:nvSpPr>
          <p:cNvPr id="15" name="Shape 13"/>
          <p:cNvSpPr/>
          <p:nvPr/>
        </p:nvSpPr>
        <p:spPr>
          <a:xfrm>
            <a:off x="952500" y="3314700"/>
            <a:ext cx="4616053" cy="681038"/>
          </a:xfrm>
          <a:prstGeom prst="rect">
            <a:avLst/>
          </a:prstGeom>
          <a:solidFill>
            <a:srgbClr val="1D9E75">
              <a:alpha val="8000"/>
            </a:srgbClr>
          </a:solidFill>
          <a:ln/>
        </p:spPr>
        <p:txBody>
          <a:bodyPr/>
          <a:lstStyle/>
          <a:p>
            <a:endParaRPr lang="en-US"/>
          </a:p>
        </p:txBody>
      </p:sp>
      <p:sp>
        <p:nvSpPr>
          <p:cNvPr id="16" name="Shape 14"/>
          <p:cNvSpPr/>
          <p:nvPr/>
        </p:nvSpPr>
        <p:spPr>
          <a:xfrm>
            <a:off x="952500" y="3986213"/>
            <a:ext cx="4616053" cy="9525"/>
          </a:xfrm>
          <a:prstGeom prst="rect">
            <a:avLst/>
          </a:prstGeom>
          <a:solidFill>
            <a:srgbClr val="D9D3C5"/>
          </a:solidFill>
          <a:ln/>
        </p:spPr>
        <p:txBody>
          <a:bodyPr/>
          <a:lstStyle/>
          <a:p>
            <a:endParaRPr lang="en-US"/>
          </a:p>
        </p:txBody>
      </p:sp>
      <p:sp>
        <p:nvSpPr>
          <p:cNvPr id="17" name="Text 15"/>
          <p:cNvSpPr/>
          <p:nvPr/>
        </p:nvSpPr>
        <p:spPr>
          <a:xfrm>
            <a:off x="1162050" y="3486150"/>
            <a:ext cx="4335435" cy="366712"/>
          </a:xfrm>
          <a:prstGeom prst="rect">
            <a:avLst/>
          </a:prstGeom>
          <a:noFill/>
          <a:ln/>
        </p:spPr>
        <p:txBody>
          <a:bodyPr wrap="square" lIns="25400" tIns="25400" rIns="25400" bIns="25400" rtlCol="0" anchor="ctr">
            <a:normAutofit lnSpcReduction="10000"/>
          </a:bodyPr>
          <a:lstStyle/>
          <a:p>
            <a:pPr marL="0" indent="0" algn="l">
              <a:buNone/>
            </a:pPr>
            <a:r>
              <a:rPr lang="en-US" sz="2100" dirty="0" err="1">
                <a:solidFill>
                  <a:srgbClr val="1C1B1A"/>
                </a:solidFill>
                <a:highlight>
                  <a:srgbClr val="00FF00"/>
                </a:highlight>
                <a:latin typeface="Arial" pitchFamily="34" charset="0"/>
                <a:ea typeface="Arial" pitchFamily="34" charset="-122"/>
                <a:cs typeface="Arial" pitchFamily="34" charset="-120"/>
              </a:rPr>
              <a:t>XGBoost</a:t>
            </a:r>
            <a:r>
              <a:rPr lang="en-US" sz="2100" dirty="0">
                <a:solidFill>
                  <a:srgbClr val="1C1B1A"/>
                </a:solidFill>
                <a:latin typeface="Arial" pitchFamily="34" charset="0"/>
                <a:ea typeface="Arial" pitchFamily="34" charset="-122"/>
                <a:cs typeface="Arial" pitchFamily="34" charset="-120"/>
              </a:rPr>
              <a:t>  </a:t>
            </a:r>
            <a:r>
              <a:rPr lang="en-US" sz="1350" dirty="0">
                <a:solidFill>
                  <a:srgbClr val="1D9E75"/>
                </a:solidFill>
                <a:latin typeface="Courier New" pitchFamily="34" charset="0"/>
                <a:ea typeface="Courier New" pitchFamily="34" charset="-122"/>
                <a:cs typeface="Courier New" pitchFamily="34" charset="-120"/>
              </a:rPr>
              <a:t>BEST F1</a:t>
            </a:r>
            <a:endParaRPr lang="en-US" sz="2100" dirty="0"/>
          </a:p>
        </p:txBody>
      </p:sp>
      <p:sp>
        <p:nvSpPr>
          <p:cNvPr id="18" name="Shape 16"/>
          <p:cNvSpPr/>
          <p:nvPr/>
        </p:nvSpPr>
        <p:spPr>
          <a:xfrm>
            <a:off x="5568553" y="3314700"/>
            <a:ext cx="2408634" cy="681038"/>
          </a:xfrm>
          <a:prstGeom prst="rect">
            <a:avLst/>
          </a:prstGeom>
          <a:solidFill>
            <a:srgbClr val="1D9E75">
              <a:alpha val="8000"/>
            </a:srgbClr>
          </a:solidFill>
          <a:ln/>
        </p:spPr>
        <p:txBody>
          <a:bodyPr/>
          <a:lstStyle/>
          <a:p>
            <a:endParaRPr lang="en-US"/>
          </a:p>
        </p:txBody>
      </p:sp>
      <p:sp>
        <p:nvSpPr>
          <p:cNvPr id="19" name="Shape 17"/>
          <p:cNvSpPr/>
          <p:nvPr/>
        </p:nvSpPr>
        <p:spPr>
          <a:xfrm>
            <a:off x="5568553" y="3986213"/>
            <a:ext cx="2408634" cy="9525"/>
          </a:xfrm>
          <a:prstGeom prst="rect">
            <a:avLst/>
          </a:prstGeom>
          <a:solidFill>
            <a:srgbClr val="D9D3C5"/>
          </a:solidFill>
          <a:ln/>
        </p:spPr>
        <p:txBody>
          <a:bodyPr/>
          <a:lstStyle/>
          <a:p>
            <a:endParaRPr lang="en-US"/>
          </a:p>
        </p:txBody>
      </p:sp>
      <p:sp>
        <p:nvSpPr>
          <p:cNvPr id="20" name="Text 18"/>
          <p:cNvSpPr/>
          <p:nvPr/>
        </p:nvSpPr>
        <p:spPr>
          <a:xfrm>
            <a:off x="5701903" y="3486150"/>
            <a:ext cx="2065734"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76.95%</a:t>
            </a:r>
            <a:endParaRPr lang="en-US" sz="2100" dirty="0"/>
          </a:p>
        </p:txBody>
      </p:sp>
      <p:sp>
        <p:nvSpPr>
          <p:cNvPr id="21" name="Shape 19"/>
          <p:cNvSpPr/>
          <p:nvPr/>
        </p:nvSpPr>
        <p:spPr>
          <a:xfrm>
            <a:off x="7977188" y="3314700"/>
            <a:ext cx="2564011" cy="681038"/>
          </a:xfrm>
          <a:prstGeom prst="rect">
            <a:avLst/>
          </a:prstGeom>
          <a:solidFill>
            <a:srgbClr val="1D9E75">
              <a:alpha val="8000"/>
            </a:srgbClr>
          </a:solidFill>
          <a:ln/>
        </p:spPr>
        <p:txBody>
          <a:bodyPr/>
          <a:lstStyle/>
          <a:p>
            <a:endParaRPr lang="en-US"/>
          </a:p>
        </p:txBody>
      </p:sp>
      <p:sp>
        <p:nvSpPr>
          <p:cNvPr id="22" name="Shape 20"/>
          <p:cNvSpPr/>
          <p:nvPr/>
        </p:nvSpPr>
        <p:spPr>
          <a:xfrm>
            <a:off x="7977188" y="3986213"/>
            <a:ext cx="2564011" cy="9525"/>
          </a:xfrm>
          <a:prstGeom prst="rect">
            <a:avLst/>
          </a:prstGeom>
          <a:solidFill>
            <a:srgbClr val="D9D3C5"/>
          </a:solidFill>
          <a:ln/>
        </p:spPr>
        <p:txBody>
          <a:bodyPr/>
          <a:lstStyle/>
          <a:p>
            <a:endParaRPr lang="en-US"/>
          </a:p>
        </p:txBody>
      </p:sp>
      <p:sp>
        <p:nvSpPr>
          <p:cNvPr id="23" name="Text 21"/>
          <p:cNvSpPr/>
          <p:nvPr/>
        </p:nvSpPr>
        <p:spPr>
          <a:xfrm>
            <a:off x="8109817" y="3486150"/>
            <a:ext cx="2221831"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0.7056</a:t>
            </a:r>
            <a:endParaRPr lang="en-US" sz="2100" dirty="0"/>
          </a:p>
        </p:txBody>
      </p:sp>
      <p:sp>
        <p:nvSpPr>
          <p:cNvPr id="24" name="Shape 22"/>
          <p:cNvSpPr/>
          <p:nvPr/>
        </p:nvSpPr>
        <p:spPr>
          <a:xfrm>
            <a:off x="10541198" y="3314700"/>
            <a:ext cx="3107829" cy="681038"/>
          </a:xfrm>
          <a:prstGeom prst="rect">
            <a:avLst/>
          </a:prstGeom>
          <a:solidFill>
            <a:srgbClr val="1D9E75">
              <a:alpha val="8000"/>
            </a:srgbClr>
          </a:solidFill>
          <a:ln/>
        </p:spPr>
        <p:txBody>
          <a:bodyPr/>
          <a:lstStyle/>
          <a:p>
            <a:endParaRPr lang="en-US"/>
          </a:p>
        </p:txBody>
      </p:sp>
      <p:sp>
        <p:nvSpPr>
          <p:cNvPr id="25" name="Shape 23"/>
          <p:cNvSpPr/>
          <p:nvPr/>
        </p:nvSpPr>
        <p:spPr>
          <a:xfrm>
            <a:off x="10541198" y="3986213"/>
            <a:ext cx="3107829" cy="9525"/>
          </a:xfrm>
          <a:prstGeom prst="rect">
            <a:avLst/>
          </a:prstGeom>
          <a:solidFill>
            <a:srgbClr val="D9D3C5"/>
          </a:solidFill>
          <a:ln/>
        </p:spPr>
        <p:txBody>
          <a:bodyPr/>
          <a:lstStyle/>
          <a:p>
            <a:endParaRPr lang="en-US"/>
          </a:p>
        </p:txBody>
      </p:sp>
      <p:sp>
        <p:nvSpPr>
          <p:cNvPr id="26" name="Text 24"/>
          <p:cNvSpPr/>
          <p:nvPr/>
        </p:nvSpPr>
        <p:spPr>
          <a:xfrm>
            <a:off x="10657514" y="3486150"/>
            <a:ext cx="2781964"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0.7634</a:t>
            </a:r>
            <a:endParaRPr lang="en-US" sz="2100" dirty="0"/>
          </a:p>
        </p:txBody>
      </p:sp>
      <p:sp>
        <p:nvSpPr>
          <p:cNvPr id="27" name="Shape 25"/>
          <p:cNvSpPr/>
          <p:nvPr/>
        </p:nvSpPr>
        <p:spPr>
          <a:xfrm>
            <a:off x="13649027" y="3314700"/>
            <a:ext cx="3687068" cy="681038"/>
          </a:xfrm>
          <a:prstGeom prst="rect">
            <a:avLst/>
          </a:prstGeom>
          <a:solidFill>
            <a:srgbClr val="1D9E75">
              <a:alpha val="8000"/>
            </a:srgbClr>
          </a:solidFill>
          <a:ln/>
        </p:spPr>
        <p:txBody>
          <a:bodyPr/>
          <a:lstStyle/>
          <a:p>
            <a:endParaRPr lang="en-US"/>
          </a:p>
        </p:txBody>
      </p:sp>
      <p:sp>
        <p:nvSpPr>
          <p:cNvPr id="28" name="Shape 26"/>
          <p:cNvSpPr/>
          <p:nvPr/>
        </p:nvSpPr>
        <p:spPr>
          <a:xfrm>
            <a:off x="13649027" y="3986213"/>
            <a:ext cx="3687068" cy="9525"/>
          </a:xfrm>
          <a:prstGeom prst="rect">
            <a:avLst/>
          </a:prstGeom>
          <a:solidFill>
            <a:srgbClr val="D9D3C5"/>
          </a:solidFill>
          <a:ln/>
        </p:spPr>
        <p:txBody>
          <a:bodyPr/>
          <a:lstStyle/>
          <a:p>
            <a:endParaRPr lang="en-US"/>
          </a:p>
        </p:txBody>
      </p:sp>
      <p:sp>
        <p:nvSpPr>
          <p:cNvPr id="29" name="Text 27"/>
          <p:cNvSpPr/>
          <p:nvPr/>
        </p:nvSpPr>
        <p:spPr>
          <a:xfrm>
            <a:off x="13747965" y="3486150"/>
            <a:ext cx="3378580"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0.7136 ± 0.0131</a:t>
            </a:r>
            <a:endParaRPr lang="en-US" sz="2100" dirty="0"/>
          </a:p>
        </p:txBody>
      </p:sp>
      <p:sp>
        <p:nvSpPr>
          <p:cNvPr id="30" name="Shape 28"/>
          <p:cNvSpPr/>
          <p:nvPr/>
        </p:nvSpPr>
        <p:spPr>
          <a:xfrm>
            <a:off x="952500" y="4662488"/>
            <a:ext cx="4616053" cy="9525"/>
          </a:xfrm>
          <a:prstGeom prst="rect">
            <a:avLst/>
          </a:prstGeom>
          <a:solidFill>
            <a:srgbClr val="D9D3C5"/>
          </a:solidFill>
          <a:ln/>
        </p:spPr>
        <p:txBody>
          <a:bodyPr/>
          <a:lstStyle/>
          <a:p>
            <a:endParaRPr lang="en-US"/>
          </a:p>
        </p:txBody>
      </p:sp>
      <p:sp>
        <p:nvSpPr>
          <p:cNvPr id="31" name="Text 29"/>
          <p:cNvSpPr/>
          <p:nvPr/>
        </p:nvSpPr>
        <p:spPr>
          <a:xfrm>
            <a:off x="1162050" y="4167188"/>
            <a:ext cx="4335435" cy="361950"/>
          </a:xfrm>
          <a:prstGeom prst="rect">
            <a:avLst/>
          </a:prstGeom>
          <a:noFill/>
          <a:ln/>
        </p:spPr>
        <p:txBody>
          <a:bodyPr wrap="square" lIns="25400" tIns="25400" rIns="25400" bIns="25400" rtlCol="0" anchor="ctr">
            <a:normAutofit lnSpcReduction="10000"/>
          </a:bodyPr>
          <a:lstStyle/>
          <a:p>
            <a:pPr marL="0" indent="0" algn="l">
              <a:buNone/>
            </a:pPr>
            <a:r>
              <a:rPr lang="en-US" sz="2100" dirty="0">
                <a:solidFill>
                  <a:srgbClr val="1C1B1A"/>
                </a:solidFill>
                <a:latin typeface="Arial" pitchFamily="34" charset="0"/>
                <a:ea typeface="Arial" pitchFamily="34" charset="-122"/>
                <a:cs typeface="Arial" pitchFamily="34" charset="-120"/>
              </a:rPr>
              <a:t>Random Forest  </a:t>
            </a:r>
            <a:r>
              <a:rPr lang="en-US" sz="1350" dirty="0">
                <a:solidFill>
                  <a:srgbClr val="0E3A53"/>
                </a:solidFill>
                <a:latin typeface="Courier New" pitchFamily="34" charset="0"/>
                <a:ea typeface="Courier New" pitchFamily="34" charset="-122"/>
                <a:cs typeface="Courier New" pitchFamily="34" charset="-120"/>
              </a:rPr>
              <a:t>BEST ACC</a:t>
            </a:r>
            <a:endParaRPr lang="en-US" sz="2100" dirty="0"/>
          </a:p>
        </p:txBody>
      </p:sp>
      <p:sp>
        <p:nvSpPr>
          <p:cNvPr id="32" name="Shape 30"/>
          <p:cNvSpPr/>
          <p:nvPr/>
        </p:nvSpPr>
        <p:spPr>
          <a:xfrm>
            <a:off x="5568553" y="4662488"/>
            <a:ext cx="2408634" cy="9525"/>
          </a:xfrm>
          <a:prstGeom prst="rect">
            <a:avLst/>
          </a:prstGeom>
          <a:solidFill>
            <a:srgbClr val="D9D3C5"/>
          </a:solidFill>
          <a:ln/>
        </p:spPr>
        <p:txBody>
          <a:bodyPr/>
          <a:lstStyle/>
          <a:p>
            <a:endParaRPr lang="en-US"/>
          </a:p>
        </p:txBody>
      </p:sp>
      <p:sp>
        <p:nvSpPr>
          <p:cNvPr id="33" name="Text 31"/>
          <p:cNvSpPr/>
          <p:nvPr/>
        </p:nvSpPr>
        <p:spPr>
          <a:xfrm>
            <a:off x="5701903" y="4167188"/>
            <a:ext cx="206573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77.06%</a:t>
            </a:r>
            <a:endParaRPr lang="en-US" sz="2100" dirty="0"/>
          </a:p>
        </p:txBody>
      </p:sp>
      <p:sp>
        <p:nvSpPr>
          <p:cNvPr id="34" name="Shape 32"/>
          <p:cNvSpPr/>
          <p:nvPr/>
        </p:nvSpPr>
        <p:spPr>
          <a:xfrm>
            <a:off x="7977188" y="4662488"/>
            <a:ext cx="2564011" cy="9525"/>
          </a:xfrm>
          <a:prstGeom prst="rect">
            <a:avLst/>
          </a:prstGeom>
          <a:solidFill>
            <a:srgbClr val="D9D3C5"/>
          </a:solidFill>
          <a:ln/>
        </p:spPr>
        <p:txBody>
          <a:bodyPr/>
          <a:lstStyle/>
          <a:p>
            <a:endParaRPr lang="en-US"/>
          </a:p>
        </p:txBody>
      </p:sp>
      <p:sp>
        <p:nvSpPr>
          <p:cNvPr id="35" name="Text 33"/>
          <p:cNvSpPr/>
          <p:nvPr/>
        </p:nvSpPr>
        <p:spPr>
          <a:xfrm>
            <a:off x="8109817" y="4167188"/>
            <a:ext cx="2221831"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0.6887</a:t>
            </a:r>
            <a:endParaRPr lang="en-US" sz="2100" dirty="0"/>
          </a:p>
        </p:txBody>
      </p:sp>
      <p:sp>
        <p:nvSpPr>
          <p:cNvPr id="36" name="Shape 34"/>
          <p:cNvSpPr/>
          <p:nvPr/>
        </p:nvSpPr>
        <p:spPr>
          <a:xfrm>
            <a:off x="10541198" y="4662488"/>
            <a:ext cx="3107829" cy="9525"/>
          </a:xfrm>
          <a:prstGeom prst="rect">
            <a:avLst/>
          </a:prstGeom>
          <a:solidFill>
            <a:srgbClr val="D9D3C5"/>
          </a:solidFill>
          <a:ln/>
        </p:spPr>
        <p:txBody>
          <a:bodyPr/>
          <a:lstStyle/>
          <a:p>
            <a:endParaRPr lang="en-US"/>
          </a:p>
        </p:txBody>
      </p:sp>
      <p:sp>
        <p:nvSpPr>
          <p:cNvPr id="37" name="Text 35"/>
          <p:cNvSpPr/>
          <p:nvPr/>
        </p:nvSpPr>
        <p:spPr>
          <a:xfrm>
            <a:off x="10657514" y="4167188"/>
            <a:ext cx="278196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0.7548</a:t>
            </a:r>
            <a:endParaRPr lang="en-US" sz="2100" dirty="0"/>
          </a:p>
        </p:txBody>
      </p:sp>
      <p:sp>
        <p:nvSpPr>
          <p:cNvPr id="38" name="Shape 36"/>
          <p:cNvSpPr/>
          <p:nvPr/>
        </p:nvSpPr>
        <p:spPr>
          <a:xfrm>
            <a:off x="13649027" y="4662488"/>
            <a:ext cx="3687068" cy="9525"/>
          </a:xfrm>
          <a:prstGeom prst="rect">
            <a:avLst/>
          </a:prstGeom>
          <a:solidFill>
            <a:srgbClr val="D9D3C5"/>
          </a:solidFill>
          <a:ln/>
        </p:spPr>
        <p:txBody>
          <a:bodyPr/>
          <a:lstStyle/>
          <a:p>
            <a:endParaRPr lang="en-US"/>
          </a:p>
        </p:txBody>
      </p:sp>
      <p:sp>
        <p:nvSpPr>
          <p:cNvPr id="39" name="Text 37"/>
          <p:cNvSpPr/>
          <p:nvPr/>
        </p:nvSpPr>
        <p:spPr>
          <a:xfrm>
            <a:off x="13747965" y="4167188"/>
            <a:ext cx="337858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0.6956 ± 0.0087</a:t>
            </a:r>
            <a:endParaRPr lang="en-US" sz="2100" dirty="0"/>
          </a:p>
        </p:txBody>
      </p:sp>
      <p:sp>
        <p:nvSpPr>
          <p:cNvPr id="40" name="Shape 38"/>
          <p:cNvSpPr/>
          <p:nvPr/>
        </p:nvSpPr>
        <p:spPr>
          <a:xfrm>
            <a:off x="952500" y="5338763"/>
            <a:ext cx="4616053" cy="9525"/>
          </a:xfrm>
          <a:prstGeom prst="rect">
            <a:avLst/>
          </a:prstGeom>
          <a:solidFill>
            <a:srgbClr val="D9D3C5"/>
          </a:solidFill>
          <a:ln/>
        </p:spPr>
        <p:txBody>
          <a:bodyPr/>
          <a:lstStyle/>
          <a:p>
            <a:endParaRPr lang="en-US"/>
          </a:p>
        </p:txBody>
      </p:sp>
      <p:sp>
        <p:nvSpPr>
          <p:cNvPr id="41" name="Text 39"/>
          <p:cNvSpPr/>
          <p:nvPr/>
        </p:nvSpPr>
        <p:spPr>
          <a:xfrm>
            <a:off x="1162050" y="4843463"/>
            <a:ext cx="4335435" cy="361950"/>
          </a:xfrm>
          <a:prstGeom prst="rect">
            <a:avLst/>
          </a:prstGeom>
          <a:noFill/>
          <a:ln/>
        </p:spPr>
        <p:txBody>
          <a:bodyPr wrap="square" lIns="25400" tIns="25400" rIns="25400" bIns="25400" rtlCol="0" anchor="ctr">
            <a:normAutofit lnSpcReduction="10000"/>
          </a:bodyPr>
          <a:lstStyle/>
          <a:p>
            <a:pPr marL="0" indent="0" algn="l">
              <a:buNone/>
            </a:pPr>
            <a:r>
              <a:rPr lang="en-US" sz="2100" dirty="0">
                <a:solidFill>
                  <a:srgbClr val="1C1B1A"/>
                </a:solidFill>
                <a:latin typeface="Arial" pitchFamily="34" charset="0"/>
                <a:ea typeface="Arial" pitchFamily="34" charset="-122"/>
                <a:cs typeface="Arial" pitchFamily="34" charset="-120"/>
              </a:rPr>
              <a:t>Logistic Regression</a:t>
            </a:r>
            <a:endParaRPr lang="en-US" sz="2100" dirty="0"/>
          </a:p>
        </p:txBody>
      </p:sp>
      <p:sp>
        <p:nvSpPr>
          <p:cNvPr id="42" name="Shape 40"/>
          <p:cNvSpPr/>
          <p:nvPr/>
        </p:nvSpPr>
        <p:spPr>
          <a:xfrm>
            <a:off x="5568553" y="5338763"/>
            <a:ext cx="2408634" cy="9525"/>
          </a:xfrm>
          <a:prstGeom prst="rect">
            <a:avLst/>
          </a:prstGeom>
          <a:solidFill>
            <a:srgbClr val="D9D3C5"/>
          </a:solidFill>
          <a:ln/>
        </p:spPr>
        <p:txBody>
          <a:bodyPr/>
          <a:lstStyle/>
          <a:p>
            <a:endParaRPr lang="en-US"/>
          </a:p>
        </p:txBody>
      </p:sp>
      <p:sp>
        <p:nvSpPr>
          <p:cNvPr id="43" name="Text 41"/>
          <p:cNvSpPr/>
          <p:nvPr/>
        </p:nvSpPr>
        <p:spPr>
          <a:xfrm>
            <a:off x="5701903" y="4843463"/>
            <a:ext cx="206573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76.84%</a:t>
            </a:r>
            <a:endParaRPr lang="en-US" sz="2100" dirty="0"/>
          </a:p>
        </p:txBody>
      </p:sp>
      <p:sp>
        <p:nvSpPr>
          <p:cNvPr id="44" name="Shape 42"/>
          <p:cNvSpPr/>
          <p:nvPr/>
        </p:nvSpPr>
        <p:spPr>
          <a:xfrm>
            <a:off x="7977188" y="5338763"/>
            <a:ext cx="2564011" cy="9525"/>
          </a:xfrm>
          <a:prstGeom prst="rect">
            <a:avLst/>
          </a:prstGeom>
          <a:solidFill>
            <a:srgbClr val="D9D3C5"/>
          </a:solidFill>
          <a:ln/>
        </p:spPr>
        <p:txBody>
          <a:bodyPr/>
          <a:lstStyle/>
          <a:p>
            <a:endParaRPr lang="en-US"/>
          </a:p>
        </p:txBody>
      </p:sp>
      <p:sp>
        <p:nvSpPr>
          <p:cNvPr id="45" name="Text 43"/>
          <p:cNvSpPr/>
          <p:nvPr/>
        </p:nvSpPr>
        <p:spPr>
          <a:xfrm>
            <a:off x="8109817" y="4843463"/>
            <a:ext cx="2221831"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0.6826</a:t>
            </a:r>
            <a:endParaRPr lang="en-US" sz="2100" dirty="0"/>
          </a:p>
        </p:txBody>
      </p:sp>
      <p:sp>
        <p:nvSpPr>
          <p:cNvPr id="46" name="Shape 44"/>
          <p:cNvSpPr/>
          <p:nvPr/>
        </p:nvSpPr>
        <p:spPr>
          <a:xfrm>
            <a:off x="10541198" y="5338763"/>
            <a:ext cx="3107829" cy="9525"/>
          </a:xfrm>
          <a:prstGeom prst="rect">
            <a:avLst/>
          </a:prstGeom>
          <a:solidFill>
            <a:srgbClr val="D9D3C5"/>
          </a:solidFill>
          <a:ln/>
        </p:spPr>
        <p:txBody>
          <a:bodyPr/>
          <a:lstStyle/>
          <a:p>
            <a:endParaRPr lang="en-US"/>
          </a:p>
        </p:txBody>
      </p:sp>
      <p:sp>
        <p:nvSpPr>
          <p:cNvPr id="47" name="Text 45"/>
          <p:cNvSpPr/>
          <p:nvPr/>
        </p:nvSpPr>
        <p:spPr>
          <a:xfrm>
            <a:off x="10657514" y="4843463"/>
            <a:ext cx="278196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0.7531</a:t>
            </a:r>
            <a:endParaRPr lang="en-US" sz="2100" dirty="0"/>
          </a:p>
        </p:txBody>
      </p:sp>
      <p:sp>
        <p:nvSpPr>
          <p:cNvPr id="48" name="Shape 46"/>
          <p:cNvSpPr/>
          <p:nvPr/>
        </p:nvSpPr>
        <p:spPr>
          <a:xfrm>
            <a:off x="13649027" y="5338763"/>
            <a:ext cx="3687068" cy="9525"/>
          </a:xfrm>
          <a:prstGeom prst="rect">
            <a:avLst/>
          </a:prstGeom>
          <a:solidFill>
            <a:srgbClr val="D9D3C5"/>
          </a:solidFill>
          <a:ln/>
        </p:spPr>
        <p:txBody>
          <a:bodyPr/>
          <a:lstStyle/>
          <a:p>
            <a:endParaRPr lang="en-US"/>
          </a:p>
        </p:txBody>
      </p:sp>
      <p:sp>
        <p:nvSpPr>
          <p:cNvPr id="49" name="Text 47"/>
          <p:cNvSpPr/>
          <p:nvPr/>
        </p:nvSpPr>
        <p:spPr>
          <a:xfrm>
            <a:off x="13747965" y="4843463"/>
            <a:ext cx="337858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0.6782 ± 0.0089</a:t>
            </a:r>
            <a:endParaRPr lang="en-US" sz="2100" dirty="0"/>
          </a:p>
        </p:txBody>
      </p:sp>
      <p:sp>
        <p:nvSpPr>
          <p:cNvPr id="50" name="Shape 48"/>
          <p:cNvSpPr/>
          <p:nvPr/>
        </p:nvSpPr>
        <p:spPr>
          <a:xfrm>
            <a:off x="952500" y="6015038"/>
            <a:ext cx="4616053" cy="9525"/>
          </a:xfrm>
          <a:prstGeom prst="rect">
            <a:avLst/>
          </a:prstGeom>
          <a:solidFill>
            <a:srgbClr val="D9D3C5"/>
          </a:solidFill>
          <a:ln/>
        </p:spPr>
        <p:txBody>
          <a:bodyPr/>
          <a:lstStyle/>
          <a:p>
            <a:endParaRPr lang="en-US"/>
          </a:p>
        </p:txBody>
      </p:sp>
      <p:sp>
        <p:nvSpPr>
          <p:cNvPr id="51" name="Text 49"/>
          <p:cNvSpPr/>
          <p:nvPr/>
        </p:nvSpPr>
        <p:spPr>
          <a:xfrm>
            <a:off x="1162050" y="5519738"/>
            <a:ext cx="4335435" cy="361950"/>
          </a:xfrm>
          <a:prstGeom prst="rect">
            <a:avLst/>
          </a:prstGeom>
          <a:noFill/>
          <a:ln/>
        </p:spPr>
        <p:txBody>
          <a:bodyPr wrap="square" lIns="25400" tIns="25400" rIns="25400" bIns="25400" rtlCol="0" anchor="ctr">
            <a:normAutofit lnSpcReduction="10000"/>
          </a:bodyPr>
          <a:lstStyle/>
          <a:p>
            <a:pPr marL="0" indent="0" algn="l">
              <a:buNone/>
            </a:pPr>
            <a:r>
              <a:rPr lang="en-US" sz="2100" dirty="0">
                <a:solidFill>
                  <a:srgbClr val="1C1B1A"/>
                </a:solidFill>
                <a:latin typeface="Arial" pitchFamily="34" charset="0"/>
                <a:ea typeface="Arial" pitchFamily="34" charset="-122"/>
                <a:cs typeface="Arial" pitchFamily="34" charset="-120"/>
              </a:rPr>
              <a:t>SVM</a:t>
            </a:r>
            <a:endParaRPr lang="en-US" sz="2100" dirty="0"/>
          </a:p>
        </p:txBody>
      </p:sp>
      <p:sp>
        <p:nvSpPr>
          <p:cNvPr id="52" name="Shape 50"/>
          <p:cNvSpPr/>
          <p:nvPr/>
        </p:nvSpPr>
        <p:spPr>
          <a:xfrm>
            <a:off x="5568553" y="6015038"/>
            <a:ext cx="2408634" cy="9525"/>
          </a:xfrm>
          <a:prstGeom prst="rect">
            <a:avLst/>
          </a:prstGeom>
          <a:solidFill>
            <a:srgbClr val="D9D3C5"/>
          </a:solidFill>
          <a:ln/>
        </p:spPr>
        <p:txBody>
          <a:bodyPr/>
          <a:lstStyle/>
          <a:p>
            <a:endParaRPr lang="en-US"/>
          </a:p>
        </p:txBody>
      </p:sp>
      <p:sp>
        <p:nvSpPr>
          <p:cNvPr id="53" name="Text 51"/>
          <p:cNvSpPr/>
          <p:nvPr/>
        </p:nvSpPr>
        <p:spPr>
          <a:xfrm>
            <a:off x="5701903" y="5519738"/>
            <a:ext cx="206573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75.93%</a:t>
            </a:r>
            <a:endParaRPr lang="en-US" sz="2100" dirty="0"/>
          </a:p>
        </p:txBody>
      </p:sp>
      <p:sp>
        <p:nvSpPr>
          <p:cNvPr id="54" name="Shape 52"/>
          <p:cNvSpPr/>
          <p:nvPr/>
        </p:nvSpPr>
        <p:spPr>
          <a:xfrm>
            <a:off x="7977188" y="6015038"/>
            <a:ext cx="2564011" cy="9525"/>
          </a:xfrm>
          <a:prstGeom prst="rect">
            <a:avLst/>
          </a:prstGeom>
          <a:solidFill>
            <a:srgbClr val="D9D3C5"/>
          </a:solidFill>
          <a:ln/>
        </p:spPr>
        <p:txBody>
          <a:bodyPr/>
          <a:lstStyle/>
          <a:p>
            <a:endParaRPr lang="en-US"/>
          </a:p>
        </p:txBody>
      </p:sp>
      <p:sp>
        <p:nvSpPr>
          <p:cNvPr id="55" name="Text 53"/>
          <p:cNvSpPr/>
          <p:nvPr/>
        </p:nvSpPr>
        <p:spPr>
          <a:xfrm>
            <a:off x="8109817" y="5519738"/>
            <a:ext cx="2221831"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0.6797</a:t>
            </a:r>
            <a:endParaRPr lang="en-US" sz="2100" dirty="0"/>
          </a:p>
        </p:txBody>
      </p:sp>
      <p:sp>
        <p:nvSpPr>
          <p:cNvPr id="56" name="Shape 54"/>
          <p:cNvSpPr/>
          <p:nvPr/>
        </p:nvSpPr>
        <p:spPr>
          <a:xfrm>
            <a:off x="10541198" y="6015038"/>
            <a:ext cx="3107829" cy="9525"/>
          </a:xfrm>
          <a:prstGeom prst="rect">
            <a:avLst/>
          </a:prstGeom>
          <a:solidFill>
            <a:srgbClr val="D9D3C5"/>
          </a:solidFill>
          <a:ln/>
        </p:spPr>
        <p:txBody>
          <a:bodyPr/>
          <a:lstStyle/>
          <a:p>
            <a:endParaRPr lang="en-US"/>
          </a:p>
        </p:txBody>
      </p:sp>
      <p:sp>
        <p:nvSpPr>
          <p:cNvPr id="57" name="Text 55"/>
          <p:cNvSpPr/>
          <p:nvPr/>
        </p:nvSpPr>
        <p:spPr>
          <a:xfrm>
            <a:off x="10657514" y="5519738"/>
            <a:ext cx="278196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0.7466</a:t>
            </a:r>
            <a:endParaRPr lang="en-US" sz="2100" dirty="0"/>
          </a:p>
        </p:txBody>
      </p:sp>
      <p:sp>
        <p:nvSpPr>
          <p:cNvPr id="58" name="Shape 56"/>
          <p:cNvSpPr/>
          <p:nvPr/>
        </p:nvSpPr>
        <p:spPr>
          <a:xfrm>
            <a:off x="13649027" y="6015038"/>
            <a:ext cx="3687068" cy="9525"/>
          </a:xfrm>
          <a:prstGeom prst="rect">
            <a:avLst/>
          </a:prstGeom>
          <a:solidFill>
            <a:srgbClr val="D9D3C5"/>
          </a:solidFill>
          <a:ln/>
        </p:spPr>
        <p:txBody>
          <a:bodyPr/>
          <a:lstStyle/>
          <a:p>
            <a:endParaRPr lang="en-US"/>
          </a:p>
        </p:txBody>
      </p:sp>
      <p:sp>
        <p:nvSpPr>
          <p:cNvPr id="59" name="Text 57"/>
          <p:cNvSpPr/>
          <p:nvPr/>
        </p:nvSpPr>
        <p:spPr>
          <a:xfrm>
            <a:off x="13747965" y="5519738"/>
            <a:ext cx="337858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0.6798 ± 0.0220</a:t>
            </a:r>
            <a:endParaRPr lang="en-US" sz="2100" dirty="0"/>
          </a:p>
        </p:txBody>
      </p:sp>
      <p:sp>
        <p:nvSpPr>
          <p:cNvPr id="60" name="Shape 58"/>
          <p:cNvSpPr/>
          <p:nvPr/>
        </p:nvSpPr>
        <p:spPr>
          <a:xfrm>
            <a:off x="952500" y="6691313"/>
            <a:ext cx="4616053" cy="9525"/>
          </a:xfrm>
          <a:prstGeom prst="rect">
            <a:avLst/>
          </a:prstGeom>
          <a:solidFill>
            <a:srgbClr val="D9D3C5"/>
          </a:solidFill>
          <a:ln/>
        </p:spPr>
        <p:txBody>
          <a:bodyPr/>
          <a:lstStyle/>
          <a:p>
            <a:endParaRPr lang="en-US"/>
          </a:p>
        </p:txBody>
      </p:sp>
      <p:sp>
        <p:nvSpPr>
          <p:cNvPr id="61" name="Text 59"/>
          <p:cNvSpPr/>
          <p:nvPr/>
        </p:nvSpPr>
        <p:spPr>
          <a:xfrm>
            <a:off x="1162050" y="6196013"/>
            <a:ext cx="4335435" cy="361950"/>
          </a:xfrm>
          <a:prstGeom prst="rect">
            <a:avLst/>
          </a:prstGeom>
          <a:noFill/>
          <a:ln/>
        </p:spPr>
        <p:txBody>
          <a:bodyPr wrap="square" lIns="25400" tIns="25400" rIns="25400" bIns="25400" rtlCol="0" anchor="ctr">
            <a:normAutofit lnSpcReduction="10000"/>
          </a:bodyPr>
          <a:lstStyle/>
          <a:p>
            <a:pPr marL="0" indent="0" algn="l">
              <a:buNone/>
            </a:pPr>
            <a:r>
              <a:rPr lang="en-US" sz="2100" dirty="0">
                <a:solidFill>
                  <a:srgbClr val="1C1B1A"/>
                </a:solidFill>
                <a:latin typeface="Arial" pitchFamily="34" charset="0"/>
                <a:ea typeface="Arial" pitchFamily="34" charset="-122"/>
                <a:cs typeface="Arial" pitchFamily="34" charset="-120"/>
              </a:rPr>
              <a:t>Decision Tree</a:t>
            </a:r>
            <a:endParaRPr lang="en-US" sz="2100" dirty="0"/>
          </a:p>
        </p:txBody>
      </p:sp>
      <p:sp>
        <p:nvSpPr>
          <p:cNvPr id="62" name="Shape 60"/>
          <p:cNvSpPr/>
          <p:nvPr/>
        </p:nvSpPr>
        <p:spPr>
          <a:xfrm>
            <a:off x="5568553" y="6691313"/>
            <a:ext cx="2408634" cy="9525"/>
          </a:xfrm>
          <a:prstGeom prst="rect">
            <a:avLst/>
          </a:prstGeom>
          <a:solidFill>
            <a:srgbClr val="D9D3C5"/>
          </a:solidFill>
          <a:ln/>
        </p:spPr>
        <p:txBody>
          <a:bodyPr/>
          <a:lstStyle/>
          <a:p>
            <a:endParaRPr lang="en-US"/>
          </a:p>
        </p:txBody>
      </p:sp>
      <p:sp>
        <p:nvSpPr>
          <p:cNvPr id="63" name="Text 61"/>
          <p:cNvSpPr/>
          <p:nvPr/>
        </p:nvSpPr>
        <p:spPr>
          <a:xfrm>
            <a:off x="5701903" y="6196013"/>
            <a:ext cx="206573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71.19%</a:t>
            </a:r>
            <a:endParaRPr lang="en-US" sz="2100" dirty="0"/>
          </a:p>
        </p:txBody>
      </p:sp>
      <p:sp>
        <p:nvSpPr>
          <p:cNvPr id="64" name="Shape 62"/>
          <p:cNvSpPr/>
          <p:nvPr/>
        </p:nvSpPr>
        <p:spPr>
          <a:xfrm>
            <a:off x="7977188" y="6691313"/>
            <a:ext cx="2564011" cy="9525"/>
          </a:xfrm>
          <a:prstGeom prst="rect">
            <a:avLst/>
          </a:prstGeom>
          <a:solidFill>
            <a:srgbClr val="D9D3C5"/>
          </a:solidFill>
          <a:ln/>
        </p:spPr>
        <p:txBody>
          <a:bodyPr/>
          <a:lstStyle/>
          <a:p>
            <a:endParaRPr lang="en-US"/>
          </a:p>
        </p:txBody>
      </p:sp>
      <p:sp>
        <p:nvSpPr>
          <p:cNvPr id="65" name="Text 63"/>
          <p:cNvSpPr/>
          <p:nvPr/>
        </p:nvSpPr>
        <p:spPr>
          <a:xfrm>
            <a:off x="8109817" y="6196013"/>
            <a:ext cx="2221831"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0.6346</a:t>
            </a:r>
            <a:endParaRPr lang="en-US" sz="2100" dirty="0"/>
          </a:p>
        </p:txBody>
      </p:sp>
      <p:sp>
        <p:nvSpPr>
          <p:cNvPr id="66" name="Shape 64"/>
          <p:cNvSpPr/>
          <p:nvPr/>
        </p:nvSpPr>
        <p:spPr>
          <a:xfrm>
            <a:off x="10541198" y="6691313"/>
            <a:ext cx="3107829" cy="9525"/>
          </a:xfrm>
          <a:prstGeom prst="rect">
            <a:avLst/>
          </a:prstGeom>
          <a:solidFill>
            <a:srgbClr val="D9D3C5"/>
          </a:solidFill>
          <a:ln/>
        </p:spPr>
        <p:txBody>
          <a:bodyPr/>
          <a:lstStyle/>
          <a:p>
            <a:endParaRPr lang="en-US"/>
          </a:p>
        </p:txBody>
      </p:sp>
      <p:sp>
        <p:nvSpPr>
          <p:cNvPr id="67" name="Text 65"/>
          <p:cNvSpPr/>
          <p:nvPr/>
        </p:nvSpPr>
        <p:spPr>
          <a:xfrm>
            <a:off x="10657514" y="6196013"/>
            <a:ext cx="278196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0.7052</a:t>
            </a:r>
            <a:endParaRPr lang="en-US" sz="2100" dirty="0"/>
          </a:p>
        </p:txBody>
      </p:sp>
      <p:sp>
        <p:nvSpPr>
          <p:cNvPr id="68" name="Shape 66"/>
          <p:cNvSpPr/>
          <p:nvPr/>
        </p:nvSpPr>
        <p:spPr>
          <a:xfrm>
            <a:off x="13649027" y="6691313"/>
            <a:ext cx="3687068" cy="9525"/>
          </a:xfrm>
          <a:prstGeom prst="rect">
            <a:avLst/>
          </a:prstGeom>
          <a:solidFill>
            <a:srgbClr val="D9D3C5"/>
          </a:solidFill>
          <a:ln/>
        </p:spPr>
        <p:txBody>
          <a:bodyPr/>
          <a:lstStyle/>
          <a:p>
            <a:endParaRPr lang="en-US"/>
          </a:p>
        </p:txBody>
      </p:sp>
      <p:sp>
        <p:nvSpPr>
          <p:cNvPr id="69" name="Text 67"/>
          <p:cNvSpPr/>
          <p:nvPr/>
        </p:nvSpPr>
        <p:spPr>
          <a:xfrm>
            <a:off x="13747965" y="6196013"/>
            <a:ext cx="337858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0.6443 ± 0.0101</a:t>
            </a:r>
            <a:endParaRPr lang="en-US" sz="2100" dirty="0"/>
          </a:p>
        </p:txBody>
      </p:sp>
      <p:sp>
        <p:nvSpPr>
          <p:cNvPr id="70" name="Shape 68"/>
          <p:cNvSpPr/>
          <p:nvPr/>
        </p:nvSpPr>
        <p:spPr>
          <a:xfrm>
            <a:off x="952500" y="7367587"/>
            <a:ext cx="4616053" cy="9525"/>
          </a:xfrm>
          <a:prstGeom prst="rect">
            <a:avLst/>
          </a:prstGeom>
          <a:solidFill>
            <a:srgbClr val="D9D3C5"/>
          </a:solidFill>
          <a:ln/>
        </p:spPr>
        <p:txBody>
          <a:bodyPr/>
          <a:lstStyle/>
          <a:p>
            <a:endParaRPr lang="en-US"/>
          </a:p>
        </p:txBody>
      </p:sp>
      <p:sp>
        <p:nvSpPr>
          <p:cNvPr id="71" name="Text 69"/>
          <p:cNvSpPr/>
          <p:nvPr/>
        </p:nvSpPr>
        <p:spPr>
          <a:xfrm>
            <a:off x="1162050" y="6872288"/>
            <a:ext cx="4335435" cy="361950"/>
          </a:xfrm>
          <a:prstGeom prst="rect">
            <a:avLst/>
          </a:prstGeom>
          <a:noFill/>
          <a:ln/>
        </p:spPr>
        <p:txBody>
          <a:bodyPr wrap="square" lIns="25400" tIns="25400" rIns="25400" bIns="25400" rtlCol="0" anchor="ctr">
            <a:normAutofit lnSpcReduction="10000"/>
          </a:bodyPr>
          <a:lstStyle/>
          <a:p>
            <a:pPr marL="0" indent="0" algn="l">
              <a:buNone/>
            </a:pPr>
            <a:r>
              <a:rPr lang="en-US" sz="2100" dirty="0">
                <a:solidFill>
                  <a:srgbClr val="1C1B1A"/>
                </a:solidFill>
                <a:latin typeface="Arial" pitchFamily="34" charset="0"/>
                <a:ea typeface="Arial" pitchFamily="34" charset="-122"/>
                <a:cs typeface="Arial" pitchFamily="34" charset="-120"/>
              </a:rPr>
              <a:t>KNN (k=11)</a:t>
            </a:r>
            <a:endParaRPr lang="en-US" sz="2100" dirty="0"/>
          </a:p>
        </p:txBody>
      </p:sp>
      <p:sp>
        <p:nvSpPr>
          <p:cNvPr id="72" name="Shape 70"/>
          <p:cNvSpPr/>
          <p:nvPr/>
        </p:nvSpPr>
        <p:spPr>
          <a:xfrm>
            <a:off x="5568553" y="7367587"/>
            <a:ext cx="2408634" cy="9525"/>
          </a:xfrm>
          <a:prstGeom prst="rect">
            <a:avLst/>
          </a:prstGeom>
          <a:solidFill>
            <a:srgbClr val="D9D3C5"/>
          </a:solidFill>
          <a:ln/>
        </p:spPr>
        <p:txBody>
          <a:bodyPr/>
          <a:lstStyle/>
          <a:p>
            <a:endParaRPr lang="en-US"/>
          </a:p>
        </p:txBody>
      </p:sp>
      <p:sp>
        <p:nvSpPr>
          <p:cNvPr id="73" name="Text 71"/>
          <p:cNvSpPr/>
          <p:nvPr/>
        </p:nvSpPr>
        <p:spPr>
          <a:xfrm>
            <a:off x="5701903" y="6872288"/>
            <a:ext cx="206573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69.49%</a:t>
            </a:r>
            <a:endParaRPr lang="en-US" sz="2100" dirty="0"/>
          </a:p>
        </p:txBody>
      </p:sp>
      <p:sp>
        <p:nvSpPr>
          <p:cNvPr id="74" name="Shape 72"/>
          <p:cNvSpPr/>
          <p:nvPr/>
        </p:nvSpPr>
        <p:spPr>
          <a:xfrm>
            <a:off x="7977188" y="7367587"/>
            <a:ext cx="2564011" cy="9525"/>
          </a:xfrm>
          <a:prstGeom prst="rect">
            <a:avLst/>
          </a:prstGeom>
          <a:solidFill>
            <a:srgbClr val="D9D3C5"/>
          </a:solidFill>
          <a:ln/>
        </p:spPr>
        <p:txBody>
          <a:bodyPr/>
          <a:lstStyle/>
          <a:p>
            <a:endParaRPr lang="en-US"/>
          </a:p>
        </p:txBody>
      </p:sp>
      <p:sp>
        <p:nvSpPr>
          <p:cNvPr id="75" name="Text 73"/>
          <p:cNvSpPr/>
          <p:nvPr/>
        </p:nvSpPr>
        <p:spPr>
          <a:xfrm>
            <a:off x="8109817" y="6872288"/>
            <a:ext cx="2221831"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0.5860</a:t>
            </a:r>
            <a:endParaRPr lang="en-US" sz="2100" dirty="0"/>
          </a:p>
        </p:txBody>
      </p:sp>
      <p:sp>
        <p:nvSpPr>
          <p:cNvPr id="76" name="Shape 74"/>
          <p:cNvSpPr/>
          <p:nvPr/>
        </p:nvSpPr>
        <p:spPr>
          <a:xfrm>
            <a:off x="10541198" y="7367587"/>
            <a:ext cx="3107829" cy="9525"/>
          </a:xfrm>
          <a:prstGeom prst="rect">
            <a:avLst/>
          </a:prstGeom>
          <a:solidFill>
            <a:srgbClr val="D9D3C5"/>
          </a:solidFill>
          <a:ln/>
        </p:spPr>
        <p:txBody>
          <a:bodyPr/>
          <a:lstStyle/>
          <a:p>
            <a:endParaRPr lang="en-US"/>
          </a:p>
        </p:txBody>
      </p:sp>
      <p:sp>
        <p:nvSpPr>
          <p:cNvPr id="77" name="Text 75"/>
          <p:cNvSpPr/>
          <p:nvPr/>
        </p:nvSpPr>
        <p:spPr>
          <a:xfrm>
            <a:off x="10657514" y="6872288"/>
            <a:ext cx="278196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0.6694</a:t>
            </a:r>
            <a:endParaRPr lang="en-US" sz="2100" dirty="0"/>
          </a:p>
        </p:txBody>
      </p:sp>
      <p:sp>
        <p:nvSpPr>
          <p:cNvPr id="78" name="Shape 76"/>
          <p:cNvSpPr/>
          <p:nvPr/>
        </p:nvSpPr>
        <p:spPr>
          <a:xfrm>
            <a:off x="13649027" y="7367587"/>
            <a:ext cx="3687068" cy="9525"/>
          </a:xfrm>
          <a:prstGeom prst="rect">
            <a:avLst/>
          </a:prstGeom>
          <a:solidFill>
            <a:srgbClr val="D9D3C5"/>
          </a:solidFill>
          <a:ln/>
        </p:spPr>
        <p:txBody>
          <a:bodyPr/>
          <a:lstStyle/>
          <a:p>
            <a:endParaRPr lang="en-US"/>
          </a:p>
        </p:txBody>
      </p:sp>
      <p:sp>
        <p:nvSpPr>
          <p:cNvPr id="79" name="Text 77"/>
          <p:cNvSpPr/>
          <p:nvPr/>
        </p:nvSpPr>
        <p:spPr>
          <a:xfrm>
            <a:off x="13747965" y="6872288"/>
            <a:ext cx="337858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0.6036 ± 0.0094</a:t>
            </a:r>
            <a:endParaRPr lang="en-US" sz="2100" dirty="0"/>
          </a:p>
        </p:txBody>
      </p:sp>
      <p:sp>
        <p:nvSpPr>
          <p:cNvPr id="80" name="Text 78"/>
          <p:cNvSpPr/>
          <p:nvPr/>
        </p:nvSpPr>
        <p:spPr>
          <a:xfrm>
            <a:off x="952500" y="7724775"/>
            <a:ext cx="16874490" cy="6858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4B4845"/>
                </a:solidFill>
                <a:latin typeface="-apple-system" pitchFamily="34" charset="0"/>
                <a:ea typeface="-apple-system" pitchFamily="34" charset="-122"/>
                <a:cs typeface="-apple-system" pitchFamily="34" charset="-120"/>
              </a:rPr>
              <a:t>Cross-validation standard deviations are tight across all models — performance is consistent, not lucky. F1-macro is our primary metric because it weights all three classes equally despite the imbalance.</a:t>
            </a:r>
            <a:endParaRPr lang="en-US" sz="1800" dirty="0"/>
          </a:p>
        </p:txBody>
      </p:sp>
      <p:sp>
        <p:nvSpPr>
          <p:cNvPr id="81" name="Text 79"/>
          <p:cNvSpPr/>
          <p:nvPr/>
        </p:nvSpPr>
        <p:spPr>
          <a:xfrm>
            <a:off x="16692116" y="849630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15/19</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2246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15 · FEATURE IMPORTANCE</a:t>
            </a:r>
            <a:endParaRPr lang="en-US" sz="1800" dirty="0"/>
          </a:p>
        </p:txBody>
      </p:sp>
      <p:sp>
        <p:nvSpPr>
          <p:cNvPr id="4" name="Text 2"/>
          <p:cNvSpPr/>
          <p:nvPr/>
        </p:nvSpPr>
        <p:spPr>
          <a:xfrm>
            <a:off x="952500" y="1294656"/>
            <a:ext cx="16874490" cy="1077069"/>
          </a:xfrm>
          <a:prstGeom prst="rect">
            <a:avLst/>
          </a:prstGeom>
          <a:noFill/>
          <a:ln/>
        </p:spPr>
        <p:txBody>
          <a:bodyPr wrap="square" lIns="25400" tIns="25400" rIns="25400" bIns="25400" rtlCol="0" anchor="t">
            <a:normAutofit fontScale="925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Semester performance dominates · finance plays second</a:t>
            </a:r>
            <a:endParaRPr lang="en-US" sz="4800" dirty="0"/>
          </a:p>
        </p:txBody>
      </p:sp>
      <p:sp>
        <p:nvSpPr>
          <p:cNvPr id="5" name="Shape 3"/>
          <p:cNvSpPr/>
          <p:nvPr/>
        </p:nvSpPr>
        <p:spPr>
          <a:xfrm>
            <a:off x="952500" y="3248025"/>
            <a:ext cx="7905750" cy="19050"/>
          </a:xfrm>
          <a:prstGeom prst="rect">
            <a:avLst/>
          </a:prstGeom>
          <a:solidFill>
            <a:srgbClr val="0E3A53"/>
          </a:solidFill>
          <a:ln/>
        </p:spPr>
        <p:txBody>
          <a:bodyPr/>
          <a:lstStyle/>
          <a:p>
            <a:endParaRPr lang="en-US"/>
          </a:p>
        </p:txBody>
      </p:sp>
      <p:sp>
        <p:nvSpPr>
          <p:cNvPr id="6" name="Text 4"/>
          <p:cNvSpPr/>
          <p:nvPr/>
        </p:nvSpPr>
        <p:spPr>
          <a:xfrm>
            <a:off x="952500" y="2714625"/>
            <a:ext cx="2825956"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Random Forest</a:t>
            </a:r>
            <a:endParaRPr lang="en-US" sz="2400" dirty="0"/>
          </a:p>
        </p:txBody>
      </p:sp>
      <p:sp>
        <p:nvSpPr>
          <p:cNvPr id="7" name="Text 5"/>
          <p:cNvSpPr/>
          <p:nvPr/>
        </p:nvSpPr>
        <p:spPr>
          <a:xfrm>
            <a:off x="6114604" y="2886075"/>
            <a:ext cx="282595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MEAN DECREASE IN IMPURITY</a:t>
            </a:r>
            <a:endParaRPr lang="en-US" sz="1350" dirty="0"/>
          </a:p>
        </p:txBody>
      </p:sp>
      <p:sp>
        <p:nvSpPr>
          <p:cNvPr id="8" name="Text 6"/>
          <p:cNvSpPr/>
          <p:nvPr/>
        </p:nvSpPr>
        <p:spPr>
          <a:xfrm>
            <a:off x="952500" y="3438525"/>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1</a:t>
            </a:r>
            <a:endParaRPr lang="en-US" sz="1950" dirty="0"/>
          </a:p>
        </p:txBody>
      </p:sp>
      <p:sp>
        <p:nvSpPr>
          <p:cNvPr id="9" name="Text 7"/>
          <p:cNvSpPr/>
          <p:nvPr/>
        </p:nvSpPr>
        <p:spPr>
          <a:xfrm>
            <a:off x="1333500" y="3462338"/>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(approved)</a:t>
            </a:r>
            <a:endParaRPr lang="en-US" sz="1650" dirty="0"/>
          </a:p>
        </p:txBody>
      </p:sp>
      <p:sp>
        <p:nvSpPr>
          <p:cNvPr id="10" name="Shape 8"/>
          <p:cNvSpPr/>
          <p:nvPr/>
        </p:nvSpPr>
        <p:spPr>
          <a:xfrm>
            <a:off x="4895850" y="3509963"/>
            <a:ext cx="3162300" cy="171450"/>
          </a:xfrm>
          <a:prstGeom prst="rect">
            <a:avLst/>
          </a:prstGeom>
          <a:solidFill>
            <a:srgbClr val="F2EEE6"/>
          </a:solidFill>
          <a:ln w="9525">
            <a:solidFill>
              <a:srgbClr val="D9D3C5"/>
            </a:solidFill>
            <a:prstDash val="solid"/>
          </a:ln>
        </p:spPr>
        <p:txBody>
          <a:bodyPr/>
          <a:lstStyle/>
          <a:p>
            <a:endParaRPr lang="en-US"/>
          </a:p>
        </p:txBody>
      </p:sp>
      <p:sp>
        <p:nvSpPr>
          <p:cNvPr id="11" name="Shape 9"/>
          <p:cNvSpPr/>
          <p:nvPr/>
        </p:nvSpPr>
        <p:spPr>
          <a:xfrm>
            <a:off x="4905375" y="3519488"/>
            <a:ext cx="3045023" cy="152400"/>
          </a:xfrm>
          <a:prstGeom prst="rect">
            <a:avLst/>
          </a:prstGeom>
          <a:solidFill>
            <a:srgbClr val="0E3A53"/>
          </a:solidFill>
          <a:ln/>
        </p:spPr>
        <p:txBody>
          <a:bodyPr/>
          <a:lstStyle/>
          <a:p>
            <a:endParaRPr lang="en-US"/>
          </a:p>
        </p:txBody>
      </p:sp>
      <p:sp>
        <p:nvSpPr>
          <p:cNvPr id="12" name="Text 10"/>
          <p:cNvSpPr/>
          <p:nvPr/>
        </p:nvSpPr>
        <p:spPr>
          <a:xfrm>
            <a:off x="8115300" y="3471863"/>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0.155</a:t>
            </a:r>
            <a:endParaRPr lang="en-US" sz="1500" dirty="0"/>
          </a:p>
        </p:txBody>
      </p:sp>
      <p:sp>
        <p:nvSpPr>
          <p:cNvPr id="13" name="Text 11"/>
          <p:cNvSpPr/>
          <p:nvPr/>
        </p:nvSpPr>
        <p:spPr>
          <a:xfrm>
            <a:off x="952500" y="3886200"/>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2</a:t>
            </a:r>
            <a:endParaRPr lang="en-US" sz="1950" dirty="0"/>
          </a:p>
        </p:txBody>
      </p:sp>
      <p:sp>
        <p:nvSpPr>
          <p:cNvPr id="14" name="Text 12"/>
          <p:cNvSpPr/>
          <p:nvPr/>
        </p:nvSpPr>
        <p:spPr>
          <a:xfrm>
            <a:off x="1333500" y="3910013"/>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(grade)</a:t>
            </a:r>
            <a:endParaRPr lang="en-US" sz="1650" dirty="0"/>
          </a:p>
        </p:txBody>
      </p:sp>
      <p:sp>
        <p:nvSpPr>
          <p:cNvPr id="15" name="Shape 13"/>
          <p:cNvSpPr/>
          <p:nvPr/>
        </p:nvSpPr>
        <p:spPr>
          <a:xfrm>
            <a:off x="4895850" y="3957638"/>
            <a:ext cx="3162300" cy="171450"/>
          </a:xfrm>
          <a:prstGeom prst="rect">
            <a:avLst/>
          </a:prstGeom>
          <a:solidFill>
            <a:srgbClr val="F2EEE6"/>
          </a:solidFill>
          <a:ln w="9525">
            <a:solidFill>
              <a:srgbClr val="D9D3C5"/>
            </a:solidFill>
            <a:prstDash val="solid"/>
          </a:ln>
        </p:spPr>
        <p:txBody>
          <a:bodyPr/>
          <a:lstStyle/>
          <a:p>
            <a:endParaRPr lang="en-US"/>
          </a:p>
        </p:txBody>
      </p:sp>
      <p:sp>
        <p:nvSpPr>
          <p:cNvPr id="16" name="Shape 14"/>
          <p:cNvSpPr/>
          <p:nvPr/>
        </p:nvSpPr>
        <p:spPr>
          <a:xfrm>
            <a:off x="4905375" y="3967163"/>
            <a:ext cx="1807369" cy="152400"/>
          </a:xfrm>
          <a:prstGeom prst="rect">
            <a:avLst/>
          </a:prstGeom>
          <a:solidFill>
            <a:srgbClr val="0E3A53"/>
          </a:solidFill>
          <a:ln/>
        </p:spPr>
        <p:txBody>
          <a:bodyPr/>
          <a:lstStyle/>
          <a:p>
            <a:endParaRPr lang="en-US"/>
          </a:p>
        </p:txBody>
      </p:sp>
      <p:sp>
        <p:nvSpPr>
          <p:cNvPr id="17" name="Text 15"/>
          <p:cNvSpPr/>
          <p:nvPr/>
        </p:nvSpPr>
        <p:spPr>
          <a:xfrm>
            <a:off x="8115300" y="3919537"/>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0.092</a:t>
            </a:r>
            <a:endParaRPr lang="en-US" sz="1500" dirty="0"/>
          </a:p>
        </p:txBody>
      </p:sp>
      <p:sp>
        <p:nvSpPr>
          <p:cNvPr id="18" name="Text 16"/>
          <p:cNvSpPr/>
          <p:nvPr/>
        </p:nvSpPr>
        <p:spPr>
          <a:xfrm>
            <a:off x="952500" y="4333875"/>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3</a:t>
            </a:r>
            <a:endParaRPr lang="en-US" sz="1950" dirty="0"/>
          </a:p>
        </p:txBody>
      </p:sp>
      <p:sp>
        <p:nvSpPr>
          <p:cNvPr id="19" name="Text 17"/>
          <p:cNvSpPr/>
          <p:nvPr/>
        </p:nvSpPr>
        <p:spPr>
          <a:xfrm>
            <a:off x="1333500" y="4357688"/>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1st sem (approved)</a:t>
            </a:r>
            <a:endParaRPr lang="en-US" sz="1650" dirty="0"/>
          </a:p>
        </p:txBody>
      </p:sp>
      <p:sp>
        <p:nvSpPr>
          <p:cNvPr id="20" name="Shape 18"/>
          <p:cNvSpPr/>
          <p:nvPr/>
        </p:nvSpPr>
        <p:spPr>
          <a:xfrm>
            <a:off x="4895850" y="4405313"/>
            <a:ext cx="3162300" cy="171450"/>
          </a:xfrm>
          <a:prstGeom prst="rect">
            <a:avLst/>
          </a:prstGeom>
          <a:solidFill>
            <a:srgbClr val="F2EEE6"/>
          </a:solidFill>
          <a:ln w="9525">
            <a:solidFill>
              <a:srgbClr val="D9D3C5"/>
            </a:solidFill>
            <a:prstDash val="solid"/>
          </a:ln>
        </p:spPr>
        <p:txBody>
          <a:bodyPr/>
          <a:lstStyle/>
          <a:p>
            <a:endParaRPr lang="en-US"/>
          </a:p>
        </p:txBody>
      </p:sp>
      <p:sp>
        <p:nvSpPr>
          <p:cNvPr id="21" name="Shape 19"/>
          <p:cNvSpPr/>
          <p:nvPr/>
        </p:nvSpPr>
        <p:spPr>
          <a:xfrm>
            <a:off x="4905375" y="4414838"/>
            <a:ext cx="1748433" cy="152400"/>
          </a:xfrm>
          <a:prstGeom prst="rect">
            <a:avLst/>
          </a:prstGeom>
          <a:solidFill>
            <a:srgbClr val="0E3A53"/>
          </a:solidFill>
          <a:ln/>
        </p:spPr>
        <p:txBody>
          <a:bodyPr/>
          <a:lstStyle/>
          <a:p>
            <a:endParaRPr lang="en-US"/>
          </a:p>
        </p:txBody>
      </p:sp>
      <p:sp>
        <p:nvSpPr>
          <p:cNvPr id="22" name="Text 20"/>
          <p:cNvSpPr/>
          <p:nvPr/>
        </p:nvSpPr>
        <p:spPr>
          <a:xfrm>
            <a:off x="8115300" y="4367213"/>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0.089</a:t>
            </a:r>
            <a:endParaRPr lang="en-US" sz="1500" dirty="0"/>
          </a:p>
        </p:txBody>
      </p:sp>
      <p:sp>
        <p:nvSpPr>
          <p:cNvPr id="23" name="Text 21"/>
          <p:cNvSpPr/>
          <p:nvPr/>
        </p:nvSpPr>
        <p:spPr>
          <a:xfrm>
            <a:off x="952500" y="4781550"/>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4</a:t>
            </a:r>
            <a:endParaRPr lang="en-US" sz="1950" dirty="0"/>
          </a:p>
        </p:txBody>
      </p:sp>
      <p:sp>
        <p:nvSpPr>
          <p:cNvPr id="24" name="Text 22"/>
          <p:cNvSpPr/>
          <p:nvPr/>
        </p:nvSpPr>
        <p:spPr>
          <a:xfrm>
            <a:off x="1333500" y="4805363"/>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1st sem (grade)</a:t>
            </a:r>
            <a:endParaRPr lang="en-US" sz="1650" dirty="0"/>
          </a:p>
        </p:txBody>
      </p:sp>
      <p:sp>
        <p:nvSpPr>
          <p:cNvPr id="25" name="Shape 23"/>
          <p:cNvSpPr/>
          <p:nvPr/>
        </p:nvSpPr>
        <p:spPr>
          <a:xfrm>
            <a:off x="4895850" y="4852988"/>
            <a:ext cx="3162300" cy="171450"/>
          </a:xfrm>
          <a:prstGeom prst="rect">
            <a:avLst/>
          </a:prstGeom>
          <a:solidFill>
            <a:srgbClr val="F2EEE6"/>
          </a:solidFill>
          <a:ln w="9525">
            <a:solidFill>
              <a:srgbClr val="D9D3C5"/>
            </a:solidFill>
            <a:prstDash val="solid"/>
          </a:ln>
        </p:spPr>
        <p:txBody>
          <a:bodyPr/>
          <a:lstStyle/>
          <a:p>
            <a:endParaRPr lang="en-US"/>
          </a:p>
        </p:txBody>
      </p:sp>
      <p:sp>
        <p:nvSpPr>
          <p:cNvPr id="26" name="Shape 24"/>
          <p:cNvSpPr/>
          <p:nvPr/>
        </p:nvSpPr>
        <p:spPr>
          <a:xfrm>
            <a:off x="4905375" y="4862513"/>
            <a:ext cx="1296591" cy="152400"/>
          </a:xfrm>
          <a:prstGeom prst="rect">
            <a:avLst/>
          </a:prstGeom>
          <a:solidFill>
            <a:srgbClr val="0E3A53"/>
          </a:solidFill>
          <a:ln/>
        </p:spPr>
        <p:txBody>
          <a:bodyPr/>
          <a:lstStyle/>
          <a:p>
            <a:endParaRPr lang="en-US"/>
          </a:p>
        </p:txBody>
      </p:sp>
      <p:sp>
        <p:nvSpPr>
          <p:cNvPr id="27" name="Text 25"/>
          <p:cNvSpPr/>
          <p:nvPr/>
        </p:nvSpPr>
        <p:spPr>
          <a:xfrm>
            <a:off x="8115300" y="4814888"/>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0.066</a:t>
            </a:r>
            <a:endParaRPr lang="en-US" sz="1500" dirty="0"/>
          </a:p>
        </p:txBody>
      </p:sp>
      <p:sp>
        <p:nvSpPr>
          <p:cNvPr id="28" name="Text 26"/>
          <p:cNvSpPr/>
          <p:nvPr/>
        </p:nvSpPr>
        <p:spPr>
          <a:xfrm>
            <a:off x="952500" y="5229225"/>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5</a:t>
            </a:r>
            <a:endParaRPr lang="en-US" sz="1950" dirty="0"/>
          </a:p>
        </p:txBody>
      </p:sp>
      <p:sp>
        <p:nvSpPr>
          <p:cNvPr id="29" name="Text 27"/>
          <p:cNvSpPr/>
          <p:nvPr/>
        </p:nvSpPr>
        <p:spPr>
          <a:xfrm>
            <a:off x="1333500" y="5253038"/>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Admission grade</a:t>
            </a:r>
            <a:endParaRPr lang="en-US" sz="1650" dirty="0"/>
          </a:p>
        </p:txBody>
      </p:sp>
      <p:sp>
        <p:nvSpPr>
          <p:cNvPr id="30" name="Shape 28"/>
          <p:cNvSpPr/>
          <p:nvPr/>
        </p:nvSpPr>
        <p:spPr>
          <a:xfrm>
            <a:off x="4895850" y="5300663"/>
            <a:ext cx="3162300" cy="171450"/>
          </a:xfrm>
          <a:prstGeom prst="rect">
            <a:avLst/>
          </a:prstGeom>
          <a:solidFill>
            <a:srgbClr val="F2EEE6"/>
          </a:solidFill>
          <a:ln w="9525">
            <a:solidFill>
              <a:srgbClr val="D9D3C5"/>
            </a:solidFill>
            <a:prstDash val="solid"/>
          </a:ln>
        </p:spPr>
        <p:txBody>
          <a:bodyPr/>
          <a:lstStyle/>
          <a:p>
            <a:endParaRPr lang="en-US"/>
          </a:p>
        </p:txBody>
      </p:sp>
      <p:sp>
        <p:nvSpPr>
          <p:cNvPr id="31" name="Shape 29"/>
          <p:cNvSpPr/>
          <p:nvPr/>
        </p:nvSpPr>
        <p:spPr>
          <a:xfrm>
            <a:off x="4905375" y="5310188"/>
            <a:ext cx="864394" cy="152400"/>
          </a:xfrm>
          <a:prstGeom prst="rect">
            <a:avLst/>
          </a:prstGeom>
          <a:solidFill>
            <a:srgbClr val="0E3A53"/>
          </a:solidFill>
          <a:ln/>
        </p:spPr>
        <p:txBody>
          <a:bodyPr/>
          <a:lstStyle/>
          <a:p>
            <a:endParaRPr lang="en-US"/>
          </a:p>
        </p:txBody>
      </p:sp>
      <p:sp>
        <p:nvSpPr>
          <p:cNvPr id="32" name="Text 30"/>
          <p:cNvSpPr/>
          <p:nvPr/>
        </p:nvSpPr>
        <p:spPr>
          <a:xfrm>
            <a:off x="8115300" y="5262563"/>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0.044</a:t>
            </a:r>
            <a:endParaRPr lang="en-US" sz="1500" dirty="0"/>
          </a:p>
        </p:txBody>
      </p:sp>
      <p:sp>
        <p:nvSpPr>
          <p:cNvPr id="33" name="Shape 31"/>
          <p:cNvSpPr/>
          <p:nvPr/>
        </p:nvSpPr>
        <p:spPr>
          <a:xfrm>
            <a:off x="9429750" y="3248025"/>
            <a:ext cx="7905750" cy="19050"/>
          </a:xfrm>
          <a:prstGeom prst="rect">
            <a:avLst/>
          </a:prstGeom>
          <a:solidFill>
            <a:srgbClr val="B95D2C"/>
          </a:solidFill>
          <a:ln/>
        </p:spPr>
        <p:txBody>
          <a:bodyPr/>
          <a:lstStyle/>
          <a:p>
            <a:endParaRPr lang="en-US"/>
          </a:p>
        </p:txBody>
      </p:sp>
      <p:sp>
        <p:nvSpPr>
          <p:cNvPr id="34" name="Text 32"/>
          <p:cNvSpPr/>
          <p:nvPr/>
        </p:nvSpPr>
        <p:spPr>
          <a:xfrm>
            <a:off x="9429750" y="2714625"/>
            <a:ext cx="2170579"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XGBoost</a:t>
            </a:r>
            <a:endParaRPr lang="en-US" sz="2400" dirty="0"/>
          </a:p>
        </p:txBody>
      </p:sp>
      <p:sp>
        <p:nvSpPr>
          <p:cNvPr id="35" name="Text 33"/>
          <p:cNvSpPr/>
          <p:nvPr/>
        </p:nvSpPr>
        <p:spPr>
          <a:xfrm>
            <a:off x="15030748" y="2886075"/>
            <a:ext cx="2380952"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GAIN-BASED IMPORTANCE</a:t>
            </a:r>
            <a:endParaRPr lang="en-US" sz="1350" dirty="0"/>
          </a:p>
        </p:txBody>
      </p:sp>
      <p:sp>
        <p:nvSpPr>
          <p:cNvPr id="36" name="Text 34"/>
          <p:cNvSpPr/>
          <p:nvPr/>
        </p:nvSpPr>
        <p:spPr>
          <a:xfrm>
            <a:off x="9429750" y="3438525"/>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1</a:t>
            </a:r>
            <a:endParaRPr lang="en-US" sz="1950" dirty="0"/>
          </a:p>
        </p:txBody>
      </p:sp>
      <p:sp>
        <p:nvSpPr>
          <p:cNvPr id="37" name="Text 35"/>
          <p:cNvSpPr/>
          <p:nvPr/>
        </p:nvSpPr>
        <p:spPr>
          <a:xfrm>
            <a:off x="9810750" y="3462338"/>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(approved)</a:t>
            </a:r>
            <a:endParaRPr lang="en-US" sz="1650" dirty="0"/>
          </a:p>
        </p:txBody>
      </p:sp>
      <p:sp>
        <p:nvSpPr>
          <p:cNvPr id="38" name="Shape 36"/>
          <p:cNvSpPr/>
          <p:nvPr/>
        </p:nvSpPr>
        <p:spPr>
          <a:xfrm>
            <a:off x="13373100" y="3509963"/>
            <a:ext cx="3162300" cy="171450"/>
          </a:xfrm>
          <a:prstGeom prst="rect">
            <a:avLst/>
          </a:prstGeom>
          <a:solidFill>
            <a:srgbClr val="F2EEE6"/>
          </a:solidFill>
          <a:ln w="9525">
            <a:solidFill>
              <a:srgbClr val="D9D3C5"/>
            </a:solidFill>
            <a:prstDash val="solid"/>
          </a:ln>
        </p:spPr>
        <p:txBody>
          <a:bodyPr/>
          <a:lstStyle/>
          <a:p>
            <a:endParaRPr lang="en-US"/>
          </a:p>
        </p:txBody>
      </p:sp>
      <p:sp>
        <p:nvSpPr>
          <p:cNvPr id="39" name="Shape 37"/>
          <p:cNvSpPr/>
          <p:nvPr/>
        </p:nvSpPr>
        <p:spPr>
          <a:xfrm>
            <a:off x="13382625" y="3519488"/>
            <a:ext cx="3071813" cy="152400"/>
          </a:xfrm>
          <a:prstGeom prst="rect">
            <a:avLst/>
          </a:prstGeom>
          <a:solidFill>
            <a:srgbClr val="B95D2C"/>
          </a:solidFill>
          <a:ln/>
        </p:spPr>
        <p:txBody>
          <a:bodyPr/>
          <a:lstStyle/>
          <a:p>
            <a:endParaRPr lang="en-US"/>
          </a:p>
        </p:txBody>
      </p:sp>
      <p:sp>
        <p:nvSpPr>
          <p:cNvPr id="40" name="Text 38"/>
          <p:cNvSpPr/>
          <p:nvPr/>
        </p:nvSpPr>
        <p:spPr>
          <a:xfrm>
            <a:off x="16592550" y="3471863"/>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0.215</a:t>
            </a:r>
            <a:endParaRPr lang="en-US" sz="1500" dirty="0"/>
          </a:p>
        </p:txBody>
      </p:sp>
      <p:sp>
        <p:nvSpPr>
          <p:cNvPr id="41" name="Text 39"/>
          <p:cNvSpPr/>
          <p:nvPr/>
        </p:nvSpPr>
        <p:spPr>
          <a:xfrm>
            <a:off x="9429750" y="3886200"/>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2</a:t>
            </a:r>
            <a:endParaRPr lang="en-US" sz="1950" dirty="0"/>
          </a:p>
        </p:txBody>
      </p:sp>
      <p:sp>
        <p:nvSpPr>
          <p:cNvPr id="42" name="Text 40"/>
          <p:cNvSpPr/>
          <p:nvPr/>
        </p:nvSpPr>
        <p:spPr>
          <a:xfrm>
            <a:off x="9810750" y="3910013"/>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Tuition fees up to date</a:t>
            </a:r>
            <a:endParaRPr lang="en-US" sz="1650" dirty="0"/>
          </a:p>
        </p:txBody>
      </p:sp>
      <p:sp>
        <p:nvSpPr>
          <p:cNvPr id="43" name="Shape 41"/>
          <p:cNvSpPr/>
          <p:nvPr/>
        </p:nvSpPr>
        <p:spPr>
          <a:xfrm>
            <a:off x="13373100" y="3957638"/>
            <a:ext cx="3162300" cy="171450"/>
          </a:xfrm>
          <a:prstGeom prst="rect">
            <a:avLst/>
          </a:prstGeom>
          <a:solidFill>
            <a:srgbClr val="F2EEE6"/>
          </a:solidFill>
          <a:ln w="9525">
            <a:solidFill>
              <a:srgbClr val="D9D3C5"/>
            </a:solidFill>
            <a:prstDash val="solid"/>
          </a:ln>
        </p:spPr>
        <p:txBody>
          <a:bodyPr/>
          <a:lstStyle/>
          <a:p>
            <a:endParaRPr lang="en-US"/>
          </a:p>
        </p:txBody>
      </p:sp>
      <p:sp>
        <p:nvSpPr>
          <p:cNvPr id="44" name="Shape 42"/>
          <p:cNvSpPr/>
          <p:nvPr/>
        </p:nvSpPr>
        <p:spPr>
          <a:xfrm>
            <a:off x="13382625" y="3967163"/>
            <a:ext cx="1671638" cy="152400"/>
          </a:xfrm>
          <a:prstGeom prst="rect">
            <a:avLst/>
          </a:prstGeom>
          <a:solidFill>
            <a:srgbClr val="B95D2C"/>
          </a:solidFill>
          <a:ln/>
        </p:spPr>
        <p:txBody>
          <a:bodyPr/>
          <a:lstStyle/>
          <a:p>
            <a:endParaRPr lang="en-US"/>
          </a:p>
        </p:txBody>
      </p:sp>
      <p:sp>
        <p:nvSpPr>
          <p:cNvPr id="45" name="Text 43"/>
          <p:cNvSpPr/>
          <p:nvPr/>
        </p:nvSpPr>
        <p:spPr>
          <a:xfrm>
            <a:off x="16592550" y="3919537"/>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0.117</a:t>
            </a:r>
            <a:endParaRPr lang="en-US" sz="1500" dirty="0"/>
          </a:p>
        </p:txBody>
      </p:sp>
      <p:sp>
        <p:nvSpPr>
          <p:cNvPr id="46" name="Text 44"/>
          <p:cNvSpPr/>
          <p:nvPr/>
        </p:nvSpPr>
        <p:spPr>
          <a:xfrm>
            <a:off x="9429750" y="4333875"/>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3</a:t>
            </a:r>
            <a:endParaRPr lang="en-US" sz="1950" dirty="0"/>
          </a:p>
        </p:txBody>
      </p:sp>
      <p:sp>
        <p:nvSpPr>
          <p:cNvPr id="47" name="Text 45"/>
          <p:cNvSpPr/>
          <p:nvPr/>
        </p:nvSpPr>
        <p:spPr>
          <a:xfrm>
            <a:off x="9810750" y="4357688"/>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1st sem (enrolled)</a:t>
            </a:r>
            <a:endParaRPr lang="en-US" sz="1650" dirty="0"/>
          </a:p>
        </p:txBody>
      </p:sp>
      <p:sp>
        <p:nvSpPr>
          <p:cNvPr id="48" name="Shape 46"/>
          <p:cNvSpPr/>
          <p:nvPr/>
        </p:nvSpPr>
        <p:spPr>
          <a:xfrm>
            <a:off x="13373100" y="4405313"/>
            <a:ext cx="3162300" cy="171450"/>
          </a:xfrm>
          <a:prstGeom prst="rect">
            <a:avLst/>
          </a:prstGeom>
          <a:solidFill>
            <a:srgbClr val="F2EEE6"/>
          </a:solidFill>
          <a:ln w="9525">
            <a:solidFill>
              <a:srgbClr val="D9D3C5"/>
            </a:solidFill>
            <a:prstDash val="solid"/>
          </a:ln>
        </p:spPr>
        <p:txBody>
          <a:bodyPr/>
          <a:lstStyle/>
          <a:p>
            <a:endParaRPr lang="en-US"/>
          </a:p>
        </p:txBody>
      </p:sp>
      <p:sp>
        <p:nvSpPr>
          <p:cNvPr id="49" name="Shape 47"/>
          <p:cNvSpPr/>
          <p:nvPr/>
        </p:nvSpPr>
        <p:spPr>
          <a:xfrm>
            <a:off x="13382625" y="4414838"/>
            <a:ext cx="742950" cy="152400"/>
          </a:xfrm>
          <a:prstGeom prst="rect">
            <a:avLst/>
          </a:prstGeom>
          <a:solidFill>
            <a:srgbClr val="B95D2C"/>
          </a:solidFill>
          <a:ln/>
        </p:spPr>
        <p:txBody>
          <a:bodyPr/>
          <a:lstStyle/>
          <a:p>
            <a:endParaRPr lang="en-US"/>
          </a:p>
        </p:txBody>
      </p:sp>
      <p:sp>
        <p:nvSpPr>
          <p:cNvPr id="50" name="Text 48"/>
          <p:cNvSpPr/>
          <p:nvPr/>
        </p:nvSpPr>
        <p:spPr>
          <a:xfrm>
            <a:off x="16592550" y="4367213"/>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0.052</a:t>
            </a:r>
            <a:endParaRPr lang="en-US" sz="1500" dirty="0"/>
          </a:p>
        </p:txBody>
      </p:sp>
      <p:sp>
        <p:nvSpPr>
          <p:cNvPr id="51" name="Text 49"/>
          <p:cNvSpPr/>
          <p:nvPr/>
        </p:nvSpPr>
        <p:spPr>
          <a:xfrm>
            <a:off x="9429750" y="4781550"/>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4</a:t>
            </a:r>
            <a:endParaRPr lang="en-US" sz="1950" dirty="0"/>
          </a:p>
        </p:txBody>
      </p:sp>
      <p:sp>
        <p:nvSpPr>
          <p:cNvPr id="52" name="Text 50"/>
          <p:cNvSpPr/>
          <p:nvPr/>
        </p:nvSpPr>
        <p:spPr>
          <a:xfrm>
            <a:off x="9810750" y="4805363"/>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(enrolled)</a:t>
            </a:r>
            <a:endParaRPr lang="en-US" sz="1650" dirty="0"/>
          </a:p>
        </p:txBody>
      </p:sp>
      <p:sp>
        <p:nvSpPr>
          <p:cNvPr id="53" name="Shape 51"/>
          <p:cNvSpPr/>
          <p:nvPr/>
        </p:nvSpPr>
        <p:spPr>
          <a:xfrm>
            <a:off x="13373100" y="4852988"/>
            <a:ext cx="3162300" cy="171450"/>
          </a:xfrm>
          <a:prstGeom prst="rect">
            <a:avLst/>
          </a:prstGeom>
          <a:solidFill>
            <a:srgbClr val="F2EEE6"/>
          </a:solidFill>
          <a:ln w="9525">
            <a:solidFill>
              <a:srgbClr val="D9D3C5"/>
            </a:solidFill>
            <a:prstDash val="solid"/>
          </a:ln>
        </p:spPr>
        <p:txBody>
          <a:bodyPr/>
          <a:lstStyle/>
          <a:p>
            <a:endParaRPr lang="en-US"/>
          </a:p>
        </p:txBody>
      </p:sp>
      <p:sp>
        <p:nvSpPr>
          <p:cNvPr id="54" name="Shape 52"/>
          <p:cNvSpPr/>
          <p:nvPr/>
        </p:nvSpPr>
        <p:spPr>
          <a:xfrm>
            <a:off x="13382625" y="4862513"/>
            <a:ext cx="542925" cy="152400"/>
          </a:xfrm>
          <a:prstGeom prst="rect">
            <a:avLst/>
          </a:prstGeom>
          <a:solidFill>
            <a:srgbClr val="B95D2C"/>
          </a:solidFill>
          <a:ln/>
        </p:spPr>
        <p:txBody>
          <a:bodyPr/>
          <a:lstStyle/>
          <a:p>
            <a:endParaRPr lang="en-US"/>
          </a:p>
        </p:txBody>
      </p:sp>
      <p:sp>
        <p:nvSpPr>
          <p:cNvPr id="55" name="Text 53"/>
          <p:cNvSpPr/>
          <p:nvPr/>
        </p:nvSpPr>
        <p:spPr>
          <a:xfrm>
            <a:off x="16592550" y="4814888"/>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0.038</a:t>
            </a:r>
            <a:endParaRPr lang="en-US" sz="1500" dirty="0"/>
          </a:p>
        </p:txBody>
      </p:sp>
      <p:sp>
        <p:nvSpPr>
          <p:cNvPr id="56" name="Text 54"/>
          <p:cNvSpPr/>
          <p:nvPr/>
        </p:nvSpPr>
        <p:spPr>
          <a:xfrm>
            <a:off x="9429750" y="5229225"/>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5</a:t>
            </a:r>
            <a:endParaRPr lang="en-US" sz="1950" dirty="0"/>
          </a:p>
        </p:txBody>
      </p:sp>
      <p:sp>
        <p:nvSpPr>
          <p:cNvPr id="57" name="Text 55"/>
          <p:cNvSpPr/>
          <p:nvPr/>
        </p:nvSpPr>
        <p:spPr>
          <a:xfrm>
            <a:off x="9810750" y="5253038"/>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Scholarship holder</a:t>
            </a:r>
            <a:endParaRPr lang="en-US" sz="1650" dirty="0"/>
          </a:p>
        </p:txBody>
      </p:sp>
      <p:sp>
        <p:nvSpPr>
          <p:cNvPr id="58" name="Shape 56"/>
          <p:cNvSpPr/>
          <p:nvPr/>
        </p:nvSpPr>
        <p:spPr>
          <a:xfrm>
            <a:off x="13373100" y="5300663"/>
            <a:ext cx="3162300" cy="171450"/>
          </a:xfrm>
          <a:prstGeom prst="rect">
            <a:avLst/>
          </a:prstGeom>
          <a:solidFill>
            <a:srgbClr val="F2EEE6"/>
          </a:solidFill>
          <a:ln w="9525">
            <a:solidFill>
              <a:srgbClr val="D9D3C5"/>
            </a:solidFill>
            <a:prstDash val="solid"/>
          </a:ln>
        </p:spPr>
        <p:txBody>
          <a:bodyPr/>
          <a:lstStyle/>
          <a:p>
            <a:endParaRPr lang="en-US"/>
          </a:p>
        </p:txBody>
      </p:sp>
      <p:sp>
        <p:nvSpPr>
          <p:cNvPr id="59" name="Shape 57"/>
          <p:cNvSpPr/>
          <p:nvPr/>
        </p:nvSpPr>
        <p:spPr>
          <a:xfrm>
            <a:off x="13382625" y="5310188"/>
            <a:ext cx="457200" cy="152400"/>
          </a:xfrm>
          <a:prstGeom prst="rect">
            <a:avLst/>
          </a:prstGeom>
          <a:solidFill>
            <a:srgbClr val="B95D2C"/>
          </a:solidFill>
          <a:ln/>
        </p:spPr>
        <p:txBody>
          <a:bodyPr/>
          <a:lstStyle/>
          <a:p>
            <a:endParaRPr lang="en-US"/>
          </a:p>
        </p:txBody>
      </p:sp>
      <p:sp>
        <p:nvSpPr>
          <p:cNvPr id="60" name="Text 58"/>
          <p:cNvSpPr/>
          <p:nvPr/>
        </p:nvSpPr>
        <p:spPr>
          <a:xfrm>
            <a:off x="16592550" y="5262563"/>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0.032</a:t>
            </a:r>
            <a:endParaRPr lang="en-US" sz="1500" dirty="0"/>
          </a:p>
        </p:txBody>
      </p:sp>
      <p:sp>
        <p:nvSpPr>
          <p:cNvPr id="61" name="Shape 59"/>
          <p:cNvSpPr/>
          <p:nvPr/>
        </p:nvSpPr>
        <p:spPr>
          <a:xfrm>
            <a:off x="952500" y="5924550"/>
            <a:ext cx="16383000" cy="1104900"/>
          </a:xfrm>
          <a:prstGeom prst="rect">
            <a:avLst/>
          </a:prstGeom>
          <a:solidFill>
            <a:srgbClr val="F2EEE6"/>
          </a:solidFill>
          <a:ln/>
        </p:spPr>
        <p:txBody>
          <a:bodyPr/>
          <a:lstStyle/>
          <a:p>
            <a:endParaRPr lang="en-US"/>
          </a:p>
        </p:txBody>
      </p:sp>
      <p:sp>
        <p:nvSpPr>
          <p:cNvPr id="62" name="Shape 60"/>
          <p:cNvSpPr/>
          <p:nvPr/>
        </p:nvSpPr>
        <p:spPr>
          <a:xfrm>
            <a:off x="952500" y="5924550"/>
            <a:ext cx="38100" cy="1104900"/>
          </a:xfrm>
          <a:prstGeom prst="rect">
            <a:avLst/>
          </a:prstGeom>
          <a:solidFill>
            <a:srgbClr val="1D9E75"/>
          </a:solidFill>
          <a:ln/>
        </p:spPr>
        <p:txBody>
          <a:bodyPr/>
          <a:lstStyle/>
          <a:p>
            <a:endParaRPr lang="en-US"/>
          </a:p>
        </p:txBody>
      </p:sp>
      <p:sp>
        <p:nvSpPr>
          <p:cNvPr id="63" name="Text 61"/>
          <p:cNvSpPr/>
          <p:nvPr/>
        </p:nvSpPr>
        <p:spPr>
          <a:xfrm>
            <a:off x="1257300" y="6153150"/>
            <a:ext cx="16302990" cy="6858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1C1B1A"/>
                </a:solidFill>
                <a:latin typeface="-apple-system" pitchFamily="34" charset="0"/>
                <a:ea typeface="-apple-system" pitchFamily="34" charset="-122"/>
                <a:cs typeface="-apple-system" pitchFamily="34" charset="-120"/>
              </a:rPr>
              <a:t>Both models converge on 2nd-semester approved units as the #1 predictor — RF MDI 0.155, XGB gain 0.215. XGBoost weighs financial signals (tuition 0.117, scholarship 0.032) more heavily; Random Forest leans on grade variables (4 of top 5 are grade-related).</a:t>
            </a:r>
            <a:endParaRPr lang="en-US" sz="1800" dirty="0"/>
          </a:p>
        </p:txBody>
      </p:sp>
      <p:sp>
        <p:nvSpPr>
          <p:cNvPr id="64" name="Text 62"/>
          <p:cNvSpPr/>
          <p:nvPr/>
        </p:nvSpPr>
        <p:spPr>
          <a:xfrm>
            <a:off x="16692116" y="71532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16/19</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0" y="0"/>
            <a:ext cx="18288000" cy="7648575"/>
          </a:xfrm>
          <a:prstGeom prst="rect">
            <a:avLst/>
          </a:prstGeom>
          <a:solidFill>
            <a:srgbClr val="0E3A53"/>
          </a:solidFill>
          <a:ln/>
        </p:spPr>
        <p:txBody>
          <a:bodyPr/>
          <a:lstStyle/>
          <a:p>
            <a:endParaRPr lang="en-US"/>
          </a:p>
        </p:txBody>
      </p:sp>
      <p:sp>
        <p:nvSpPr>
          <p:cNvPr id="3" name="Shape 1"/>
          <p:cNvSpPr/>
          <p:nvPr/>
        </p:nvSpPr>
        <p:spPr>
          <a:xfrm>
            <a:off x="952500" y="1047006"/>
            <a:ext cx="533400" cy="19050"/>
          </a:xfrm>
          <a:prstGeom prst="rect">
            <a:avLst/>
          </a:prstGeom>
          <a:solidFill>
            <a:srgbClr val="FFFFFF">
              <a:alpha val="60000"/>
            </a:srgbClr>
          </a:solidFill>
          <a:ln/>
        </p:spPr>
        <p:txBody>
          <a:bodyPr/>
          <a:lstStyle/>
          <a:p>
            <a:endParaRPr lang="en-US"/>
          </a:p>
        </p:txBody>
      </p:sp>
      <p:sp>
        <p:nvSpPr>
          <p:cNvPr id="4" name="Text 2"/>
          <p:cNvSpPr/>
          <p:nvPr/>
        </p:nvSpPr>
        <p:spPr>
          <a:xfrm>
            <a:off x="1657350" y="952500"/>
            <a:ext cx="293888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FFFFFF">
                    <a:alpha val="60000"/>
                  </a:srgbClr>
                </a:solidFill>
                <a:latin typeface="Courier New" pitchFamily="34" charset="0"/>
                <a:ea typeface="Courier New" pitchFamily="34" charset="-122"/>
                <a:cs typeface="Courier New" pitchFamily="34" charset="-120"/>
              </a:rPr>
              <a:t>16 · CONCLUSIONS</a:t>
            </a:r>
            <a:endParaRPr lang="en-US" sz="1800" dirty="0"/>
          </a:p>
        </p:txBody>
      </p:sp>
      <p:sp>
        <p:nvSpPr>
          <p:cNvPr id="5" name="Text 3"/>
          <p:cNvSpPr/>
          <p:nvPr/>
        </p:nvSpPr>
        <p:spPr>
          <a:xfrm>
            <a:off x="952500" y="1704975"/>
            <a:ext cx="14716125"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FFFFFF"/>
                </a:solidFill>
                <a:latin typeface="Georgia" pitchFamily="34" charset="0"/>
                <a:ea typeface="Georgia" pitchFamily="34" charset="-122"/>
                <a:cs typeface="Georgia" pitchFamily="34" charset="-120"/>
              </a:rPr>
              <a:t>What we learned, and what to do about it</a:t>
            </a:r>
            <a:endParaRPr lang="en-US" sz="4800" dirty="0"/>
          </a:p>
        </p:txBody>
      </p:sp>
      <p:sp>
        <p:nvSpPr>
          <p:cNvPr id="6" name="Shape 4"/>
          <p:cNvSpPr/>
          <p:nvPr/>
        </p:nvSpPr>
        <p:spPr>
          <a:xfrm>
            <a:off x="952500" y="3419475"/>
            <a:ext cx="8182421" cy="9525"/>
          </a:xfrm>
          <a:prstGeom prst="rect">
            <a:avLst/>
          </a:prstGeom>
          <a:solidFill>
            <a:srgbClr val="FFFFFF">
              <a:alpha val="18000"/>
            </a:srgbClr>
          </a:solidFill>
          <a:ln/>
        </p:spPr>
        <p:txBody>
          <a:bodyPr/>
          <a:lstStyle/>
          <a:p>
            <a:endParaRPr lang="en-US"/>
          </a:p>
        </p:txBody>
      </p:sp>
      <p:sp>
        <p:nvSpPr>
          <p:cNvPr id="7" name="Text 5"/>
          <p:cNvSpPr/>
          <p:nvPr/>
        </p:nvSpPr>
        <p:spPr>
          <a:xfrm>
            <a:off x="952500" y="3009900"/>
            <a:ext cx="179070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162" dirty="0">
                <a:solidFill>
                  <a:srgbClr val="FFFFFF">
                    <a:alpha val="55000"/>
                  </a:srgbClr>
                </a:solidFill>
                <a:latin typeface="Courier New" pitchFamily="34" charset="0"/>
                <a:ea typeface="Courier New" pitchFamily="34" charset="-122"/>
                <a:cs typeface="Courier New" pitchFamily="34" charset="-120"/>
              </a:rPr>
              <a:t>BEST MODEL</a:t>
            </a:r>
            <a:endParaRPr lang="en-US" sz="1350" dirty="0"/>
          </a:p>
        </p:txBody>
      </p:sp>
      <p:sp>
        <p:nvSpPr>
          <p:cNvPr id="8" name="Text 6"/>
          <p:cNvSpPr/>
          <p:nvPr/>
        </p:nvSpPr>
        <p:spPr>
          <a:xfrm>
            <a:off x="2895600" y="2867025"/>
            <a:ext cx="6122828" cy="41910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XGBoost · F1-macro</a:t>
            </a:r>
            <a:r>
              <a:rPr lang="en-US" sz="2100" b="1" dirty="0">
                <a:solidFill>
                  <a:srgbClr val="FFFFFF">
                    <a:alpha val="92000"/>
                  </a:srgbClr>
                </a:solidFill>
                <a:latin typeface="Georgia" pitchFamily="34" charset="0"/>
                <a:ea typeface="Georgia" pitchFamily="34" charset="-122"/>
                <a:cs typeface="Georgia" pitchFamily="34" charset="-120"/>
              </a:rPr>
              <a:t>0.7056</a:t>
            </a:r>
            <a:r>
              <a:rPr lang="en-US" sz="2100" dirty="0">
                <a:solidFill>
                  <a:srgbClr val="FFFFFF">
                    <a:alpha val="92000"/>
                  </a:srgbClr>
                </a:solidFill>
                <a:latin typeface="-apple-system" pitchFamily="34" charset="0"/>
                <a:ea typeface="-apple-system" pitchFamily="34" charset="-122"/>
                <a:cs typeface="-apple-system" pitchFamily="34" charset="-120"/>
              </a:rPr>
              <a:t>(vs RF 0.689, LR 0.683)</a:t>
            </a:r>
            <a:endParaRPr lang="en-US" sz="2100" dirty="0"/>
          </a:p>
        </p:txBody>
      </p:sp>
      <p:sp>
        <p:nvSpPr>
          <p:cNvPr id="9" name="Shape 7"/>
          <p:cNvSpPr/>
          <p:nvPr/>
        </p:nvSpPr>
        <p:spPr>
          <a:xfrm>
            <a:off x="952500" y="4572000"/>
            <a:ext cx="8182421" cy="9525"/>
          </a:xfrm>
          <a:prstGeom prst="rect">
            <a:avLst/>
          </a:prstGeom>
          <a:solidFill>
            <a:srgbClr val="FFFFFF">
              <a:alpha val="18000"/>
            </a:srgbClr>
          </a:solidFill>
          <a:ln/>
        </p:spPr>
        <p:txBody>
          <a:bodyPr/>
          <a:lstStyle/>
          <a:p>
            <a:endParaRPr lang="en-US"/>
          </a:p>
        </p:txBody>
      </p:sp>
      <p:sp>
        <p:nvSpPr>
          <p:cNvPr id="10" name="Text 8"/>
          <p:cNvSpPr/>
          <p:nvPr/>
        </p:nvSpPr>
        <p:spPr>
          <a:xfrm>
            <a:off x="952500" y="3781425"/>
            <a:ext cx="179070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162" dirty="0">
                <a:solidFill>
                  <a:srgbClr val="FFFFFF">
                    <a:alpha val="55000"/>
                  </a:srgbClr>
                </a:solidFill>
                <a:latin typeface="Courier New" pitchFamily="34" charset="0"/>
                <a:ea typeface="Courier New" pitchFamily="34" charset="-122"/>
                <a:cs typeface="Courier New" pitchFamily="34" charset="-120"/>
              </a:rPr>
              <a:t>TOP PREDICTOR</a:t>
            </a:r>
            <a:endParaRPr lang="en-US" sz="1350" dirty="0"/>
          </a:p>
        </p:txBody>
      </p:sp>
      <p:sp>
        <p:nvSpPr>
          <p:cNvPr id="11" name="Text 9"/>
          <p:cNvSpPr/>
          <p:nvPr/>
        </p:nvSpPr>
        <p:spPr>
          <a:xfrm>
            <a:off x="2895600" y="3638550"/>
            <a:ext cx="6426501" cy="80010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2nd-sem approved units · ρ ≈ 0.65 · RF MDI 0.155 · XGB gain 0.215</a:t>
            </a:r>
            <a:endParaRPr lang="en-US" sz="2100" dirty="0"/>
          </a:p>
        </p:txBody>
      </p:sp>
      <p:sp>
        <p:nvSpPr>
          <p:cNvPr id="12" name="Shape 10"/>
          <p:cNvSpPr/>
          <p:nvPr/>
        </p:nvSpPr>
        <p:spPr>
          <a:xfrm>
            <a:off x="952500" y="5724525"/>
            <a:ext cx="8182421" cy="9525"/>
          </a:xfrm>
          <a:prstGeom prst="rect">
            <a:avLst/>
          </a:prstGeom>
          <a:solidFill>
            <a:srgbClr val="FFFFFF">
              <a:alpha val="18000"/>
            </a:srgbClr>
          </a:solidFill>
          <a:ln/>
        </p:spPr>
        <p:txBody>
          <a:bodyPr/>
          <a:lstStyle/>
          <a:p>
            <a:endParaRPr lang="en-US"/>
          </a:p>
        </p:txBody>
      </p:sp>
      <p:sp>
        <p:nvSpPr>
          <p:cNvPr id="13" name="Text 11"/>
          <p:cNvSpPr/>
          <p:nvPr/>
        </p:nvSpPr>
        <p:spPr>
          <a:xfrm>
            <a:off x="952500" y="4933950"/>
            <a:ext cx="1790700" cy="419100"/>
          </a:xfrm>
          <a:prstGeom prst="rect">
            <a:avLst/>
          </a:prstGeom>
          <a:noFill/>
          <a:ln/>
        </p:spPr>
        <p:txBody>
          <a:bodyPr wrap="square" lIns="25400" tIns="25400" rIns="25400" bIns="25400" rtlCol="0" anchor="t">
            <a:normAutofit/>
          </a:bodyPr>
          <a:lstStyle/>
          <a:p>
            <a:pPr marL="0" indent="0" algn="l">
              <a:buNone/>
            </a:pPr>
            <a:r>
              <a:rPr lang="en-US" sz="1350" kern="0" spc="162" dirty="0">
                <a:solidFill>
                  <a:srgbClr val="FFFFFF">
                    <a:alpha val="55000"/>
                  </a:srgbClr>
                </a:solidFill>
                <a:latin typeface="Courier New" pitchFamily="34" charset="0"/>
                <a:ea typeface="Courier New" pitchFamily="34" charset="-122"/>
                <a:cs typeface="Courier New" pitchFamily="34" charset="-120"/>
              </a:rPr>
              <a:t>STRONGEST RULE</a:t>
            </a:r>
            <a:endParaRPr lang="en-US" sz="1350" dirty="0"/>
          </a:p>
        </p:txBody>
      </p:sp>
      <p:sp>
        <p:nvSpPr>
          <p:cNvPr id="14" name="Text 12"/>
          <p:cNvSpPr/>
          <p:nvPr/>
        </p:nvSpPr>
        <p:spPr>
          <a:xfrm>
            <a:off x="2895600" y="4791075"/>
            <a:ext cx="6426501" cy="80010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Low 1st-sem approved units →</a:t>
            </a:r>
            <a:r>
              <a:rPr lang="en-US" sz="2100" b="1" dirty="0">
                <a:solidFill>
                  <a:srgbClr val="E24B4A"/>
                </a:solidFill>
                <a:latin typeface="-apple-system" pitchFamily="34" charset="0"/>
                <a:ea typeface="-apple-system" pitchFamily="34" charset="-122"/>
                <a:cs typeface="-apple-system" pitchFamily="34" charset="-120"/>
              </a:rPr>
              <a:t>77.1% dropout </a:t>
            </a:r>
            <a:r>
              <a:rPr lang="en-US" sz="2100" dirty="0">
                <a:solidFill>
                  <a:srgbClr val="FFFFFF">
                    <a:alpha val="92000"/>
                  </a:srgbClr>
                </a:solidFill>
                <a:latin typeface="-apple-system" pitchFamily="34" charset="0"/>
                <a:ea typeface="-apple-system" pitchFamily="34" charset="-122"/>
                <a:cs typeface="-apple-system" pitchFamily="34" charset="-120"/>
              </a:rPr>
              <a:t>· lift 2.40× (Apriori, slide 14)</a:t>
            </a:r>
            <a:endParaRPr lang="en-US" sz="2100" dirty="0"/>
          </a:p>
        </p:txBody>
      </p:sp>
      <p:sp>
        <p:nvSpPr>
          <p:cNvPr id="15" name="Shape 13"/>
          <p:cNvSpPr/>
          <p:nvPr/>
        </p:nvSpPr>
        <p:spPr>
          <a:xfrm>
            <a:off x="952500" y="6877050"/>
            <a:ext cx="8182421" cy="9525"/>
          </a:xfrm>
          <a:prstGeom prst="rect">
            <a:avLst/>
          </a:prstGeom>
          <a:solidFill>
            <a:srgbClr val="FFFFFF">
              <a:alpha val="18000"/>
            </a:srgbClr>
          </a:solidFill>
          <a:ln/>
        </p:spPr>
        <p:txBody>
          <a:bodyPr/>
          <a:lstStyle/>
          <a:p>
            <a:endParaRPr lang="en-US"/>
          </a:p>
        </p:txBody>
      </p:sp>
      <p:sp>
        <p:nvSpPr>
          <p:cNvPr id="16" name="Text 14"/>
          <p:cNvSpPr/>
          <p:nvPr/>
        </p:nvSpPr>
        <p:spPr>
          <a:xfrm>
            <a:off x="952500" y="6086475"/>
            <a:ext cx="179070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162" dirty="0">
                <a:solidFill>
                  <a:srgbClr val="FFFFFF">
                    <a:alpha val="55000"/>
                  </a:srgbClr>
                </a:solidFill>
                <a:latin typeface="Courier New" pitchFamily="34" charset="0"/>
                <a:ea typeface="Courier New" pitchFamily="34" charset="-122"/>
                <a:cs typeface="Courier New" pitchFamily="34" charset="-120"/>
              </a:rPr>
              <a:t>CLUSTERING</a:t>
            </a:r>
            <a:endParaRPr lang="en-US" sz="1350" dirty="0"/>
          </a:p>
        </p:txBody>
      </p:sp>
      <p:sp>
        <p:nvSpPr>
          <p:cNvPr id="17" name="Text 15"/>
          <p:cNvSpPr/>
          <p:nvPr/>
        </p:nvSpPr>
        <p:spPr>
          <a:xfrm>
            <a:off x="2895600" y="5943600"/>
            <a:ext cx="6426501" cy="8001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K-Means k=3 silhouette 0.21 · Hierarchical 0.12 — overlapping</a:t>
            </a:r>
            <a:endParaRPr lang="en-US" sz="2100" dirty="0"/>
          </a:p>
        </p:txBody>
      </p:sp>
      <p:sp>
        <p:nvSpPr>
          <p:cNvPr id="18" name="Shape 16"/>
          <p:cNvSpPr/>
          <p:nvPr/>
        </p:nvSpPr>
        <p:spPr>
          <a:xfrm>
            <a:off x="9896921" y="2867025"/>
            <a:ext cx="7438579" cy="3248025"/>
          </a:xfrm>
          <a:prstGeom prst="rect">
            <a:avLst/>
          </a:prstGeom>
          <a:solidFill>
            <a:srgbClr val="FFFFFF">
              <a:alpha val="6000"/>
            </a:srgbClr>
          </a:solidFill>
          <a:ln w="9525">
            <a:solidFill>
              <a:srgbClr val="FFFFFF">
                <a:alpha val="18000"/>
              </a:srgbClr>
            </a:solidFill>
            <a:prstDash val="solid"/>
          </a:ln>
        </p:spPr>
        <p:txBody>
          <a:bodyPr/>
          <a:lstStyle/>
          <a:p>
            <a:endParaRPr lang="en-US"/>
          </a:p>
        </p:txBody>
      </p:sp>
      <p:sp>
        <p:nvSpPr>
          <p:cNvPr id="19" name="Text 17"/>
          <p:cNvSpPr/>
          <p:nvPr/>
        </p:nvSpPr>
        <p:spPr>
          <a:xfrm>
            <a:off x="10287446" y="3219450"/>
            <a:ext cx="685725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EF9F27"/>
                </a:solidFill>
                <a:latin typeface="Courier New" pitchFamily="34" charset="0"/>
                <a:ea typeface="Courier New" pitchFamily="34" charset="-122"/>
                <a:cs typeface="Courier New" pitchFamily="34" charset="-120"/>
              </a:rPr>
              <a:t>RECOMMENDATION</a:t>
            </a:r>
            <a:endParaRPr lang="en-US" sz="1350" dirty="0"/>
          </a:p>
        </p:txBody>
      </p:sp>
      <p:sp>
        <p:nvSpPr>
          <p:cNvPr id="20" name="Text 18"/>
          <p:cNvSpPr/>
          <p:nvPr/>
        </p:nvSpPr>
        <p:spPr>
          <a:xfrm>
            <a:off x="10287446" y="3581400"/>
            <a:ext cx="6857254" cy="1323975"/>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2850" dirty="0">
                <a:solidFill>
                  <a:srgbClr val="FFFFFF"/>
                </a:solidFill>
                <a:latin typeface="Georgia" pitchFamily="34" charset="0"/>
                <a:ea typeface="Georgia" pitchFamily="34" charset="-122"/>
                <a:cs typeface="Georgia" pitchFamily="34" charset="-120"/>
              </a:rPr>
              <a:t>Flag students with fewer than 3 approved units after semester 1 for immediate academic advising.</a:t>
            </a:r>
            <a:endParaRPr lang="en-US" sz="2850" dirty="0"/>
          </a:p>
        </p:txBody>
      </p:sp>
      <p:sp>
        <p:nvSpPr>
          <p:cNvPr id="21" name="Text 19"/>
          <p:cNvSpPr/>
          <p:nvPr/>
        </p:nvSpPr>
        <p:spPr>
          <a:xfrm>
            <a:off x="10287446" y="5133975"/>
            <a:ext cx="6857254" cy="6667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650" i="1" dirty="0">
                <a:solidFill>
                  <a:srgbClr val="FFFFFF">
                    <a:alpha val="60000"/>
                  </a:srgbClr>
                </a:solidFill>
                <a:latin typeface="-apple-system" pitchFamily="34" charset="0"/>
                <a:ea typeface="-apple-system" pitchFamily="34" charset="-122"/>
                <a:cs typeface="-apple-system" pitchFamily="34" charset="-120"/>
              </a:rPr>
              <a:t>"Data mining can reliably identify at-risk students early enough for meaningful intervention."</a:t>
            </a:r>
            <a:endParaRPr lang="en-US" sz="1650" dirty="0"/>
          </a:p>
        </p:txBody>
      </p:sp>
      <p:sp>
        <p:nvSpPr>
          <p:cNvPr id="22" name="Text 20"/>
          <p:cNvSpPr/>
          <p:nvPr/>
        </p:nvSpPr>
        <p:spPr>
          <a:xfrm>
            <a:off x="16692116" y="701040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FFFFFF">
                    <a:alpha val="50000"/>
                  </a:srgbClr>
                </a:solidFill>
                <a:latin typeface="Courier New" pitchFamily="34" charset="0"/>
                <a:ea typeface="Courier New" pitchFamily="34" charset="-122"/>
                <a:cs typeface="Courier New" pitchFamily="34" charset="-120"/>
              </a:rPr>
              <a:t>17/19</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29388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17 · FUTURE WORK</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Where this work could go next</a:t>
            </a:r>
            <a:endParaRPr lang="en-US" sz="4800" dirty="0"/>
          </a:p>
        </p:txBody>
      </p:sp>
      <p:sp>
        <p:nvSpPr>
          <p:cNvPr id="5" name="Shape 3"/>
          <p:cNvSpPr/>
          <p:nvPr/>
        </p:nvSpPr>
        <p:spPr>
          <a:xfrm>
            <a:off x="952500" y="2790825"/>
            <a:ext cx="8058150" cy="1543050"/>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228725" y="3028950"/>
            <a:ext cx="790575" cy="666750"/>
          </a:xfrm>
          <a:prstGeom prst="rect">
            <a:avLst/>
          </a:prstGeom>
          <a:noFill/>
          <a:ln/>
        </p:spPr>
        <p:txBody>
          <a:bodyPr wrap="square" lIns="25400" tIns="25400" rIns="25400" bIns="25400" rtlCol="0" anchor="t">
            <a:normAutofit/>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01</a:t>
            </a:r>
            <a:endParaRPr lang="en-US" sz="4200" dirty="0"/>
          </a:p>
        </p:txBody>
      </p:sp>
      <p:sp>
        <p:nvSpPr>
          <p:cNvPr id="7" name="Text 5"/>
          <p:cNvSpPr/>
          <p:nvPr/>
        </p:nvSpPr>
        <p:spPr>
          <a:xfrm>
            <a:off x="2019300" y="3028950"/>
            <a:ext cx="6916579" cy="3810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Real-time prediction</a:t>
            </a:r>
            <a:endParaRPr lang="en-US" sz="2250" dirty="0"/>
          </a:p>
        </p:txBody>
      </p:sp>
      <p:sp>
        <p:nvSpPr>
          <p:cNvPr id="8" name="Text 6"/>
          <p:cNvSpPr/>
          <p:nvPr/>
        </p:nvSpPr>
        <p:spPr>
          <a:xfrm>
            <a:off x="2019300" y="3467100"/>
            <a:ext cx="6916579" cy="66675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Incorporate live semester data for dynamic risk scoring throughout the academic year</a:t>
            </a:r>
            <a:endParaRPr lang="en-US" sz="1800" dirty="0"/>
          </a:p>
        </p:txBody>
      </p:sp>
      <p:sp>
        <p:nvSpPr>
          <p:cNvPr id="9" name="Shape 7"/>
          <p:cNvSpPr/>
          <p:nvPr/>
        </p:nvSpPr>
        <p:spPr>
          <a:xfrm>
            <a:off x="9277350" y="2790825"/>
            <a:ext cx="8058150" cy="1543050"/>
          </a:xfrm>
          <a:prstGeom prst="rect">
            <a:avLst/>
          </a:prstGeom>
          <a:solidFill>
            <a:srgbClr val="FFFFFF"/>
          </a:solidFill>
          <a:ln w="9525">
            <a:solidFill>
              <a:srgbClr val="D9D3C5"/>
            </a:solidFill>
            <a:prstDash val="solid"/>
          </a:ln>
        </p:spPr>
        <p:txBody>
          <a:bodyPr/>
          <a:lstStyle/>
          <a:p>
            <a:endParaRPr lang="en-US"/>
          </a:p>
        </p:txBody>
      </p:sp>
      <p:sp>
        <p:nvSpPr>
          <p:cNvPr id="10" name="Text 8"/>
          <p:cNvSpPr/>
          <p:nvPr/>
        </p:nvSpPr>
        <p:spPr>
          <a:xfrm>
            <a:off x="9553575" y="3028950"/>
            <a:ext cx="790575" cy="5143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02</a:t>
            </a:r>
            <a:endParaRPr lang="en-US" sz="4200" dirty="0"/>
          </a:p>
        </p:txBody>
      </p:sp>
      <p:sp>
        <p:nvSpPr>
          <p:cNvPr id="11" name="Text 9"/>
          <p:cNvSpPr/>
          <p:nvPr/>
        </p:nvSpPr>
        <p:spPr>
          <a:xfrm>
            <a:off x="10344150" y="3028950"/>
            <a:ext cx="6916579" cy="3810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Advisor dashboard</a:t>
            </a:r>
            <a:endParaRPr lang="en-US" sz="2250" dirty="0"/>
          </a:p>
        </p:txBody>
      </p:sp>
      <p:sp>
        <p:nvSpPr>
          <p:cNvPr id="12" name="Text 10"/>
          <p:cNvSpPr/>
          <p:nvPr/>
        </p:nvSpPr>
        <p:spPr>
          <a:xfrm>
            <a:off x="10344150" y="3467100"/>
            <a:ext cx="6916579" cy="66675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Web app (Streamlit / Flask) so advisors can query student risk in real time</a:t>
            </a:r>
            <a:endParaRPr lang="en-US" sz="1800" dirty="0"/>
          </a:p>
        </p:txBody>
      </p:sp>
      <p:sp>
        <p:nvSpPr>
          <p:cNvPr id="13" name="Shape 11"/>
          <p:cNvSpPr/>
          <p:nvPr/>
        </p:nvSpPr>
        <p:spPr>
          <a:xfrm>
            <a:off x="952500" y="4600575"/>
            <a:ext cx="8058150" cy="1228725"/>
          </a:xfrm>
          <a:prstGeom prst="rect">
            <a:avLst/>
          </a:prstGeom>
          <a:solidFill>
            <a:srgbClr val="FFFFFF"/>
          </a:solidFill>
          <a:ln w="9525">
            <a:solidFill>
              <a:srgbClr val="D9D3C5"/>
            </a:solidFill>
            <a:prstDash val="solid"/>
          </a:ln>
        </p:spPr>
        <p:txBody>
          <a:bodyPr/>
          <a:lstStyle/>
          <a:p>
            <a:endParaRPr lang="en-US"/>
          </a:p>
        </p:txBody>
      </p:sp>
      <p:sp>
        <p:nvSpPr>
          <p:cNvPr id="14" name="Text 12"/>
          <p:cNvSpPr/>
          <p:nvPr/>
        </p:nvSpPr>
        <p:spPr>
          <a:xfrm>
            <a:off x="1228725" y="4838700"/>
            <a:ext cx="790575" cy="5143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03</a:t>
            </a:r>
            <a:endParaRPr lang="en-US" sz="4200" dirty="0"/>
          </a:p>
        </p:txBody>
      </p:sp>
      <p:sp>
        <p:nvSpPr>
          <p:cNvPr id="15" name="Text 13"/>
          <p:cNvSpPr/>
          <p:nvPr/>
        </p:nvSpPr>
        <p:spPr>
          <a:xfrm>
            <a:off x="2019300" y="4838700"/>
            <a:ext cx="6014450" cy="3810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Multi-institution validation</a:t>
            </a:r>
            <a:endParaRPr lang="en-US" sz="2250" dirty="0"/>
          </a:p>
        </p:txBody>
      </p:sp>
      <p:sp>
        <p:nvSpPr>
          <p:cNvPr id="16" name="Text 14"/>
          <p:cNvSpPr/>
          <p:nvPr/>
        </p:nvSpPr>
        <p:spPr>
          <a:xfrm>
            <a:off x="2019300" y="5276850"/>
            <a:ext cx="6014450"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Test model generalizability across universities and countries</a:t>
            </a:r>
            <a:endParaRPr lang="en-US" sz="1800" dirty="0"/>
          </a:p>
        </p:txBody>
      </p:sp>
      <p:sp>
        <p:nvSpPr>
          <p:cNvPr id="17" name="Shape 15"/>
          <p:cNvSpPr/>
          <p:nvPr/>
        </p:nvSpPr>
        <p:spPr>
          <a:xfrm>
            <a:off x="9277350" y="4600575"/>
            <a:ext cx="8058150" cy="1228725"/>
          </a:xfrm>
          <a:prstGeom prst="rect">
            <a:avLst/>
          </a:prstGeom>
          <a:solidFill>
            <a:srgbClr val="FFFFFF"/>
          </a:solidFill>
          <a:ln w="9525">
            <a:solidFill>
              <a:srgbClr val="D9D3C5"/>
            </a:solidFill>
            <a:prstDash val="solid"/>
          </a:ln>
        </p:spPr>
        <p:txBody>
          <a:bodyPr/>
          <a:lstStyle/>
          <a:p>
            <a:endParaRPr lang="en-US"/>
          </a:p>
        </p:txBody>
      </p:sp>
      <p:sp>
        <p:nvSpPr>
          <p:cNvPr id="18" name="Text 16"/>
          <p:cNvSpPr/>
          <p:nvPr/>
        </p:nvSpPr>
        <p:spPr>
          <a:xfrm>
            <a:off x="9553575" y="4838700"/>
            <a:ext cx="790575" cy="5143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04</a:t>
            </a:r>
            <a:endParaRPr lang="en-US" sz="4200" dirty="0"/>
          </a:p>
        </p:txBody>
      </p:sp>
      <p:sp>
        <p:nvSpPr>
          <p:cNvPr id="19" name="Text 17"/>
          <p:cNvSpPr/>
          <p:nvPr/>
        </p:nvSpPr>
        <p:spPr>
          <a:xfrm>
            <a:off x="10344150" y="4838700"/>
            <a:ext cx="6274281" cy="3810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Deep learning</a:t>
            </a:r>
            <a:endParaRPr lang="en-US" sz="2250" dirty="0"/>
          </a:p>
        </p:txBody>
      </p:sp>
      <p:sp>
        <p:nvSpPr>
          <p:cNvPr id="20" name="Text 18"/>
          <p:cNvSpPr/>
          <p:nvPr/>
        </p:nvSpPr>
        <p:spPr>
          <a:xfrm>
            <a:off x="10344150" y="5276850"/>
            <a:ext cx="627428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Explore TabNet and other neural architectures for tabular gains</a:t>
            </a:r>
            <a:endParaRPr lang="en-US" sz="1800" dirty="0"/>
          </a:p>
        </p:txBody>
      </p:sp>
      <p:sp>
        <p:nvSpPr>
          <p:cNvPr id="21" name="Shape 19"/>
          <p:cNvSpPr/>
          <p:nvPr/>
        </p:nvSpPr>
        <p:spPr>
          <a:xfrm>
            <a:off x="952500" y="6096000"/>
            <a:ext cx="8058150" cy="1543050"/>
          </a:xfrm>
          <a:prstGeom prst="rect">
            <a:avLst/>
          </a:prstGeom>
          <a:solidFill>
            <a:srgbClr val="FFFFFF"/>
          </a:solidFill>
          <a:ln w="9525">
            <a:solidFill>
              <a:srgbClr val="D9D3C5"/>
            </a:solidFill>
            <a:prstDash val="solid"/>
          </a:ln>
        </p:spPr>
        <p:txBody>
          <a:bodyPr/>
          <a:lstStyle/>
          <a:p>
            <a:endParaRPr lang="en-US"/>
          </a:p>
        </p:txBody>
      </p:sp>
      <p:sp>
        <p:nvSpPr>
          <p:cNvPr id="22" name="Text 20"/>
          <p:cNvSpPr/>
          <p:nvPr/>
        </p:nvSpPr>
        <p:spPr>
          <a:xfrm>
            <a:off x="1228725" y="6334125"/>
            <a:ext cx="790575" cy="5143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05</a:t>
            </a:r>
            <a:endParaRPr lang="en-US" sz="4200" dirty="0"/>
          </a:p>
        </p:txBody>
      </p:sp>
      <p:sp>
        <p:nvSpPr>
          <p:cNvPr id="23" name="Text 21"/>
          <p:cNvSpPr/>
          <p:nvPr/>
        </p:nvSpPr>
        <p:spPr>
          <a:xfrm>
            <a:off x="2019300" y="6334125"/>
            <a:ext cx="6916579" cy="3810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Temporal modeling</a:t>
            </a:r>
            <a:endParaRPr lang="en-US" sz="2250" dirty="0"/>
          </a:p>
        </p:txBody>
      </p:sp>
      <p:sp>
        <p:nvSpPr>
          <p:cNvPr id="24" name="Text 22"/>
          <p:cNvSpPr/>
          <p:nvPr/>
        </p:nvSpPr>
        <p:spPr>
          <a:xfrm>
            <a:off x="2019300" y="6772275"/>
            <a:ext cx="6916579" cy="666750"/>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Sequence models that track how student risk evolves semester by semester</a:t>
            </a:r>
            <a:endParaRPr lang="en-US" sz="1800" dirty="0"/>
          </a:p>
        </p:txBody>
      </p:sp>
      <p:sp>
        <p:nvSpPr>
          <p:cNvPr id="25" name="Shape 23"/>
          <p:cNvSpPr/>
          <p:nvPr/>
        </p:nvSpPr>
        <p:spPr>
          <a:xfrm>
            <a:off x="9277350" y="6096000"/>
            <a:ext cx="8058150" cy="1543050"/>
          </a:xfrm>
          <a:prstGeom prst="rect">
            <a:avLst/>
          </a:prstGeom>
          <a:ln w="9525">
            <a:solidFill>
              <a:srgbClr val="D9D3C5"/>
            </a:solidFill>
            <a:prstDash val="dash"/>
          </a:ln>
        </p:spPr>
        <p:txBody>
          <a:bodyPr/>
          <a:lstStyle/>
          <a:p>
            <a:endParaRPr lang="en-US"/>
          </a:p>
        </p:txBody>
      </p:sp>
      <p:sp>
        <p:nvSpPr>
          <p:cNvPr id="26" name="Text 24"/>
          <p:cNvSpPr/>
          <p:nvPr/>
        </p:nvSpPr>
        <p:spPr>
          <a:xfrm>
            <a:off x="11441309" y="6396038"/>
            <a:ext cx="3730231" cy="981075"/>
          </a:xfrm>
          <a:prstGeom prst="rect">
            <a:avLst/>
          </a:prstGeom>
          <a:noFill/>
          <a:ln/>
        </p:spPr>
        <p:txBody>
          <a:bodyPr wrap="square" lIns="25400" tIns="25400" rIns="25400" bIns="25400" rtlCol="0" anchor="t">
            <a:normAutofit fontScale="92500" lnSpcReduction="20000"/>
          </a:bodyPr>
          <a:lstStyle/>
          <a:p>
            <a:pPr marL="0" indent="0" algn="ctr">
              <a:lnSpc>
                <a:spcPct val="150000"/>
              </a:lnSpc>
              <a:buNone/>
            </a:pPr>
            <a:r>
              <a:rPr lang="en-US" sz="1650" kern="0" spc="66" dirty="0">
                <a:solidFill>
                  <a:srgbClr val="807C76"/>
                </a:solidFill>
                <a:latin typeface="Courier New" pitchFamily="34" charset="0"/>
                <a:ea typeface="Courier New" pitchFamily="34" charset="-122"/>
                <a:cs typeface="Courier New" pitchFamily="34" charset="-120"/>
              </a:rPr>
              <a:t>Each direction addresses a current limitation — </a:t>
            </a:r>
            <a:r>
              <a:rPr lang="en-US" sz="1650" kern="0" spc="66" dirty="0">
                <a:solidFill>
                  <a:srgbClr val="B95D2C"/>
                </a:solidFill>
                <a:latin typeface="Courier New" pitchFamily="34" charset="0"/>
                <a:ea typeface="Courier New" pitchFamily="34" charset="-122"/>
                <a:cs typeface="Courier New" pitchFamily="34" charset="-120"/>
              </a:rPr>
              <a:t>limitations → opportunities</a:t>
            </a:r>
            <a:endParaRPr lang="en-US" sz="1650" dirty="0"/>
          </a:p>
        </p:txBody>
      </p:sp>
      <p:sp>
        <p:nvSpPr>
          <p:cNvPr id="27" name="Text 25"/>
          <p:cNvSpPr/>
          <p:nvPr/>
        </p:nvSpPr>
        <p:spPr>
          <a:xfrm>
            <a:off x="16692116" y="77628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18/19</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0" y="0"/>
            <a:ext cx="18288000" cy="6924675"/>
          </a:xfrm>
          <a:prstGeom prst="rect">
            <a:avLst/>
          </a:prstGeom>
          <a:solidFill>
            <a:srgbClr val="0E3A53"/>
          </a:solidFill>
          <a:ln/>
        </p:spPr>
        <p:txBody>
          <a:bodyPr/>
          <a:lstStyle/>
          <a:p>
            <a:endParaRPr lang="en-US"/>
          </a:p>
        </p:txBody>
      </p:sp>
      <p:sp>
        <p:nvSpPr>
          <p:cNvPr id="3" name="Shape 1"/>
          <p:cNvSpPr/>
          <p:nvPr/>
        </p:nvSpPr>
        <p:spPr>
          <a:xfrm>
            <a:off x="1143000" y="1237506"/>
            <a:ext cx="533400" cy="19050"/>
          </a:xfrm>
          <a:prstGeom prst="rect">
            <a:avLst/>
          </a:prstGeom>
          <a:solidFill>
            <a:srgbClr val="FFFFFF">
              <a:alpha val="60000"/>
            </a:srgbClr>
          </a:solidFill>
          <a:ln/>
        </p:spPr>
        <p:txBody>
          <a:bodyPr/>
          <a:lstStyle/>
          <a:p>
            <a:endParaRPr lang="en-US"/>
          </a:p>
        </p:txBody>
      </p:sp>
      <p:sp>
        <p:nvSpPr>
          <p:cNvPr id="4" name="Text 2"/>
          <p:cNvSpPr/>
          <p:nvPr/>
        </p:nvSpPr>
        <p:spPr>
          <a:xfrm>
            <a:off x="1847850" y="1143000"/>
            <a:ext cx="150284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FFFFFF">
                    <a:alpha val="60000"/>
                  </a:srgbClr>
                </a:solidFill>
                <a:latin typeface="Courier New" pitchFamily="34" charset="0"/>
                <a:ea typeface="Courier New" pitchFamily="34" charset="-122"/>
                <a:cs typeface="Courier New" pitchFamily="34" charset="-120"/>
              </a:rPr>
              <a:t>18 · END</a:t>
            </a:r>
            <a:endParaRPr lang="en-US" sz="1800" dirty="0"/>
          </a:p>
        </p:txBody>
      </p:sp>
      <p:sp>
        <p:nvSpPr>
          <p:cNvPr id="5" name="Text 3"/>
          <p:cNvSpPr/>
          <p:nvPr/>
        </p:nvSpPr>
        <p:spPr>
          <a:xfrm>
            <a:off x="1143000" y="2162175"/>
            <a:ext cx="16482060" cy="16192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12000" kern="0" spc="-240" dirty="0">
                <a:solidFill>
                  <a:srgbClr val="FFFFFF"/>
                </a:solidFill>
                <a:latin typeface="Georgia" pitchFamily="34" charset="0"/>
                <a:ea typeface="Georgia" pitchFamily="34" charset="-122"/>
                <a:cs typeface="Georgia" pitchFamily="34" charset="-120"/>
              </a:rPr>
              <a:t>Thank you.</a:t>
            </a:r>
            <a:endParaRPr lang="en-US" sz="12000" dirty="0"/>
          </a:p>
        </p:txBody>
      </p:sp>
      <p:sp>
        <p:nvSpPr>
          <p:cNvPr id="6" name="Text 4"/>
          <p:cNvSpPr/>
          <p:nvPr/>
        </p:nvSpPr>
        <p:spPr>
          <a:xfrm>
            <a:off x="1143000" y="3971925"/>
            <a:ext cx="16482060" cy="533400"/>
          </a:xfrm>
          <a:prstGeom prst="rect">
            <a:avLst/>
          </a:prstGeom>
          <a:noFill/>
          <a:ln/>
        </p:spPr>
        <p:txBody>
          <a:bodyPr wrap="square" lIns="25400" tIns="25400" rIns="25400" bIns="25400" rtlCol="0" anchor="t">
            <a:normAutofit lnSpcReduction="10000"/>
          </a:bodyPr>
          <a:lstStyle/>
          <a:p>
            <a:pPr marL="0" indent="0" algn="l">
              <a:buNone/>
            </a:pPr>
            <a:r>
              <a:rPr lang="en-US" sz="3300" dirty="0">
                <a:solidFill>
                  <a:srgbClr val="FFFFFF">
                    <a:alpha val="70000"/>
                  </a:srgbClr>
                </a:solidFill>
                <a:latin typeface="-apple-system" pitchFamily="34" charset="0"/>
                <a:ea typeface="-apple-system" pitchFamily="34" charset="-122"/>
                <a:cs typeface="-apple-system" pitchFamily="34" charset="-120"/>
              </a:rPr>
              <a:t>Questions welcome.</a:t>
            </a:r>
            <a:endParaRPr lang="en-US" sz="3300" dirty="0"/>
          </a:p>
        </p:txBody>
      </p:sp>
      <p:sp>
        <p:nvSpPr>
          <p:cNvPr id="7" name="Text 5"/>
          <p:cNvSpPr/>
          <p:nvPr/>
        </p:nvSpPr>
        <p:spPr>
          <a:xfrm>
            <a:off x="1143000" y="4467225"/>
            <a:ext cx="4570583" cy="4381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pple-system" pitchFamily="34" charset="0"/>
                <a:ea typeface="-apple-system" pitchFamily="34" charset="-122"/>
                <a:cs typeface="-apple-system" pitchFamily="34" charset="-120"/>
              </a:rPr>
              <a:t>Lam Nguyen</a:t>
            </a:r>
            <a:r>
              <a:rPr lang="en-US" sz="2100" dirty="0">
                <a:solidFill>
                  <a:srgbClr val="FFFFFF">
                    <a:alpha val="55000"/>
                  </a:srgbClr>
                </a:solidFill>
                <a:latin typeface="-apple-system" pitchFamily="34" charset="0"/>
                <a:ea typeface="-apple-system" pitchFamily="34" charset="-122"/>
                <a:cs typeface="-apple-system" pitchFamily="34" charset="-120"/>
              </a:rPr>
              <a:t>· 018229432</a:t>
            </a:r>
            <a:endParaRPr lang="en-US" sz="2100" dirty="0"/>
          </a:p>
        </p:txBody>
      </p:sp>
      <p:sp>
        <p:nvSpPr>
          <p:cNvPr id="8" name="Text 6"/>
          <p:cNvSpPr/>
          <p:nvPr/>
        </p:nvSpPr>
        <p:spPr>
          <a:xfrm>
            <a:off x="1143000" y="4867275"/>
            <a:ext cx="4570583" cy="4381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pple-system" pitchFamily="34" charset="0"/>
                <a:ea typeface="-apple-system" pitchFamily="34" charset="-122"/>
                <a:cs typeface="-apple-system" pitchFamily="34" charset="-120"/>
              </a:rPr>
              <a:t>Tri Ngo</a:t>
            </a:r>
            <a:r>
              <a:rPr lang="en-US" sz="2100" dirty="0">
                <a:solidFill>
                  <a:srgbClr val="FFFFFF">
                    <a:alpha val="55000"/>
                  </a:srgbClr>
                </a:solidFill>
                <a:latin typeface="-apple-system" pitchFamily="34" charset="0"/>
                <a:ea typeface="-apple-system" pitchFamily="34" charset="-122"/>
                <a:cs typeface="-apple-system" pitchFamily="34" charset="-120"/>
              </a:rPr>
              <a:t>· 015712749</a:t>
            </a:r>
            <a:endParaRPr lang="en-US" sz="2100" dirty="0"/>
          </a:p>
        </p:txBody>
      </p:sp>
      <p:sp>
        <p:nvSpPr>
          <p:cNvPr id="9" name="Text 7"/>
          <p:cNvSpPr/>
          <p:nvPr/>
        </p:nvSpPr>
        <p:spPr>
          <a:xfrm>
            <a:off x="1143000" y="5381625"/>
            <a:ext cx="4570583" cy="4381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dirty="0">
                <a:solidFill>
                  <a:srgbClr val="FFFFFF">
                    <a:alpha val="60000"/>
                  </a:srgbClr>
                </a:solidFill>
                <a:latin typeface="-apple-system" pitchFamily="34" charset="0"/>
                <a:ea typeface="-apple-system" pitchFamily="34" charset="-122"/>
                <a:cs typeface="-apple-system" pitchFamily="34" charset="-120"/>
              </a:rPr>
              <a:t>CMPE 255 · Data Mining · Spring 2026</a:t>
            </a:r>
            <a:endParaRPr lang="en-US" sz="2100" dirty="0"/>
          </a:p>
        </p:txBody>
      </p:sp>
      <p:sp>
        <p:nvSpPr>
          <p:cNvPr id="10" name="Text 8"/>
          <p:cNvSpPr/>
          <p:nvPr/>
        </p:nvSpPr>
        <p:spPr>
          <a:xfrm>
            <a:off x="12594345" y="5019675"/>
            <a:ext cx="4550655"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kern="0" spc="54" dirty="0">
                <a:solidFill>
                  <a:srgbClr val="FFFFFF">
                    <a:alpha val="55000"/>
                  </a:srgbClr>
                </a:solidFill>
                <a:latin typeface="Courier New" pitchFamily="34" charset="0"/>
                <a:ea typeface="Courier New" pitchFamily="34" charset="-122"/>
                <a:cs typeface="Courier New" pitchFamily="34" charset="-120"/>
              </a:rPr>
              <a:t>REPOSITORY</a:t>
            </a:r>
            <a:endParaRPr lang="en-US" sz="1350" dirty="0"/>
          </a:p>
        </p:txBody>
      </p:sp>
      <p:sp>
        <p:nvSpPr>
          <p:cNvPr id="11" name="Text 9"/>
          <p:cNvSpPr/>
          <p:nvPr/>
        </p:nvSpPr>
        <p:spPr>
          <a:xfrm>
            <a:off x="12594345" y="5305425"/>
            <a:ext cx="4550655" cy="514350"/>
          </a:xfrm>
          <a:prstGeom prst="rect">
            <a:avLst/>
          </a:prstGeom>
          <a:noFill/>
          <a:ln/>
        </p:spPr>
        <p:txBody>
          <a:bodyPr wrap="square" lIns="25400" tIns="25400" rIns="25400" bIns="25400" rtlCol="0" anchor="t">
            <a:normAutofit lnSpcReduction="10000"/>
          </a:bodyPr>
          <a:lstStyle/>
          <a:p>
            <a:pPr marL="0" indent="0" algn="r">
              <a:buNone/>
            </a:pPr>
            <a:r>
              <a:rPr lang="en-US" sz="1650" kern="0" spc="33" dirty="0">
                <a:solidFill>
                  <a:srgbClr val="FFFFFF"/>
                </a:solidFill>
                <a:latin typeface="Courier New" pitchFamily="34" charset="0"/>
                <a:ea typeface="Courier New" pitchFamily="34" charset="-122"/>
                <a:cs typeface="Courier New" pitchFamily="34" charset="-120"/>
              </a:rPr>
              <a:t>github.com/Lambert-Nguyen/ cmpe255-student-dropout-prediction</a:t>
            </a:r>
            <a:endParaRPr lang="en-US" sz="1650" dirty="0"/>
          </a:p>
        </p:txBody>
      </p:sp>
      <p:sp>
        <p:nvSpPr>
          <p:cNvPr id="12" name="Text 10"/>
          <p:cNvSpPr/>
          <p:nvPr/>
        </p:nvSpPr>
        <p:spPr>
          <a:xfrm>
            <a:off x="16692116" y="628650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FFFFFF">
                    <a:alpha val="50000"/>
                  </a:srgbClr>
                </a:solidFill>
                <a:latin typeface="Courier New" pitchFamily="34" charset="0"/>
                <a:ea typeface="Courier New" pitchFamily="34" charset="-122"/>
                <a:cs typeface="Courier New" pitchFamily="34" charset="-120"/>
              </a:rPr>
              <a:t>19/19</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105</TotalTime>
  <Words>5371</Words>
  <Application>Microsoft Macintosh PowerPoint</Application>
  <PresentationFormat>Custom</PresentationFormat>
  <Paragraphs>697</Paragraphs>
  <Slides>19</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-apple-system</vt: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Lam Nguyen</cp:lastModifiedBy>
  <cp:revision>8</cp:revision>
  <dcterms:created xsi:type="dcterms:W3CDTF">2026-05-04T03:01:19Z</dcterms:created>
  <dcterms:modified xsi:type="dcterms:W3CDTF">2026-05-04T05:49:31Z</dcterms:modified>
</cp:coreProperties>
</file>