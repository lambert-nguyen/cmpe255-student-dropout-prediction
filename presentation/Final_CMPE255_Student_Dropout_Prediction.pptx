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8288000" cy="10287000"/>
  <p:notesSz cx="10287000" cy="18288000"/>
  <p:embeddedFontLst>
    <p:embeddedFont>
      <p:font typeface="Georgia" panose="02040502050405020303" pitchFamily="18" charset="0"/>
      <p:regular r:id="rId22"/>
      <p:bold r:id="rId23"/>
      <p:italic r:id="rId24"/>
      <p:boldItalic r:id="rId25"/>
    </p:embeddedFont>
    <p:embeddedFont>
      <p:font typeface="Roboto" pitchFamily="2"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0" roundtripDataSignature="AMtx7mjCM8uAeMF3KE9i3Rls62tzgj534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47"/>
    <p:restoredTop sz="75479"/>
  </p:normalViewPr>
  <p:slideViewPr>
    <p:cSldViewPr snapToGrid="0">
      <p:cViewPr varScale="1">
        <p:scale>
          <a:sx n="63" d="100"/>
          <a:sy n="63" d="100"/>
        </p:scale>
        <p:origin x="178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customschemas.google.com/relationships/presentationmetadata" Target="meta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714825" y="1371600"/>
            <a:ext cx="6858325" cy="6858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028700" y="8686800"/>
            <a:ext cx="8229600" cy="82296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
        <p:cNvGrpSpPr/>
        <p:nvPr/>
      </p:nvGrpSpPr>
      <p:grpSpPr>
        <a:xfrm>
          <a:off x="0" y="0"/>
          <a:ext cx="0" cy="0"/>
          <a:chOff x="0" y="0"/>
          <a:chExt cx="0" cy="0"/>
        </a:xfrm>
      </p:grpSpPr>
      <p:sp>
        <p:nvSpPr>
          <p:cNvPr id="8" name="Google Shape;8;p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 name="Google Shape;9;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100" b="1" dirty="0">
                <a:solidFill>
                  <a:schemeClr val="dk1"/>
                </a:solidFill>
              </a:rPr>
              <a:t>SLIDE 1 — Title (Lam speaks, ~30 seconds)</a:t>
            </a:r>
            <a:endParaRPr sz="1100" b="1"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Hi everyone, I'm Lam and this is Tri. Our project is about predicting whether university students will drop out, stay enrolled, or graduate — using data mining techniques on a dataset of about 4,400 students from a Portuguese university.</a:t>
            </a:r>
            <a:endParaRPr sz="1100"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Over the next 12 minutes or so, we'll walk you through the data, what we found in our exploration, six different classification models we tested, some clustering and association rule mining, and what we'd actually recommend a university do with these results.</a:t>
            </a:r>
            <a:endParaRPr sz="1100"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Let's start with why this matters.</a:t>
            </a:r>
            <a:endParaRPr sz="1100" dirty="0">
              <a:solidFill>
                <a:schemeClr val="dk1"/>
              </a:solidFill>
            </a:endParaRPr>
          </a:p>
          <a:p>
            <a:pPr marL="0" marR="0" lvl="0" indent="0" algn="l" rtl="0">
              <a:spcBef>
                <a:spcPts val="1200"/>
              </a:spcBef>
              <a:spcAft>
                <a:spcPts val="0"/>
              </a:spcAft>
              <a:buNone/>
            </a:pPr>
            <a:endParaRPr sz="1200" dirty="0">
              <a:solidFill>
                <a:schemeClr val="dk1"/>
              </a:solidFill>
            </a:endParaRPr>
          </a:p>
        </p:txBody>
      </p:sp>
      <p:sp>
        <p:nvSpPr>
          <p:cNvPr id="10" name="Google Shape;10;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p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 name="Google Shape;24;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100" b="1" dirty="0">
                <a:solidFill>
                  <a:schemeClr val="dk1"/>
                </a:solidFill>
              </a:rPr>
              <a:t>SLIDE 2 — Motivation (Lam, ~40 seconds)</a:t>
            </a:r>
            <a:endParaRPr sz="1100" b="1"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So dropout is expensive for everyone involved. Students lose years of tuition and time. Universities lose funding — a lot of state funding is tied to retention numbers — and they take a hit on rankings.</a:t>
            </a:r>
            <a:endParaRPr sz="1100"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The big number on this slide: 32.1% of the students in our dataset dropped out. That's about 1,400 out of 4,400. Another 800 were still enrolled at the cutoff — meaning they hadn't finished yet — and about 2,200 graduated.</a:t>
            </a:r>
            <a:endParaRPr sz="1100"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The whole idea behind this project is: if we can identify who's at risk early enough — say, after the first semester — advisors can actually step in before it's too late. That's the goal.</a:t>
            </a:r>
            <a:endParaRPr sz="1100" dirty="0">
              <a:solidFill>
                <a:schemeClr val="dk1"/>
              </a:solidFill>
            </a:endParaRPr>
          </a:p>
          <a:p>
            <a:pPr marL="0" marR="0" lvl="0" indent="0" algn="l" rtl="0">
              <a:spcBef>
                <a:spcPts val="1200"/>
              </a:spcBef>
              <a:spcAft>
                <a:spcPts val="0"/>
              </a:spcAft>
              <a:buNone/>
            </a:pPr>
            <a:endParaRPr sz="1200" dirty="0">
              <a:solidFill>
                <a:schemeClr val="dk1"/>
              </a:solidFill>
            </a:endParaRPr>
          </a:p>
        </p:txBody>
      </p:sp>
      <p:sp>
        <p:nvSpPr>
          <p:cNvPr id="25" name="Google Shape;25;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8" name="Google Shape;68;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100" b="1" dirty="0">
                <a:solidFill>
                  <a:schemeClr val="dk1"/>
                </a:solidFill>
              </a:rPr>
              <a:t>SLIDE 3 — Problem Statement (Lam, ~35 seconds)</a:t>
            </a:r>
            <a:endParaRPr sz="1100" b="1"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Three things to anchor here. First, the task — this is a 3-class classification problem. Not just "drop out or not" — we kept the Enrolled class separate because those students are genuinely different. They're still in the system, and some will graduate, some won't.</a:t>
            </a:r>
            <a:endParaRPr sz="1100"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Second, our approach — we're combining supervised classification with unsupervised clustering and association rule mining. Each one gives us a different angle on the same data.</a:t>
            </a:r>
            <a:endParaRPr sz="1100"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Third, the challenge — class imbalance. Graduates are almost half the data, but Enrolled is only 18%. A model that just predicts "Graduate" every time would get 50% accuracy and tell us nothing. That's why we use F1-macro as our main metric — it treats every class equally.</a:t>
            </a:r>
            <a:endParaRPr sz="1100" dirty="0">
              <a:solidFill>
                <a:schemeClr val="dk1"/>
              </a:solidFill>
            </a:endParaRPr>
          </a:p>
          <a:p>
            <a:pPr marL="0" marR="0" lvl="0" indent="0" algn="l" rtl="0">
              <a:spcBef>
                <a:spcPts val="1200"/>
              </a:spcBef>
              <a:spcAft>
                <a:spcPts val="0"/>
              </a:spcAft>
              <a:buNone/>
            </a:pPr>
            <a:endParaRPr sz="1200" dirty="0">
              <a:solidFill>
                <a:schemeClr val="dk1"/>
              </a:solidFill>
            </a:endParaRPr>
          </a:p>
        </p:txBody>
      </p:sp>
      <p:sp>
        <p:nvSpPr>
          <p:cNvPr id="69" name="Google Shape;69;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3</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1" name="Google Shape;91;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100" b="1" dirty="0">
                <a:solidFill>
                  <a:schemeClr val="dk1"/>
                </a:solidFill>
              </a:rPr>
              <a:t>SLIDE 4 — Dataset (Lam speaks, ~40 seconds)</a:t>
            </a:r>
            <a:endParaRPr sz="1100" b="1" dirty="0">
              <a:solidFill>
                <a:schemeClr val="dk1"/>
              </a:solidFill>
            </a:endParaRPr>
          </a:p>
          <a:p>
            <a:pPr marL="381000" marR="381000" lvl="0" indent="0" algn="l" rtl="0">
              <a:lnSpc>
                <a:spcPct val="115000"/>
              </a:lnSpc>
              <a:spcBef>
                <a:spcPts val="1200"/>
              </a:spcBef>
              <a:spcAft>
                <a:spcPts val="0"/>
              </a:spcAft>
              <a:buSzPts val="1100"/>
              <a:buNone/>
            </a:pPr>
            <a:r>
              <a:rPr lang="en-US" sz="1100" dirty="0">
                <a:solidFill>
                  <a:schemeClr val="dk1"/>
                </a:solidFill>
              </a:rPr>
              <a:t>Our data comes from the UCI Machine Learning Repository, dataset 697. It was collected from a polytechnic institute in Portugal and published by Realinho and colleagues in 2021.</a:t>
            </a:r>
            <a:endParaRPr sz="1100"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Quick stats: 4,424 students, 36 input features, one target with three classes, and zero missing values — which saved us a lot of imputation headaches.</a:t>
            </a:r>
            <a:endParaRPr sz="1100"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The features fall into four groups you can see on the right. Demographics like age and gender. Academic background like admission grade. Socio-economic factors like scholarship status and whether tuition is paid. And then semester 1 and 2 performance — how many courses they passed, what grades they got. That last group, the semester performance, ends up being where almost all the predictive power lives.</a:t>
            </a:r>
            <a:endParaRPr sz="1100" dirty="0">
              <a:solidFill>
                <a:schemeClr val="dk1"/>
              </a:solidFill>
            </a:endParaRPr>
          </a:p>
          <a:p>
            <a:pPr marL="0" marR="0" lvl="0" indent="0" algn="l" rtl="0">
              <a:spcBef>
                <a:spcPts val="1200"/>
              </a:spcBef>
              <a:spcAft>
                <a:spcPts val="0"/>
              </a:spcAft>
              <a:buNone/>
            </a:pPr>
            <a:endParaRPr sz="1200" dirty="0">
              <a:solidFill>
                <a:schemeClr val="dk1"/>
              </a:solidFill>
            </a:endParaRPr>
          </a:p>
        </p:txBody>
      </p:sp>
      <p:sp>
        <p:nvSpPr>
          <p:cNvPr id="92" name="Google Shape;92;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4</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1" name="Google Shape;121;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100" b="1" dirty="0">
                <a:solidFill>
                  <a:schemeClr val="dk1"/>
                </a:solidFill>
              </a:rPr>
              <a:t>SLIDE 5 — Data Warehouse (Lam, ~35 seconds)</a:t>
            </a:r>
            <a:endParaRPr sz="1100" b="1"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This is our conceptual star schema — how this project would plug into a real institutional data warehouse.</a:t>
            </a:r>
            <a:endParaRPr sz="1100"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The center is the fact table with the student's semester grades, approved units, and their outcome. Around it we have four dimension tables — student demographics, family background, academic history, and economic factors.</a:t>
            </a:r>
            <a:endParaRPr sz="1100"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At the bottom is the ETL flow — extract from the source databases, transform by encoding and normalizing, then load into the star schema. We didn't build this as a physical database since we only have 4,400 rows — everything ran in pandas. But this is the design an institution would use to operationalize it.</a:t>
            </a:r>
            <a:endParaRPr sz="1100" dirty="0">
              <a:solidFill>
                <a:schemeClr val="dk1"/>
              </a:solidFill>
            </a:endParaRPr>
          </a:p>
          <a:p>
            <a:pPr marL="0" marR="0" lvl="0" indent="0" algn="l" rtl="0">
              <a:spcBef>
                <a:spcPts val="1200"/>
              </a:spcBef>
              <a:spcAft>
                <a:spcPts val="0"/>
              </a:spcAft>
              <a:buNone/>
            </a:pPr>
            <a:endParaRPr sz="1200" dirty="0">
              <a:solidFill>
                <a:schemeClr val="dk1"/>
              </a:solidFill>
            </a:endParaRPr>
          </a:p>
        </p:txBody>
      </p:sp>
      <p:sp>
        <p:nvSpPr>
          <p:cNvPr id="122" name="Google Shape;122;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5</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 name="Google Shape;156;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100" b="1" dirty="0">
                <a:solidFill>
                  <a:schemeClr val="dk1"/>
                </a:solidFill>
              </a:rPr>
              <a:t>SLIDE 6 — Preprocessing (Lam, ~40 seconds)</a:t>
            </a:r>
            <a:endParaRPr sz="1100" b="1"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Six steps, pretty straightforward since the data was clean.</a:t>
            </a:r>
            <a:endParaRPr sz="1100"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First, we confirmed the dataset — 4,424 rows, 36 features, zero missing values. Then we separated which columns are truly numeric versus integer-coded </a:t>
            </a:r>
            <a:r>
              <a:rPr lang="en-US" sz="1100" dirty="0" err="1">
                <a:solidFill>
                  <a:schemeClr val="dk1"/>
                </a:solidFill>
              </a:rPr>
              <a:t>categoricals</a:t>
            </a:r>
            <a:r>
              <a:rPr lang="en-US" sz="1100" dirty="0">
                <a:solidFill>
                  <a:schemeClr val="dk1"/>
                </a:solidFill>
              </a:rPr>
              <a:t>. We encoded the target as 0, 1, 2 for Dropout, Enrolled, Graduate.</a:t>
            </a:r>
            <a:endParaRPr sz="1100"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Then </a:t>
            </a:r>
            <a:r>
              <a:rPr lang="en-US" sz="1100" dirty="0" err="1">
                <a:solidFill>
                  <a:schemeClr val="dk1"/>
                </a:solidFill>
              </a:rPr>
              <a:t>StandardScaler</a:t>
            </a:r>
            <a:r>
              <a:rPr lang="en-US" sz="1100" dirty="0">
                <a:solidFill>
                  <a:schemeClr val="dk1"/>
                </a:solidFill>
              </a:rPr>
              <a:t> on all numeric features — this matters for KNN and SVM which are distance-based. Tree models don't care about scaling, but we applied it uniformly so every model gets the same input matrix.</a:t>
            </a:r>
            <a:endParaRPr sz="1100"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80/20 stratified split — 3,539 training, 885 test. Stratified means both sets preserve the same 32-18-50 class ratio. And </a:t>
            </a:r>
            <a:r>
              <a:rPr lang="en-US" sz="1100" dirty="0" err="1">
                <a:solidFill>
                  <a:schemeClr val="dk1"/>
                </a:solidFill>
              </a:rPr>
              <a:t>random_state</a:t>
            </a:r>
            <a:r>
              <a:rPr lang="en-US" sz="1100" dirty="0">
                <a:solidFill>
                  <a:schemeClr val="dk1"/>
                </a:solidFill>
              </a:rPr>
              <a:t>=42 everywhere for reproducibility. We also kept an unscaled copy for EDA so our plots show real units like grades out of 20, not z-scores.</a:t>
            </a:r>
            <a:endParaRPr sz="1100" dirty="0">
              <a:solidFill>
                <a:schemeClr val="dk1"/>
              </a:solidFill>
            </a:endParaRPr>
          </a:p>
          <a:p>
            <a:pPr marL="0" marR="0" lvl="0" indent="0" algn="l" rtl="0">
              <a:spcBef>
                <a:spcPts val="1200"/>
              </a:spcBef>
              <a:spcAft>
                <a:spcPts val="0"/>
              </a:spcAft>
              <a:buNone/>
            </a:pPr>
            <a:endParaRPr sz="1200" dirty="0">
              <a:solidFill>
                <a:schemeClr val="dk1"/>
              </a:solidFill>
            </a:endParaRPr>
          </a:p>
        </p:txBody>
      </p:sp>
      <p:sp>
        <p:nvSpPr>
          <p:cNvPr id="157" name="Google Shape;157;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6</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2" name="Google Shape;192;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100" b="1" dirty="0">
                <a:solidFill>
                  <a:schemeClr val="dk1"/>
                </a:solidFill>
              </a:rPr>
              <a:t>SLIDE 7 — EDA Target Distribution (Lam, ~25 seconds)</a:t>
            </a:r>
            <a:endParaRPr sz="1100" b="1"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Quick visual of what we're working with. Graduate is the largest class at about 50%, Dropout is 32%, and Enrolled — our tricky class — is only 18%.</a:t>
            </a:r>
            <a:endParaRPr sz="1100"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This isn't extreme imbalance like fraud detection where you'd have 0.1% positives. But it's enough that accuracy alone would be misleading. That's why F1-macro is our primary metric — it gives equal weight to all three classes, so Enrolled doesn't get drowned out by the 2,200 Graduates.</a:t>
            </a:r>
            <a:endParaRPr sz="1100" dirty="0">
              <a:solidFill>
                <a:schemeClr val="dk1"/>
              </a:solidFill>
            </a:endParaRPr>
          </a:p>
          <a:p>
            <a:pPr marL="0" marR="0" lvl="0" indent="0" algn="l" rtl="0">
              <a:spcBef>
                <a:spcPts val="1200"/>
              </a:spcBef>
              <a:spcAft>
                <a:spcPts val="0"/>
              </a:spcAft>
              <a:buNone/>
            </a:pPr>
            <a:endParaRPr sz="1200" dirty="0">
              <a:solidFill>
                <a:schemeClr val="dk1"/>
              </a:solidFill>
            </a:endParaRPr>
          </a:p>
        </p:txBody>
      </p:sp>
      <p:sp>
        <p:nvSpPr>
          <p:cNvPr id="193" name="Google Shape;193;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7</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8" name="Google Shape;218;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100" b="1" dirty="0">
                <a:solidFill>
                  <a:schemeClr val="dk1"/>
                </a:solidFill>
              </a:rPr>
              <a:t>SLIDE 8 — EDA Distributions (Lam, ~50 seconds)</a:t>
            </a:r>
            <a:endParaRPr sz="1100" b="1"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This is probably the most important EDA slide. </a:t>
            </a:r>
            <a:r>
              <a:rPr lang="en-US" sz="1000" dirty="0">
                <a:solidFill>
                  <a:srgbClr val="F7F1FF"/>
                </a:solidFill>
                <a:highlight>
                  <a:srgbClr val="363537"/>
                </a:highlight>
                <a:latin typeface="Roboto"/>
                <a:ea typeface="Roboto"/>
                <a:cs typeface="Roboto"/>
                <a:sym typeface="Roboto"/>
              </a:rPr>
              <a:t>"On the left, four KDE plots — top row is approved curricular units in semester 1 and 2, bottom row is admission grade and age at enrollment. The top two show clear separation: dropouts pile up at zero, graduates spread across higher values. The bottom two are interesting because they </a:t>
            </a:r>
            <a:r>
              <a:rPr lang="en-US" sz="1000" i="1" dirty="0">
                <a:solidFill>
                  <a:srgbClr val="F7F1FF"/>
                </a:solidFill>
                <a:highlight>
                  <a:srgbClr val="363537"/>
                </a:highlight>
                <a:latin typeface="Roboto"/>
                <a:ea typeface="Roboto"/>
                <a:cs typeface="Roboto"/>
                <a:sym typeface="Roboto"/>
              </a:rPr>
              <a:t>don't</a:t>
            </a:r>
            <a:r>
              <a:rPr lang="en-US" sz="1000" dirty="0">
                <a:solidFill>
                  <a:srgbClr val="F7F1FF"/>
                </a:solidFill>
                <a:highlight>
                  <a:srgbClr val="363537"/>
                </a:highlight>
                <a:latin typeface="Roboto"/>
                <a:ea typeface="Roboto"/>
                <a:cs typeface="Roboto"/>
                <a:sym typeface="Roboto"/>
              </a:rPr>
              <a:t> separate as cleanly — admission grade overlaps for all three classes, telling us it's a weak univariate predictor. Age has a heavier dropout tail toward the right, meaning older entrants drop out more."</a:t>
            </a:r>
            <a:endParaRPr sz="1100"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On the right is a ranking of features by Spearman correlation with the target. The top four are all semester performance measures. Second-semester approved units has rho of 0.65 — that's the single strongest predictor in the entire dataset. First-semester approved is 0.59, then grades follow.</a:t>
            </a:r>
            <a:endParaRPr sz="1100"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Below the academic features, we see tuition fees up to date at 0.40, scholarship at 0.30, and then two negative correlations — debtors and older students tend to drop out more.</a:t>
            </a:r>
            <a:endParaRPr sz="1100"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We used Spearman instead of Pearson because several features are ordinal and the relationships aren't necessarily linear.</a:t>
            </a:r>
            <a:endParaRPr sz="1100" dirty="0">
              <a:solidFill>
                <a:schemeClr val="dk1"/>
              </a:solidFill>
            </a:endParaRPr>
          </a:p>
          <a:p>
            <a:pPr marL="0" marR="0" lvl="0" indent="0" algn="l" rtl="0">
              <a:spcBef>
                <a:spcPts val="1200"/>
              </a:spcBef>
              <a:spcAft>
                <a:spcPts val="0"/>
              </a:spcAft>
              <a:buNone/>
            </a:pPr>
            <a:endParaRPr sz="1200" dirty="0">
              <a:solidFill>
                <a:schemeClr val="dk1"/>
              </a:solidFill>
            </a:endParaRPr>
          </a:p>
        </p:txBody>
      </p:sp>
      <p:sp>
        <p:nvSpPr>
          <p:cNvPr id="219" name="Google Shape;219;p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8</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3" name="Google Shape;273;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100" b="1" dirty="0">
                <a:solidFill>
                  <a:schemeClr val="dk1"/>
                </a:solidFill>
              </a:rPr>
              <a:t>SLIDE 9 — EDA Three Lenses (Lam, ~60 seconds)</a:t>
            </a:r>
            <a:endParaRPr sz="1100" b="1"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Three different views here. On the left, boxplots of semester grades by outcome. You can see the medians step up clearly — Dropout is lowest, then Enrolled, then Graduate.</a:t>
            </a:r>
          </a:p>
          <a:p>
            <a:pPr marL="381000" marR="381000" lvl="0" indent="0" algn="l" rtl="0">
              <a:lnSpc>
                <a:spcPct val="115000"/>
              </a:lnSpc>
              <a:spcBef>
                <a:spcPts val="1200"/>
              </a:spcBef>
              <a:spcAft>
                <a:spcPts val="0"/>
              </a:spcAft>
              <a:buClr>
                <a:schemeClr val="dk1"/>
              </a:buClr>
              <a:buSzPts val="1100"/>
              <a:buFont typeface="Arial"/>
              <a:buNone/>
            </a:pPr>
            <a:endParaRPr sz="1100"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The really striking thing is the Dropout box for second semester — the median line sits right at the bottom edge because the median is actually zero. More than half of dropout students had a second-semester grade of zero. They'd essentially stopped attending. (</a:t>
            </a:r>
            <a:r>
              <a:rPr lang="en-US" sz="1000" b="1" dirty="0">
                <a:solidFill>
                  <a:srgbClr val="F7F1FF"/>
                </a:solidFill>
                <a:highlight>
                  <a:srgbClr val="363537"/>
                </a:highlight>
                <a:latin typeface="Roboto"/>
                <a:ea typeface="Roboto"/>
                <a:cs typeface="Roboto"/>
                <a:sym typeface="Roboto"/>
              </a:rPr>
              <a:t>And if anyone wants the exact 5-number summary, we have a code cell right after the boxplot that prints it.</a:t>
            </a:r>
            <a:r>
              <a:rPr lang="en-US" sz="1000" dirty="0">
                <a:solidFill>
                  <a:srgbClr val="F7F1FF"/>
                </a:solidFill>
                <a:highlight>
                  <a:srgbClr val="363537"/>
                </a:highlight>
                <a:latin typeface="Roboto"/>
                <a:ea typeface="Roboto"/>
                <a:cs typeface="Roboto"/>
                <a:sym typeface="Roboto"/>
              </a:rPr>
              <a:t>")</a:t>
            </a:r>
          </a:p>
          <a:p>
            <a:pPr marL="381000" marR="381000" lvl="0" indent="0" algn="l" rtl="0">
              <a:lnSpc>
                <a:spcPct val="115000"/>
              </a:lnSpc>
              <a:spcBef>
                <a:spcPts val="1200"/>
              </a:spcBef>
              <a:spcAft>
                <a:spcPts val="0"/>
              </a:spcAft>
              <a:buClr>
                <a:schemeClr val="dk1"/>
              </a:buClr>
              <a:buSzPts val="1100"/>
              <a:buFont typeface="Arial"/>
              <a:buNone/>
            </a:pPr>
            <a:endParaRPr sz="1100"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In the middle, financial factors. The table summarizes it: scholarship holders drop out at only 12% versus 39% for non-holders. Debtors drop out at 62%. And the biggest one — students who aren't up to date on tuition have an 86% dropout rate. Now, that's partly because students who are disengaging also stop paying, so the causal direction isn't clear. But as an early warning signal, it's incredibly strong.</a:t>
            </a:r>
          </a:p>
          <a:p>
            <a:pPr marL="381000" marR="381000" lvl="0" indent="0" algn="l" rtl="0">
              <a:lnSpc>
                <a:spcPct val="115000"/>
              </a:lnSpc>
              <a:spcBef>
                <a:spcPts val="1200"/>
              </a:spcBef>
              <a:spcAft>
                <a:spcPts val="0"/>
              </a:spcAft>
              <a:buClr>
                <a:schemeClr val="dk1"/>
              </a:buClr>
              <a:buSzPts val="1100"/>
              <a:buFont typeface="Arial"/>
              <a:buNone/>
            </a:pPr>
            <a:endParaRPr sz="1100"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On the right, PCA projection down to two dimensions. PC1 and PC2 together explain about 27% of the variance. You can see some grouping but a lot of overlap, especially Enrolled mixing into both other classes. That overlap is why we need supervised learning — the classes don't separate neatly on their own.</a:t>
            </a:r>
            <a:endParaRPr sz="1100" dirty="0">
              <a:solidFill>
                <a:schemeClr val="dk1"/>
              </a:solidFill>
            </a:endParaRPr>
          </a:p>
          <a:p>
            <a:pPr marL="0" marR="0" lvl="0" indent="0" algn="l" rtl="0">
              <a:spcBef>
                <a:spcPts val="1200"/>
              </a:spcBef>
              <a:spcAft>
                <a:spcPts val="0"/>
              </a:spcAft>
              <a:buNone/>
            </a:pPr>
            <a:endParaRPr sz="1200" dirty="0">
              <a:solidFill>
                <a:schemeClr val="dk1"/>
              </a:solidFill>
            </a:endParaRPr>
          </a:p>
        </p:txBody>
      </p:sp>
      <p:sp>
        <p:nvSpPr>
          <p:cNvPr id="274" name="Google Shape;274;p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9</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1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5" name="Google Shape;325;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100" b="1" dirty="0">
                <a:solidFill>
                  <a:schemeClr val="dk1"/>
                </a:solidFill>
              </a:rPr>
              <a:t>SLIDE 10 — Visualization Toolkit (Tri, ~15 seconds)</a:t>
            </a:r>
            <a:endParaRPr sz="1100" b="1"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Quick summary of the six chart types we used throughout — heatmap, KDE, boxplots, stacked bars, PCA scatter, and feature importance. One consistent color palette across the whole deck: red for Dropout, amber for Enrolled, green for Graduate.</a:t>
            </a:r>
            <a:endParaRPr sz="1100"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i="1" dirty="0">
                <a:solidFill>
                  <a:schemeClr val="dk1"/>
                </a:solidFill>
              </a:rPr>
              <a:t>(If someone asks about the model parameters showing on this slide: "That's a template artifact from the modeling slide — the actual parameters are on the next slide.")</a:t>
            </a:r>
            <a:endParaRPr sz="1100" i="1" dirty="0">
              <a:solidFill>
                <a:schemeClr val="dk1"/>
              </a:solidFill>
            </a:endParaRPr>
          </a:p>
          <a:p>
            <a:pPr marL="0" marR="0" lvl="0" indent="0" algn="l" rtl="0">
              <a:spcBef>
                <a:spcPts val="1200"/>
              </a:spcBef>
              <a:spcAft>
                <a:spcPts val="0"/>
              </a:spcAft>
              <a:buNone/>
            </a:pPr>
            <a:endParaRPr sz="1200" dirty="0">
              <a:solidFill>
                <a:schemeClr val="dk1"/>
              </a:solidFill>
            </a:endParaRPr>
          </a:p>
        </p:txBody>
      </p:sp>
      <p:sp>
        <p:nvSpPr>
          <p:cNvPr id="326" name="Google Shape;326;p1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10</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1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2" name="Google Shape;352;p1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100" b="1" dirty="0">
                <a:solidFill>
                  <a:schemeClr val="dk1"/>
                </a:solidFill>
              </a:rPr>
              <a:t>SLIDE 11 — Modeling (Tri, ~40 seconds)</a:t>
            </a:r>
            <a:endParaRPr sz="1100" b="1"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We ran six classifiers across five algorithm families. Decision Tree as our interpretable baseline. Random Forest for bagging. KNN — we tuned k and landed on 11. Logistic Regression as the linear baseline. SVM with an RBF kernel. And </a:t>
            </a:r>
            <a:r>
              <a:rPr lang="en-US" sz="1100" dirty="0" err="1">
                <a:solidFill>
                  <a:schemeClr val="dk1"/>
                </a:solidFill>
              </a:rPr>
              <a:t>XGBoost</a:t>
            </a:r>
            <a:r>
              <a:rPr lang="en-US" sz="1100" dirty="0">
                <a:solidFill>
                  <a:schemeClr val="dk1"/>
                </a:solidFill>
              </a:rPr>
              <a:t> for gradient boosting.</a:t>
            </a:r>
            <a:endParaRPr sz="1100"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Same protocol for all six: </a:t>
            </a:r>
            <a:r>
              <a:rPr lang="en-US" sz="1100" dirty="0" err="1">
                <a:solidFill>
                  <a:schemeClr val="dk1"/>
                </a:solidFill>
              </a:rPr>
              <a:t>random_state</a:t>
            </a:r>
            <a:r>
              <a:rPr lang="en-US" sz="1100" dirty="0">
                <a:solidFill>
                  <a:schemeClr val="dk1"/>
                </a:solidFill>
              </a:rPr>
              <a:t>=42, same stratified 80/20 split, 5-fold cross-validation on the training set, and F1-macro as the primary metric. The test set was only touched once per model for the final evaluation.</a:t>
            </a:r>
            <a:endParaRPr sz="1100" dirty="0">
              <a:solidFill>
                <a:schemeClr val="dk1"/>
              </a:solidFill>
            </a:endParaRPr>
          </a:p>
          <a:p>
            <a:pPr marL="0" marR="0" lvl="0" indent="0" algn="l" rtl="0">
              <a:spcBef>
                <a:spcPts val="1200"/>
              </a:spcBef>
              <a:spcAft>
                <a:spcPts val="0"/>
              </a:spcAft>
              <a:buNone/>
            </a:pPr>
            <a:endParaRPr sz="1200" dirty="0">
              <a:solidFill>
                <a:schemeClr val="dk1"/>
              </a:solidFill>
            </a:endParaRPr>
          </a:p>
        </p:txBody>
      </p:sp>
      <p:sp>
        <p:nvSpPr>
          <p:cNvPr id="353" name="Google Shape;353;p1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11</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1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93" name="Google Shape;393;p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100" b="1" dirty="0">
                <a:solidFill>
                  <a:schemeClr val="dk1"/>
                </a:solidFill>
              </a:rPr>
              <a:t>SLIDE 12 — Classification Results (Tri, ~55 seconds)</a:t>
            </a:r>
            <a:endParaRPr sz="1100" b="1"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Three confusion matrices — best, middle, and weakest. We wanted to show the full range, not just the winner.</a:t>
            </a:r>
            <a:endParaRPr sz="1100"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err="1">
                <a:solidFill>
                  <a:schemeClr val="dk1"/>
                </a:solidFill>
              </a:rPr>
              <a:t>XGBoost</a:t>
            </a:r>
            <a:r>
              <a:rPr lang="en-US" sz="1100" dirty="0">
                <a:solidFill>
                  <a:schemeClr val="dk1"/>
                </a:solidFill>
              </a:rPr>
              <a:t> on the left with F1-macro of 0.706. Logistic Regression in the middle at 0.683 — honestly a strong showing for a linear model. And KNN on the right at 0.586.</a:t>
            </a:r>
            <a:endParaRPr sz="1100"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Looking at the </a:t>
            </a:r>
            <a:r>
              <a:rPr lang="en-US" sz="1100" dirty="0" err="1">
                <a:solidFill>
                  <a:schemeClr val="dk1"/>
                </a:solidFill>
              </a:rPr>
              <a:t>XGBoost</a:t>
            </a:r>
            <a:r>
              <a:rPr lang="en-US" sz="1100" dirty="0">
                <a:solidFill>
                  <a:schemeClr val="dk1"/>
                </a:solidFill>
              </a:rPr>
              <a:t> per-class recall: Graduate is 89.8% — the model handles the majority class well. Dropout is 75%. But Enrolled... only 44.7%. That's the hard class. Three reasons: it's the smallest group, it sits geometrically between the other two, and when the model gets it wrong, the errors split both ways — some get called Dropout, some get called Graduate. The model is genuinely uncertain about these students, which honestly reflects reality.</a:t>
            </a:r>
            <a:endParaRPr sz="1100" dirty="0">
              <a:solidFill>
                <a:schemeClr val="dk1"/>
              </a:solidFill>
            </a:endParaRPr>
          </a:p>
          <a:p>
            <a:pPr marL="381000" marR="381000" lvl="0" indent="0" algn="l" rtl="0">
              <a:lnSpc>
                <a:spcPct val="115000"/>
              </a:lnSpc>
              <a:spcBef>
                <a:spcPts val="1200"/>
              </a:spcBef>
              <a:spcAft>
                <a:spcPts val="0"/>
              </a:spcAft>
              <a:buSzPts val="1100"/>
              <a:buNone/>
            </a:pPr>
            <a:r>
              <a:rPr lang="en-US" sz="1100" dirty="0">
                <a:solidFill>
                  <a:schemeClr val="dk1"/>
                </a:solidFill>
              </a:rPr>
              <a:t>Quick arithmetic check: 213 plus 71 plus 397 correct gives us 681 out of 885, which is 76.95% accuracy.</a:t>
            </a:r>
            <a:br>
              <a:rPr lang="en-US" sz="1100" dirty="0">
                <a:solidFill>
                  <a:schemeClr val="dk1"/>
                </a:solidFill>
              </a:rPr>
            </a:br>
            <a:br>
              <a:rPr lang="en-US" sz="1100" dirty="0">
                <a:solidFill>
                  <a:schemeClr val="dk1"/>
                </a:solidFill>
              </a:rPr>
            </a:br>
            <a:r>
              <a:rPr lang="en-US" sz="1100" dirty="0">
                <a:solidFill>
                  <a:srgbClr val="F7F1FF"/>
                </a:solidFill>
                <a:highlight>
                  <a:schemeClr val="dk1"/>
                </a:highlight>
              </a:rPr>
              <a:t>"Notice F1-macro is 0.706 but accuracy is 76.95% — that gap is the imbalance story. Accuracy weights every student equally, so Graduates dominate. F1-macro weights every class equally, and the 0.48 F1 on Enrolled drags the average down. That gap is exactly what F1-macro is designed to surface."</a:t>
            </a:r>
            <a:endParaRPr sz="1100" dirty="0">
              <a:solidFill>
                <a:srgbClr val="F7F1FF"/>
              </a:solidFill>
              <a:highlight>
                <a:schemeClr val="dk1"/>
              </a:highlight>
            </a:endParaRPr>
          </a:p>
          <a:p>
            <a:pPr marL="0" lvl="0" indent="0" algn="l" rtl="0">
              <a:lnSpc>
                <a:spcPct val="115000"/>
              </a:lnSpc>
              <a:spcBef>
                <a:spcPts val="1200"/>
              </a:spcBef>
              <a:spcAft>
                <a:spcPts val="0"/>
              </a:spcAft>
              <a:buSzPts val="1100"/>
              <a:buNone/>
            </a:pPr>
            <a:endParaRPr sz="1100" dirty="0">
              <a:solidFill>
                <a:schemeClr val="dk1"/>
              </a:solidFill>
            </a:endParaRPr>
          </a:p>
          <a:p>
            <a:pPr marL="381000" marR="381000" lvl="0" indent="0" algn="l" rtl="0">
              <a:lnSpc>
                <a:spcPct val="115000"/>
              </a:lnSpc>
              <a:spcBef>
                <a:spcPts val="1200"/>
              </a:spcBef>
              <a:spcAft>
                <a:spcPts val="0"/>
              </a:spcAft>
              <a:buSzPts val="1100"/>
              <a:buNone/>
            </a:pPr>
            <a:endParaRPr sz="1100"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endParaRPr sz="1100" dirty="0">
              <a:solidFill>
                <a:schemeClr val="dk1"/>
              </a:solidFill>
            </a:endParaRPr>
          </a:p>
          <a:p>
            <a:pPr marL="0" marR="0" lvl="0" indent="0" algn="l" rtl="0">
              <a:spcBef>
                <a:spcPts val="1200"/>
              </a:spcBef>
              <a:spcAft>
                <a:spcPts val="0"/>
              </a:spcAft>
              <a:buNone/>
            </a:pPr>
            <a:endParaRPr sz="1200" dirty="0">
              <a:solidFill>
                <a:schemeClr val="dk1"/>
              </a:solidFill>
            </a:endParaRPr>
          </a:p>
        </p:txBody>
      </p:sp>
      <p:sp>
        <p:nvSpPr>
          <p:cNvPr id="394" name="Google Shape;394;p1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12</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1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1" name="Google Shape;461;p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100" b="1" dirty="0">
                <a:solidFill>
                  <a:schemeClr val="dk1"/>
                </a:solidFill>
              </a:rPr>
              <a:t>SLIDE 13 — Unsupervised Analysis (Tri, ~40 seconds)</a:t>
            </a:r>
            <a:endParaRPr sz="1100" b="1"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We ran K-Means with k=3 and Hierarchical clustering with Ward linkage. The results are... not great, and that's actually informative.</a:t>
            </a:r>
            <a:endParaRPr sz="1100"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K-Means silhouette score: 0.21. Hierarchical: 0.12. Using </a:t>
            </a:r>
            <a:r>
              <a:rPr lang="en-US" sz="1100" dirty="0" err="1">
                <a:solidFill>
                  <a:schemeClr val="dk1"/>
                </a:solidFill>
              </a:rPr>
              <a:t>Rousseeuw's</a:t>
            </a:r>
            <a:r>
              <a:rPr lang="en-US" sz="1100" dirty="0">
                <a:solidFill>
                  <a:schemeClr val="dk1"/>
                </a:solidFill>
              </a:rPr>
              <a:t> standard interpretation, anything below 0.25 means no substantial cluster structure.</a:t>
            </a:r>
            <a:endParaRPr sz="1100"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The crosstab heatmap tells the story — the biggest cluster absorbs graduates, dropouts, and enrolled students all mixed together. The classes just don't separate geometrically in the feature space.</a:t>
            </a:r>
            <a:endParaRPr sz="1100"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But this is a useful negative result. It tells us supervision is genuinely required — we can't just group students and hope the groups match outcomes. We need the labels.</a:t>
            </a:r>
            <a:endParaRPr sz="1100" dirty="0">
              <a:solidFill>
                <a:schemeClr val="dk1"/>
              </a:solidFill>
            </a:endParaRPr>
          </a:p>
          <a:p>
            <a:pPr marL="0" marR="0" lvl="0" indent="0" algn="l" rtl="0">
              <a:spcBef>
                <a:spcPts val="1200"/>
              </a:spcBef>
              <a:spcAft>
                <a:spcPts val="0"/>
              </a:spcAft>
              <a:buNone/>
            </a:pPr>
            <a:endParaRPr sz="1200" dirty="0">
              <a:solidFill>
                <a:schemeClr val="dk1"/>
              </a:solidFill>
            </a:endParaRPr>
          </a:p>
        </p:txBody>
      </p:sp>
      <p:sp>
        <p:nvSpPr>
          <p:cNvPr id="462" name="Google Shape;462;p1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13</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p1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4" name="Google Shape;484;p1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100" b="1" dirty="0">
                <a:solidFill>
                  <a:schemeClr val="dk1"/>
                </a:solidFill>
              </a:rPr>
              <a:t>SLIDE 14 — Association Rules (Tri, ~55 seconds)</a:t>
            </a:r>
            <a:endParaRPr sz="1100" b="1"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We binned numeric features into Low, Mid, and High terciles, then ran </a:t>
            </a:r>
            <a:r>
              <a:rPr lang="en-US" sz="1100" dirty="0" err="1">
                <a:solidFill>
                  <a:schemeClr val="dk1"/>
                </a:solidFill>
              </a:rPr>
              <a:t>Apriori</a:t>
            </a:r>
            <a:r>
              <a:rPr lang="en-US" sz="1100" dirty="0">
                <a:solidFill>
                  <a:schemeClr val="dk1"/>
                </a:solidFill>
              </a:rPr>
              <a:t> with minimum support of 0.05 and minimum confidence of 0.60. That gave us 189 frequent </a:t>
            </a:r>
            <a:r>
              <a:rPr lang="en-US" sz="1100" dirty="0" err="1">
                <a:solidFill>
                  <a:schemeClr val="dk1"/>
                </a:solidFill>
              </a:rPr>
              <a:t>itemsets</a:t>
            </a:r>
            <a:r>
              <a:rPr lang="en-US" sz="1100" dirty="0">
                <a:solidFill>
                  <a:schemeClr val="dk1"/>
                </a:solidFill>
              </a:rPr>
              <a:t>, 334 total rules, and 85 where the target is in the consequent — those are the actionable ones.</a:t>
            </a:r>
            <a:endParaRPr sz="1100"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The top rule: students with low first-semester approved units who are in the mid-age band drop out 87% of the time, with a lift of 2.72 — meaning that's 2.7 times the base dropout rate.</a:t>
            </a:r>
            <a:endParaRPr sz="1100"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If you look down the table, four of the top five rules involve low first-semester approved units in some combination. That feature keeps showing up no matter how we look at the data — EDA, models, and now rules.</a:t>
            </a:r>
            <a:endParaRPr sz="1100"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The last row is a graduation rule, just to show the mining works in both directions. Students who have tuition paid, high approved units, a scholarship, and mid admission grade tend to be young graduates — confidence 80%.</a:t>
            </a:r>
            <a:endParaRPr sz="1100" dirty="0">
              <a:solidFill>
                <a:schemeClr val="dk1"/>
              </a:solidFill>
            </a:endParaRPr>
          </a:p>
          <a:p>
            <a:pPr marL="0" marR="0" lvl="0" indent="0" algn="l" rtl="0">
              <a:spcBef>
                <a:spcPts val="1200"/>
              </a:spcBef>
              <a:spcAft>
                <a:spcPts val="0"/>
              </a:spcAft>
              <a:buNone/>
            </a:pPr>
            <a:endParaRPr sz="1200" dirty="0">
              <a:solidFill>
                <a:schemeClr val="dk1"/>
              </a:solidFill>
            </a:endParaRPr>
          </a:p>
        </p:txBody>
      </p:sp>
      <p:sp>
        <p:nvSpPr>
          <p:cNvPr id="485" name="Google Shape;485;p1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14</a:t>
            </a:fld>
            <a:endParaRPr sz="18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p1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86" name="Google Shape;586;p1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100" b="1" dirty="0">
                <a:solidFill>
                  <a:schemeClr val="dk1"/>
                </a:solidFill>
              </a:rPr>
              <a:t>SLIDE 15 — Model Comparison (Tri, ~50 seconds)</a:t>
            </a:r>
            <a:endParaRPr sz="1100" b="1"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This is the money table. Six models, sorted by F1-macro.</a:t>
            </a:r>
            <a:endParaRPr sz="1100"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err="1">
                <a:solidFill>
                  <a:schemeClr val="dk1"/>
                </a:solidFill>
              </a:rPr>
              <a:t>XGBoost</a:t>
            </a:r>
            <a:r>
              <a:rPr lang="en-US" sz="1100" dirty="0">
                <a:solidFill>
                  <a:schemeClr val="dk1"/>
                </a:solidFill>
              </a:rPr>
              <a:t> wins on F1-macro at 0.706. Random Forest actually has the highest accuracy at 77.06%, but its F1-macro is lower at 0.689. The difference is how they handle the Enrolled class — </a:t>
            </a:r>
            <a:r>
              <a:rPr lang="en-US" sz="1100" dirty="0" err="1">
                <a:solidFill>
                  <a:schemeClr val="dk1"/>
                </a:solidFill>
              </a:rPr>
              <a:t>XGBoost</a:t>
            </a:r>
            <a:r>
              <a:rPr lang="en-US" sz="1100" dirty="0">
                <a:solidFill>
                  <a:schemeClr val="dk1"/>
                </a:solidFill>
              </a:rPr>
              <a:t> is better at the minority.</a:t>
            </a:r>
            <a:endParaRPr sz="1100"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What's interesting is the top three — </a:t>
            </a:r>
            <a:r>
              <a:rPr lang="en-US" sz="1100" dirty="0" err="1">
                <a:solidFill>
                  <a:schemeClr val="dk1"/>
                </a:solidFill>
              </a:rPr>
              <a:t>XGBoost</a:t>
            </a:r>
            <a:r>
              <a:rPr lang="en-US" sz="1100" dirty="0">
                <a:solidFill>
                  <a:schemeClr val="dk1"/>
                </a:solidFill>
              </a:rPr>
              <a:t>, Random Forest, Logistic Regression — are all within less than one percentage point on accuracy. They're essentially tied there. The separation happens on F1-macro, which is why we chose that as our primary metric.</a:t>
            </a:r>
            <a:endParaRPr sz="1100"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The CV standard deviations in the last column are all tight — between 0.009 and 0.022. So these results are stable across folds, not a lucky split.</a:t>
            </a:r>
            <a:endParaRPr sz="1100"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Decision Tree and KNN trail noticeably. KNN struggles because of the curse of dimensionality — with 36 features, distances become less meaningful.</a:t>
            </a:r>
            <a:endParaRPr sz="1100" dirty="0">
              <a:solidFill>
                <a:schemeClr val="dk1"/>
              </a:solidFill>
            </a:endParaRPr>
          </a:p>
          <a:p>
            <a:pPr marL="0" marR="0" lvl="0" indent="0" algn="l" rtl="0">
              <a:spcBef>
                <a:spcPts val="1200"/>
              </a:spcBef>
              <a:spcAft>
                <a:spcPts val="0"/>
              </a:spcAft>
              <a:buNone/>
            </a:pPr>
            <a:endParaRPr sz="1200" dirty="0">
              <a:solidFill>
                <a:schemeClr val="dk1"/>
              </a:solidFill>
            </a:endParaRPr>
          </a:p>
        </p:txBody>
      </p:sp>
      <p:sp>
        <p:nvSpPr>
          <p:cNvPr id="587" name="Google Shape;587;p1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15</a:t>
            </a:fld>
            <a:endParaRPr sz="1800">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p1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71" name="Google Shape;671;p1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100" b="1" dirty="0">
                <a:solidFill>
                  <a:schemeClr val="dk1"/>
                </a:solidFill>
              </a:rPr>
              <a:t>SLIDE 16 — Feature Importance (Tri, ~45 seconds)</a:t>
            </a:r>
            <a:endParaRPr sz="1100" b="1"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Two models, two importance methods, same conclusion.</a:t>
            </a:r>
            <a:endParaRPr sz="1100"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Both Random Forest and </a:t>
            </a:r>
            <a:r>
              <a:rPr lang="en-US" sz="1100" dirty="0" err="1">
                <a:solidFill>
                  <a:schemeClr val="dk1"/>
                </a:solidFill>
              </a:rPr>
              <a:t>XGBoost</a:t>
            </a:r>
            <a:r>
              <a:rPr lang="en-US" sz="1100" dirty="0">
                <a:solidFill>
                  <a:schemeClr val="dk1"/>
                </a:solidFill>
              </a:rPr>
              <a:t> agree that second-semester approved units is the number one predictor. Random Forest gives it 0.155 by mean decrease in impurity; </a:t>
            </a:r>
            <a:r>
              <a:rPr lang="en-US" sz="1100" dirty="0" err="1">
                <a:solidFill>
                  <a:schemeClr val="dk1"/>
                </a:solidFill>
              </a:rPr>
              <a:t>XGBoost</a:t>
            </a:r>
            <a:r>
              <a:rPr lang="en-US" sz="1100" dirty="0">
                <a:solidFill>
                  <a:schemeClr val="dk1"/>
                </a:solidFill>
              </a:rPr>
              <a:t> gives it 0.215 by gain.</a:t>
            </a:r>
            <a:endParaRPr sz="1100"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Where they diverge is interesting. Random Forest's top 5 are all grade or unit measures — it's very grade-centric. </a:t>
            </a:r>
            <a:r>
              <a:rPr lang="en-US" sz="1100" dirty="0" err="1">
                <a:solidFill>
                  <a:schemeClr val="dk1"/>
                </a:solidFill>
              </a:rPr>
              <a:t>XGBoost</a:t>
            </a:r>
            <a:r>
              <a:rPr lang="en-US" sz="1100" dirty="0">
                <a:solidFill>
                  <a:schemeClr val="dk1"/>
                </a:solidFill>
              </a:rPr>
              <a:t> puts tuition fees as its number 2 at 0.117, and scholarship makes the top 5. </a:t>
            </a:r>
            <a:r>
              <a:rPr lang="en-US" sz="1100" dirty="0" err="1">
                <a:solidFill>
                  <a:schemeClr val="dk1"/>
                </a:solidFill>
              </a:rPr>
              <a:t>XGBoost</a:t>
            </a:r>
            <a:r>
              <a:rPr lang="en-US" sz="1100" dirty="0">
                <a:solidFill>
                  <a:schemeClr val="dk1"/>
                </a:solidFill>
              </a:rPr>
              <a:t> is picking up on those financial signals we saw on slide 9 — the 61-point gap in dropout rate between paid and unpaid tuition.</a:t>
            </a:r>
            <a:endParaRPr sz="1100"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The practical takeaway: if you could only monitor one thing, monitor second-semester approved units. If you could monitor two, add tuition payment status.</a:t>
            </a:r>
            <a:endParaRPr sz="1100" dirty="0">
              <a:solidFill>
                <a:schemeClr val="dk1"/>
              </a:solidFill>
            </a:endParaRPr>
          </a:p>
          <a:p>
            <a:pPr marL="0" marR="0" lvl="0" indent="0" algn="l" rtl="0">
              <a:spcBef>
                <a:spcPts val="1200"/>
              </a:spcBef>
              <a:spcAft>
                <a:spcPts val="0"/>
              </a:spcAft>
              <a:buNone/>
            </a:pPr>
            <a:endParaRPr sz="1200" dirty="0">
              <a:solidFill>
                <a:schemeClr val="dk1"/>
              </a:solidFill>
            </a:endParaRPr>
          </a:p>
        </p:txBody>
      </p:sp>
      <p:sp>
        <p:nvSpPr>
          <p:cNvPr id="672" name="Google Shape;672;p1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16</a:t>
            </a:fld>
            <a:endParaRPr sz="1800">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p1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39" name="Google Shape;739;p1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100" b="1" dirty="0">
                <a:solidFill>
                  <a:schemeClr val="dk1"/>
                </a:solidFill>
              </a:rPr>
              <a:t>SLIDE 17 — Conclusions (Tri, ~45 seconds)</a:t>
            </a:r>
            <a:endParaRPr sz="1100" b="1"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Five takeaways.</a:t>
            </a:r>
            <a:endParaRPr sz="1100"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Best model: </a:t>
            </a:r>
            <a:r>
              <a:rPr lang="en-US" sz="1100" dirty="0" err="1">
                <a:solidFill>
                  <a:schemeClr val="dk1"/>
                </a:solidFill>
              </a:rPr>
              <a:t>XGBoost</a:t>
            </a:r>
            <a:r>
              <a:rPr lang="en-US" sz="1100" dirty="0">
                <a:solidFill>
                  <a:schemeClr val="dk1"/>
                </a:solidFill>
              </a:rPr>
              <a:t> at F1-macro 0.706. Top predictor: second-semester approved units, confirmed by correlation, by Random Forest, and by </a:t>
            </a:r>
            <a:r>
              <a:rPr lang="en-US" sz="1100" dirty="0" err="1">
                <a:solidFill>
                  <a:schemeClr val="dk1"/>
                </a:solidFill>
              </a:rPr>
              <a:t>XGBoost</a:t>
            </a:r>
            <a:r>
              <a:rPr lang="en-US" sz="1100" dirty="0">
                <a:solidFill>
                  <a:schemeClr val="dk1"/>
                </a:solidFill>
              </a:rPr>
              <a:t> — three independent methods all pointing the same way.</a:t>
            </a:r>
            <a:endParaRPr sz="1100"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Strongest association rule: low first-semester approved units predicts dropout with 77% confidence and a lift of 2.4.</a:t>
            </a:r>
            <a:endParaRPr sz="1100"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Clustering showed weak structure — silhouettes of 0.21 and 0.12 — which confirms that supervised learning is genuinely necessary for this problem.</a:t>
            </a:r>
            <a:endParaRPr sz="1100"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And the recommendation — and this is the real-world deliverable: flag any student with fewer than 3 approved units after semester 1 for immediate academic advising. That threshold comes directly from the tercile binning where the 77% dropout rule applies.</a:t>
            </a:r>
            <a:endParaRPr sz="1100"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One sentence summary: data mining can reliably identify at-risk students early enough for meaningful intervention.</a:t>
            </a:r>
            <a:endParaRPr sz="1100" dirty="0">
              <a:solidFill>
                <a:schemeClr val="dk1"/>
              </a:solidFill>
            </a:endParaRPr>
          </a:p>
          <a:p>
            <a:pPr marL="0" marR="0" lvl="0" indent="0" algn="l" rtl="0">
              <a:spcBef>
                <a:spcPts val="1200"/>
              </a:spcBef>
              <a:spcAft>
                <a:spcPts val="0"/>
              </a:spcAft>
              <a:buNone/>
            </a:pPr>
            <a:endParaRPr sz="1200" dirty="0">
              <a:solidFill>
                <a:schemeClr val="dk1"/>
              </a:solidFill>
            </a:endParaRPr>
          </a:p>
        </p:txBody>
      </p:sp>
      <p:sp>
        <p:nvSpPr>
          <p:cNvPr id="740" name="Google Shape;740;p1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17</a:t>
            </a:fld>
            <a:endParaRPr sz="1800">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p1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65" name="Google Shape;765;p1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100" b="1" dirty="0">
                <a:solidFill>
                  <a:schemeClr val="dk1"/>
                </a:solidFill>
              </a:rPr>
              <a:t>SLIDE 18 — Future Work (Tri, ~35 seconds)</a:t>
            </a:r>
            <a:endParaRPr sz="1100" b="1"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Five directions, each closing a current limitation.</a:t>
            </a:r>
            <a:endParaRPr sz="1100"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Real-time prediction instead of our one-shot end-of-semester approach. An advisor dashboard in </a:t>
            </a:r>
            <a:r>
              <a:rPr lang="en-US" sz="1100" dirty="0" err="1">
                <a:solidFill>
                  <a:schemeClr val="dk1"/>
                </a:solidFill>
              </a:rPr>
              <a:t>Streamlit</a:t>
            </a:r>
            <a:r>
              <a:rPr lang="en-US" sz="1100" dirty="0">
                <a:solidFill>
                  <a:schemeClr val="dk1"/>
                </a:solidFill>
              </a:rPr>
              <a:t> or Flask — probably the highest-leverage next step for actual deployment. Multi-institution validation since we only trained on one Portuguese school. Deep learning with something like </a:t>
            </a:r>
            <a:r>
              <a:rPr lang="en-US" sz="1100" dirty="0" err="1">
                <a:solidFill>
                  <a:schemeClr val="dk1"/>
                </a:solidFill>
              </a:rPr>
              <a:t>TabNet</a:t>
            </a:r>
            <a:r>
              <a:rPr lang="en-US" sz="1100" dirty="0">
                <a:solidFill>
                  <a:schemeClr val="dk1"/>
                </a:solidFill>
              </a:rPr>
              <a:t> to see if it adds a few points. And temporal modeling — tracking how risk evolves semester by semester instead of treating each student as a static snapshot.</a:t>
            </a:r>
            <a:endParaRPr sz="1100"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Every one of these is an honest limitation reframed as an opportunity.</a:t>
            </a:r>
            <a:endParaRPr sz="1100" dirty="0">
              <a:solidFill>
                <a:schemeClr val="dk1"/>
              </a:solidFill>
            </a:endParaRPr>
          </a:p>
          <a:p>
            <a:pPr marL="0" marR="0" lvl="0" indent="0" algn="l" rtl="0">
              <a:spcBef>
                <a:spcPts val="1200"/>
              </a:spcBef>
              <a:spcAft>
                <a:spcPts val="0"/>
              </a:spcAft>
              <a:buNone/>
            </a:pPr>
            <a:endParaRPr sz="1200" dirty="0">
              <a:solidFill>
                <a:schemeClr val="dk1"/>
              </a:solidFill>
            </a:endParaRPr>
          </a:p>
        </p:txBody>
      </p:sp>
      <p:sp>
        <p:nvSpPr>
          <p:cNvPr id="766" name="Google Shape;766;p1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18</a:t>
            </a:fld>
            <a:endParaRPr sz="1800">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4"/>
        <p:cNvGrpSpPr/>
        <p:nvPr/>
      </p:nvGrpSpPr>
      <p:grpSpPr>
        <a:xfrm>
          <a:off x="0" y="0"/>
          <a:ext cx="0" cy="0"/>
          <a:chOff x="0" y="0"/>
          <a:chExt cx="0" cy="0"/>
        </a:xfrm>
      </p:grpSpPr>
      <p:sp>
        <p:nvSpPr>
          <p:cNvPr id="795" name="Google Shape;795;p1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96" name="Google Shape;796;p1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100" b="1" dirty="0">
                <a:solidFill>
                  <a:schemeClr val="dk1"/>
                </a:solidFill>
              </a:rPr>
              <a:t>SLIDE 19 — End (Tri, ~15 seconds)</a:t>
            </a:r>
            <a:endParaRPr sz="1100" b="1" dirty="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US" sz="1100" dirty="0">
                <a:solidFill>
                  <a:schemeClr val="dk1"/>
                </a:solidFill>
              </a:rPr>
              <a:t>That's our project. Thank you for listening. Full code, notebooks, and all figures are in the GitHub repo linked on the slide. We're happy to take any questions.</a:t>
            </a:r>
            <a:endParaRPr sz="1100" dirty="0">
              <a:solidFill>
                <a:schemeClr val="dk1"/>
              </a:solidFill>
            </a:endParaRPr>
          </a:p>
          <a:p>
            <a:pPr marL="0" marR="0" lvl="0" indent="0" algn="l" rtl="0">
              <a:spcBef>
                <a:spcPts val="1200"/>
              </a:spcBef>
              <a:spcAft>
                <a:spcPts val="0"/>
              </a:spcAft>
              <a:buNone/>
            </a:pPr>
            <a:endParaRPr sz="1200" dirty="0">
              <a:solidFill>
                <a:schemeClr val="dk1"/>
              </a:solidFill>
            </a:endParaRPr>
          </a:p>
        </p:txBody>
      </p:sp>
      <p:sp>
        <p:nvSpPr>
          <p:cNvPr id="797" name="Google Shape;797;p1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19</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5.png"/><Relationship Id="rId7"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Shape 11"/>
        <p:cNvGrpSpPr/>
        <p:nvPr/>
      </p:nvGrpSpPr>
      <p:grpSpPr>
        <a:xfrm>
          <a:off x="0" y="0"/>
          <a:ext cx="0" cy="0"/>
          <a:chOff x="0" y="0"/>
          <a:chExt cx="0" cy="0"/>
        </a:xfrm>
      </p:grpSpPr>
      <p:sp>
        <p:nvSpPr>
          <p:cNvPr id="12" name="Google Shape;12;p1"/>
          <p:cNvSpPr/>
          <p:nvPr/>
        </p:nvSpPr>
        <p:spPr>
          <a:xfrm>
            <a:off x="0" y="0"/>
            <a:ext cx="18288000" cy="8677275"/>
          </a:xfrm>
          <a:prstGeom prst="rect">
            <a:avLst/>
          </a:prstGeom>
          <a:solidFill>
            <a:srgbClr val="0E3A5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 name="Google Shape;13;p1"/>
          <p:cNvSpPr/>
          <p:nvPr/>
        </p:nvSpPr>
        <p:spPr>
          <a:xfrm>
            <a:off x="1143000" y="1237506"/>
            <a:ext cx="533400" cy="19050"/>
          </a:xfrm>
          <a:prstGeom prst="rect">
            <a:avLst/>
          </a:prstGeom>
          <a:solidFill>
            <a:srgbClr val="FFFFFF">
              <a:alpha val="6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 name="Google Shape;14;p1"/>
          <p:cNvSpPr/>
          <p:nvPr/>
        </p:nvSpPr>
        <p:spPr>
          <a:xfrm>
            <a:off x="1847850" y="1143000"/>
            <a:ext cx="6612489" cy="2952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FFFFFF"/>
              </a:buClr>
              <a:buSzPts val="1665"/>
              <a:buFont typeface="Courier New"/>
              <a:buNone/>
            </a:pPr>
            <a:r>
              <a:rPr lang="en-US" sz="1665">
                <a:solidFill>
                  <a:srgbClr val="FFFFFF"/>
                </a:solidFill>
                <a:latin typeface="Courier New"/>
                <a:ea typeface="Courier New"/>
                <a:cs typeface="Courier New"/>
                <a:sym typeface="Courier New"/>
              </a:rPr>
              <a:t>CMPE 255 · DATA MINING · SPRING 2026</a:t>
            </a:r>
            <a:endParaRPr sz="1665">
              <a:solidFill>
                <a:schemeClr val="dk1"/>
              </a:solidFill>
              <a:latin typeface="Calibri"/>
              <a:ea typeface="Calibri"/>
              <a:cs typeface="Calibri"/>
              <a:sym typeface="Calibri"/>
            </a:endParaRPr>
          </a:p>
        </p:txBody>
      </p:sp>
      <p:sp>
        <p:nvSpPr>
          <p:cNvPr id="15" name="Google Shape;15;p1"/>
          <p:cNvSpPr/>
          <p:nvPr/>
        </p:nvSpPr>
        <p:spPr>
          <a:xfrm>
            <a:off x="1143000" y="2162175"/>
            <a:ext cx="14716125" cy="3238500"/>
          </a:xfrm>
          <a:prstGeom prst="rect">
            <a:avLst/>
          </a:prstGeom>
          <a:noFill/>
          <a:ln>
            <a:noFill/>
          </a:ln>
        </p:spPr>
        <p:txBody>
          <a:bodyPr spcFirstLastPara="1" wrap="square" lIns="25400" tIns="25400" rIns="25400" bIns="25400" anchor="t" anchorCtr="0">
            <a:normAutofit/>
          </a:bodyPr>
          <a:lstStyle/>
          <a:p>
            <a:pPr marL="0" marR="0" lvl="0" indent="0" algn="l" rtl="0">
              <a:lnSpc>
                <a:spcPct val="104000"/>
              </a:lnSpc>
              <a:spcBef>
                <a:spcPts val="0"/>
              </a:spcBef>
              <a:spcAft>
                <a:spcPts val="0"/>
              </a:spcAft>
              <a:buClr>
                <a:srgbClr val="FFFFFF"/>
              </a:buClr>
              <a:buSzPts val="8100"/>
              <a:buFont typeface="Georgia"/>
              <a:buNone/>
            </a:pPr>
            <a:r>
              <a:rPr lang="en-US" sz="8100">
                <a:solidFill>
                  <a:srgbClr val="FFFFFF"/>
                </a:solidFill>
                <a:latin typeface="Georgia"/>
                <a:ea typeface="Georgia"/>
                <a:cs typeface="Georgia"/>
                <a:sym typeface="Georgia"/>
              </a:rPr>
              <a:t>Predicting Student Dropout &amp; Academic Success</a:t>
            </a:r>
            <a:endParaRPr sz="8100">
              <a:solidFill>
                <a:schemeClr val="dk1"/>
              </a:solidFill>
              <a:latin typeface="Calibri"/>
              <a:ea typeface="Calibri"/>
              <a:cs typeface="Calibri"/>
              <a:sym typeface="Calibri"/>
            </a:endParaRPr>
          </a:p>
        </p:txBody>
      </p:sp>
      <p:sp>
        <p:nvSpPr>
          <p:cNvPr id="16" name="Google Shape;16;p1"/>
          <p:cNvSpPr/>
          <p:nvPr/>
        </p:nvSpPr>
        <p:spPr>
          <a:xfrm>
            <a:off x="1143000" y="5705475"/>
            <a:ext cx="12753975" cy="55245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FFFFFF"/>
              </a:buClr>
              <a:buSzPts val="3300"/>
              <a:buFont typeface="Arial"/>
              <a:buNone/>
            </a:pPr>
            <a:r>
              <a:rPr lang="en-US" sz="3300">
                <a:solidFill>
                  <a:srgbClr val="FFFFFF"/>
                </a:solidFill>
                <a:latin typeface="Arial"/>
                <a:ea typeface="Arial"/>
                <a:cs typeface="Arial"/>
                <a:sym typeface="Arial"/>
              </a:rPr>
              <a:t>A data-mining study of 4,424 university students</a:t>
            </a:r>
            <a:endParaRPr sz="3300">
              <a:solidFill>
                <a:schemeClr val="dk1"/>
              </a:solidFill>
              <a:latin typeface="Calibri"/>
              <a:ea typeface="Calibri"/>
              <a:cs typeface="Calibri"/>
              <a:sym typeface="Calibri"/>
            </a:endParaRPr>
          </a:p>
        </p:txBody>
      </p:sp>
      <p:sp>
        <p:nvSpPr>
          <p:cNvPr id="17" name="Google Shape;17;p1"/>
          <p:cNvSpPr/>
          <p:nvPr/>
        </p:nvSpPr>
        <p:spPr>
          <a:xfrm>
            <a:off x="1143000" y="6219825"/>
            <a:ext cx="3196005" cy="438150"/>
          </a:xfrm>
          <a:prstGeom prst="rect">
            <a:avLst/>
          </a:prstGeom>
          <a:noFill/>
          <a:ln>
            <a:noFill/>
          </a:ln>
        </p:spPr>
        <p:txBody>
          <a:bodyPr spcFirstLastPara="1" wrap="square" lIns="25400" tIns="25400" rIns="25400" bIns="25400" anchor="t" anchorCtr="0">
            <a:normAutofit/>
          </a:bodyPr>
          <a:lstStyle/>
          <a:p>
            <a:pPr marL="0" marR="0" lvl="0" indent="0" algn="l" rtl="0">
              <a:lnSpc>
                <a:spcPct val="140000"/>
              </a:lnSpc>
              <a:spcBef>
                <a:spcPts val="0"/>
              </a:spcBef>
              <a:spcAft>
                <a:spcPts val="0"/>
              </a:spcAft>
              <a:buClr>
                <a:srgbClr val="FFFFFF"/>
              </a:buClr>
              <a:buSzPts val="1942"/>
              <a:buFont typeface="Arial"/>
              <a:buNone/>
            </a:pPr>
            <a:r>
              <a:rPr lang="en-US" sz="1943" b="1">
                <a:solidFill>
                  <a:srgbClr val="FFFFFF"/>
                </a:solidFill>
                <a:latin typeface="Arial"/>
                <a:ea typeface="Arial"/>
                <a:cs typeface="Arial"/>
                <a:sym typeface="Arial"/>
              </a:rPr>
              <a:t>Lam Nguyen</a:t>
            </a:r>
            <a:r>
              <a:rPr lang="en-US" sz="1943">
                <a:solidFill>
                  <a:srgbClr val="FFFFFF"/>
                </a:solidFill>
                <a:latin typeface="Arial"/>
                <a:ea typeface="Arial"/>
                <a:cs typeface="Arial"/>
                <a:sym typeface="Arial"/>
              </a:rPr>
              <a:t>· 018229432</a:t>
            </a:r>
            <a:endParaRPr sz="1943">
              <a:solidFill>
                <a:schemeClr val="dk1"/>
              </a:solidFill>
              <a:latin typeface="Calibri"/>
              <a:ea typeface="Calibri"/>
              <a:cs typeface="Calibri"/>
              <a:sym typeface="Calibri"/>
            </a:endParaRPr>
          </a:p>
        </p:txBody>
      </p:sp>
      <p:sp>
        <p:nvSpPr>
          <p:cNvPr id="18" name="Google Shape;18;p1"/>
          <p:cNvSpPr/>
          <p:nvPr/>
        </p:nvSpPr>
        <p:spPr>
          <a:xfrm>
            <a:off x="1143000" y="6619875"/>
            <a:ext cx="3196005" cy="438150"/>
          </a:xfrm>
          <a:prstGeom prst="rect">
            <a:avLst/>
          </a:prstGeom>
          <a:noFill/>
          <a:ln>
            <a:noFill/>
          </a:ln>
        </p:spPr>
        <p:txBody>
          <a:bodyPr spcFirstLastPara="1" wrap="square" lIns="25400" tIns="25400" rIns="25400" bIns="25400" anchor="t" anchorCtr="0">
            <a:normAutofit/>
          </a:bodyPr>
          <a:lstStyle/>
          <a:p>
            <a:pPr marL="0" marR="0" lvl="0" indent="0" algn="l" rtl="0">
              <a:lnSpc>
                <a:spcPct val="140000"/>
              </a:lnSpc>
              <a:spcBef>
                <a:spcPts val="0"/>
              </a:spcBef>
              <a:spcAft>
                <a:spcPts val="0"/>
              </a:spcAft>
              <a:buClr>
                <a:srgbClr val="FFFFFF"/>
              </a:buClr>
              <a:buSzPts val="1942"/>
              <a:buFont typeface="Arial"/>
              <a:buNone/>
            </a:pPr>
            <a:r>
              <a:rPr lang="en-US" sz="1943" b="1">
                <a:solidFill>
                  <a:srgbClr val="FFFFFF"/>
                </a:solidFill>
                <a:latin typeface="Arial"/>
                <a:ea typeface="Arial"/>
                <a:cs typeface="Arial"/>
                <a:sym typeface="Arial"/>
              </a:rPr>
              <a:t>Tri Ngo</a:t>
            </a:r>
            <a:r>
              <a:rPr lang="en-US" sz="1943">
                <a:solidFill>
                  <a:srgbClr val="FFFFFF"/>
                </a:solidFill>
                <a:latin typeface="Arial"/>
                <a:ea typeface="Arial"/>
                <a:cs typeface="Arial"/>
                <a:sym typeface="Arial"/>
              </a:rPr>
              <a:t>· 015712749</a:t>
            </a:r>
            <a:endParaRPr sz="1943">
              <a:solidFill>
                <a:schemeClr val="dk1"/>
              </a:solidFill>
              <a:latin typeface="Calibri"/>
              <a:ea typeface="Calibri"/>
              <a:cs typeface="Calibri"/>
              <a:sym typeface="Calibri"/>
            </a:endParaRPr>
          </a:p>
        </p:txBody>
      </p:sp>
      <p:sp>
        <p:nvSpPr>
          <p:cNvPr id="19" name="Google Shape;19;p1"/>
          <p:cNvSpPr/>
          <p:nvPr/>
        </p:nvSpPr>
        <p:spPr>
          <a:xfrm>
            <a:off x="1143000" y="7134225"/>
            <a:ext cx="3196005" cy="438150"/>
          </a:xfrm>
          <a:prstGeom prst="rect">
            <a:avLst/>
          </a:prstGeom>
          <a:noFill/>
          <a:ln>
            <a:noFill/>
          </a:ln>
        </p:spPr>
        <p:txBody>
          <a:bodyPr spcFirstLastPara="1" wrap="square" lIns="25400" tIns="25400" rIns="25400" bIns="25400" anchor="t" anchorCtr="0">
            <a:normAutofit/>
          </a:bodyPr>
          <a:lstStyle/>
          <a:p>
            <a:pPr marL="0" marR="0" lvl="0" indent="0" algn="l" rtl="0">
              <a:lnSpc>
                <a:spcPct val="140000"/>
              </a:lnSpc>
              <a:spcBef>
                <a:spcPts val="0"/>
              </a:spcBef>
              <a:spcAft>
                <a:spcPts val="0"/>
              </a:spcAft>
              <a:buClr>
                <a:srgbClr val="FFFFFF"/>
              </a:buClr>
              <a:buSzPts val="1942"/>
              <a:buFont typeface="Arial"/>
              <a:buNone/>
            </a:pPr>
            <a:r>
              <a:rPr lang="en-US" sz="1943">
                <a:solidFill>
                  <a:srgbClr val="FFFFFF"/>
                </a:solidFill>
                <a:latin typeface="Arial"/>
                <a:ea typeface="Arial"/>
                <a:cs typeface="Arial"/>
                <a:sym typeface="Arial"/>
              </a:rPr>
              <a:t>San José State University</a:t>
            </a:r>
            <a:endParaRPr sz="1943">
              <a:solidFill>
                <a:schemeClr val="dk1"/>
              </a:solidFill>
              <a:latin typeface="Calibri"/>
              <a:ea typeface="Calibri"/>
              <a:cs typeface="Calibri"/>
              <a:sym typeface="Calibri"/>
            </a:endParaRPr>
          </a:p>
        </p:txBody>
      </p:sp>
      <p:sp>
        <p:nvSpPr>
          <p:cNvPr id="20" name="Google Shape;20;p1"/>
          <p:cNvSpPr/>
          <p:nvPr/>
        </p:nvSpPr>
        <p:spPr>
          <a:xfrm>
            <a:off x="15468302" y="7277100"/>
            <a:ext cx="1676698" cy="295275"/>
          </a:xfrm>
          <a:prstGeom prst="rect">
            <a:avLst/>
          </a:prstGeom>
          <a:noFill/>
          <a:ln>
            <a:noFill/>
          </a:ln>
        </p:spPr>
        <p:txBody>
          <a:bodyPr spcFirstLastPara="1" wrap="square" lIns="25400" tIns="25400" rIns="25400" bIns="25400" anchor="t" anchorCtr="0">
            <a:normAutofit/>
          </a:bodyPr>
          <a:lstStyle/>
          <a:p>
            <a:pPr marL="0" marR="0" lvl="0" indent="0" algn="r" rtl="0">
              <a:lnSpc>
                <a:spcPct val="90000"/>
              </a:lnSpc>
              <a:spcBef>
                <a:spcPts val="0"/>
              </a:spcBef>
              <a:spcAft>
                <a:spcPts val="0"/>
              </a:spcAft>
              <a:buClr>
                <a:srgbClr val="FFFFFF"/>
              </a:buClr>
              <a:buSzPts val="1665"/>
              <a:buFont typeface="Courier New"/>
              <a:buNone/>
            </a:pPr>
            <a:r>
              <a:rPr lang="en-US" sz="1665">
                <a:solidFill>
                  <a:srgbClr val="FFFFFF"/>
                </a:solidFill>
                <a:latin typeface="Courier New"/>
                <a:ea typeface="Courier New"/>
                <a:cs typeface="Courier New"/>
                <a:sym typeface="Courier New"/>
              </a:rPr>
              <a:t>APRIL 2026</a:t>
            </a:r>
            <a:endParaRPr sz="1665">
              <a:solidFill>
                <a:schemeClr val="dk1"/>
              </a:solidFill>
              <a:latin typeface="Calibri"/>
              <a:ea typeface="Calibri"/>
              <a:cs typeface="Calibri"/>
              <a:sym typeface="Calibri"/>
            </a:endParaRPr>
          </a:p>
        </p:txBody>
      </p:sp>
      <p:sp>
        <p:nvSpPr>
          <p:cNvPr id="21" name="Google Shape;21;p1"/>
          <p:cNvSpPr/>
          <p:nvPr/>
        </p:nvSpPr>
        <p:spPr>
          <a:xfrm>
            <a:off x="16692116" y="8039100"/>
            <a:ext cx="1100584" cy="2952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FFFFFF"/>
              </a:buClr>
              <a:buSzPts val="1665"/>
              <a:buFont typeface="Courier New"/>
              <a:buNone/>
            </a:pPr>
            <a:r>
              <a:rPr lang="en-US" sz="1665">
                <a:solidFill>
                  <a:srgbClr val="FFFFFF"/>
                </a:solidFill>
                <a:latin typeface="Courier New"/>
                <a:ea typeface="Courier New"/>
                <a:cs typeface="Courier New"/>
                <a:sym typeface="Courier New"/>
              </a:rPr>
              <a:t>01/19</a:t>
            </a:r>
            <a:endParaRPr sz="1665">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Shape 26"/>
        <p:cNvGrpSpPr/>
        <p:nvPr/>
      </p:nvGrpSpPr>
      <p:grpSpPr>
        <a:xfrm>
          <a:off x="0" y="0"/>
          <a:ext cx="0" cy="0"/>
          <a:chOff x="0" y="0"/>
          <a:chExt cx="0" cy="0"/>
        </a:xfrm>
      </p:grpSpPr>
      <p:sp>
        <p:nvSpPr>
          <p:cNvPr id="27" name="Google Shape;27;p2"/>
          <p:cNvSpPr/>
          <p:nvPr/>
        </p:nvSpPr>
        <p:spPr>
          <a:xfrm>
            <a:off x="952500" y="1047006"/>
            <a:ext cx="533400" cy="19050"/>
          </a:xfrm>
          <a:prstGeom prst="rect">
            <a:avLst/>
          </a:prstGeom>
          <a:solidFill>
            <a:srgbClr val="4B484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 name="Google Shape;28;p2"/>
          <p:cNvSpPr/>
          <p:nvPr/>
        </p:nvSpPr>
        <p:spPr>
          <a:xfrm>
            <a:off x="1657350" y="952500"/>
            <a:ext cx="2755204" cy="2952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665"/>
              <a:buFont typeface="Courier New"/>
              <a:buNone/>
            </a:pPr>
            <a:r>
              <a:rPr lang="en-US" sz="1665">
                <a:solidFill>
                  <a:srgbClr val="807C76"/>
                </a:solidFill>
                <a:latin typeface="Courier New"/>
                <a:ea typeface="Courier New"/>
                <a:cs typeface="Courier New"/>
                <a:sym typeface="Courier New"/>
              </a:rPr>
              <a:t>01 · MOTIVATION</a:t>
            </a:r>
            <a:endParaRPr sz="1665">
              <a:solidFill>
                <a:schemeClr val="dk1"/>
              </a:solidFill>
              <a:latin typeface="Calibri"/>
              <a:ea typeface="Calibri"/>
              <a:cs typeface="Calibri"/>
              <a:sym typeface="Calibri"/>
            </a:endParaRPr>
          </a:p>
        </p:txBody>
      </p:sp>
      <p:sp>
        <p:nvSpPr>
          <p:cNvPr id="29" name="Google Shape;29;p2"/>
          <p:cNvSpPr/>
          <p:nvPr/>
        </p:nvSpPr>
        <p:spPr>
          <a:xfrm>
            <a:off x="952500" y="1704975"/>
            <a:ext cx="7946708" cy="1295400"/>
          </a:xfrm>
          <a:prstGeom prst="rect">
            <a:avLst/>
          </a:prstGeom>
          <a:noFill/>
          <a:ln>
            <a:noFill/>
          </a:ln>
        </p:spPr>
        <p:txBody>
          <a:bodyPr spcFirstLastPara="1" wrap="square" lIns="25400" tIns="25400" rIns="25400" bIns="25400" anchor="t" anchorCtr="0">
            <a:normAutofit/>
          </a:bodyPr>
          <a:lstStyle/>
          <a:p>
            <a:pPr marL="0" marR="0" lvl="0" indent="0" algn="l" rtl="0">
              <a:lnSpc>
                <a:spcPct val="84000"/>
              </a:lnSpc>
              <a:spcBef>
                <a:spcPts val="0"/>
              </a:spcBef>
              <a:spcAft>
                <a:spcPts val="0"/>
              </a:spcAft>
              <a:buClr>
                <a:srgbClr val="1C1B1A"/>
              </a:buClr>
              <a:buSzPts val="4440"/>
              <a:buFont typeface="Georgia"/>
              <a:buNone/>
            </a:pPr>
            <a:r>
              <a:rPr lang="en-US" sz="4440" b="1">
                <a:solidFill>
                  <a:srgbClr val="1C1B1A"/>
                </a:solidFill>
                <a:latin typeface="Georgia"/>
                <a:ea typeface="Georgia"/>
                <a:cs typeface="Georgia"/>
                <a:sym typeface="Georgia"/>
              </a:rPr>
              <a:t>Why student dropout matters</a:t>
            </a:r>
            <a:endParaRPr sz="4440">
              <a:solidFill>
                <a:schemeClr val="dk1"/>
              </a:solidFill>
              <a:latin typeface="Calibri"/>
              <a:ea typeface="Calibri"/>
              <a:cs typeface="Calibri"/>
              <a:sym typeface="Calibri"/>
            </a:endParaRPr>
          </a:p>
        </p:txBody>
      </p:sp>
      <p:sp>
        <p:nvSpPr>
          <p:cNvPr id="30" name="Google Shape;30;p2"/>
          <p:cNvSpPr/>
          <p:nvPr/>
        </p:nvSpPr>
        <p:spPr>
          <a:xfrm>
            <a:off x="952500" y="3343275"/>
            <a:ext cx="7456170" cy="1905000"/>
          </a:xfrm>
          <a:prstGeom prst="rect">
            <a:avLst/>
          </a:prstGeom>
          <a:noFill/>
          <a:ln>
            <a:noFill/>
          </a:ln>
        </p:spPr>
        <p:txBody>
          <a:bodyPr spcFirstLastPara="1" wrap="square" lIns="25400" tIns="25400" rIns="25400" bIns="25400" anchor="t" anchorCtr="0">
            <a:normAutofit/>
          </a:bodyPr>
          <a:lstStyle/>
          <a:p>
            <a:pPr marL="0" marR="0" lvl="0" indent="0" algn="l" rtl="0">
              <a:lnSpc>
                <a:spcPct val="125000"/>
              </a:lnSpc>
              <a:spcBef>
                <a:spcPts val="0"/>
              </a:spcBef>
              <a:spcAft>
                <a:spcPts val="0"/>
              </a:spcAft>
              <a:buClr>
                <a:srgbClr val="4B4845"/>
              </a:buClr>
              <a:buSzPts val="2358"/>
              <a:buFont typeface="Arial"/>
              <a:buNone/>
            </a:pPr>
            <a:r>
              <a:rPr lang="en-US" sz="2359">
                <a:solidFill>
                  <a:srgbClr val="4B4845"/>
                </a:solidFill>
                <a:latin typeface="Arial"/>
                <a:ea typeface="Arial"/>
                <a:cs typeface="Arial"/>
                <a:sym typeface="Arial"/>
              </a:rPr>
              <a:t>Dropout costs students years of investment and costs universities funding, reputation, and capacity. Early identification of at-risk students unlocks targeted academic advising before it's too late.</a:t>
            </a:r>
            <a:endParaRPr sz="2359">
              <a:solidFill>
                <a:schemeClr val="dk1"/>
              </a:solidFill>
              <a:latin typeface="Calibri"/>
              <a:ea typeface="Calibri"/>
              <a:cs typeface="Calibri"/>
              <a:sym typeface="Calibri"/>
            </a:endParaRPr>
          </a:p>
        </p:txBody>
      </p:sp>
      <p:sp>
        <p:nvSpPr>
          <p:cNvPr id="31" name="Google Shape;31;p2"/>
          <p:cNvSpPr/>
          <p:nvPr/>
        </p:nvSpPr>
        <p:spPr>
          <a:xfrm>
            <a:off x="9620250" y="1704975"/>
            <a:ext cx="7946708" cy="1409700"/>
          </a:xfrm>
          <a:prstGeom prst="rect">
            <a:avLst/>
          </a:prstGeom>
          <a:noFill/>
          <a:ln>
            <a:noFill/>
          </a:ln>
        </p:spPr>
        <p:txBody>
          <a:bodyPr spcFirstLastPara="1" wrap="square" lIns="25400" tIns="25400" rIns="25400" bIns="25400" anchor="t" anchorCtr="0">
            <a:normAutofit/>
          </a:bodyPr>
          <a:lstStyle/>
          <a:p>
            <a:pPr marL="0" marR="0" lvl="0" indent="0" algn="l" rtl="0">
              <a:lnSpc>
                <a:spcPct val="80000"/>
              </a:lnSpc>
              <a:spcBef>
                <a:spcPts val="0"/>
              </a:spcBef>
              <a:spcAft>
                <a:spcPts val="0"/>
              </a:spcAft>
              <a:buClr>
                <a:srgbClr val="E24B4A"/>
              </a:buClr>
              <a:buSzPts val="11100"/>
              <a:buFont typeface="Georgia"/>
              <a:buNone/>
            </a:pPr>
            <a:r>
              <a:rPr lang="en-US" sz="11100" b="1">
                <a:solidFill>
                  <a:srgbClr val="E24B4A"/>
                </a:solidFill>
                <a:latin typeface="Georgia"/>
                <a:ea typeface="Georgia"/>
                <a:cs typeface="Georgia"/>
                <a:sym typeface="Georgia"/>
              </a:rPr>
              <a:t>32.1</a:t>
            </a:r>
            <a:r>
              <a:rPr lang="en-US" sz="5273" b="1">
                <a:solidFill>
                  <a:srgbClr val="E24B4A"/>
                </a:solidFill>
                <a:latin typeface="Georgia"/>
                <a:ea typeface="Georgia"/>
                <a:cs typeface="Georgia"/>
                <a:sym typeface="Georgia"/>
              </a:rPr>
              <a:t>%</a:t>
            </a:r>
            <a:endParaRPr sz="11100">
              <a:solidFill>
                <a:schemeClr val="dk1"/>
              </a:solidFill>
              <a:latin typeface="Calibri"/>
              <a:ea typeface="Calibri"/>
              <a:cs typeface="Calibri"/>
              <a:sym typeface="Calibri"/>
            </a:endParaRPr>
          </a:p>
        </p:txBody>
      </p:sp>
      <p:sp>
        <p:nvSpPr>
          <p:cNvPr id="32" name="Google Shape;32;p2"/>
          <p:cNvSpPr/>
          <p:nvPr/>
        </p:nvSpPr>
        <p:spPr>
          <a:xfrm>
            <a:off x="9620250" y="3391958"/>
            <a:ext cx="7946708" cy="35242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4B4845"/>
              </a:buClr>
              <a:buSzPts val="2100"/>
              <a:buFont typeface="Arial"/>
              <a:buNone/>
            </a:pPr>
            <a:r>
              <a:rPr lang="en-US" sz="2100">
                <a:solidFill>
                  <a:srgbClr val="4B4845"/>
                </a:solidFill>
                <a:latin typeface="Arial"/>
                <a:ea typeface="Arial"/>
                <a:cs typeface="Arial"/>
                <a:sym typeface="Arial"/>
              </a:rPr>
              <a:t>of students in our dataset dropped out before graduating</a:t>
            </a:r>
            <a:endParaRPr sz="2100">
              <a:solidFill>
                <a:schemeClr val="dk1"/>
              </a:solidFill>
              <a:latin typeface="Calibri"/>
              <a:ea typeface="Calibri"/>
              <a:cs typeface="Calibri"/>
              <a:sym typeface="Calibri"/>
            </a:endParaRPr>
          </a:p>
        </p:txBody>
      </p:sp>
      <p:sp>
        <p:nvSpPr>
          <p:cNvPr id="33" name="Google Shape;33;p2"/>
          <p:cNvSpPr/>
          <p:nvPr/>
        </p:nvSpPr>
        <p:spPr>
          <a:xfrm>
            <a:off x="9620250" y="4352925"/>
            <a:ext cx="3016746" cy="19050"/>
          </a:xfrm>
          <a:prstGeom prst="rect">
            <a:avLst/>
          </a:prstGeom>
          <a:solidFill>
            <a:srgbClr val="1C1B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 name="Google Shape;34;p2"/>
          <p:cNvSpPr/>
          <p:nvPr/>
        </p:nvSpPr>
        <p:spPr>
          <a:xfrm>
            <a:off x="9829800" y="3943350"/>
            <a:ext cx="2688148" cy="276225"/>
          </a:xfrm>
          <a:prstGeom prst="rect">
            <a:avLst/>
          </a:prstGeom>
          <a:noFill/>
          <a:ln>
            <a:noFill/>
          </a:ln>
        </p:spPr>
        <p:txBody>
          <a:bodyPr spcFirstLastPara="1" wrap="square" lIns="25400" tIns="25400" rIns="25400" bIns="25400" anchor="ctr" anchorCtr="0">
            <a:normAutofit/>
          </a:bodyPr>
          <a:lstStyle/>
          <a:p>
            <a:pPr marL="0" marR="0" lvl="0" indent="0" algn="l" rtl="0">
              <a:lnSpc>
                <a:spcPct val="90000"/>
              </a:lnSpc>
              <a:spcBef>
                <a:spcPts val="0"/>
              </a:spcBef>
              <a:spcAft>
                <a:spcPts val="0"/>
              </a:spcAft>
              <a:buClr>
                <a:srgbClr val="807C76"/>
              </a:buClr>
              <a:buSzPts val="1526"/>
              <a:buFont typeface="Arial"/>
              <a:buNone/>
            </a:pPr>
            <a:r>
              <a:rPr lang="en-US" sz="1526" b="1">
                <a:solidFill>
                  <a:srgbClr val="807C76"/>
                </a:solidFill>
                <a:latin typeface="Arial"/>
                <a:ea typeface="Arial"/>
                <a:cs typeface="Arial"/>
                <a:sym typeface="Arial"/>
              </a:rPr>
              <a:t>OUTCOME</a:t>
            </a:r>
            <a:endParaRPr sz="1526">
              <a:solidFill>
                <a:schemeClr val="dk1"/>
              </a:solidFill>
              <a:latin typeface="Calibri"/>
              <a:ea typeface="Calibri"/>
              <a:cs typeface="Calibri"/>
              <a:sym typeface="Calibri"/>
            </a:endParaRPr>
          </a:p>
        </p:txBody>
      </p:sp>
      <p:sp>
        <p:nvSpPr>
          <p:cNvPr id="35" name="Google Shape;35;p2"/>
          <p:cNvSpPr/>
          <p:nvPr/>
        </p:nvSpPr>
        <p:spPr>
          <a:xfrm>
            <a:off x="12636996" y="4352925"/>
            <a:ext cx="2362795" cy="19050"/>
          </a:xfrm>
          <a:prstGeom prst="rect">
            <a:avLst/>
          </a:prstGeom>
          <a:solidFill>
            <a:srgbClr val="1C1B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 name="Google Shape;36;p2"/>
          <p:cNvSpPr/>
          <p:nvPr/>
        </p:nvSpPr>
        <p:spPr>
          <a:xfrm>
            <a:off x="12770346" y="3943350"/>
            <a:ext cx="2019895" cy="276225"/>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807C76"/>
              </a:buClr>
              <a:buSzPts val="1526"/>
              <a:buFont typeface="Arial"/>
              <a:buNone/>
            </a:pPr>
            <a:r>
              <a:rPr lang="en-US" sz="1526" b="1">
                <a:solidFill>
                  <a:srgbClr val="807C76"/>
                </a:solidFill>
                <a:latin typeface="Arial"/>
                <a:ea typeface="Arial"/>
                <a:cs typeface="Arial"/>
                <a:sym typeface="Arial"/>
              </a:rPr>
              <a:t>COUNT</a:t>
            </a:r>
            <a:endParaRPr sz="1526">
              <a:solidFill>
                <a:schemeClr val="dk1"/>
              </a:solidFill>
              <a:latin typeface="Calibri"/>
              <a:ea typeface="Calibri"/>
              <a:cs typeface="Calibri"/>
              <a:sym typeface="Calibri"/>
            </a:endParaRPr>
          </a:p>
        </p:txBody>
      </p:sp>
      <p:sp>
        <p:nvSpPr>
          <p:cNvPr id="37" name="Google Shape;37;p2"/>
          <p:cNvSpPr/>
          <p:nvPr/>
        </p:nvSpPr>
        <p:spPr>
          <a:xfrm>
            <a:off x="14999791" y="4352925"/>
            <a:ext cx="2335857" cy="19050"/>
          </a:xfrm>
          <a:prstGeom prst="rect">
            <a:avLst/>
          </a:prstGeom>
          <a:solidFill>
            <a:srgbClr val="1C1B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 name="Google Shape;38;p2"/>
          <p:cNvSpPr/>
          <p:nvPr/>
        </p:nvSpPr>
        <p:spPr>
          <a:xfrm>
            <a:off x="15133141" y="3943350"/>
            <a:ext cx="1992957" cy="276225"/>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807C76"/>
              </a:buClr>
              <a:buSzPts val="1526"/>
              <a:buFont typeface="Arial"/>
              <a:buNone/>
            </a:pPr>
            <a:r>
              <a:rPr lang="en-US" sz="1526" b="1">
                <a:solidFill>
                  <a:srgbClr val="807C76"/>
                </a:solidFill>
                <a:latin typeface="Arial"/>
                <a:ea typeface="Arial"/>
                <a:cs typeface="Arial"/>
                <a:sym typeface="Arial"/>
              </a:rPr>
              <a:t>SHARE</a:t>
            </a:r>
            <a:endParaRPr sz="1526">
              <a:solidFill>
                <a:schemeClr val="dk1"/>
              </a:solidFill>
              <a:latin typeface="Calibri"/>
              <a:ea typeface="Calibri"/>
              <a:cs typeface="Calibri"/>
              <a:sym typeface="Calibri"/>
            </a:endParaRPr>
          </a:p>
        </p:txBody>
      </p:sp>
      <p:sp>
        <p:nvSpPr>
          <p:cNvPr id="39" name="Google Shape;39;p2"/>
          <p:cNvSpPr/>
          <p:nvPr/>
        </p:nvSpPr>
        <p:spPr>
          <a:xfrm>
            <a:off x="9620250" y="5043488"/>
            <a:ext cx="3016746"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 name="Google Shape;40;p2"/>
          <p:cNvSpPr/>
          <p:nvPr/>
        </p:nvSpPr>
        <p:spPr>
          <a:xfrm>
            <a:off x="9829800" y="4543425"/>
            <a:ext cx="2688148" cy="366712"/>
          </a:xfrm>
          <a:prstGeom prst="rect">
            <a:avLst/>
          </a:prstGeom>
          <a:noFill/>
          <a:ln>
            <a:noFill/>
          </a:ln>
        </p:spPr>
        <p:txBody>
          <a:bodyPr spcFirstLastPara="1" wrap="square" lIns="25400" tIns="25400" rIns="25400" bIns="25400" anchor="ctr" anchorCtr="0">
            <a:normAutofit/>
          </a:bodyPr>
          <a:lstStyle/>
          <a:p>
            <a:pPr marL="0" marR="0" lvl="0" indent="0" algn="l" rtl="0">
              <a:lnSpc>
                <a:spcPct val="90000"/>
              </a:lnSpc>
              <a:spcBef>
                <a:spcPts val="0"/>
              </a:spcBef>
              <a:spcAft>
                <a:spcPts val="0"/>
              </a:spcAft>
              <a:buClr>
                <a:srgbClr val="E24B4A"/>
              </a:buClr>
              <a:buSzPts val="2100"/>
              <a:buFont typeface="Arial"/>
              <a:buNone/>
            </a:pPr>
            <a:r>
              <a:rPr lang="en-US" sz="2100" b="1">
                <a:solidFill>
                  <a:srgbClr val="E24B4A"/>
                </a:solidFill>
                <a:latin typeface="Arial"/>
                <a:ea typeface="Arial"/>
                <a:cs typeface="Arial"/>
                <a:sym typeface="Arial"/>
              </a:rPr>
              <a:t>Dropout</a:t>
            </a:r>
            <a:endParaRPr sz="2100">
              <a:solidFill>
                <a:schemeClr val="dk1"/>
              </a:solidFill>
              <a:latin typeface="Calibri"/>
              <a:ea typeface="Calibri"/>
              <a:cs typeface="Calibri"/>
              <a:sym typeface="Calibri"/>
            </a:endParaRPr>
          </a:p>
        </p:txBody>
      </p:sp>
      <p:sp>
        <p:nvSpPr>
          <p:cNvPr id="41" name="Google Shape;41;p2"/>
          <p:cNvSpPr/>
          <p:nvPr/>
        </p:nvSpPr>
        <p:spPr>
          <a:xfrm>
            <a:off x="12636996" y="5043488"/>
            <a:ext cx="2362795"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 name="Google Shape;42;p2"/>
          <p:cNvSpPr/>
          <p:nvPr/>
        </p:nvSpPr>
        <p:spPr>
          <a:xfrm>
            <a:off x="12770346" y="4543425"/>
            <a:ext cx="2019895" cy="366712"/>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2100"/>
              <a:buFont typeface="Arial"/>
              <a:buNone/>
            </a:pPr>
            <a:r>
              <a:rPr lang="en-US" sz="2100">
                <a:solidFill>
                  <a:srgbClr val="1C1B1A"/>
                </a:solidFill>
                <a:latin typeface="Arial"/>
                <a:ea typeface="Arial"/>
                <a:cs typeface="Arial"/>
                <a:sym typeface="Arial"/>
              </a:rPr>
              <a:t>1,421</a:t>
            </a:r>
            <a:endParaRPr sz="2100">
              <a:solidFill>
                <a:schemeClr val="dk1"/>
              </a:solidFill>
              <a:latin typeface="Calibri"/>
              <a:ea typeface="Calibri"/>
              <a:cs typeface="Calibri"/>
              <a:sym typeface="Calibri"/>
            </a:endParaRPr>
          </a:p>
        </p:txBody>
      </p:sp>
      <p:sp>
        <p:nvSpPr>
          <p:cNvPr id="43" name="Google Shape;43;p2"/>
          <p:cNvSpPr/>
          <p:nvPr/>
        </p:nvSpPr>
        <p:spPr>
          <a:xfrm>
            <a:off x="14999791" y="5043488"/>
            <a:ext cx="2335857"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 name="Google Shape;44;p2"/>
          <p:cNvSpPr/>
          <p:nvPr/>
        </p:nvSpPr>
        <p:spPr>
          <a:xfrm>
            <a:off x="15133141" y="4543425"/>
            <a:ext cx="1992957" cy="366712"/>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2100"/>
              <a:buFont typeface="Arial"/>
              <a:buNone/>
            </a:pPr>
            <a:r>
              <a:rPr lang="en-US" sz="2100" b="1">
                <a:solidFill>
                  <a:srgbClr val="1C1B1A"/>
                </a:solidFill>
                <a:latin typeface="Arial"/>
                <a:ea typeface="Arial"/>
                <a:cs typeface="Arial"/>
                <a:sym typeface="Arial"/>
              </a:rPr>
              <a:t>32.1%</a:t>
            </a:r>
            <a:endParaRPr sz="2100">
              <a:solidFill>
                <a:schemeClr val="dk1"/>
              </a:solidFill>
              <a:latin typeface="Calibri"/>
              <a:ea typeface="Calibri"/>
              <a:cs typeface="Calibri"/>
              <a:sym typeface="Calibri"/>
            </a:endParaRPr>
          </a:p>
        </p:txBody>
      </p:sp>
      <p:sp>
        <p:nvSpPr>
          <p:cNvPr id="45" name="Google Shape;45;p2"/>
          <p:cNvSpPr/>
          <p:nvPr/>
        </p:nvSpPr>
        <p:spPr>
          <a:xfrm>
            <a:off x="9620250" y="5719763"/>
            <a:ext cx="3016746"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6" name="Google Shape;46;p2"/>
          <p:cNvSpPr/>
          <p:nvPr/>
        </p:nvSpPr>
        <p:spPr>
          <a:xfrm>
            <a:off x="9829800" y="5224463"/>
            <a:ext cx="2688148" cy="361950"/>
          </a:xfrm>
          <a:prstGeom prst="rect">
            <a:avLst/>
          </a:prstGeom>
          <a:noFill/>
          <a:ln>
            <a:noFill/>
          </a:ln>
        </p:spPr>
        <p:txBody>
          <a:bodyPr spcFirstLastPara="1" wrap="square" lIns="25400" tIns="25400" rIns="25400" bIns="25400" anchor="ctr" anchorCtr="0">
            <a:normAutofit/>
          </a:bodyPr>
          <a:lstStyle/>
          <a:p>
            <a:pPr marL="0" marR="0" lvl="0" indent="0" algn="l" rtl="0">
              <a:lnSpc>
                <a:spcPct val="90000"/>
              </a:lnSpc>
              <a:spcBef>
                <a:spcPts val="0"/>
              </a:spcBef>
              <a:spcAft>
                <a:spcPts val="0"/>
              </a:spcAft>
              <a:buClr>
                <a:srgbClr val="EF9F27"/>
              </a:buClr>
              <a:buSzPts val="2100"/>
              <a:buFont typeface="Arial"/>
              <a:buNone/>
            </a:pPr>
            <a:r>
              <a:rPr lang="en-US" sz="2100" b="1">
                <a:solidFill>
                  <a:srgbClr val="EF9F27"/>
                </a:solidFill>
                <a:latin typeface="Arial"/>
                <a:ea typeface="Arial"/>
                <a:cs typeface="Arial"/>
                <a:sym typeface="Arial"/>
              </a:rPr>
              <a:t>Enrolled</a:t>
            </a:r>
            <a:endParaRPr sz="2100">
              <a:solidFill>
                <a:schemeClr val="dk1"/>
              </a:solidFill>
              <a:latin typeface="Calibri"/>
              <a:ea typeface="Calibri"/>
              <a:cs typeface="Calibri"/>
              <a:sym typeface="Calibri"/>
            </a:endParaRPr>
          </a:p>
        </p:txBody>
      </p:sp>
      <p:sp>
        <p:nvSpPr>
          <p:cNvPr id="47" name="Google Shape;47;p2"/>
          <p:cNvSpPr/>
          <p:nvPr/>
        </p:nvSpPr>
        <p:spPr>
          <a:xfrm>
            <a:off x="12636996" y="5719763"/>
            <a:ext cx="2362795"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8" name="Google Shape;48;p2"/>
          <p:cNvSpPr/>
          <p:nvPr/>
        </p:nvSpPr>
        <p:spPr>
          <a:xfrm>
            <a:off x="12770346" y="5224463"/>
            <a:ext cx="2019895" cy="36195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2100"/>
              <a:buFont typeface="Arial"/>
              <a:buNone/>
            </a:pPr>
            <a:r>
              <a:rPr lang="en-US" sz="2100">
                <a:solidFill>
                  <a:srgbClr val="1C1B1A"/>
                </a:solidFill>
                <a:latin typeface="Arial"/>
                <a:ea typeface="Arial"/>
                <a:cs typeface="Arial"/>
                <a:sym typeface="Arial"/>
              </a:rPr>
              <a:t>794</a:t>
            </a:r>
            <a:endParaRPr sz="2100">
              <a:solidFill>
                <a:schemeClr val="dk1"/>
              </a:solidFill>
              <a:latin typeface="Calibri"/>
              <a:ea typeface="Calibri"/>
              <a:cs typeface="Calibri"/>
              <a:sym typeface="Calibri"/>
            </a:endParaRPr>
          </a:p>
        </p:txBody>
      </p:sp>
      <p:sp>
        <p:nvSpPr>
          <p:cNvPr id="49" name="Google Shape;49;p2"/>
          <p:cNvSpPr/>
          <p:nvPr/>
        </p:nvSpPr>
        <p:spPr>
          <a:xfrm>
            <a:off x="14999791" y="5719763"/>
            <a:ext cx="2335857"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 name="Google Shape;50;p2"/>
          <p:cNvSpPr/>
          <p:nvPr/>
        </p:nvSpPr>
        <p:spPr>
          <a:xfrm>
            <a:off x="15133141" y="5224463"/>
            <a:ext cx="1992957" cy="36195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2100"/>
              <a:buFont typeface="Arial"/>
              <a:buNone/>
            </a:pPr>
            <a:r>
              <a:rPr lang="en-US" sz="2100">
                <a:solidFill>
                  <a:srgbClr val="1C1B1A"/>
                </a:solidFill>
                <a:latin typeface="Arial"/>
                <a:ea typeface="Arial"/>
                <a:cs typeface="Arial"/>
                <a:sym typeface="Arial"/>
              </a:rPr>
              <a:t>17.9%</a:t>
            </a:r>
            <a:endParaRPr sz="2100">
              <a:solidFill>
                <a:schemeClr val="dk1"/>
              </a:solidFill>
              <a:latin typeface="Calibri"/>
              <a:ea typeface="Calibri"/>
              <a:cs typeface="Calibri"/>
              <a:sym typeface="Calibri"/>
            </a:endParaRPr>
          </a:p>
        </p:txBody>
      </p:sp>
      <p:sp>
        <p:nvSpPr>
          <p:cNvPr id="51" name="Google Shape;51;p2"/>
          <p:cNvSpPr/>
          <p:nvPr/>
        </p:nvSpPr>
        <p:spPr>
          <a:xfrm>
            <a:off x="9620250" y="6400800"/>
            <a:ext cx="3016746"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 name="Google Shape;52;p2"/>
          <p:cNvSpPr/>
          <p:nvPr/>
        </p:nvSpPr>
        <p:spPr>
          <a:xfrm>
            <a:off x="9829800" y="5900738"/>
            <a:ext cx="2688148" cy="366712"/>
          </a:xfrm>
          <a:prstGeom prst="rect">
            <a:avLst/>
          </a:prstGeom>
          <a:noFill/>
          <a:ln>
            <a:noFill/>
          </a:ln>
        </p:spPr>
        <p:txBody>
          <a:bodyPr spcFirstLastPara="1" wrap="square" lIns="25400" tIns="25400" rIns="25400" bIns="25400" anchor="ctr" anchorCtr="0">
            <a:normAutofit/>
          </a:bodyPr>
          <a:lstStyle/>
          <a:p>
            <a:pPr marL="0" marR="0" lvl="0" indent="0" algn="l" rtl="0">
              <a:lnSpc>
                <a:spcPct val="90000"/>
              </a:lnSpc>
              <a:spcBef>
                <a:spcPts val="0"/>
              </a:spcBef>
              <a:spcAft>
                <a:spcPts val="0"/>
              </a:spcAft>
              <a:buClr>
                <a:srgbClr val="1D9E75"/>
              </a:buClr>
              <a:buSzPts val="2100"/>
              <a:buFont typeface="Arial"/>
              <a:buNone/>
            </a:pPr>
            <a:r>
              <a:rPr lang="en-US" sz="2100" b="1">
                <a:solidFill>
                  <a:srgbClr val="1D9E75"/>
                </a:solidFill>
                <a:latin typeface="Arial"/>
                <a:ea typeface="Arial"/>
                <a:cs typeface="Arial"/>
                <a:sym typeface="Arial"/>
              </a:rPr>
              <a:t>Graduate</a:t>
            </a:r>
            <a:endParaRPr sz="2100">
              <a:solidFill>
                <a:schemeClr val="dk1"/>
              </a:solidFill>
              <a:latin typeface="Calibri"/>
              <a:ea typeface="Calibri"/>
              <a:cs typeface="Calibri"/>
              <a:sym typeface="Calibri"/>
            </a:endParaRPr>
          </a:p>
        </p:txBody>
      </p:sp>
      <p:sp>
        <p:nvSpPr>
          <p:cNvPr id="53" name="Google Shape;53;p2"/>
          <p:cNvSpPr/>
          <p:nvPr/>
        </p:nvSpPr>
        <p:spPr>
          <a:xfrm>
            <a:off x="12636996" y="6400800"/>
            <a:ext cx="2362795"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4" name="Google Shape;54;p2"/>
          <p:cNvSpPr/>
          <p:nvPr/>
        </p:nvSpPr>
        <p:spPr>
          <a:xfrm>
            <a:off x="12770346" y="5900738"/>
            <a:ext cx="2019895" cy="366712"/>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2100"/>
              <a:buFont typeface="Arial"/>
              <a:buNone/>
            </a:pPr>
            <a:r>
              <a:rPr lang="en-US" sz="2100">
                <a:solidFill>
                  <a:srgbClr val="1C1B1A"/>
                </a:solidFill>
                <a:latin typeface="Arial"/>
                <a:ea typeface="Arial"/>
                <a:cs typeface="Arial"/>
                <a:sym typeface="Arial"/>
              </a:rPr>
              <a:t>2,209</a:t>
            </a:r>
            <a:endParaRPr sz="2100">
              <a:solidFill>
                <a:schemeClr val="dk1"/>
              </a:solidFill>
              <a:latin typeface="Calibri"/>
              <a:ea typeface="Calibri"/>
              <a:cs typeface="Calibri"/>
              <a:sym typeface="Calibri"/>
            </a:endParaRPr>
          </a:p>
        </p:txBody>
      </p:sp>
      <p:sp>
        <p:nvSpPr>
          <p:cNvPr id="55" name="Google Shape;55;p2"/>
          <p:cNvSpPr/>
          <p:nvPr/>
        </p:nvSpPr>
        <p:spPr>
          <a:xfrm>
            <a:off x="14999791" y="6400800"/>
            <a:ext cx="2335857"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6" name="Google Shape;56;p2"/>
          <p:cNvSpPr/>
          <p:nvPr/>
        </p:nvSpPr>
        <p:spPr>
          <a:xfrm>
            <a:off x="15133141" y="5900738"/>
            <a:ext cx="1992957" cy="366712"/>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2100"/>
              <a:buFont typeface="Arial"/>
              <a:buNone/>
            </a:pPr>
            <a:r>
              <a:rPr lang="en-US" sz="2100">
                <a:solidFill>
                  <a:srgbClr val="1C1B1A"/>
                </a:solidFill>
                <a:latin typeface="Arial"/>
                <a:ea typeface="Arial"/>
                <a:cs typeface="Arial"/>
                <a:sym typeface="Arial"/>
              </a:rPr>
              <a:t>49.9%</a:t>
            </a:r>
            <a:endParaRPr sz="2100">
              <a:solidFill>
                <a:schemeClr val="dk1"/>
              </a:solidFill>
              <a:latin typeface="Calibri"/>
              <a:ea typeface="Calibri"/>
              <a:cs typeface="Calibri"/>
              <a:sym typeface="Calibri"/>
            </a:endParaRPr>
          </a:p>
        </p:txBody>
      </p:sp>
      <p:sp>
        <p:nvSpPr>
          <p:cNvPr id="57" name="Google Shape;57;p2"/>
          <p:cNvSpPr/>
          <p:nvPr/>
        </p:nvSpPr>
        <p:spPr>
          <a:xfrm>
            <a:off x="9620250" y="6410325"/>
            <a:ext cx="7715250" cy="19050"/>
          </a:xfrm>
          <a:prstGeom prst="rect">
            <a:avLst/>
          </a:prstGeom>
          <a:solidFill>
            <a:srgbClr val="1C1B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8" name="Google Shape;58;p2"/>
          <p:cNvSpPr/>
          <p:nvPr/>
        </p:nvSpPr>
        <p:spPr>
          <a:xfrm>
            <a:off x="9620250" y="7081838"/>
            <a:ext cx="3016746"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9" name="Google Shape;59;p2"/>
          <p:cNvSpPr/>
          <p:nvPr/>
        </p:nvSpPr>
        <p:spPr>
          <a:xfrm>
            <a:off x="9829800" y="6581775"/>
            <a:ext cx="2688148" cy="366712"/>
          </a:xfrm>
          <a:prstGeom prst="rect">
            <a:avLst/>
          </a:prstGeom>
          <a:noFill/>
          <a:ln>
            <a:noFill/>
          </a:ln>
        </p:spPr>
        <p:txBody>
          <a:bodyPr spcFirstLastPara="1" wrap="square" lIns="25400" tIns="25400" rIns="25400" bIns="25400" anchor="ctr" anchorCtr="0">
            <a:normAutofit/>
          </a:bodyPr>
          <a:lstStyle/>
          <a:p>
            <a:pPr marL="0" marR="0" lvl="0" indent="0" algn="l" rtl="0">
              <a:lnSpc>
                <a:spcPct val="90000"/>
              </a:lnSpc>
              <a:spcBef>
                <a:spcPts val="0"/>
              </a:spcBef>
              <a:spcAft>
                <a:spcPts val="0"/>
              </a:spcAft>
              <a:buClr>
                <a:srgbClr val="1C1B1A"/>
              </a:buClr>
              <a:buSzPts val="2100"/>
              <a:buFont typeface="Arial"/>
              <a:buNone/>
            </a:pPr>
            <a:r>
              <a:rPr lang="en-US" sz="2100" b="1">
                <a:solidFill>
                  <a:srgbClr val="1C1B1A"/>
                </a:solidFill>
                <a:latin typeface="Arial"/>
                <a:ea typeface="Arial"/>
                <a:cs typeface="Arial"/>
                <a:sym typeface="Arial"/>
              </a:rPr>
              <a:t>Total</a:t>
            </a:r>
            <a:endParaRPr sz="2100">
              <a:solidFill>
                <a:schemeClr val="dk1"/>
              </a:solidFill>
              <a:latin typeface="Calibri"/>
              <a:ea typeface="Calibri"/>
              <a:cs typeface="Calibri"/>
              <a:sym typeface="Calibri"/>
            </a:endParaRPr>
          </a:p>
        </p:txBody>
      </p:sp>
      <p:sp>
        <p:nvSpPr>
          <p:cNvPr id="60" name="Google Shape;60;p2"/>
          <p:cNvSpPr/>
          <p:nvPr/>
        </p:nvSpPr>
        <p:spPr>
          <a:xfrm>
            <a:off x="12636996" y="7081838"/>
            <a:ext cx="2362795"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1" name="Google Shape;61;p2"/>
          <p:cNvSpPr/>
          <p:nvPr/>
        </p:nvSpPr>
        <p:spPr>
          <a:xfrm>
            <a:off x="12770346" y="6581775"/>
            <a:ext cx="2019895" cy="366712"/>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2100"/>
              <a:buFont typeface="Arial"/>
              <a:buNone/>
            </a:pPr>
            <a:r>
              <a:rPr lang="en-US" sz="2100" b="1">
                <a:solidFill>
                  <a:srgbClr val="1C1B1A"/>
                </a:solidFill>
                <a:latin typeface="Arial"/>
                <a:ea typeface="Arial"/>
                <a:cs typeface="Arial"/>
                <a:sym typeface="Arial"/>
              </a:rPr>
              <a:t>4,424</a:t>
            </a:r>
            <a:endParaRPr sz="2100">
              <a:solidFill>
                <a:schemeClr val="dk1"/>
              </a:solidFill>
              <a:latin typeface="Calibri"/>
              <a:ea typeface="Calibri"/>
              <a:cs typeface="Calibri"/>
              <a:sym typeface="Calibri"/>
            </a:endParaRPr>
          </a:p>
        </p:txBody>
      </p:sp>
      <p:sp>
        <p:nvSpPr>
          <p:cNvPr id="62" name="Google Shape;62;p2"/>
          <p:cNvSpPr/>
          <p:nvPr/>
        </p:nvSpPr>
        <p:spPr>
          <a:xfrm>
            <a:off x="14999791" y="7081838"/>
            <a:ext cx="2335857"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3" name="Google Shape;63;p2"/>
          <p:cNvSpPr/>
          <p:nvPr/>
        </p:nvSpPr>
        <p:spPr>
          <a:xfrm>
            <a:off x="15133141" y="6581775"/>
            <a:ext cx="1992957" cy="366712"/>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2100"/>
              <a:buFont typeface="Arial"/>
              <a:buNone/>
            </a:pPr>
            <a:r>
              <a:rPr lang="en-US" sz="2100" b="1">
                <a:solidFill>
                  <a:srgbClr val="1C1B1A"/>
                </a:solidFill>
                <a:latin typeface="Arial"/>
                <a:ea typeface="Arial"/>
                <a:cs typeface="Arial"/>
                <a:sym typeface="Arial"/>
              </a:rPr>
              <a:t>100%</a:t>
            </a:r>
            <a:endParaRPr sz="2100">
              <a:solidFill>
                <a:schemeClr val="dk1"/>
              </a:solidFill>
              <a:latin typeface="Calibri"/>
              <a:ea typeface="Calibri"/>
              <a:cs typeface="Calibri"/>
              <a:sym typeface="Calibri"/>
            </a:endParaRPr>
          </a:p>
        </p:txBody>
      </p:sp>
      <p:sp>
        <p:nvSpPr>
          <p:cNvPr id="64" name="Google Shape;64;p2"/>
          <p:cNvSpPr/>
          <p:nvPr/>
        </p:nvSpPr>
        <p:spPr>
          <a:xfrm>
            <a:off x="9620250" y="7362825"/>
            <a:ext cx="7946708" cy="22860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248"/>
              <a:buFont typeface="Courier New"/>
              <a:buNone/>
            </a:pPr>
            <a:r>
              <a:rPr lang="en-US" sz="1249">
                <a:solidFill>
                  <a:srgbClr val="807C76"/>
                </a:solidFill>
                <a:latin typeface="Courier New"/>
                <a:ea typeface="Courier New"/>
                <a:cs typeface="Courier New"/>
                <a:sym typeface="Courier New"/>
              </a:rPr>
              <a:t>Source: UCI ML Repository, Dataset 697 (Realinho et al., 2021)</a:t>
            </a:r>
            <a:endParaRPr sz="1249">
              <a:solidFill>
                <a:schemeClr val="dk1"/>
              </a:solidFill>
              <a:latin typeface="Calibri"/>
              <a:ea typeface="Calibri"/>
              <a:cs typeface="Calibri"/>
              <a:sym typeface="Calibri"/>
            </a:endParaRPr>
          </a:p>
        </p:txBody>
      </p:sp>
      <p:sp>
        <p:nvSpPr>
          <p:cNvPr id="65" name="Google Shape;65;p2"/>
          <p:cNvSpPr/>
          <p:nvPr/>
        </p:nvSpPr>
        <p:spPr>
          <a:xfrm>
            <a:off x="16692116" y="7677150"/>
            <a:ext cx="1100584" cy="2952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665"/>
              <a:buFont typeface="Courier New"/>
              <a:buNone/>
            </a:pPr>
            <a:r>
              <a:rPr lang="en-US" sz="1665">
                <a:solidFill>
                  <a:srgbClr val="807C76"/>
                </a:solidFill>
                <a:latin typeface="Courier New"/>
                <a:ea typeface="Courier New"/>
                <a:cs typeface="Courier New"/>
                <a:sym typeface="Courier New"/>
              </a:rPr>
              <a:t>02/19</a:t>
            </a:r>
            <a:endParaRPr sz="1665">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Shape 70"/>
        <p:cNvGrpSpPr/>
        <p:nvPr/>
      </p:nvGrpSpPr>
      <p:grpSpPr>
        <a:xfrm>
          <a:off x="0" y="0"/>
          <a:ext cx="0" cy="0"/>
          <a:chOff x="0" y="0"/>
          <a:chExt cx="0" cy="0"/>
        </a:xfrm>
      </p:grpSpPr>
      <p:sp>
        <p:nvSpPr>
          <p:cNvPr id="71" name="Google Shape;71;p3"/>
          <p:cNvSpPr/>
          <p:nvPr/>
        </p:nvSpPr>
        <p:spPr>
          <a:xfrm>
            <a:off x="952500" y="1047006"/>
            <a:ext cx="533400" cy="19050"/>
          </a:xfrm>
          <a:prstGeom prst="rect">
            <a:avLst/>
          </a:prstGeom>
          <a:solidFill>
            <a:srgbClr val="4B484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2" name="Google Shape;72;p3"/>
          <p:cNvSpPr/>
          <p:nvPr/>
        </p:nvSpPr>
        <p:spPr>
          <a:xfrm>
            <a:off x="1657350" y="952500"/>
            <a:ext cx="4040967" cy="2952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665"/>
              <a:buFont typeface="Courier New"/>
              <a:buNone/>
            </a:pPr>
            <a:r>
              <a:rPr lang="en-US" sz="1665">
                <a:solidFill>
                  <a:srgbClr val="807C76"/>
                </a:solidFill>
                <a:latin typeface="Courier New"/>
                <a:ea typeface="Courier New"/>
                <a:cs typeface="Courier New"/>
                <a:sym typeface="Courier New"/>
              </a:rPr>
              <a:t>02 · PROBLEM STATEMENT</a:t>
            </a:r>
            <a:endParaRPr sz="1665">
              <a:solidFill>
                <a:schemeClr val="dk1"/>
              </a:solidFill>
              <a:latin typeface="Calibri"/>
              <a:ea typeface="Calibri"/>
              <a:cs typeface="Calibri"/>
              <a:sym typeface="Calibri"/>
            </a:endParaRPr>
          </a:p>
        </p:txBody>
      </p:sp>
      <p:sp>
        <p:nvSpPr>
          <p:cNvPr id="73" name="Google Shape;73;p3"/>
          <p:cNvSpPr/>
          <p:nvPr/>
        </p:nvSpPr>
        <p:spPr>
          <a:xfrm>
            <a:off x="952500" y="1704975"/>
            <a:ext cx="14716125" cy="1295400"/>
          </a:xfrm>
          <a:prstGeom prst="rect">
            <a:avLst/>
          </a:prstGeom>
          <a:noFill/>
          <a:ln>
            <a:noFill/>
          </a:ln>
        </p:spPr>
        <p:txBody>
          <a:bodyPr spcFirstLastPara="1" wrap="square" lIns="25400" tIns="25400" rIns="25400" bIns="25400" anchor="t" anchorCtr="0">
            <a:normAutofit/>
          </a:bodyPr>
          <a:lstStyle/>
          <a:p>
            <a:pPr marL="0" marR="0" lvl="0" indent="0" algn="l" rtl="0">
              <a:lnSpc>
                <a:spcPct val="84000"/>
              </a:lnSpc>
              <a:spcBef>
                <a:spcPts val="0"/>
              </a:spcBef>
              <a:spcAft>
                <a:spcPts val="0"/>
              </a:spcAft>
              <a:buClr>
                <a:srgbClr val="1C1B1A"/>
              </a:buClr>
              <a:buSzPts val="4440"/>
              <a:buFont typeface="Georgia"/>
              <a:buNone/>
            </a:pPr>
            <a:r>
              <a:rPr lang="en-US" sz="4440" b="1">
                <a:solidFill>
                  <a:srgbClr val="1C1B1A"/>
                </a:solidFill>
                <a:latin typeface="Georgia"/>
                <a:ea typeface="Georgia"/>
                <a:cs typeface="Georgia"/>
                <a:sym typeface="Georgia"/>
              </a:rPr>
              <a:t>Can we predict a student's outcome from enrollment-time data?</a:t>
            </a:r>
            <a:endParaRPr sz="4440">
              <a:solidFill>
                <a:schemeClr val="dk1"/>
              </a:solidFill>
              <a:latin typeface="Calibri"/>
              <a:ea typeface="Calibri"/>
              <a:cs typeface="Calibri"/>
              <a:sym typeface="Calibri"/>
            </a:endParaRPr>
          </a:p>
        </p:txBody>
      </p:sp>
      <p:sp>
        <p:nvSpPr>
          <p:cNvPr id="74" name="Google Shape;74;p3"/>
          <p:cNvSpPr/>
          <p:nvPr/>
        </p:nvSpPr>
        <p:spPr>
          <a:xfrm>
            <a:off x="952500" y="3495675"/>
            <a:ext cx="5308550" cy="2305050"/>
          </a:xfrm>
          <a:prstGeom prst="rect">
            <a:avLst/>
          </a:prstGeom>
          <a:solidFill>
            <a:srgbClr val="FFFFFF"/>
          </a:solidFill>
          <a:ln w="9525" cap="flat" cmpd="sng">
            <a:solidFill>
              <a:srgbClr val="D9D3C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5" name="Google Shape;75;p3"/>
          <p:cNvSpPr/>
          <p:nvPr/>
        </p:nvSpPr>
        <p:spPr>
          <a:xfrm>
            <a:off x="1304925" y="3810000"/>
            <a:ext cx="4741811" cy="22860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0E3A53"/>
              </a:buClr>
              <a:buSzPts val="1248"/>
              <a:buFont typeface="Courier New"/>
              <a:buNone/>
            </a:pPr>
            <a:r>
              <a:rPr lang="en-US" sz="1249">
                <a:solidFill>
                  <a:srgbClr val="0E3A53"/>
                </a:solidFill>
                <a:latin typeface="Courier New"/>
                <a:ea typeface="Courier New"/>
                <a:cs typeface="Courier New"/>
                <a:sym typeface="Courier New"/>
              </a:rPr>
              <a:t>TASK</a:t>
            </a:r>
            <a:endParaRPr sz="1249">
              <a:solidFill>
                <a:schemeClr val="dk1"/>
              </a:solidFill>
              <a:latin typeface="Calibri"/>
              <a:ea typeface="Calibri"/>
              <a:cs typeface="Calibri"/>
              <a:sym typeface="Calibri"/>
            </a:endParaRPr>
          </a:p>
        </p:txBody>
      </p:sp>
      <p:sp>
        <p:nvSpPr>
          <p:cNvPr id="76" name="Google Shape;76;p3"/>
          <p:cNvSpPr/>
          <p:nvPr/>
        </p:nvSpPr>
        <p:spPr>
          <a:xfrm>
            <a:off x="1304925" y="4133850"/>
            <a:ext cx="4741811" cy="571500"/>
          </a:xfrm>
          <a:prstGeom prst="rect">
            <a:avLst/>
          </a:prstGeom>
          <a:noFill/>
          <a:ln>
            <a:noFill/>
          </a:ln>
        </p:spPr>
        <p:txBody>
          <a:bodyPr spcFirstLastPara="1" wrap="square" lIns="25400" tIns="25400" rIns="25400" bIns="25400" anchor="t" anchorCtr="0">
            <a:normAutofit/>
          </a:bodyPr>
          <a:lstStyle/>
          <a:p>
            <a:pPr marL="0" marR="0" lvl="0" indent="0" algn="l" rtl="0">
              <a:lnSpc>
                <a:spcPct val="80000"/>
              </a:lnSpc>
              <a:spcBef>
                <a:spcPts val="0"/>
              </a:spcBef>
              <a:spcAft>
                <a:spcPts val="0"/>
              </a:spcAft>
              <a:buClr>
                <a:srgbClr val="1C1B1A"/>
              </a:buClr>
              <a:buSzPts val="3884"/>
              <a:buFont typeface="Georgia"/>
              <a:buNone/>
            </a:pPr>
            <a:r>
              <a:rPr lang="en-US" sz="3885" b="1">
                <a:solidFill>
                  <a:srgbClr val="1C1B1A"/>
                </a:solidFill>
                <a:latin typeface="Georgia"/>
                <a:ea typeface="Georgia"/>
                <a:cs typeface="Georgia"/>
                <a:sym typeface="Georgia"/>
              </a:rPr>
              <a:t>3-class</a:t>
            </a:r>
            <a:endParaRPr sz="3885">
              <a:solidFill>
                <a:schemeClr val="dk1"/>
              </a:solidFill>
              <a:latin typeface="Calibri"/>
              <a:ea typeface="Calibri"/>
              <a:cs typeface="Calibri"/>
              <a:sym typeface="Calibri"/>
            </a:endParaRPr>
          </a:p>
        </p:txBody>
      </p:sp>
      <p:sp>
        <p:nvSpPr>
          <p:cNvPr id="77" name="Google Shape;77;p3"/>
          <p:cNvSpPr/>
          <p:nvPr/>
        </p:nvSpPr>
        <p:spPr>
          <a:xfrm>
            <a:off x="1304925" y="4800600"/>
            <a:ext cx="4741811" cy="723900"/>
          </a:xfrm>
          <a:prstGeom prst="rect">
            <a:avLst/>
          </a:prstGeom>
          <a:noFill/>
          <a:ln>
            <a:noFill/>
          </a:ln>
        </p:spPr>
        <p:txBody>
          <a:bodyPr spcFirstLastPara="1" wrap="square" lIns="25400" tIns="25400" rIns="25400" bIns="25400" anchor="t" anchorCtr="0">
            <a:normAutofit/>
          </a:bodyPr>
          <a:lstStyle/>
          <a:p>
            <a:pPr marL="0" marR="0" lvl="0" indent="0" algn="l" rtl="0">
              <a:lnSpc>
                <a:spcPct val="120000"/>
              </a:lnSpc>
              <a:spcBef>
                <a:spcPts val="0"/>
              </a:spcBef>
              <a:spcAft>
                <a:spcPts val="0"/>
              </a:spcAft>
              <a:buClr>
                <a:srgbClr val="4B4845"/>
              </a:buClr>
              <a:buSzPts val="1803"/>
              <a:buFont typeface="Arial"/>
              <a:buNone/>
            </a:pPr>
            <a:r>
              <a:rPr lang="en-US" sz="1804">
                <a:solidFill>
                  <a:srgbClr val="4B4845"/>
                </a:solidFill>
                <a:latin typeface="Arial"/>
                <a:ea typeface="Arial"/>
                <a:cs typeface="Arial"/>
                <a:sym typeface="Arial"/>
              </a:rPr>
              <a:t>Supervised classification: Dropout / Enrolled / Graduate</a:t>
            </a:r>
            <a:endParaRPr sz="1804">
              <a:solidFill>
                <a:schemeClr val="dk1"/>
              </a:solidFill>
              <a:latin typeface="Calibri"/>
              <a:ea typeface="Calibri"/>
              <a:cs typeface="Calibri"/>
              <a:sym typeface="Calibri"/>
            </a:endParaRPr>
          </a:p>
        </p:txBody>
      </p:sp>
      <p:sp>
        <p:nvSpPr>
          <p:cNvPr id="78" name="Google Shape;78;p3"/>
          <p:cNvSpPr/>
          <p:nvPr/>
        </p:nvSpPr>
        <p:spPr>
          <a:xfrm>
            <a:off x="6489650" y="3495675"/>
            <a:ext cx="5308550" cy="2305050"/>
          </a:xfrm>
          <a:prstGeom prst="rect">
            <a:avLst/>
          </a:prstGeom>
          <a:solidFill>
            <a:srgbClr val="FFFFFF"/>
          </a:solidFill>
          <a:ln w="9525" cap="flat" cmpd="sng">
            <a:solidFill>
              <a:srgbClr val="D9D3C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9" name="Google Shape;79;p3"/>
          <p:cNvSpPr/>
          <p:nvPr/>
        </p:nvSpPr>
        <p:spPr>
          <a:xfrm>
            <a:off x="6842075" y="3810000"/>
            <a:ext cx="4741811" cy="22860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0E3A53"/>
              </a:buClr>
              <a:buSzPts val="1248"/>
              <a:buFont typeface="Courier New"/>
              <a:buNone/>
            </a:pPr>
            <a:r>
              <a:rPr lang="en-US" sz="1249">
                <a:solidFill>
                  <a:srgbClr val="0E3A53"/>
                </a:solidFill>
                <a:latin typeface="Courier New"/>
                <a:ea typeface="Courier New"/>
                <a:cs typeface="Courier New"/>
                <a:sym typeface="Courier New"/>
              </a:rPr>
              <a:t>APPROACH</a:t>
            </a:r>
            <a:endParaRPr sz="1249">
              <a:solidFill>
                <a:schemeClr val="dk1"/>
              </a:solidFill>
              <a:latin typeface="Calibri"/>
              <a:ea typeface="Calibri"/>
              <a:cs typeface="Calibri"/>
              <a:sym typeface="Calibri"/>
            </a:endParaRPr>
          </a:p>
        </p:txBody>
      </p:sp>
      <p:sp>
        <p:nvSpPr>
          <p:cNvPr id="80" name="Google Shape;80;p3"/>
          <p:cNvSpPr/>
          <p:nvPr/>
        </p:nvSpPr>
        <p:spPr>
          <a:xfrm>
            <a:off x="6842075" y="4133850"/>
            <a:ext cx="4741811" cy="571500"/>
          </a:xfrm>
          <a:prstGeom prst="rect">
            <a:avLst/>
          </a:prstGeom>
          <a:noFill/>
          <a:ln>
            <a:noFill/>
          </a:ln>
        </p:spPr>
        <p:txBody>
          <a:bodyPr spcFirstLastPara="1" wrap="square" lIns="25400" tIns="25400" rIns="25400" bIns="25400" anchor="t" anchorCtr="0">
            <a:normAutofit/>
          </a:bodyPr>
          <a:lstStyle/>
          <a:p>
            <a:pPr marL="0" marR="0" lvl="0" indent="0" algn="l" rtl="0">
              <a:lnSpc>
                <a:spcPct val="80000"/>
              </a:lnSpc>
              <a:spcBef>
                <a:spcPts val="0"/>
              </a:spcBef>
              <a:spcAft>
                <a:spcPts val="0"/>
              </a:spcAft>
              <a:buClr>
                <a:srgbClr val="1C1B1A"/>
              </a:buClr>
              <a:buSzPts val="3884"/>
              <a:buFont typeface="Georgia"/>
              <a:buNone/>
            </a:pPr>
            <a:r>
              <a:rPr lang="en-US" sz="3885" b="1">
                <a:solidFill>
                  <a:srgbClr val="1C1B1A"/>
                </a:solidFill>
                <a:latin typeface="Georgia"/>
                <a:ea typeface="Georgia"/>
                <a:cs typeface="Georgia"/>
                <a:sym typeface="Georgia"/>
              </a:rPr>
              <a:t>Sup. + Unsup.</a:t>
            </a:r>
            <a:endParaRPr sz="3885">
              <a:solidFill>
                <a:schemeClr val="dk1"/>
              </a:solidFill>
              <a:latin typeface="Calibri"/>
              <a:ea typeface="Calibri"/>
              <a:cs typeface="Calibri"/>
              <a:sym typeface="Calibri"/>
            </a:endParaRPr>
          </a:p>
        </p:txBody>
      </p:sp>
      <p:sp>
        <p:nvSpPr>
          <p:cNvPr id="81" name="Google Shape;81;p3"/>
          <p:cNvSpPr/>
          <p:nvPr/>
        </p:nvSpPr>
        <p:spPr>
          <a:xfrm>
            <a:off x="6842075" y="4800600"/>
            <a:ext cx="4741811" cy="723900"/>
          </a:xfrm>
          <a:prstGeom prst="rect">
            <a:avLst/>
          </a:prstGeom>
          <a:noFill/>
          <a:ln>
            <a:noFill/>
          </a:ln>
        </p:spPr>
        <p:txBody>
          <a:bodyPr spcFirstLastPara="1" wrap="square" lIns="25400" tIns="25400" rIns="25400" bIns="25400" anchor="t" anchorCtr="0">
            <a:normAutofit/>
          </a:bodyPr>
          <a:lstStyle/>
          <a:p>
            <a:pPr marL="0" marR="0" lvl="0" indent="0" algn="l" rtl="0">
              <a:lnSpc>
                <a:spcPct val="120000"/>
              </a:lnSpc>
              <a:spcBef>
                <a:spcPts val="0"/>
              </a:spcBef>
              <a:spcAft>
                <a:spcPts val="0"/>
              </a:spcAft>
              <a:buClr>
                <a:srgbClr val="4B4845"/>
              </a:buClr>
              <a:buSzPts val="1803"/>
              <a:buFont typeface="Arial"/>
              <a:buNone/>
            </a:pPr>
            <a:r>
              <a:rPr lang="en-US" sz="1804">
                <a:solidFill>
                  <a:srgbClr val="4B4845"/>
                </a:solidFill>
                <a:latin typeface="Arial"/>
                <a:ea typeface="Arial"/>
                <a:cs typeface="Arial"/>
                <a:sym typeface="Arial"/>
              </a:rPr>
              <a:t>Classification, clustering, and association rule mining</a:t>
            </a:r>
            <a:endParaRPr sz="1804">
              <a:solidFill>
                <a:schemeClr val="dk1"/>
              </a:solidFill>
              <a:latin typeface="Calibri"/>
              <a:ea typeface="Calibri"/>
              <a:cs typeface="Calibri"/>
              <a:sym typeface="Calibri"/>
            </a:endParaRPr>
          </a:p>
        </p:txBody>
      </p:sp>
      <p:sp>
        <p:nvSpPr>
          <p:cNvPr id="82" name="Google Shape;82;p3"/>
          <p:cNvSpPr/>
          <p:nvPr/>
        </p:nvSpPr>
        <p:spPr>
          <a:xfrm>
            <a:off x="12026801" y="3495675"/>
            <a:ext cx="5308699" cy="2305050"/>
          </a:xfrm>
          <a:prstGeom prst="rect">
            <a:avLst/>
          </a:prstGeom>
          <a:solidFill>
            <a:srgbClr val="FFFFFF"/>
          </a:solidFill>
          <a:ln w="9525" cap="flat" cmpd="sng">
            <a:solidFill>
              <a:srgbClr val="D9D3C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3" name="Google Shape;83;p3"/>
          <p:cNvSpPr/>
          <p:nvPr/>
        </p:nvSpPr>
        <p:spPr>
          <a:xfrm>
            <a:off x="12379226" y="3810000"/>
            <a:ext cx="4741965" cy="22860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E24B4A"/>
              </a:buClr>
              <a:buSzPts val="1248"/>
              <a:buFont typeface="Courier New"/>
              <a:buNone/>
            </a:pPr>
            <a:r>
              <a:rPr lang="en-US" sz="1249">
                <a:solidFill>
                  <a:srgbClr val="E24B4A"/>
                </a:solidFill>
                <a:latin typeface="Courier New"/>
                <a:ea typeface="Courier New"/>
                <a:cs typeface="Courier New"/>
                <a:sym typeface="Courier New"/>
              </a:rPr>
              <a:t>CHALLENGE</a:t>
            </a:r>
            <a:endParaRPr sz="1249">
              <a:solidFill>
                <a:schemeClr val="dk1"/>
              </a:solidFill>
              <a:latin typeface="Calibri"/>
              <a:ea typeface="Calibri"/>
              <a:cs typeface="Calibri"/>
              <a:sym typeface="Calibri"/>
            </a:endParaRPr>
          </a:p>
        </p:txBody>
      </p:sp>
      <p:sp>
        <p:nvSpPr>
          <p:cNvPr id="84" name="Google Shape;84;p3"/>
          <p:cNvSpPr/>
          <p:nvPr/>
        </p:nvSpPr>
        <p:spPr>
          <a:xfrm>
            <a:off x="12379226" y="4133850"/>
            <a:ext cx="4741965" cy="571500"/>
          </a:xfrm>
          <a:prstGeom prst="rect">
            <a:avLst/>
          </a:prstGeom>
          <a:noFill/>
          <a:ln>
            <a:noFill/>
          </a:ln>
        </p:spPr>
        <p:txBody>
          <a:bodyPr spcFirstLastPara="1" wrap="square" lIns="25400" tIns="25400" rIns="25400" bIns="25400" anchor="t" anchorCtr="0">
            <a:normAutofit/>
          </a:bodyPr>
          <a:lstStyle/>
          <a:p>
            <a:pPr marL="0" marR="0" lvl="0" indent="0" algn="l" rtl="0">
              <a:lnSpc>
                <a:spcPct val="80000"/>
              </a:lnSpc>
              <a:spcBef>
                <a:spcPts val="0"/>
              </a:spcBef>
              <a:spcAft>
                <a:spcPts val="0"/>
              </a:spcAft>
              <a:buClr>
                <a:srgbClr val="1C1B1A"/>
              </a:buClr>
              <a:buSzPts val="3884"/>
              <a:buFont typeface="Georgia"/>
              <a:buNone/>
            </a:pPr>
            <a:r>
              <a:rPr lang="en-US" sz="3885" b="1">
                <a:solidFill>
                  <a:srgbClr val="1C1B1A"/>
                </a:solidFill>
                <a:latin typeface="Georgia"/>
                <a:ea typeface="Georgia"/>
                <a:cs typeface="Georgia"/>
                <a:sym typeface="Georgia"/>
              </a:rPr>
              <a:t>Imbalance</a:t>
            </a:r>
            <a:endParaRPr sz="3885">
              <a:solidFill>
                <a:schemeClr val="dk1"/>
              </a:solidFill>
              <a:latin typeface="Calibri"/>
              <a:ea typeface="Calibri"/>
              <a:cs typeface="Calibri"/>
              <a:sym typeface="Calibri"/>
            </a:endParaRPr>
          </a:p>
        </p:txBody>
      </p:sp>
      <p:sp>
        <p:nvSpPr>
          <p:cNvPr id="85" name="Google Shape;85;p3"/>
          <p:cNvSpPr/>
          <p:nvPr/>
        </p:nvSpPr>
        <p:spPr>
          <a:xfrm>
            <a:off x="12379226" y="4800600"/>
            <a:ext cx="4741965" cy="723900"/>
          </a:xfrm>
          <a:prstGeom prst="rect">
            <a:avLst/>
          </a:prstGeom>
          <a:noFill/>
          <a:ln>
            <a:noFill/>
          </a:ln>
        </p:spPr>
        <p:txBody>
          <a:bodyPr spcFirstLastPara="1" wrap="square" lIns="25400" tIns="25400" rIns="25400" bIns="25400" anchor="t" anchorCtr="0">
            <a:normAutofit/>
          </a:bodyPr>
          <a:lstStyle/>
          <a:p>
            <a:pPr marL="0" marR="0" lvl="0" indent="0" algn="l" rtl="0">
              <a:lnSpc>
                <a:spcPct val="120000"/>
              </a:lnSpc>
              <a:spcBef>
                <a:spcPts val="0"/>
              </a:spcBef>
              <a:spcAft>
                <a:spcPts val="0"/>
              </a:spcAft>
              <a:buClr>
                <a:srgbClr val="4B4845"/>
              </a:buClr>
              <a:buSzPts val="1803"/>
              <a:buFont typeface="Arial"/>
              <a:buNone/>
            </a:pPr>
            <a:r>
              <a:rPr lang="en-US" sz="1804">
                <a:solidFill>
                  <a:srgbClr val="4B4845"/>
                </a:solidFill>
                <a:latin typeface="Arial"/>
                <a:ea typeface="Arial"/>
                <a:cs typeface="Arial"/>
                <a:sym typeface="Arial"/>
              </a:rPr>
              <a:t>Graduate 2,209 (49.9%) · Dropout 1,421 (32.1%) · Enrolled 794 (17.9%)</a:t>
            </a:r>
            <a:endParaRPr sz="1804">
              <a:solidFill>
                <a:schemeClr val="dk1"/>
              </a:solidFill>
              <a:latin typeface="Calibri"/>
              <a:ea typeface="Calibri"/>
              <a:cs typeface="Calibri"/>
              <a:sym typeface="Calibri"/>
            </a:endParaRPr>
          </a:p>
        </p:txBody>
      </p:sp>
      <p:sp>
        <p:nvSpPr>
          <p:cNvPr id="86" name="Google Shape;86;p3"/>
          <p:cNvSpPr/>
          <p:nvPr/>
        </p:nvSpPr>
        <p:spPr>
          <a:xfrm>
            <a:off x="952500" y="6415088"/>
            <a:ext cx="1413718" cy="2571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387"/>
              <a:buFont typeface="Courier New"/>
              <a:buNone/>
            </a:pPr>
            <a:r>
              <a:rPr lang="en-US" sz="1388">
                <a:solidFill>
                  <a:srgbClr val="807C76"/>
                </a:solidFill>
                <a:latin typeface="Courier New"/>
                <a:ea typeface="Courier New"/>
                <a:cs typeface="Courier New"/>
                <a:sym typeface="Courier New"/>
              </a:rPr>
              <a:t>OUTCOME →</a:t>
            </a:r>
            <a:endParaRPr sz="1388">
              <a:solidFill>
                <a:schemeClr val="dk1"/>
              </a:solidFill>
              <a:latin typeface="Calibri"/>
              <a:ea typeface="Calibri"/>
              <a:cs typeface="Calibri"/>
              <a:sym typeface="Calibri"/>
            </a:endParaRPr>
          </a:p>
        </p:txBody>
      </p:sp>
      <p:sp>
        <p:nvSpPr>
          <p:cNvPr id="87" name="Google Shape;87;p3"/>
          <p:cNvSpPr/>
          <p:nvPr/>
        </p:nvSpPr>
        <p:spPr>
          <a:xfrm>
            <a:off x="2480518" y="6334125"/>
            <a:ext cx="10286111" cy="41910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1C1B1A"/>
              </a:buClr>
              <a:buSzPts val="2550"/>
              <a:buFont typeface="Arial"/>
              <a:buNone/>
            </a:pPr>
            <a:r>
              <a:rPr lang="en-US" sz="2550">
                <a:solidFill>
                  <a:srgbClr val="1C1B1A"/>
                </a:solidFill>
                <a:latin typeface="Arial"/>
                <a:ea typeface="Arial"/>
                <a:cs typeface="Arial"/>
                <a:sym typeface="Arial"/>
              </a:rPr>
              <a:t>An early-warning framework that flags at-risk students for intervention</a:t>
            </a:r>
            <a:endParaRPr sz="2550">
              <a:solidFill>
                <a:schemeClr val="dk1"/>
              </a:solidFill>
              <a:latin typeface="Calibri"/>
              <a:ea typeface="Calibri"/>
              <a:cs typeface="Calibri"/>
              <a:sym typeface="Calibri"/>
            </a:endParaRPr>
          </a:p>
        </p:txBody>
      </p:sp>
      <p:sp>
        <p:nvSpPr>
          <p:cNvPr id="88" name="Google Shape;88;p3"/>
          <p:cNvSpPr/>
          <p:nvPr/>
        </p:nvSpPr>
        <p:spPr>
          <a:xfrm>
            <a:off x="16692116" y="6838950"/>
            <a:ext cx="1100584" cy="2952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665"/>
              <a:buFont typeface="Courier New"/>
              <a:buNone/>
            </a:pPr>
            <a:r>
              <a:rPr lang="en-US" sz="1665">
                <a:solidFill>
                  <a:srgbClr val="807C76"/>
                </a:solidFill>
                <a:latin typeface="Courier New"/>
                <a:ea typeface="Courier New"/>
                <a:cs typeface="Courier New"/>
                <a:sym typeface="Courier New"/>
              </a:rPr>
              <a:t>03/19</a:t>
            </a:r>
            <a:endParaRPr sz="1665">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Shape 93"/>
        <p:cNvGrpSpPr/>
        <p:nvPr/>
      </p:nvGrpSpPr>
      <p:grpSpPr>
        <a:xfrm>
          <a:off x="0" y="0"/>
          <a:ext cx="0" cy="0"/>
          <a:chOff x="0" y="0"/>
          <a:chExt cx="0" cy="0"/>
        </a:xfrm>
      </p:grpSpPr>
      <p:sp>
        <p:nvSpPr>
          <p:cNvPr id="94" name="Google Shape;94;p4"/>
          <p:cNvSpPr/>
          <p:nvPr/>
        </p:nvSpPr>
        <p:spPr>
          <a:xfrm>
            <a:off x="952500" y="1047006"/>
            <a:ext cx="533400" cy="19050"/>
          </a:xfrm>
          <a:prstGeom prst="rect">
            <a:avLst/>
          </a:prstGeom>
          <a:solidFill>
            <a:srgbClr val="4B484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5" name="Google Shape;95;p4"/>
          <p:cNvSpPr/>
          <p:nvPr/>
        </p:nvSpPr>
        <p:spPr>
          <a:xfrm>
            <a:off x="1657350" y="952500"/>
            <a:ext cx="2216164" cy="2952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665"/>
              <a:buFont typeface="Courier New"/>
              <a:buNone/>
            </a:pPr>
            <a:r>
              <a:rPr lang="en-US" sz="1665">
                <a:solidFill>
                  <a:srgbClr val="807C76"/>
                </a:solidFill>
                <a:latin typeface="Courier New"/>
                <a:ea typeface="Courier New"/>
                <a:cs typeface="Courier New"/>
                <a:sym typeface="Courier New"/>
              </a:rPr>
              <a:t>03 · DATASET</a:t>
            </a:r>
            <a:endParaRPr sz="1665">
              <a:solidFill>
                <a:schemeClr val="dk1"/>
              </a:solidFill>
              <a:latin typeface="Calibri"/>
              <a:ea typeface="Calibri"/>
              <a:cs typeface="Calibri"/>
              <a:sym typeface="Calibri"/>
            </a:endParaRPr>
          </a:p>
        </p:txBody>
      </p:sp>
      <p:sp>
        <p:nvSpPr>
          <p:cNvPr id="96" name="Google Shape;96;p4"/>
          <p:cNvSpPr/>
          <p:nvPr/>
        </p:nvSpPr>
        <p:spPr>
          <a:xfrm>
            <a:off x="952500" y="1704975"/>
            <a:ext cx="6703961" cy="1295400"/>
          </a:xfrm>
          <a:prstGeom prst="rect">
            <a:avLst/>
          </a:prstGeom>
          <a:noFill/>
          <a:ln>
            <a:noFill/>
          </a:ln>
        </p:spPr>
        <p:txBody>
          <a:bodyPr spcFirstLastPara="1" wrap="square" lIns="25400" tIns="25400" rIns="25400" bIns="25400" anchor="t" anchorCtr="0">
            <a:normAutofit/>
          </a:bodyPr>
          <a:lstStyle/>
          <a:p>
            <a:pPr marL="0" marR="0" lvl="0" indent="0" algn="l" rtl="0">
              <a:lnSpc>
                <a:spcPct val="84000"/>
              </a:lnSpc>
              <a:spcBef>
                <a:spcPts val="0"/>
              </a:spcBef>
              <a:spcAft>
                <a:spcPts val="0"/>
              </a:spcAft>
              <a:buClr>
                <a:srgbClr val="1C1B1A"/>
              </a:buClr>
              <a:buSzPts val="4440"/>
              <a:buFont typeface="Georgia"/>
              <a:buNone/>
            </a:pPr>
            <a:r>
              <a:rPr lang="en-US" sz="4440" b="1">
                <a:solidFill>
                  <a:srgbClr val="1C1B1A"/>
                </a:solidFill>
                <a:latin typeface="Georgia"/>
                <a:ea typeface="Georgia"/>
                <a:cs typeface="Georgia"/>
                <a:sym typeface="Georgia"/>
              </a:rPr>
              <a:t>UCI Repository Dataset 697</a:t>
            </a:r>
            <a:endParaRPr sz="4440">
              <a:solidFill>
                <a:schemeClr val="dk1"/>
              </a:solidFill>
              <a:latin typeface="Calibri"/>
              <a:ea typeface="Calibri"/>
              <a:cs typeface="Calibri"/>
              <a:sym typeface="Calibri"/>
            </a:endParaRPr>
          </a:p>
        </p:txBody>
      </p:sp>
      <p:sp>
        <p:nvSpPr>
          <p:cNvPr id="97" name="Google Shape;97;p4"/>
          <p:cNvSpPr/>
          <p:nvPr/>
        </p:nvSpPr>
        <p:spPr>
          <a:xfrm>
            <a:off x="952500" y="3895725"/>
            <a:ext cx="6508700"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8" name="Google Shape;98;p4"/>
          <p:cNvSpPr/>
          <p:nvPr/>
        </p:nvSpPr>
        <p:spPr>
          <a:xfrm>
            <a:off x="952500" y="3486150"/>
            <a:ext cx="1396603" cy="27622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526"/>
              <a:buFont typeface="Courier New"/>
              <a:buNone/>
            </a:pPr>
            <a:r>
              <a:rPr lang="en-US" sz="1526">
                <a:solidFill>
                  <a:srgbClr val="807C76"/>
                </a:solidFill>
                <a:latin typeface="Courier New"/>
                <a:ea typeface="Courier New"/>
                <a:cs typeface="Courier New"/>
                <a:sym typeface="Courier New"/>
              </a:rPr>
              <a:t>INSTANCES</a:t>
            </a:r>
            <a:endParaRPr sz="1526">
              <a:solidFill>
                <a:schemeClr val="dk1"/>
              </a:solidFill>
              <a:latin typeface="Calibri"/>
              <a:ea typeface="Calibri"/>
              <a:cs typeface="Calibri"/>
              <a:sym typeface="Calibri"/>
            </a:endParaRPr>
          </a:p>
        </p:txBody>
      </p:sp>
      <p:sp>
        <p:nvSpPr>
          <p:cNvPr id="99" name="Google Shape;99;p4"/>
          <p:cNvSpPr/>
          <p:nvPr/>
        </p:nvSpPr>
        <p:spPr>
          <a:xfrm>
            <a:off x="4542020" y="3343275"/>
            <a:ext cx="2995381" cy="457200"/>
          </a:xfrm>
          <a:prstGeom prst="rect">
            <a:avLst/>
          </a:prstGeom>
          <a:noFill/>
          <a:ln>
            <a:noFill/>
          </a:ln>
        </p:spPr>
        <p:txBody>
          <a:bodyPr spcFirstLastPara="1" wrap="square" lIns="25400" tIns="25400" rIns="25400" bIns="25400" anchor="t" anchorCtr="0">
            <a:normAutofit/>
          </a:bodyPr>
          <a:lstStyle/>
          <a:p>
            <a:pPr marL="0" marR="0" lvl="0" indent="0" algn="l" rtl="0">
              <a:spcBef>
                <a:spcPts val="0"/>
              </a:spcBef>
              <a:spcAft>
                <a:spcPts val="0"/>
              </a:spcAft>
              <a:buClr>
                <a:srgbClr val="1C1B1A"/>
              </a:buClr>
              <a:buSzPts val="2400"/>
              <a:buFont typeface="Georgia"/>
              <a:buNone/>
            </a:pPr>
            <a:r>
              <a:rPr lang="en-US" sz="2400" b="1">
                <a:solidFill>
                  <a:srgbClr val="1C1B1A"/>
                </a:solidFill>
                <a:latin typeface="Georgia"/>
                <a:ea typeface="Georgia"/>
                <a:cs typeface="Georgia"/>
                <a:sym typeface="Georgia"/>
              </a:rPr>
              <a:t>4,424 students</a:t>
            </a:r>
            <a:endParaRPr sz="2400">
              <a:solidFill>
                <a:schemeClr val="dk1"/>
              </a:solidFill>
              <a:latin typeface="Calibri"/>
              <a:ea typeface="Calibri"/>
              <a:cs typeface="Calibri"/>
              <a:sym typeface="Calibri"/>
            </a:endParaRPr>
          </a:p>
        </p:txBody>
      </p:sp>
      <p:sp>
        <p:nvSpPr>
          <p:cNvPr id="100" name="Google Shape;100;p4"/>
          <p:cNvSpPr/>
          <p:nvPr/>
        </p:nvSpPr>
        <p:spPr>
          <a:xfrm>
            <a:off x="952500" y="4667250"/>
            <a:ext cx="6508700"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1" name="Google Shape;101;p4"/>
          <p:cNvSpPr/>
          <p:nvPr/>
        </p:nvSpPr>
        <p:spPr>
          <a:xfrm>
            <a:off x="952500" y="4257675"/>
            <a:ext cx="1249859" cy="27622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526"/>
              <a:buFont typeface="Courier New"/>
              <a:buNone/>
            </a:pPr>
            <a:r>
              <a:rPr lang="en-US" sz="1526">
                <a:solidFill>
                  <a:srgbClr val="807C76"/>
                </a:solidFill>
                <a:latin typeface="Courier New"/>
                <a:ea typeface="Courier New"/>
                <a:cs typeface="Courier New"/>
                <a:sym typeface="Courier New"/>
              </a:rPr>
              <a:t>FEATURES</a:t>
            </a:r>
            <a:endParaRPr sz="1526">
              <a:solidFill>
                <a:schemeClr val="dk1"/>
              </a:solidFill>
              <a:latin typeface="Calibri"/>
              <a:ea typeface="Calibri"/>
              <a:cs typeface="Calibri"/>
              <a:sym typeface="Calibri"/>
            </a:endParaRPr>
          </a:p>
        </p:txBody>
      </p:sp>
      <p:sp>
        <p:nvSpPr>
          <p:cNvPr id="102" name="Google Shape;102;p4"/>
          <p:cNvSpPr/>
          <p:nvPr/>
        </p:nvSpPr>
        <p:spPr>
          <a:xfrm>
            <a:off x="4542019" y="4114800"/>
            <a:ext cx="2995381" cy="457200"/>
          </a:xfrm>
          <a:prstGeom prst="rect">
            <a:avLst/>
          </a:prstGeom>
          <a:noFill/>
          <a:ln>
            <a:noFill/>
          </a:ln>
        </p:spPr>
        <p:txBody>
          <a:bodyPr spcFirstLastPara="1" wrap="square" lIns="25400" tIns="25400" rIns="25400" bIns="25400" anchor="t" anchorCtr="0">
            <a:normAutofit/>
          </a:bodyPr>
          <a:lstStyle/>
          <a:p>
            <a:pPr marL="0" marR="0" lvl="0" indent="0" algn="l" rtl="0">
              <a:spcBef>
                <a:spcPts val="0"/>
              </a:spcBef>
              <a:spcAft>
                <a:spcPts val="0"/>
              </a:spcAft>
              <a:buClr>
                <a:srgbClr val="1C1B1A"/>
              </a:buClr>
              <a:buSzPts val="2400"/>
              <a:buFont typeface="Georgia"/>
              <a:buNone/>
            </a:pPr>
            <a:r>
              <a:rPr lang="en-US" sz="2400" b="1">
                <a:solidFill>
                  <a:srgbClr val="1C1B1A"/>
                </a:solidFill>
                <a:latin typeface="Georgia"/>
                <a:ea typeface="Georgia"/>
                <a:cs typeface="Georgia"/>
                <a:sym typeface="Georgia"/>
              </a:rPr>
              <a:t>36 + 1 target</a:t>
            </a:r>
            <a:endParaRPr sz="2400">
              <a:solidFill>
                <a:schemeClr val="dk1"/>
              </a:solidFill>
              <a:latin typeface="Calibri"/>
              <a:ea typeface="Calibri"/>
              <a:cs typeface="Calibri"/>
              <a:sym typeface="Calibri"/>
            </a:endParaRPr>
          </a:p>
        </p:txBody>
      </p:sp>
      <p:sp>
        <p:nvSpPr>
          <p:cNvPr id="103" name="Google Shape;103;p4"/>
          <p:cNvSpPr/>
          <p:nvPr/>
        </p:nvSpPr>
        <p:spPr>
          <a:xfrm>
            <a:off x="952500" y="5438775"/>
            <a:ext cx="6508700"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4" name="Google Shape;104;p4"/>
          <p:cNvSpPr/>
          <p:nvPr/>
        </p:nvSpPr>
        <p:spPr>
          <a:xfrm>
            <a:off x="952500" y="5029200"/>
            <a:ext cx="2130177" cy="27622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526"/>
              <a:buFont typeface="Courier New"/>
              <a:buNone/>
            </a:pPr>
            <a:r>
              <a:rPr lang="en-US" sz="1526">
                <a:solidFill>
                  <a:srgbClr val="807C76"/>
                </a:solidFill>
                <a:latin typeface="Courier New"/>
                <a:ea typeface="Courier New"/>
                <a:cs typeface="Courier New"/>
                <a:sym typeface="Courier New"/>
              </a:rPr>
              <a:t>MISSING VALUES</a:t>
            </a:r>
            <a:endParaRPr sz="1526">
              <a:solidFill>
                <a:schemeClr val="dk1"/>
              </a:solidFill>
              <a:latin typeface="Calibri"/>
              <a:ea typeface="Calibri"/>
              <a:cs typeface="Calibri"/>
              <a:sym typeface="Calibri"/>
            </a:endParaRPr>
          </a:p>
        </p:txBody>
      </p:sp>
      <p:sp>
        <p:nvSpPr>
          <p:cNvPr id="105" name="Google Shape;105;p4"/>
          <p:cNvSpPr/>
          <p:nvPr/>
        </p:nvSpPr>
        <p:spPr>
          <a:xfrm>
            <a:off x="4542019" y="4886325"/>
            <a:ext cx="2995381" cy="457200"/>
          </a:xfrm>
          <a:prstGeom prst="rect">
            <a:avLst/>
          </a:prstGeom>
          <a:noFill/>
          <a:ln>
            <a:noFill/>
          </a:ln>
        </p:spPr>
        <p:txBody>
          <a:bodyPr spcFirstLastPara="1" wrap="square" lIns="25400" tIns="25400" rIns="25400" bIns="25400" anchor="t" anchorCtr="0">
            <a:normAutofit/>
          </a:bodyPr>
          <a:lstStyle/>
          <a:p>
            <a:pPr marL="0" marR="0" lvl="0" indent="0" algn="l" rtl="0">
              <a:spcBef>
                <a:spcPts val="0"/>
              </a:spcBef>
              <a:spcAft>
                <a:spcPts val="0"/>
              </a:spcAft>
              <a:buClr>
                <a:srgbClr val="1C1B1A"/>
              </a:buClr>
              <a:buSzPts val="2400"/>
              <a:buFont typeface="Georgia"/>
              <a:buNone/>
            </a:pPr>
            <a:r>
              <a:rPr lang="en-US" sz="2400" b="1">
                <a:solidFill>
                  <a:srgbClr val="1C1B1A"/>
                </a:solidFill>
                <a:latin typeface="Georgia"/>
                <a:ea typeface="Georgia"/>
                <a:cs typeface="Georgia"/>
                <a:sym typeface="Georgia"/>
              </a:rPr>
              <a:t>None</a:t>
            </a:r>
            <a:endParaRPr sz="2400">
              <a:solidFill>
                <a:schemeClr val="dk1"/>
              </a:solidFill>
              <a:latin typeface="Calibri"/>
              <a:ea typeface="Calibri"/>
              <a:cs typeface="Calibri"/>
              <a:sym typeface="Calibri"/>
            </a:endParaRPr>
          </a:p>
        </p:txBody>
      </p:sp>
      <p:sp>
        <p:nvSpPr>
          <p:cNvPr id="106" name="Google Shape;106;p4"/>
          <p:cNvSpPr/>
          <p:nvPr/>
        </p:nvSpPr>
        <p:spPr>
          <a:xfrm>
            <a:off x="952500" y="6210300"/>
            <a:ext cx="6508700"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7" name="Google Shape;107;p4"/>
          <p:cNvSpPr/>
          <p:nvPr/>
        </p:nvSpPr>
        <p:spPr>
          <a:xfrm>
            <a:off x="952500" y="5800725"/>
            <a:ext cx="1103263" cy="27622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526"/>
              <a:buFont typeface="Courier New"/>
              <a:buNone/>
            </a:pPr>
            <a:r>
              <a:rPr lang="en-US" sz="1526">
                <a:solidFill>
                  <a:srgbClr val="807C76"/>
                </a:solidFill>
                <a:latin typeface="Courier New"/>
                <a:ea typeface="Courier New"/>
                <a:cs typeface="Courier New"/>
                <a:sym typeface="Courier New"/>
              </a:rPr>
              <a:t>LICENSE</a:t>
            </a:r>
            <a:endParaRPr sz="1526">
              <a:solidFill>
                <a:schemeClr val="dk1"/>
              </a:solidFill>
              <a:latin typeface="Calibri"/>
              <a:ea typeface="Calibri"/>
              <a:cs typeface="Calibri"/>
              <a:sym typeface="Calibri"/>
            </a:endParaRPr>
          </a:p>
        </p:txBody>
      </p:sp>
      <p:sp>
        <p:nvSpPr>
          <p:cNvPr id="108" name="Google Shape;108;p4"/>
          <p:cNvSpPr/>
          <p:nvPr/>
        </p:nvSpPr>
        <p:spPr>
          <a:xfrm>
            <a:off x="4542020" y="5657850"/>
            <a:ext cx="2995382" cy="457200"/>
          </a:xfrm>
          <a:prstGeom prst="rect">
            <a:avLst/>
          </a:prstGeom>
          <a:noFill/>
          <a:ln>
            <a:noFill/>
          </a:ln>
        </p:spPr>
        <p:txBody>
          <a:bodyPr spcFirstLastPara="1" wrap="square" lIns="25400" tIns="25400" rIns="25400" bIns="25400" anchor="t" anchorCtr="0">
            <a:normAutofit/>
          </a:bodyPr>
          <a:lstStyle/>
          <a:p>
            <a:pPr marL="0" marR="0" lvl="0" indent="0" algn="l" rtl="0">
              <a:spcBef>
                <a:spcPts val="0"/>
              </a:spcBef>
              <a:spcAft>
                <a:spcPts val="0"/>
              </a:spcAft>
              <a:buClr>
                <a:srgbClr val="1C1B1A"/>
              </a:buClr>
              <a:buSzPts val="2400"/>
              <a:buFont typeface="Georgia"/>
              <a:buNone/>
            </a:pPr>
            <a:r>
              <a:rPr lang="en-US" sz="2400" b="1">
                <a:solidFill>
                  <a:srgbClr val="1C1B1A"/>
                </a:solidFill>
                <a:latin typeface="Georgia"/>
                <a:ea typeface="Georgia"/>
                <a:cs typeface="Georgia"/>
                <a:sym typeface="Georgia"/>
              </a:rPr>
              <a:t>CC BY 4.0</a:t>
            </a:r>
            <a:endParaRPr sz="2400">
              <a:solidFill>
                <a:schemeClr val="dk1"/>
              </a:solidFill>
              <a:latin typeface="Calibri"/>
              <a:ea typeface="Calibri"/>
              <a:cs typeface="Calibri"/>
              <a:sym typeface="Calibri"/>
            </a:endParaRPr>
          </a:p>
        </p:txBody>
      </p:sp>
      <p:sp>
        <p:nvSpPr>
          <p:cNvPr id="109" name="Google Shape;109;p4"/>
          <p:cNvSpPr/>
          <p:nvPr/>
        </p:nvSpPr>
        <p:spPr>
          <a:xfrm>
            <a:off x="952500" y="6562725"/>
            <a:ext cx="6703961" cy="552450"/>
          </a:xfrm>
          <a:prstGeom prst="rect">
            <a:avLst/>
          </a:prstGeom>
          <a:noFill/>
          <a:ln>
            <a:noFill/>
          </a:ln>
        </p:spPr>
        <p:txBody>
          <a:bodyPr spcFirstLastPara="1" wrap="square" lIns="25400" tIns="25400" rIns="25400" bIns="25400" anchor="t" anchorCtr="0">
            <a:normAutofit/>
          </a:bodyPr>
          <a:lstStyle/>
          <a:p>
            <a:pPr marL="0" marR="0" lvl="0" indent="0" algn="l" rtl="0">
              <a:lnSpc>
                <a:spcPct val="140000"/>
              </a:lnSpc>
              <a:spcBef>
                <a:spcPts val="0"/>
              </a:spcBef>
              <a:spcAft>
                <a:spcPts val="0"/>
              </a:spcAft>
              <a:buClr>
                <a:srgbClr val="807C76"/>
              </a:buClr>
              <a:buSzPts val="1248"/>
              <a:buFont typeface="Courier New"/>
              <a:buNone/>
            </a:pPr>
            <a:r>
              <a:rPr lang="en-US" sz="1249">
                <a:solidFill>
                  <a:srgbClr val="807C76"/>
                </a:solidFill>
                <a:latin typeface="Courier New"/>
                <a:ea typeface="Courier New"/>
                <a:cs typeface="Courier New"/>
                <a:sym typeface="Courier New"/>
              </a:rPr>
              <a:t>Source: Instituto Politécnico de Portalegre, PT Citation: Realinho et al., 2021</a:t>
            </a:r>
            <a:endParaRPr sz="1249">
              <a:solidFill>
                <a:schemeClr val="dk1"/>
              </a:solidFill>
              <a:latin typeface="Calibri"/>
              <a:ea typeface="Calibri"/>
              <a:cs typeface="Calibri"/>
              <a:sym typeface="Calibri"/>
            </a:endParaRPr>
          </a:p>
        </p:txBody>
      </p:sp>
      <p:sp>
        <p:nvSpPr>
          <p:cNvPr id="110" name="Google Shape;110;p4"/>
          <p:cNvSpPr/>
          <p:nvPr/>
        </p:nvSpPr>
        <p:spPr>
          <a:xfrm>
            <a:off x="8223200" y="1704975"/>
            <a:ext cx="4496543" cy="22860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0E3A53"/>
              </a:buClr>
              <a:buSzPts val="1248"/>
              <a:buFont typeface="Courier New"/>
              <a:buNone/>
            </a:pPr>
            <a:r>
              <a:rPr lang="en-US" sz="1249">
                <a:solidFill>
                  <a:srgbClr val="0E3A53"/>
                </a:solidFill>
                <a:latin typeface="Courier New"/>
                <a:ea typeface="Courier New"/>
                <a:cs typeface="Courier New"/>
                <a:sym typeface="Courier New"/>
              </a:rPr>
              <a:t>DEMOGRAPHIC</a:t>
            </a:r>
            <a:endParaRPr sz="1249">
              <a:solidFill>
                <a:schemeClr val="dk1"/>
              </a:solidFill>
              <a:latin typeface="Calibri"/>
              <a:ea typeface="Calibri"/>
              <a:cs typeface="Calibri"/>
              <a:sym typeface="Calibri"/>
            </a:endParaRPr>
          </a:p>
        </p:txBody>
      </p:sp>
      <p:sp>
        <p:nvSpPr>
          <p:cNvPr id="111" name="Google Shape;111;p4"/>
          <p:cNvSpPr/>
          <p:nvPr/>
        </p:nvSpPr>
        <p:spPr>
          <a:xfrm>
            <a:off x="8049845" y="2047875"/>
            <a:ext cx="4615130" cy="1657350"/>
          </a:xfrm>
          <a:prstGeom prst="rect">
            <a:avLst/>
          </a:prstGeom>
          <a:noFill/>
          <a:ln>
            <a:noFill/>
          </a:ln>
        </p:spPr>
        <p:txBody>
          <a:bodyPr spcFirstLastPara="1" wrap="square" lIns="25400" tIns="25400" rIns="25400" bIns="25400" anchor="t" anchorCtr="0">
            <a:normAutofit/>
          </a:bodyPr>
          <a:lstStyle/>
          <a:p>
            <a:pPr marL="0" marR="0" lvl="0" indent="0" algn="l" rtl="0">
              <a:lnSpc>
                <a:spcPct val="135000"/>
              </a:lnSpc>
              <a:spcBef>
                <a:spcPts val="0"/>
              </a:spcBef>
              <a:spcAft>
                <a:spcPts val="0"/>
              </a:spcAft>
              <a:buClr>
                <a:srgbClr val="4B4845"/>
              </a:buClr>
              <a:buSzPts val="1950"/>
              <a:buFont typeface="Arial"/>
              <a:buNone/>
            </a:pPr>
            <a:r>
              <a:rPr lang="en-US" sz="1950">
                <a:solidFill>
                  <a:srgbClr val="4B4845"/>
                </a:solidFill>
                <a:latin typeface="Arial"/>
                <a:ea typeface="Arial"/>
                <a:cs typeface="Arial"/>
                <a:sym typeface="Arial"/>
              </a:rPr>
              <a:t>Marital status</a:t>
            </a:r>
            <a:endParaRPr sz="1950">
              <a:solidFill>
                <a:schemeClr val="dk1"/>
              </a:solidFill>
              <a:latin typeface="Calibri"/>
              <a:ea typeface="Calibri"/>
              <a:cs typeface="Calibri"/>
              <a:sym typeface="Calibri"/>
            </a:endParaRPr>
          </a:p>
          <a:p>
            <a:pPr marL="0" marR="0" lvl="0" indent="0" algn="l" rtl="0">
              <a:lnSpc>
                <a:spcPct val="135000"/>
              </a:lnSpc>
              <a:spcBef>
                <a:spcPts val="0"/>
              </a:spcBef>
              <a:spcAft>
                <a:spcPts val="0"/>
              </a:spcAft>
              <a:buClr>
                <a:srgbClr val="4B4845"/>
              </a:buClr>
              <a:buSzPts val="1950"/>
              <a:buFont typeface="Arial"/>
              <a:buNone/>
            </a:pPr>
            <a:r>
              <a:rPr lang="en-US" sz="1950">
                <a:solidFill>
                  <a:srgbClr val="4B4845"/>
                </a:solidFill>
                <a:latin typeface="Arial"/>
                <a:ea typeface="Arial"/>
                <a:cs typeface="Arial"/>
                <a:sym typeface="Arial"/>
              </a:rPr>
              <a:t>Nationality</a:t>
            </a:r>
            <a:endParaRPr sz="1950">
              <a:solidFill>
                <a:schemeClr val="dk1"/>
              </a:solidFill>
              <a:latin typeface="Calibri"/>
              <a:ea typeface="Calibri"/>
              <a:cs typeface="Calibri"/>
              <a:sym typeface="Calibri"/>
            </a:endParaRPr>
          </a:p>
          <a:p>
            <a:pPr marL="0" marR="0" lvl="0" indent="0" algn="l" rtl="0">
              <a:lnSpc>
                <a:spcPct val="135000"/>
              </a:lnSpc>
              <a:spcBef>
                <a:spcPts val="0"/>
              </a:spcBef>
              <a:spcAft>
                <a:spcPts val="0"/>
              </a:spcAft>
              <a:buClr>
                <a:srgbClr val="4B4845"/>
              </a:buClr>
              <a:buSzPts val="1950"/>
              <a:buFont typeface="Arial"/>
              <a:buNone/>
            </a:pPr>
            <a:r>
              <a:rPr lang="en-US" sz="1950">
                <a:solidFill>
                  <a:srgbClr val="4B4845"/>
                </a:solidFill>
                <a:latin typeface="Arial"/>
                <a:ea typeface="Arial"/>
                <a:cs typeface="Arial"/>
                <a:sym typeface="Arial"/>
              </a:rPr>
              <a:t>Gender</a:t>
            </a:r>
            <a:endParaRPr sz="1950">
              <a:solidFill>
                <a:schemeClr val="dk1"/>
              </a:solidFill>
              <a:latin typeface="Calibri"/>
              <a:ea typeface="Calibri"/>
              <a:cs typeface="Calibri"/>
              <a:sym typeface="Calibri"/>
            </a:endParaRPr>
          </a:p>
          <a:p>
            <a:pPr marL="0" marR="0" lvl="0" indent="0" algn="l" rtl="0">
              <a:lnSpc>
                <a:spcPct val="135000"/>
              </a:lnSpc>
              <a:spcBef>
                <a:spcPts val="0"/>
              </a:spcBef>
              <a:spcAft>
                <a:spcPts val="0"/>
              </a:spcAft>
              <a:buClr>
                <a:srgbClr val="4B4845"/>
              </a:buClr>
              <a:buSzPts val="1950"/>
              <a:buFont typeface="Arial"/>
              <a:buNone/>
            </a:pPr>
            <a:r>
              <a:rPr lang="en-US" sz="1950">
                <a:solidFill>
                  <a:srgbClr val="4B4845"/>
                </a:solidFill>
                <a:latin typeface="Arial"/>
                <a:ea typeface="Arial"/>
                <a:cs typeface="Arial"/>
                <a:sym typeface="Arial"/>
              </a:rPr>
              <a:t>Age at enrollment</a:t>
            </a:r>
            <a:endParaRPr sz="1950">
              <a:solidFill>
                <a:schemeClr val="dk1"/>
              </a:solidFill>
              <a:latin typeface="Calibri"/>
              <a:ea typeface="Calibri"/>
              <a:cs typeface="Calibri"/>
              <a:sym typeface="Calibri"/>
            </a:endParaRPr>
          </a:p>
        </p:txBody>
      </p:sp>
      <p:sp>
        <p:nvSpPr>
          <p:cNvPr id="112" name="Google Shape;112;p4"/>
          <p:cNvSpPr/>
          <p:nvPr/>
        </p:nvSpPr>
        <p:spPr>
          <a:xfrm>
            <a:off x="12969776" y="1704975"/>
            <a:ext cx="4496696" cy="22860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0E3A53"/>
              </a:buClr>
              <a:buSzPts val="1248"/>
              <a:buFont typeface="Courier New"/>
              <a:buNone/>
            </a:pPr>
            <a:r>
              <a:rPr lang="en-US" sz="1249">
                <a:solidFill>
                  <a:srgbClr val="0E3A53"/>
                </a:solidFill>
                <a:latin typeface="Courier New"/>
                <a:ea typeface="Courier New"/>
                <a:cs typeface="Courier New"/>
                <a:sym typeface="Courier New"/>
              </a:rPr>
              <a:t>ACADEMIC BACKGROUND</a:t>
            </a:r>
            <a:endParaRPr sz="1249">
              <a:solidFill>
                <a:schemeClr val="dk1"/>
              </a:solidFill>
              <a:latin typeface="Calibri"/>
              <a:ea typeface="Calibri"/>
              <a:cs typeface="Calibri"/>
              <a:sym typeface="Calibri"/>
            </a:endParaRPr>
          </a:p>
        </p:txBody>
      </p:sp>
      <p:sp>
        <p:nvSpPr>
          <p:cNvPr id="113" name="Google Shape;113;p4"/>
          <p:cNvSpPr/>
          <p:nvPr/>
        </p:nvSpPr>
        <p:spPr>
          <a:xfrm>
            <a:off x="12796421" y="2047875"/>
            <a:ext cx="4615279" cy="1657350"/>
          </a:xfrm>
          <a:prstGeom prst="rect">
            <a:avLst/>
          </a:prstGeom>
          <a:noFill/>
          <a:ln>
            <a:noFill/>
          </a:ln>
        </p:spPr>
        <p:txBody>
          <a:bodyPr spcFirstLastPara="1" wrap="square" lIns="25400" tIns="25400" rIns="25400" bIns="25400" anchor="t" anchorCtr="0">
            <a:normAutofit/>
          </a:bodyPr>
          <a:lstStyle/>
          <a:p>
            <a:pPr marL="0" marR="0" lvl="0" indent="0" algn="l" rtl="0">
              <a:lnSpc>
                <a:spcPct val="135000"/>
              </a:lnSpc>
              <a:spcBef>
                <a:spcPts val="0"/>
              </a:spcBef>
              <a:spcAft>
                <a:spcPts val="0"/>
              </a:spcAft>
              <a:buClr>
                <a:srgbClr val="4B4845"/>
              </a:buClr>
              <a:buSzPts val="1950"/>
              <a:buFont typeface="Arial"/>
              <a:buNone/>
            </a:pPr>
            <a:r>
              <a:rPr lang="en-US" sz="1950">
                <a:solidFill>
                  <a:srgbClr val="4B4845"/>
                </a:solidFill>
                <a:latin typeface="Arial"/>
                <a:ea typeface="Arial"/>
                <a:cs typeface="Arial"/>
                <a:sym typeface="Arial"/>
              </a:rPr>
              <a:t>Previous qualification</a:t>
            </a:r>
            <a:endParaRPr sz="1950">
              <a:solidFill>
                <a:schemeClr val="dk1"/>
              </a:solidFill>
              <a:latin typeface="Calibri"/>
              <a:ea typeface="Calibri"/>
              <a:cs typeface="Calibri"/>
              <a:sym typeface="Calibri"/>
            </a:endParaRPr>
          </a:p>
          <a:p>
            <a:pPr marL="0" marR="0" lvl="0" indent="0" algn="l" rtl="0">
              <a:lnSpc>
                <a:spcPct val="135000"/>
              </a:lnSpc>
              <a:spcBef>
                <a:spcPts val="0"/>
              </a:spcBef>
              <a:spcAft>
                <a:spcPts val="0"/>
              </a:spcAft>
              <a:buClr>
                <a:srgbClr val="4B4845"/>
              </a:buClr>
              <a:buSzPts val="1950"/>
              <a:buFont typeface="Arial"/>
              <a:buNone/>
            </a:pPr>
            <a:r>
              <a:rPr lang="en-US" sz="1950">
                <a:solidFill>
                  <a:srgbClr val="4B4845"/>
                </a:solidFill>
                <a:latin typeface="Arial"/>
                <a:ea typeface="Arial"/>
                <a:cs typeface="Arial"/>
                <a:sym typeface="Arial"/>
              </a:rPr>
              <a:t>Admission grade</a:t>
            </a:r>
            <a:endParaRPr sz="1950">
              <a:solidFill>
                <a:schemeClr val="dk1"/>
              </a:solidFill>
              <a:latin typeface="Calibri"/>
              <a:ea typeface="Calibri"/>
              <a:cs typeface="Calibri"/>
              <a:sym typeface="Calibri"/>
            </a:endParaRPr>
          </a:p>
          <a:p>
            <a:pPr marL="0" marR="0" lvl="0" indent="0" algn="l" rtl="0">
              <a:lnSpc>
                <a:spcPct val="135000"/>
              </a:lnSpc>
              <a:spcBef>
                <a:spcPts val="0"/>
              </a:spcBef>
              <a:spcAft>
                <a:spcPts val="0"/>
              </a:spcAft>
              <a:buClr>
                <a:srgbClr val="4B4845"/>
              </a:buClr>
              <a:buSzPts val="1950"/>
              <a:buFont typeface="Arial"/>
              <a:buNone/>
            </a:pPr>
            <a:r>
              <a:rPr lang="en-US" sz="1950">
                <a:solidFill>
                  <a:srgbClr val="4B4845"/>
                </a:solidFill>
                <a:latin typeface="Arial"/>
                <a:ea typeface="Arial"/>
                <a:cs typeface="Arial"/>
                <a:sym typeface="Arial"/>
              </a:rPr>
              <a:t>Course</a:t>
            </a:r>
            <a:endParaRPr sz="1950">
              <a:solidFill>
                <a:schemeClr val="dk1"/>
              </a:solidFill>
              <a:latin typeface="Calibri"/>
              <a:ea typeface="Calibri"/>
              <a:cs typeface="Calibri"/>
              <a:sym typeface="Calibri"/>
            </a:endParaRPr>
          </a:p>
          <a:p>
            <a:pPr marL="0" marR="0" lvl="0" indent="0" algn="l" rtl="0">
              <a:lnSpc>
                <a:spcPct val="135000"/>
              </a:lnSpc>
              <a:spcBef>
                <a:spcPts val="0"/>
              </a:spcBef>
              <a:spcAft>
                <a:spcPts val="0"/>
              </a:spcAft>
              <a:buClr>
                <a:srgbClr val="4B4845"/>
              </a:buClr>
              <a:buSzPts val="1950"/>
              <a:buFont typeface="Arial"/>
              <a:buNone/>
            </a:pPr>
            <a:r>
              <a:rPr lang="en-US" sz="1950">
                <a:solidFill>
                  <a:srgbClr val="4B4845"/>
                </a:solidFill>
                <a:latin typeface="Arial"/>
                <a:ea typeface="Arial"/>
                <a:cs typeface="Arial"/>
                <a:sym typeface="Arial"/>
              </a:rPr>
              <a:t>Application mode</a:t>
            </a:r>
            <a:endParaRPr sz="1950">
              <a:solidFill>
                <a:schemeClr val="dk1"/>
              </a:solidFill>
              <a:latin typeface="Calibri"/>
              <a:ea typeface="Calibri"/>
              <a:cs typeface="Calibri"/>
              <a:sym typeface="Calibri"/>
            </a:endParaRPr>
          </a:p>
        </p:txBody>
      </p:sp>
      <p:sp>
        <p:nvSpPr>
          <p:cNvPr id="114" name="Google Shape;114;p4"/>
          <p:cNvSpPr/>
          <p:nvPr/>
        </p:nvSpPr>
        <p:spPr>
          <a:xfrm>
            <a:off x="8223200" y="4010025"/>
            <a:ext cx="4496543" cy="22860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0E3A53"/>
              </a:buClr>
              <a:buSzPts val="1248"/>
              <a:buFont typeface="Courier New"/>
              <a:buNone/>
            </a:pPr>
            <a:r>
              <a:rPr lang="en-US" sz="1249">
                <a:solidFill>
                  <a:srgbClr val="0E3A53"/>
                </a:solidFill>
                <a:latin typeface="Courier New"/>
                <a:ea typeface="Courier New"/>
                <a:cs typeface="Courier New"/>
                <a:sym typeface="Courier New"/>
              </a:rPr>
              <a:t>SOCIO-ECONOMIC</a:t>
            </a:r>
            <a:endParaRPr sz="1249">
              <a:solidFill>
                <a:schemeClr val="dk1"/>
              </a:solidFill>
              <a:latin typeface="Calibri"/>
              <a:ea typeface="Calibri"/>
              <a:cs typeface="Calibri"/>
              <a:sym typeface="Calibri"/>
            </a:endParaRPr>
          </a:p>
        </p:txBody>
      </p:sp>
      <p:sp>
        <p:nvSpPr>
          <p:cNvPr id="115" name="Google Shape;115;p4"/>
          <p:cNvSpPr/>
          <p:nvPr/>
        </p:nvSpPr>
        <p:spPr>
          <a:xfrm>
            <a:off x="8049845" y="4352925"/>
            <a:ext cx="4615130" cy="1657350"/>
          </a:xfrm>
          <a:prstGeom prst="rect">
            <a:avLst/>
          </a:prstGeom>
          <a:noFill/>
          <a:ln>
            <a:noFill/>
          </a:ln>
        </p:spPr>
        <p:txBody>
          <a:bodyPr spcFirstLastPara="1" wrap="square" lIns="25400" tIns="25400" rIns="25400" bIns="25400" anchor="t" anchorCtr="0">
            <a:normAutofit/>
          </a:bodyPr>
          <a:lstStyle/>
          <a:p>
            <a:pPr marL="0" marR="0" lvl="0" indent="0" algn="l" rtl="0">
              <a:lnSpc>
                <a:spcPct val="135000"/>
              </a:lnSpc>
              <a:spcBef>
                <a:spcPts val="0"/>
              </a:spcBef>
              <a:spcAft>
                <a:spcPts val="0"/>
              </a:spcAft>
              <a:buClr>
                <a:srgbClr val="4B4845"/>
              </a:buClr>
              <a:buSzPts val="1950"/>
              <a:buFont typeface="Arial"/>
              <a:buNone/>
            </a:pPr>
            <a:r>
              <a:rPr lang="en-US" sz="1950">
                <a:solidFill>
                  <a:srgbClr val="4B4845"/>
                </a:solidFill>
                <a:latin typeface="Arial"/>
                <a:ea typeface="Arial"/>
                <a:cs typeface="Arial"/>
                <a:sym typeface="Arial"/>
              </a:rPr>
              <a:t>Scholarship holder</a:t>
            </a:r>
            <a:endParaRPr sz="1950">
              <a:solidFill>
                <a:schemeClr val="dk1"/>
              </a:solidFill>
              <a:latin typeface="Calibri"/>
              <a:ea typeface="Calibri"/>
              <a:cs typeface="Calibri"/>
              <a:sym typeface="Calibri"/>
            </a:endParaRPr>
          </a:p>
          <a:p>
            <a:pPr marL="0" marR="0" lvl="0" indent="0" algn="l" rtl="0">
              <a:lnSpc>
                <a:spcPct val="135000"/>
              </a:lnSpc>
              <a:spcBef>
                <a:spcPts val="0"/>
              </a:spcBef>
              <a:spcAft>
                <a:spcPts val="0"/>
              </a:spcAft>
              <a:buClr>
                <a:srgbClr val="4B4845"/>
              </a:buClr>
              <a:buSzPts val="1950"/>
              <a:buFont typeface="Arial"/>
              <a:buNone/>
            </a:pPr>
            <a:r>
              <a:rPr lang="en-US" sz="1950">
                <a:solidFill>
                  <a:srgbClr val="4B4845"/>
                </a:solidFill>
                <a:latin typeface="Arial"/>
                <a:ea typeface="Arial"/>
                <a:cs typeface="Arial"/>
                <a:sym typeface="Arial"/>
              </a:rPr>
              <a:t>Debtor</a:t>
            </a:r>
            <a:endParaRPr sz="1950">
              <a:solidFill>
                <a:schemeClr val="dk1"/>
              </a:solidFill>
              <a:latin typeface="Calibri"/>
              <a:ea typeface="Calibri"/>
              <a:cs typeface="Calibri"/>
              <a:sym typeface="Calibri"/>
            </a:endParaRPr>
          </a:p>
          <a:p>
            <a:pPr marL="0" marR="0" lvl="0" indent="0" algn="l" rtl="0">
              <a:lnSpc>
                <a:spcPct val="135000"/>
              </a:lnSpc>
              <a:spcBef>
                <a:spcPts val="0"/>
              </a:spcBef>
              <a:spcAft>
                <a:spcPts val="0"/>
              </a:spcAft>
              <a:buClr>
                <a:srgbClr val="4B4845"/>
              </a:buClr>
              <a:buSzPts val="1950"/>
              <a:buFont typeface="Arial"/>
              <a:buNone/>
            </a:pPr>
            <a:r>
              <a:rPr lang="en-US" sz="1950">
                <a:solidFill>
                  <a:srgbClr val="4B4845"/>
                </a:solidFill>
                <a:latin typeface="Arial"/>
                <a:ea typeface="Arial"/>
                <a:cs typeface="Arial"/>
                <a:sym typeface="Arial"/>
              </a:rPr>
              <a:t>Tuition fees up to date</a:t>
            </a:r>
            <a:endParaRPr sz="1950">
              <a:solidFill>
                <a:schemeClr val="dk1"/>
              </a:solidFill>
              <a:latin typeface="Calibri"/>
              <a:ea typeface="Calibri"/>
              <a:cs typeface="Calibri"/>
              <a:sym typeface="Calibri"/>
            </a:endParaRPr>
          </a:p>
          <a:p>
            <a:pPr marL="0" marR="0" lvl="0" indent="0" algn="l" rtl="0">
              <a:lnSpc>
                <a:spcPct val="135000"/>
              </a:lnSpc>
              <a:spcBef>
                <a:spcPts val="0"/>
              </a:spcBef>
              <a:spcAft>
                <a:spcPts val="0"/>
              </a:spcAft>
              <a:buClr>
                <a:srgbClr val="4B4845"/>
              </a:buClr>
              <a:buSzPts val="1950"/>
              <a:buFont typeface="Arial"/>
              <a:buNone/>
            </a:pPr>
            <a:r>
              <a:rPr lang="en-US" sz="1950">
                <a:solidFill>
                  <a:srgbClr val="4B4845"/>
                </a:solidFill>
                <a:latin typeface="Arial"/>
                <a:ea typeface="Arial"/>
                <a:cs typeface="Arial"/>
                <a:sym typeface="Arial"/>
              </a:rPr>
              <a:t>Parental education / occupation</a:t>
            </a:r>
            <a:endParaRPr sz="1950">
              <a:solidFill>
                <a:schemeClr val="dk1"/>
              </a:solidFill>
              <a:latin typeface="Calibri"/>
              <a:ea typeface="Calibri"/>
              <a:cs typeface="Calibri"/>
              <a:sym typeface="Calibri"/>
            </a:endParaRPr>
          </a:p>
        </p:txBody>
      </p:sp>
      <p:sp>
        <p:nvSpPr>
          <p:cNvPr id="116" name="Google Shape;116;p4"/>
          <p:cNvSpPr/>
          <p:nvPr/>
        </p:nvSpPr>
        <p:spPr>
          <a:xfrm>
            <a:off x="12969776" y="4010025"/>
            <a:ext cx="4496696" cy="22860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0E3A53"/>
              </a:buClr>
              <a:buSzPts val="1248"/>
              <a:buFont typeface="Courier New"/>
              <a:buNone/>
            </a:pPr>
            <a:r>
              <a:rPr lang="en-US" sz="1249">
                <a:solidFill>
                  <a:srgbClr val="0E3A53"/>
                </a:solidFill>
                <a:latin typeface="Courier New"/>
                <a:ea typeface="Courier New"/>
                <a:cs typeface="Courier New"/>
                <a:sym typeface="Courier New"/>
              </a:rPr>
              <a:t>PERFORMANCE (SEM 1 &amp; 2)</a:t>
            </a:r>
            <a:endParaRPr sz="1249">
              <a:solidFill>
                <a:schemeClr val="dk1"/>
              </a:solidFill>
              <a:latin typeface="Calibri"/>
              <a:ea typeface="Calibri"/>
              <a:cs typeface="Calibri"/>
              <a:sym typeface="Calibri"/>
            </a:endParaRPr>
          </a:p>
        </p:txBody>
      </p:sp>
      <p:sp>
        <p:nvSpPr>
          <p:cNvPr id="117" name="Google Shape;117;p4"/>
          <p:cNvSpPr/>
          <p:nvPr/>
        </p:nvSpPr>
        <p:spPr>
          <a:xfrm>
            <a:off x="12796421" y="4352925"/>
            <a:ext cx="4615279" cy="1657350"/>
          </a:xfrm>
          <a:prstGeom prst="rect">
            <a:avLst/>
          </a:prstGeom>
          <a:noFill/>
          <a:ln>
            <a:noFill/>
          </a:ln>
        </p:spPr>
        <p:txBody>
          <a:bodyPr spcFirstLastPara="1" wrap="square" lIns="25400" tIns="25400" rIns="25400" bIns="25400" anchor="t" anchorCtr="0">
            <a:normAutofit/>
          </a:bodyPr>
          <a:lstStyle/>
          <a:p>
            <a:pPr marL="0" marR="0" lvl="0" indent="0" algn="l" rtl="0">
              <a:lnSpc>
                <a:spcPct val="135000"/>
              </a:lnSpc>
              <a:spcBef>
                <a:spcPts val="0"/>
              </a:spcBef>
              <a:spcAft>
                <a:spcPts val="0"/>
              </a:spcAft>
              <a:buClr>
                <a:srgbClr val="4B4845"/>
              </a:buClr>
              <a:buSzPts val="1950"/>
              <a:buFont typeface="Arial"/>
              <a:buNone/>
            </a:pPr>
            <a:r>
              <a:rPr lang="en-US" sz="1950">
                <a:solidFill>
                  <a:srgbClr val="4B4845"/>
                </a:solidFill>
                <a:latin typeface="Arial"/>
                <a:ea typeface="Arial"/>
                <a:cs typeface="Arial"/>
                <a:sym typeface="Arial"/>
              </a:rPr>
              <a:t>Units enrolled</a:t>
            </a:r>
            <a:endParaRPr sz="1950">
              <a:solidFill>
                <a:schemeClr val="dk1"/>
              </a:solidFill>
              <a:latin typeface="Calibri"/>
              <a:ea typeface="Calibri"/>
              <a:cs typeface="Calibri"/>
              <a:sym typeface="Calibri"/>
            </a:endParaRPr>
          </a:p>
          <a:p>
            <a:pPr marL="0" marR="0" lvl="0" indent="0" algn="l" rtl="0">
              <a:lnSpc>
                <a:spcPct val="135000"/>
              </a:lnSpc>
              <a:spcBef>
                <a:spcPts val="0"/>
              </a:spcBef>
              <a:spcAft>
                <a:spcPts val="0"/>
              </a:spcAft>
              <a:buClr>
                <a:srgbClr val="4B4845"/>
              </a:buClr>
              <a:buSzPts val="1950"/>
              <a:buFont typeface="Arial"/>
              <a:buNone/>
            </a:pPr>
            <a:r>
              <a:rPr lang="en-US" sz="1950">
                <a:solidFill>
                  <a:srgbClr val="4B4845"/>
                </a:solidFill>
                <a:latin typeface="Arial"/>
                <a:ea typeface="Arial"/>
                <a:cs typeface="Arial"/>
                <a:sym typeface="Arial"/>
              </a:rPr>
              <a:t>Units approved</a:t>
            </a:r>
            <a:endParaRPr sz="1950">
              <a:solidFill>
                <a:schemeClr val="dk1"/>
              </a:solidFill>
              <a:latin typeface="Calibri"/>
              <a:ea typeface="Calibri"/>
              <a:cs typeface="Calibri"/>
              <a:sym typeface="Calibri"/>
            </a:endParaRPr>
          </a:p>
          <a:p>
            <a:pPr marL="0" marR="0" lvl="0" indent="0" algn="l" rtl="0">
              <a:lnSpc>
                <a:spcPct val="135000"/>
              </a:lnSpc>
              <a:spcBef>
                <a:spcPts val="0"/>
              </a:spcBef>
              <a:spcAft>
                <a:spcPts val="0"/>
              </a:spcAft>
              <a:buClr>
                <a:srgbClr val="4B4845"/>
              </a:buClr>
              <a:buSzPts val="1950"/>
              <a:buFont typeface="Arial"/>
              <a:buNone/>
            </a:pPr>
            <a:r>
              <a:rPr lang="en-US" sz="1950">
                <a:solidFill>
                  <a:srgbClr val="4B4845"/>
                </a:solidFill>
                <a:latin typeface="Arial"/>
                <a:ea typeface="Arial"/>
                <a:cs typeface="Arial"/>
                <a:sym typeface="Arial"/>
              </a:rPr>
              <a:t>Semester grade</a:t>
            </a:r>
            <a:endParaRPr sz="1950">
              <a:solidFill>
                <a:schemeClr val="dk1"/>
              </a:solidFill>
              <a:latin typeface="Calibri"/>
              <a:ea typeface="Calibri"/>
              <a:cs typeface="Calibri"/>
              <a:sym typeface="Calibri"/>
            </a:endParaRPr>
          </a:p>
          <a:p>
            <a:pPr marL="0" marR="0" lvl="0" indent="0" algn="l" rtl="0">
              <a:lnSpc>
                <a:spcPct val="135000"/>
              </a:lnSpc>
              <a:spcBef>
                <a:spcPts val="0"/>
              </a:spcBef>
              <a:spcAft>
                <a:spcPts val="0"/>
              </a:spcAft>
              <a:buClr>
                <a:srgbClr val="4B4845"/>
              </a:buClr>
              <a:buSzPts val="1950"/>
              <a:buFont typeface="Arial"/>
              <a:buNone/>
            </a:pPr>
            <a:r>
              <a:rPr lang="en-US" sz="1950">
                <a:solidFill>
                  <a:srgbClr val="4B4845"/>
                </a:solidFill>
                <a:latin typeface="Arial"/>
                <a:ea typeface="Arial"/>
                <a:cs typeface="Arial"/>
                <a:sym typeface="Arial"/>
              </a:rPr>
              <a:t>Evaluations taken</a:t>
            </a:r>
            <a:endParaRPr sz="1950">
              <a:solidFill>
                <a:schemeClr val="dk1"/>
              </a:solidFill>
              <a:latin typeface="Calibri"/>
              <a:ea typeface="Calibri"/>
              <a:cs typeface="Calibri"/>
              <a:sym typeface="Calibri"/>
            </a:endParaRPr>
          </a:p>
        </p:txBody>
      </p:sp>
      <p:sp>
        <p:nvSpPr>
          <p:cNvPr id="118" name="Google Shape;118;p4"/>
          <p:cNvSpPr/>
          <p:nvPr/>
        </p:nvSpPr>
        <p:spPr>
          <a:xfrm>
            <a:off x="16692116" y="7200900"/>
            <a:ext cx="1100584" cy="2952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665"/>
              <a:buFont typeface="Courier New"/>
              <a:buNone/>
            </a:pPr>
            <a:r>
              <a:rPr lang="en-US" sz="1665">
                <a:solidFill>
                  <a:srgbClr val="807C76"/>
                </a:solidFill>
                <a:latin typeface="Courier New"/>
                <a:ea typeface="Courier New"/>
                <a:cs typeface="Courier New"/>
                <a:sym typeface="Courier New"/>
              </a:rPr>
              <a:t>04/19</a:t>
            </a:r>
            <a:endParaRPr sz="1665">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Shape 123"/>
        <p:cNvGrpSpPr/>
        <p:nvPr/>
      </p:nvGrpSpPr>
      <p:grpSpPr>
        <a:xfrm>
          <a:off x="0" y="0"/>
          <a:ext cx="0" cy="0"/>
          <a:chOff x="0" y="0"/>
          <a:chExt cx="0" cy="0"/>
        </a:xfrm>
      </p:grpSpPr>
      <p:sp>
        <p:nvSpPr>
          <p:cNvPr id="124" name="Google Shape;124;p5"/>
          <p:cNvSpPr/>
          <p:nvPr/>
        </p:nvSpPr>
        <p:spPr>
          <a:xfrm>
            <a:off x="952500" y="1047006"/>
            <a:ext cx="533400" cy="19050"/>
          </a:xfrm>
          <a:prstGeom prst="rect">
            <a:avLst/>
          </a:prstGeom>
          <a:solidFill>
            <a:srgbClr val="4B484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5" name="Google Shape;125;p5"/>
          <p:cNvSpPr/>
          <p:nvPr/>
        </p:nvSpPr>
        <p:spPr>
          <a:xfrm>
            <a:off x="1657350" y="952500"/>
            <a:ext cx="3489925" cy="2952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665"/>
              <a:buFont typeface="Courier New"/>
              <a:buNone/>
            </a:pPr>
            <a:r>
              <a:rPr lang="en-US" sz="1665">
                <a:solidFill>
                  <a:srgbClr val="807C76"/>
                </a:solidFill>
                <a:latin typeface="Courier New"/>
                <a:ea typeface="Courier New"/>
                <a:cs typeface="Courier New"/>
                <a:sym typeface="Courier New"/>
              </a:rPr>
              <a:t>04 · DATA WAREHOUSE</a:t>
            </a:r>
            <a:endParaRPr sz="1665">
              <a:solidFill>
                <a:schemeClr val="dk1"/>
              </a:solidFill>
              <a:latin typeface="Calibri"/>
              <a:ea typeface="Calibri"/>
              <a:cs typeface="Calibri"/>
              <a:sym typeface="Calibri"/>
            </a:endParaRPr>
          </a:p>
        </p:txBody>
      </p:sp>
      <p:sp>
        <p:nvSpPr>
          <p:cNvPr id="126" name="Google Shape;126;p5"/>
          <p:cNvSpPr/>
          <p:nvPr/>
        </p:nvSpPr>
        <p:spPr>
          <a:xfrm>
            <a:off x="952500" y="1704975"/>
            <a:ext cx="16874490" cy="666750"/>
          </a:xfrm>
          <a:prstGeom prst="rect">
            <a:avLst/>
          </a:prstGeom>
          <a:noFill/>
          <a:ln>
            <a:noFill/>
          </a:ln>
        </p:spPr>
        <p:txBody>
          <a:bodyPr spcFirstLastPara="1" wrap="square" lIns="25400" tIns="25400" rIns="25400" bIns="25400" anchor="t" anchorCtr="0">
            <a:normAutofit/>
          </a:bodyPr>
          <a:lstStyle/>
          <a:p>
            <a:pPr marL="0" marR="0" lvl="0" indent="0" algn="l" rtl="0">
              <a:lnSpc>
                <a:spcPct val="84000"/>
              </a:lnSpc>
              <a:spcBef>
                <a:spcPts val="0"/>
              </a:spcBef>
              <a:spcAft>
                <a:spcPts val="0"/>
              </a:spcAft>
              <a:buClr>
                <a:srgbClr val="1C1B1A"/>
              </a:buClr>
              <a:buSzPts val="4440"/>
              <a:buFont typeface="Georgia"/>
              <a:buNone/>
            </a:pPr>
            <a:r>
              <a:rPr lang="en-US" sz="4440" b="1">
                <a:solidFill>
                  <a:srgbClr val="1C1B1A"/>
                </a:solidFill>
                <a:latin typeface="Georgia"/>
                <a:ea typeface="Georgia"/>
                <a:cs typeface="Georgia"/>
                <a:sym typeface="Georgia"/>
              </a:rPr>
              <a:t>Star schema for the analytical layer</a:t>
            </a:r>
            <a:endParaRPr sz="4440">
              <a:solidFill>
                <a:schemeClr val="dk1"/>
              </a:solidFill>
              <a:latin typeface="Calibri"/>
              <a:ea typeface="Calibri"/>
              <a:cs typeface="Calibri"/>
              <a:sym typeface="Calibri"/>
            </a:endParaRPr>
          </a:p>
        </p:txBody>
      </p:sp>
      <p:sp>
        <p:nvSpPr>
          <p:cNvPr id="127" name="Google Shape;127;p5"/>
          <p:cNvSpPr/>
          <p:nvPr/>
        </p:nvSpPr>
        <p:spPr>
          <a:xfrm>
            <a:off x="952500" y="2809875"/>
            <a:ext cx="4802832" cy="1704975"/>
          </a:xfrm>
          <a:prstGeom prst="rect">
            <a:avLst/>
          </a:prstGeom>
          <a:solidFill>
            <a:srgbClr val="FFFFFF"/>
          </a:solidFill>
          <a:ln w="9525" cap="flat" cmpd="sng">
            <a:solidFill>
              <a:srgbClr val="D9D3C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8" name="Google Shape;128;p5"/>
          <p:cNvSpPr/>
          <p:nvPr/>
        </p:nvSpPr>
        <p:spPr>
          <a:xfrm>
            <a:off x="1171575" y="3028950"/>
            <a:ext cx="4495623" cy="257175"/>
          </a:xfrm>
          <a:prstGeom prst="rect">
            <a:avLst/>
          </a:prstGeom>
          <a:noFill/>
          <a:ln>
            <a:noFill/>
          </a:ln>
        </p:spPr>
        <p:txBody>
          <a:bodyPr spcFirstLastPara="1" wrap="square" lIns="25400" tIns="25400" rIns="25400" bIns="25400" anchor="t" anchorCtr="0">
            <a:normAutofit/>
          </a:bodyPr>
          <a:lstStyle/>
          <a:p>
            <a:pPr marL="0" marR="0" lvl="0" indent="0" algn="l" rtl="0">
              <a:spcBef>
                <a:spcPts val="0"/>
              </a:spcBef>
              <a:spcAft>
                <a:spcPts val="0"/>
              </a:spcAft>
              <a:buClr>
                <a:srgbClr val="0E3A53"/>
              </a:buClr>
              <a:buSzPts val="1350"/>
              <a:buFont typeface="Courier New"/>
              <a:buNone/>
            </a:pPr>
            <a:r>
              <a:rPr lang="en-US" sz="1350" b="1">
                <a:solidFill>
                  <a:srgbClr val="0E3A53"/>
                </a:solidFill>
                <a:latin typeface="Courier New"/>
                <a:ea typeface="Courier New"/>
                <a:cs typeface="Courier New"/>
                <a:sym typeface="Courier New"/>
              </a:rPr>
              <a:t>STUDENT_DIM</a:t>
            </a:r>
            <a:endParaRPr sz="1350">
              <a:solidFill>
                <a:schemeClr val="dk1"/>
              </a:solidFill>
              <a:latin typeface="Calibri"/>
              <a:ea typeface="Calibri"/>
              <a:cs typeface="Calibri"/>
              <a:sym typeface="Calibri"/>
            </a:endParaRPr>
          </a:p>
        </p:txBody>
      </p:sp>
      <p:sp>
        <p:nvSpPr>
          <p:cNvPr id="129" name="Google Shape;129;p5"/>
          <p:cNvSpPr/>
          <p:nvPr/>
        </p:nvSpPr>
        <p:spPr>
          <a:xfrm>
            <a:off x="1051560" y="3362325"/>
            <a:ext cx="4560897" cy="971550"/>
          </a:xfrm>
          <a:prstGeom prst="rect">
            <a:avLst/>
          </a:prstGeom>
          <a:noFill/>
          <a:ln>
            <a:noFill/>
          </a:ln>
        </p:spPr>
        <p:txBody>
          <a:bodyPr spcFirstLastPara="1" wrap="square" lIns="25400" tIns="25400" rIns="25400" bIns="25400" anchor="t" anchorCtr="0">
            <a:normAutofit/>
          </a:bodyPr>
          <a:lstStyle/>
          <a:p>
            <a:pPr marL="0" marR="0" lvl="0" indent="0" algn="l" rtl="0">
              <a:spcBef>
                <a:spcPts val="0"/>
              </a:spcBef>
              <a:spcAft>
                <a:spcPts val="0"/>
              </a:spcAft>
              <a:buClr>
                <a:srgbClr val="4B4845"/>
              </a:buClr>
              <a:buSzPts val="1350"/>
              <a:buFont typeface="Courier New"/>
              <a:buNone/>
            </a:pPr>
            <a:r>
              <a:rPr lang="en-US" sz="1350">
                <a:solidFill>
                  <a:srgbClr val="4B4845"/>
                </a:solidFill>
                <a:latin typeface="Courier New"/>
                <a:ea typeface="Courier New"/>
                <a:cs typeface="Courier New"/>
                <a:sym typeface="Courier New"/>
              </a:rPr>
              <a:t>age</a:t>
            </a:r>
            <a:endParaRPr sz="1350">
              <a:solidFill>
                <a:schemeClr val="dk1"/>
              </a:solidFill>
              <a:latin typeface="Calibri"/>
              <a:ea typeface="Calibri"/>
              <a:cs typeface="Calibri"/>
              <a:sym typeface="Calibri"/>
            </a:endParaRPr>
          </a:p>
          <a:p>
            <a:pPr marL="0" marR="0" lvl="0" indent="0" algn="l" rtl="0">
              <a:spcBef>
                <a:spcPts val="0"/>
              </a:spcBef>
              <a:spcAft>
                <a:spcPts val="0"/>
              </a:spcAft>
              <a:buClr>
                <a:srgbClr val="4B4845"/>
              </a:buClr>
              <a:buSzPts val="1350"/>
              <a:buFont typeface="Courier New"/>
              <a:buNone/>
            </a:pPr>
            <a:r>
              <a:rPr lang="en-US" sz="1350">
                <a:solidFill>
                  <a:srgbClr val="4B4845"/>
                </a:solidFill>
                <a:latin typeface="Courier New"/>
                <a:ea typeface="Courier New"/>
                <a:cs typeface="Courier New"/>
                <a:sym typeface="Courier New"/>
              </a:rPr>
              <a:t>gender</a:t>
            </a:r>
            <a:endParaRPr sz="1350">
              <a:solidFill>
                <a:schemeClr val="dk1"/>
              </a:solidFill>
              <a:latin typeface="Calibri"/>
              <a:ea typeface="Calibri"/>
              <a:cs typeface="Calibri"/>
              <a:sym typeface="Calibri"/>
            </a:endParaRPr>
          </a:p>
          <a:p>
            <a:pPr marL="0" marR="0" lvl="0" indent="0" algn="l" rtl="0">
              <a:spcBef>
                <a:spcPts val="0"/>
              </a:spcBef>
              <a:spcAft>
                <a:spcPts val="0"/>
              </a:spcAft>
              <a:buClr>
                <a:srgbClr val="4B4845"/>
              </a:buClr>
              <a:buSzPts val="1350"/>
              <a:buFont typeface="Courier New"/>
              <a:buNone/>
            </a:pPr>
            <a:r>
              <a:rPr lang="en-US" sz="1350">
                <a:solidFill>
                  <a:srgbClr val="4B4845"/>
                </a:solidFill>
                <a:latin typeface="Courier New"/>
                <a:ea typeface="Courier New"/>
                <a:cs typeface="Courier New"/>
                <a:sym typeface="Courier New"/>
              </a:rPr>
              <a:t>marital_status</a:t>
            </a:r>
            <a:endParaRPr sz="1350">
              <a:solidFill>
                <a:schemeClr val="dk1"/>
              </a:solidFill>
              <a:latin typeface="Calibri"/>
              <a:ea typeface="Calibri"/>
              <a:cs typeface="Calibri"/>
              <a:sym typeface="Calibri"/>
            </a:endParaRPr>
          </a:p>
          <a:p>
            <a:pPr marL="0" marR="0" lvl="0" indent="0" algn="l" rtl="0">
              <a:spcBef>
                <a:spcPts val="0"/>
              </a:spcBef>
              <a:spcAft>
                <a:spcPts val="0"/>
              </a:spcAft>
              <a:buClr>
                <a:srgbClr val="4B4845"/>
              </a:buClr>
              <a:buSzPts val="1350"/>
              <a:buFont typeface="Courier New"/>
              <a:buNone/>
            </a:pPr>
            <a:r>
              <a:rPr lang="en-US" sz="1350">
                <a:solidFill>
                  <a:srgbClr val="4B4845"/>
                </a:solidFill>
                <a:latin typeface="Courier New"/>
                <a:ea typeface="Courier New"/>
                <a:cs typeface="Courier New"/>
                <a:sym typeface="Courier New"/>
              </a:rPr>
              <a:t>nationality</a:t>
            </a:r>
            <a:endParaRPr sz="1350">
              <a:solidFill>
                <a:schemeClr val="dk1"/>
              </a:solidFill>
              <a:latin typeface="Calibri"/>
              <a:ea typeface="Calibri"/>
              <a:cs typeface="Calibri"/>
              <a:sym typeface="Calibri"/>
            </a:endParaRPr>
          </a:p>
        </p:txBody>
      </p:sp>
      <p:sp>
        <p:nvSpPr>
          <p:cNvPr id="130" name="Google Shape;130;p5"/>
          <p:cNvSpPr/>
          <p:nvPr/>
        </p:nvSpPr>
        <p:spPr>
          <a:xfrm>
            <a:off x="952500" y="4743450"/>
            <a:ext cx="4802832" cy="1704975"/>
          </a:xfrm>
          <a:prstGeom prst="rect">
            <a:avLst/>
          </a:prstGeom>
          <a:solidFill>
            <a:srgbClr val="FFFFFF"/>
          </a:solidFill>
          <a:ln w="9525" cap="flat" cmpd="sng">
            <a:solidFill>
              <a:srgbClr val="D9D3C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1" name="Google Shape;131;p5"/>
          <p:cNvSpPr/>
          <p:nvPr/>
        </p:nvSpPr>
        <p:spPr>
          <a:xfrm>
            <a:off x="1171575" y="4962525"/>
            <a:ext cx="4495623" cy="257175"/>
          </a:xfrm>
          <a:prstGeom prst="rect">
            <a:avLst/>
          </a:prstGeom>
          <a:noFill/>
          <a:ln>
            <a:noFill/>
          </a:ln>
        </p:spPr>
        <p:txBody>
          <a:bodyPr spcFirstLastPara="1" wrap="square" lIns="25400" tIns="25400" rIns="25400" bIns="25400" anchor="t" anchorCtr="0">
            <a:normAutofit/>
          </a:bodyPr>
          <a:lstStyle/>
          <a:p>
            <a:pPr marL="0" marR="0" lvl="0" indent="0" algn="l" rtl="0">
              <a:spcBef>
                <a:spcPts val="0"/>
              </a:spcBef>
              <a:spcAft>
                <a:spcPts val="0"/>
              </a:spcAft>
              <a:buClr>
                <a:srgbClr val="0E3A53"/>
              </a:buClr>
              <a:buSzPts val="1350"/>
              <a:buFont typeface="Courier New"/>
              <a:buNone/>
            </a:pPr>
            <a:r>
              <a:rPr lang="en-US" sz="1350" b="1">
                <a:solidFill>
                  <a:srgbClr val="0E3A53"/>
                </a:solidFill>
                <a:latin typeface="Courier New"/>
                <a:ea typeface="Courier New"/>
                <a:cs typeface="Courier New"/>
                <a:sym typeface="Courier New"/>
              </a:rPr>
              <a:t>FAMILY_DIM</a:t>
            </a:r>
            <a:endParaRPr sz="1350">
              <a:solidFill>
                <a:schemeClr val="dk1"/>
              </a:solidFill>
              <a:latin typeface="Calibri"/>
              <a:ea typeface="Calibri"/>
              <a:cs typeface="Calibri"/>
              <a:sym typeface="Calibri"/>
            </a:endParaRPr>
          </a:p>
        </p:txBody>
      </p:sp>
      <p:sp>
        <p:nvSpPr>
          <p:cNvPr id="132" name="Google Shape;132;p5"/>
          <p:cNvSpPr/>
          <p:nvPr/>
        </p:nvSpPr>
        <p:spPr>
          <a:xfrm>
            <a:off x="1051560" y="5295900"/>
            <a:ext cx="4560897" cy="971550"/>
          </a:xfrm>
          <a:prstGeom prst="rect">
            <a:avLst/>
          </a:prstGeom>
          <a:noFill/>
          <a:ln>
            <a:noFill/>
          </a:ln>
        </p:spPr>
        <p:txBody>
          <a:bodyPr spcFirstLastPara="1" wrap="square" lIns="25400" tIns="25400" rIns="25400" bIns="25400" anchor="t" anchorCtr="0">
            <a:normAutofit/>
          </a:bodyPr>
          <a:lstStyle/>
          <a:p>
            <a:pPr marL="0" marR="0" lvl="0" indent="0" algn="l" rtl="0">
              <a:spcBef>
                <a:spcPts val="0"/>
              </a:spcBef>
              <a:spcAft>
                <a:spcPts val="0"/>
              </a:spcAft>
              <a:buClr>
                <a:srgbClr val="4B4845"/>
              </a:buClr>
              <a:buSzPts val="1350"/>
              <a:buFont typeface="Courier New"/>
              <a:buNone/>
            </a:pPr>
            <a:r>
              <a:rPr lang="en-US" sz="1350">
                <a:solidFill>
                  <a:srgbClr val="4B4845"/>
                </a:solidFill>
                <a:latin typeface="Courier New"/>
                <a:ea typeface="Courier New"/>
                <a:cs typeface="Courier New"/>
                <a:sym typeface="Courier New"/>
              </a:rPr>
              <a:t>mother_qualification</a:t>
            </a:r>
            <a:endParaRPr sz="1350">
              <a:solidFill>
                <a:schemeClr val="dk1"/>
              </a:solidFill>
              <a:latin typeface="Calibri"/>
              <a:ea typeface="Calibri"/>
              <a:cs typeface="Calibri"/>
              <a:sym typeface="Calibri"/>
            </a:endParaRPr>
          </a:p>
          <a:p>
            <a:pPr marL="0" marR="0" lvl="0" indent="0" algn="l" rtl="0">
              <a:spcBef>
                <a:spcPts val="0"/>
              </a:spcBef>
              <a:spcAft>
                <a:spcPts val="0"/>
              </a:spcAft>
              <a:buClr>
                <a:srgbClr val="4B4845"/>
              </a:buClr>
              <a:buSzPts val="1350"/>
              <a:buFont typeface="Courier New"/>
              <a:buNone/>
            </a:pPr>
            <a:r>
              <a:rPr lang="en-US" sz="1350">
                <a:solidFill>
                  <a:srgbClr val="4B4845"/>
                </a:solidFill>
                <a:latin typeface="Courier New"/>
                <a:ea typeface="Courier New"/>
                <a:cs typeface="Courier New"/>
                <a:sym typeface="Courier New"/>
              </a:rPr>
              <a:t>father_qualification</a:t>
            </a:r>
            <a:endParaRPr sz="1350">
              <a:solidFill>
                <a:schemeClr val="dk1"/>
              </a:solidFill>
              <a:latin typeface="Calibri"/>
              <a:ea typeface="Calibri"/>
              <a:cs typeface="Calibri"/>
              <a:sym typeface="Calibri"/>
            </a:endParaRPr>
          </a:p>
          <a:p>
            <a:pPr marL="0" marR="0" lvl="0" indent="0" algn="l" rtl="0">
              <a:spcBef>
                <a:spcPts val="0"/>
              </a:spcBef>
              <a:spcAft>
                <a:spcPts val="0"/>
              </a:spcAft>
              <a:buClr>
                <a:srgbClr val="4B4845"/>
              </a:buClr>
              <a:buSzPts val="1350"/>
              <a:buFont typeface="Courier New"/>
              <a:buNone/>
            </a:pPr>
            <a:r>
              <a:rPr lang="en-US" sz="1350">
                <a:solidFill>
                  <a:srgbClr val="4B4845"/>
                </a:solidFill>
                <a:latin typeface="Courier New"/>
                <a:ea typeface="Courier New"/>
                <a:cs typeface="Courier New"/>
                <a:sym typeface="Courier New"/>
              </a:rPr>
              <a:t>mother_occupation</a:t>
            </a:r>
            <a:endParaRPr sz="1350">
              <a:solidFill>
                <a:schemeClr val="dk1"/>
              </a:solidFill>
              <a:latin typeface="Calibri"/>
              <a:ea typeface="Calibri"/>
              <a:cs typeface="Calibri"/>
              <a:sym typeface="Calibri"/>
            </a:endParaRPr>
          </a:p>
          <a:p>
            <a:pPr marL="0" marR="0" lvl="0" indent="0" algn="l" rtl="0">
              <a:spcBef>
                <a:spcPts val="0"/>
              </a:spcBef>
              <a:spcAft>
                <a:spcPts val="0"/>
              </a:spcAft>
              <a:buClr>
                <a:srgbClr val="4B4845"/>
              </a:buClr>
              <a:buSzPts val="1350"/>
              <a:buFont typeface="Courier New"/>
              <a:buNone/>
            </a:pPr>
            <a:r>
              <a:rPr lang="en-US" sz="1350">
                <a:solidFill>
                  <a:srgbClr val="4B4845"/>
                </a:solidFill>
                <a:latin typeface="Courier New"/>
                <a:ea typeface="Courier New"/>
                <a:cs typeface="Courier New"/>
                <a:sym typeface="Courier New"/>
              </a:rPr>
              <a:t>father_occupation</a:t>
            </a:r>
            <a:endParaRPr sz="1350">
              <a:solidFill>
                <a:schemeClr val="dk1"/>
              </a:solidFill>
              <a:latin typeface="Calibri"/>
              <a:ea typeface="Calibri"/>
              <a:cs typeface="Calibri"/>
              <a:sym typeface="Calibri"/>
            </a:endParaRPr>
          </a:p>
        </p:txBody>
      </p:sp>
      <p:sp>
        <p:nvSpPr>
          <p:cNvPr id="133" name="Google Shape;133;p5"/>
          <p:cNvSpPr/>
          <p:nvPr/>
        </p:nvSpPr>
        <p:spPr>
          <a:xfrm>
            <a:off x="6022032" y="3095625"/>
            <a:ext cx="6243786" cy="3067050"/>
          </a:xfrm>
          <a:prstGeom prst="rect">
            <a:avLst/>
          </a:prstGeom>
          <a:solidFill>
            <a:srgbClr val="0E3A53"/>
          </a:solidFill>
          <a:ln w="19050" cap="flat" cmpd="sng">
            <a:solidFill>
              <a:srgbClr val="0E3A5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4" name="Google Shape;134;p5"/>
          <p:cNvSpPr/>
          <p:nvPr/>
        </p:nvSpPr>
        <p:spPr>
          <a:xfrm>
            <a:off x="6307782" y="3419475"/>
            <a:ext cx="5842455" cy="285750"/>
          </a:xfrm>
          <a:prstGeom prst="rect">
            <a:avLst/>
          </a:prstGeom>
          <a:noFill/>
          <a:ln>
            <a:noFill/>
          </a:ln>
        </p:spPr>
        <p:txBody>
          <a:bodyPr spcFirstLastPara="1" wrap="square" lIns="25400" tIns="25400" rIns="25400" bIns="25400" anchor="t" anchorCtr="0">
            <a:normAutofit/>
          </a:bodyPr>
          <a:lstStyle/>
          <a:p>
            <a:pPr marL="0" marR="0" lvl="0" indent="0" algn="l" rtl="0">
              <a:spcBef>
                <a:spcPts val="0"/>
              </a:spcBef>
              <a:spcAft>
                <a:spcPts val="0"/>
              </a:spcAft>
              <a:buClr>
                <a:srgbClr val="FFFFFF"/>
              </a:buClr>
              <a:buSzPts val="1500"/>
              <a:buFont typeface="Courier New"/>
              <a:buNone/>
            </a:pPr>
            <a:r>
              <a:rPr lang="en-US" sz="1500" b="1">
                <a:solidFill>
                  <a:srgbClr val="FFFFFF"/>
                </a:solidFill>
                <a:latin typeface="Courier New"/>
                <a:ea typeface="Courier New"/>
                <a:cs typeface="Courier New"/>
                <a:sym typeface="Courier New"/>
              </a:rPr>
              <a:t>FACT</a:t>
            </a:r>
            <a:endParaRPr sz="1500">
              <a:solidFill>
                <a:schemeClr val="dk1"/>
              </a:solidFill>
              <a:latin typeface="Calibri"/>
              <a:ea typeface="Calibri"/>
              <a:cs typeface="Calibri"/>
              <a:sym typeface="Calibri"/>
            </a:endParaRPr>
          </a:p>
        </p:txBody>
      </p:sp>
      <p:sp>
        <p:nvSpPr>
          <p:cNvPr id="135" name="Google Shape;135;p5"/>
          <p:cNvSpPr/>
          <p:nvPr/>
        </p:nvSpPr>
        <p:spPr>
          <a:xfrm>
            <a:off x="6307782" y="3819525"/>
            <a:ext cx="5842455" cy="390525"/>
          </a:xfrm>
          <a:prstGeom prst="rect">
            <a:avLst/>
          </a:prstGeom>
          <a:noFill/>
          <a:ln>
            <a:noFill/>
          </a:ln>
        </p:spPr>
        <p:txBody>
          <a:bodyPr spcFirstLastPara="1" wrap="square" lIns="25400" tIns="25400" rIns="25400" bIns="25400" anchor="t" anchorCtr="0">
            <a:normAutofit/>
          </a:bodyPr>
          <a:lstStyle/>
          <a:p>
            <a:pPr marL="0" marR="0" lvl="0" indent="0" algn="l" rtl="0">
              <a:lnSpc>
                <a:spcPct val="85000"/>
              </a:lnSpc>
              <a:spcBef>
                <a:spcPts val="0"/>
              </a:spcBef>
              <a:spcAft>
                <a:spcPts val="0"/>
              </a:spcAft>
              <a:buClr>
                <a:srgbClr val="FFFFFF"/>
              </a:buClr>
              <a:buSzPts val="2497"/>
              <a:buFont typeface="Georgia"/>
              <a:buNone/>
            </a:pPr>
            <a:r>
              <a:rPr lang="en-US" sz="2498" b="1">
                <a:solidFill>
                  <a:srgbClr val="FFFFFF"/>
                </a:solidFill>
                <a:latin typeface="Georgia"/>
                <a:ea typeface="Georgia"/>
                <a:cs typeface="Georgia"/>
                <a:sym typeface="Georgia"/>
              </a:rPr>
              <a:t>Student_Enrollment_Fact</a:t>
            </a:r>
            <a:endParaRPr sz="2498">
              <a:solidFill>
                <a:schemeClr val="dk1"/>
              </a:solidFill>
              <a:latin typeface="Calibri"/>
              <a:ea typeface="Calibri"/>
              <a:cs typeface="Calibri"/>
              <a:sym typeface="Calibri"/>
            </a:endParaRPr>
          </a:p>
        </p:txBody>
      </p:sp>
      <p:sp>
        <p:nvSpPr>
          <p:cNvPr id="136" name="Google Shape;136;p5"/>
          <p:cNvSpPr/>
          <p:nvPr/>
        </p:nvSpPr>
        <p:spPr>
          <a:xfrm>
            <a:off x="6161097" y="4343400"/>
            <a:ext cx="5895171" cy="1533525"/>
          </a:xfrm>
          <a:prstGeom prst="rect">
            <a:avLst/>
          </a:prstGeom>
          <a:noFill/>
          <a:ln>
            <a:noFill/>
          </a:ln>
        </p:spPr>
        <p:txBody>
          <a:bodyPr spcFirstLastPara="1" wrap="square" lIns="25400" tIns="25400" rIns="25400" bIns="25400" anchor="t" anchorCtr="0">
            <a:normAutofit/>
          </a:bodyPr>
          <a:lstStyle/>
          <a:p>
            <a:pPr marL="0" marR="0" lvl="0" indent="0" algn="l" rtl="0">
              <a:spcBef>
                <a:spcPts val="0"/>
              </a:spcBef>
              <a:spcAft>
                <a:spcPts val="0"/>
              </a:spcAft>
              <a:buClr>
                <a:srgbClr val="FFFFFF"/>
              </a:buClr>
              <a:buSzPts val="1650"/>
              <a:buFont typeface="Courier New"/>
              <a:buNone/>
            </a:pPr>
            <a:r>
              <a:rPr lang="en-US" sz="1650">
                <a:solidFill>
                  <a:srgbClr val="FFFFFF"/>
                </a:solidFill>
                <a:latin typeface="Courier New"/>
                <a:ea typeface="Courier New"/>
                <a:cs typeface="Courier New"/>
                <a:sym typeface="Courier New"/>
              </a:rPr>
              <a:t>student_id PK</a:t>
            </a:r>
            <a:endParaRPr sz="1650">
              <a:solidFill>
                <a:schemeClr val="dk1"/>
              </a:solidFill>
              <a:latin typeface="Calibri"/>
              <a:ea typeface="Calibri"/>
              <a:cs typeface="Calibri"/>
              <a:sym typeface="Calibri"/>
            </a:endParaRPr>
          </a:p>
          <a:p>
            <a:pPr marL="0" marR="0" lvl="0" indent="0" algn="l" rtl="0">
              <a:spcBef>
                <a:spcPts val="0"/>
              </a:spcBef>
              <a:spcAft>
                <a:spcPts val="0"/>
              </a:spcAft>
              <a:buClr>
                <a:srgbClr val="FFFFFF"/>
              </a:buClr>
              <a:buSzPts val="1650"/>
              <a:buFont typeface="Courier New"/>
              <a:buNone/>
            </a:pPr>
            <a:r>
              <a:rPr lang="en-US" sz="1650">
                <a:solidFill>
                  <a:srgbClr val="FFFFFF"/>
                </a:solidFill>
                <a:latin typeface="Courier New"/>
                <a:ea typeface="Courier New"/>
                <a:cs typeface="Courier New"/>
                <a:sym typeface="Courier New"/>
              </a:rPr>
              <a:t>course_id FK</a:t>
            </a:r>
            <a:endParaRPr sz="1650">
              <a:solidFill>
                <a:schemeClr val="dk1"/>
              </a:solidFill>
              <a:latin typeface="Calibri"/>
              <a:ea typeface="Calibri"/>
              <a:cs typeface="Calibri"/>
              <a:sym typeface="Calibri"/>
            </a:endParaRPr>
          </a:p>
          <a:p>
            <a:pPr marL="0" marR="0" lvl="0" indent="0" algn="l" rtl="0">
              <a:spcBef>
                <a:spcPts val="0"/>
              </a:spcBef>
              <a:spcAft>
                <a:spcPts val="0"/>
              </a:spcAft>
              <a:buClr>
                <a:srgbClr val="FFFFFF"/>
              </a:buClr>
              <a:buSzPts val="1650"/>
              <a:buFont typeface="Courier New"/>
              <a:buNone/>
            </a:pPr>
            <a:r>
              <a:rPr lang="en-US" sz="1650">
                <a:solidFill>
                  <a:srgbClr val="FFFFFF"/>
                </a:solidFill>
                <a:latin typeface="Courier New"/>
                <a:ea typeface="Courier New"/>
                <a:cs typeface="Courier New"/>
                <a:sym typeface="Courier New"/>
              </a:rPr>
              <a:t>sem1_grade · sem1_approved</a:t>
            </a:r>
            <a:endParaRPr sz="1650">
              <a:solidFill>
                <a:schemeClr val="dk1"/>
              </a:solidFill>
              <a:latin typeface="Calibri"/>
              <a:ea typeface="Calibri"/>
              <a:cs typeface="Calibri"/>
              <a:sym typeface="Calibri"/>
            </a:endParaRPr>
          </a:p>
          <a:p>
            <a:pPr marL="0" marR="0" lvl="0" indent="0" algn="l" rtl="0">
              <a:spcBef>
                <a:spcPts val="0"/>
              </a:spcBef>
              <a:spcAft>
                <a:spcPts val="0"/>
              </a:spcAft>
              <a:buClr>
                <a:srgbClr val="FFFFFF"/>
              </a:buClr>
              <a:buSzPts val="1650"/>
              <a:buFont typeface="Courier New"/>
              <a:buNone/>
            </a:pPr>
            <a:r>
              <a:rPr lang="en-US" sz="1650">
                <a:solidFill>
                  <a:srgbClr val="FFFFFF"/>
                </a:solidFill>
                <a:latin typeface="Courier New"/>
                <a:ea typeface="Courier New"/>
                <a:cs typeface="Courier New"/>
                <a:sym typeface="Courier New"/>
              </a:rPr>
              <a:t>sem2_grade · sem2_approved</a:t>
            </a:r>
            <a:endParaRPr sz="1650">
              <a:solidFill>
                <a:schemeClr val="dk1"/>
              </a:solidFill>
              <a:latin typeface="Calibri"/>
              <a:ea typeface="Calibri"/>
              <a:cs typeface="Calibri"/>
              <a:sym typeface="Calibri"/>
            </a:endParaRPr>
          </a:p>
          <a:p>
            <a:pPr marL="0" marR="0" lvl="0" indent="0" algn="l" rtl="0">
              <a:spcBef>
                <a:spcPts val="0"/>
              </a:spcBef>
              <a:spcAft>
                <a:spcPts val="0"/>
              </a:spcAft>
              <a:buClr>
                <a:srgbClr val="FFFFFF"/>
              </a:buClr>
              <a:buSzPts val="1650"/>
              <a:buFont typeface="Courier New"/>
              <a:buNone/>
            </a:pPr>
            <a:r>
              <a:rPr lang="en-US" sz="1650">
                <a:solidFill>
                  <a:srgbClr val="FFFFFF"/>
                </a:solidFill>
                <a:latin typeface="Courier New"/>
                <a:ea typeface="Courier New"/>
                <a:cs typeface="Courier New"/>
                <a:sym typeface="Courier New"/>
              </a:rPr>
              <a:t>target_outcome</a:t>
            </a:r>
            <a:endParaRPr sz="1650">
              <a:solidFill>
                <a:schemeClr val="dk1"/>
              </a:solidFill>
              <a:latin typeface="Calibri"/>
              <a:ea typeface="Calibri"/>
              <a:cs typeface="Calibri"/>
              <a:sym typeface="Calibri"/>
            </a:endParaRPr>
          </a:p>
        </p:txBody>
      </p:sp>
      <p:sp>
        <p:nvSpPr>
          <p:cNvPr id="137" name="Google Shape;137;p5"/>
          <p:cNvSpPr/>
          <p:nvPr/>
        </p:nvSpPr>
        <p:spPr>
          <a:xfrm>
            <a:off x="12532519" y="2809875"/>
            <a:ext cx="4802981" cy="1704975"/>
          </a:xfrm>
          <a:prstGeom prst="rect">
            <a:avLst/>
          </a:prstGeom>
          <a:solidFill>
            <a:srgbClr val="FFFFFF"/>
          </a:solidFill>
          <a:ln w="9525" cap="flat" cmpd="sng">
            <a:solidFill>
              <a:srgbClr val="D9D3C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8" name="Google Shape;138;p5"/>
          <p:cNvSpPr/>
          <p:nvPr/>
        </p:nvSpPr>
        <p:spPr>
          <a:xfrm>
            <a:off x="12751594" y="3028950"/>
            <a:ext cx="4495776" cy="257175"/>
          </a:xfrm>
          <a:prstGeom prst="rect">
            <a:avLst/>
          </a:prstGeom>
          <a:noFill/>
          <a:ln>
            <a:noFill/>
          </a:ln>
        </p:spPr>
        <p:txBody>
          <a:bodyPr spcFirstLastPara="1" wrap="square" lIns="25400" tIns="25400" rIns="25400" bIns="25400" anchor="t" anchorCtr="0">
            <a:normAutofit/>
          </a:bodyPr>
          <a:lstStyle/>
          <a:p>
            <a:pPr marL="0" marR="0" lvl="0" indent="0" algn="l" rtl="0">
              <a:spcBef>
                <a:spcPts val="0"/>
              </a:spcBef>
              <a:spcAft>
                <a:spcPts val="0"/>
              </a:spcAft>
              <a:buClr>
                <a:srgbClr val="0E3A53"/>
              </a:buClr>
              <a:buSzPts val="1350"/>
              <a:buFont typeface="Courier New"/>
              <a:buNone/>
            </a:pPr>
            <a:r>
              <a:rPr lang="en-US" sz="1350" b="1">
                <a:solidFill>
                  <a:srgbClr val="0E3A53"/>
                </a:solidFill>
                <a:latin typeface="Courier New"/>
                <a:ea typeface="Courier New"/>
                <a:cs typeface="Courier New"/>
                <a:sym typeface="Courier New"/>
              </a:rPr>
              <a:t>ACADEMIC_DIM</a:t>
            </a:r>
            <a:endParaRPr sz="1350">
              <a:solidFill>
                <a:schemeClr val="dk1"/>
              </a:solidFill>
              <a:latin typeface="Calibri"/>
              <a:ea typeface="Calibri"/>
              <a:cs typeface="Calibri"/>
              <a:sym typeface="Calibri"/>
            </a:endParaRPr>
          </a:p>
        </p:txBody>
      </p:sp>
      <p:sp>
        <p:nvSpPr>
          <p:cNvPr id="139" name="Google Shape;139;p5"/>
          <p:cNvSpPr/>
          <p:nvPr/>
        </p:nvSpPr>
        <p:spPr>
          <a:xfrm>
            <a:off x="12631579" y="3362325"/>
            <a:ext cx="4561046" cy="971550"/>
          </a:xfrm>
          <a:prstGeom prst="rect">
            <a:avLst/>
          </a:prstGeom>
          <a:noFill/>
          <a:ln>
            <a:noFill/>
          </a:ln>
        </p:spPr>
        <p:txBody>
          <a:bodyPr spcFirstLastPara="1" wrap="square" lIns="25400" tIns="25400" rIns="25400" bIns="25400" anchor="t" anchorCtr="0">
            <a:normAutofit/>
          </a:bodyPr>
          <a:lstStyle/>
          <a:p>
            <a:pPr marL="0" marR="0" lvl="0" indent="0" algn="l" rtl="0">
              <a:spcBef>
                <a:spcPts val="0"/>
              </a:spcBef>
              <a:spcAft>
                <a:spcPts val="0"/>
              </a:spcAft>
              <a:buClr>
                <a:srgbClr val="4B4845"/>
              </a:buClr>
              <a:buSzPts val="1350"/>
              <a:buFont typeface="Courier New"/>
              <a:buNone/>
            </a:pPr>
            <a:r>
              <a:rPr lang="en-US" sz="1350">
                <a:solidFill>
                  <a:srgbClr val="4B4845"/>
                </a:solidFill>
                <a:latin typeface="Courier New"/>
                <a:ea typeface="Courier New"/>
                <a:cs typeface="Courier New"/>
                <a:sym typeface="Courier New"/>
              </a:rPr>
              <a:t>prev_qualification</a:t>
            </a:r>
            <a:endParaRPr sz="1350">
              <a:solidFill>
                <a:schemeClr val="dk1"/>
              </a:solidFill>
              <a:latin typeface="Calibri"/>
              <a:ea typeface="Calibri"/>
              <a:cs typeface="Calibri"/>
              <a:sym typeface="Calibri"/>
            </a:endParaRPr>
          </a:p>
          <a:p>
            <a:pPr marL="0" marR="0" lvl="0" indent="0" algn="l" rtl="0">
              <a:spcBef>
                <a:spcPts val="0"/>
              </a:spcBef>
              <a:spcAft>
                <a:spcPts val="0"/>
              </a:spcAft>
              <a:buClr>
                <a:srgbClr val="4B4845"/>
              </a:buClr>
              <a:buSzPts val="1350"/>
              <a:buFont typeface="Courier New"/>
              <a:buNone/>
            </a:pPr>
            <a:r>
              <a:rPr lang="en-US" sz="1350">
                <a:solidFill>
                  <a:srgbClr val="4B4845"/>
                </a:solidFill>
                <a:latin typeface="Courier New"/>
                <a:ea typeface="Courier New"/>
                <a:cs typeface="Courier New"/>
                <a:sym typeface="Courier New"/>
              </a:rPr>
              <a:t>application_mode</a:t>
            </a:r>
            <a:endParaRPr sz="1350">
              <a:solidFill>
                <a:schemeClr val="dk1"/>
              </a:solidFill>
              <a:latin typeface="Calibri"/>
              <a:ea typeface="Calibri"/>
              <a:cs typeface="Calibri"/>
              <a:sym typeface="Calibri"/>
            </a:endParaRPr>
          </a:p>
          <a:p>
            <a:pPr marL="0" marR="0" lvl="0" indent="0" algn="l" rtl="0">
              <a:spcBef>
                <a:spcPts val="0"/>
              </a:spcBef>
              <a:spcAft>
                <a:spcPts val="0"/>
              </a:spcAft>
              <a:buClr>
                <a:srgbClr val="4B4845"/>
              </a:buClr>
              <a:buSzPts val="1350"/>
              <a:buFont typeface="Courier New"/>
              <a:buNone/>
            </a:pPr>
            <a:r>
              <a:rPr lang="en-US" sz="1350">
                <a:solidFill>
                  <a:srgbClr val="4B4845"/>
                </a:solidFill>
                <a:latin typeface="Courier New"/>
                <a:ea typeface="Courier New"/>
                <a:cs typeface="Courier New"/>
                <a:sym typeface="Courier New"/>
              </a:rPr>
              <a:t>admission_grade</a:t>
            </a:r>
            <a:endParaRPr sz="1350">
              <a:solidFill>
                <a:schemeClr val="dk1"/>
              </a:solidFill>
              <a:latin typeface="Calibri"/>
              <a:ea typeface="Calibri"/>
              <a:cs typeface="Calibri"/>
              <a:sym typeface="Calibri"/>
            </a:endParaRPr>
          </a:p>
          <a:p>
            <a:pPr marL="0" marR="0" lvl="0" indent="0" algn="l" rtl="0">
              <a:spcBef>
                <a:spcPts val="0"/>
              </a:spcBef>
              <a:spcAft>
                <a:spcPts val="0"/>
              </a:spcAft>
              <a:buClr>
                <a:srgbClr val="4B4845"/>
              </a:buClr>
              <a:buSzPts val="1350"/>
              <a:buFont typeface="Courier New"/>
              <a:buNone/>
            </a:pPr>
            <a:r>
              <a:rPr lang="en-US" sz="1350">
                <a:solidFill>
                  <a:srgbClr val="4B4845"/>
                </a:solidFill>
                <a:latin typeface="Courier New"/>
                <a:ea typeface="Courier New"/>
                <a:cs typeface="Courier New"/>
                <a:sym typeface="Courier New"/>
              </a:rPr>
              <a:t>course</a:t>
            </a:r>
            <a:endParaRPr sz="1350">
              <a:solidFill>
                <a:schemeClr val="dk1"/>
              </a:solidFill>
              <a:latin typeface="Calibri"/>
              <a:ea typeface="Calibri"/>
              <a:cs typeface="Calibri"/>
              <a:sym typeface="Calibri"/>
            </a:endParaRPr>
          </a:p>
        </p:txBody>
      </p:sp>
      <p:sp>
        <p:nvSpPr>
          <p:cNvPr id="140" name="Google Shape;140;p5"/>
          <p:cNvSpPr/>
          <p:nvPr/>
        </p:nvSpPr>
        <p:spPr>
          <a:xfrm>
            <a:off x="12532519" y="4743450"/>
            <a:ext cx="4802981" cy="1704975"/>
          </a:xfrm>
          <a:prstGeom prst="rect">
            <a:avLst/>
          </a:prstGeom>
          <a:solidFill>
            <a:srgbClr val="FFFFFF"/>
          </a:solidFill>
          <a:ln w="9525" cap="flat" cmpd="sng">
            <a:solidFill>
              <a:srgbClr val="D9D3C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1" name="Google Shape;141;p5"/>
          <p:cNvSpPr/>
          <p:nvPr/>
        </p:nvSpPr>
        <p:spPr>
          <a:xfrm>
            <a:off x="12751594" y="4962525"/>
            <a:ext cx="4495776" cy="257175"/>
          </a:xfrm>
          <a:prstGeom prst="rect">
            <a:avLst/>
          </a:prstGeom>
          <a:noFill/>
          <a:ln>
            <a:noFill/>
          </a:ln>
        </p:spPr>
        <p:txBody>
          <a:bodyPr spcFirstLastPara="1" wrap="square" lIns="25400" tIns="25400" rIns="25400" bIns="25400" anchor="t" anchorCtr="0">
            <a:normAutofit/>
          </a:bodyPr>
          <a:lstStyle/>
          <a:p>
            <a:pPr marL="0" marR="0" lvl="0" indent="0" algn="l" rtl="0">
              <a:spcBef>
                <a:spcPts val="0"/>
              </a:spcBef>
              <a:spcAft>
                <a:spcPts val="0"/>
              </a:spcAft>
              <a:buClr>
                <a:srgbClr val="0E3A53"/>
              </a:buClr>
              <a:buSzPts val="1350"/>
              <a:buFont typeface="Courier New"/>
              <a:buNone/>
            </a:pPr>
            <a:r>
              <a:rPr lang="en-US" sz="1350" b="1">
                <a:solidFill>
                  <a:srgbClr val="0E3A53"/>
                </a:solidFill>
                <a:latin typeface="Courier New"/>
                <a:ea typeface="Courier New"/>
                <a:cs typeface="Courier New"/>
                <a:sym typeface="Courier New"/>
              </a:rPr>
              <a:t>ECONOMIC_DIM</a:t>
            </a:r>
            <a:endParaRPr sz="1350">
              <a:solidFill>
                <a:schemeClr val="dk1"/>
              </a:solidFill>
              <a:latin typeface="Calibri"/>
              <a:ea typeface="Calibri"/>
              <a:cs typeface="Calibri"/>
              <a:sym typeface="Calibri"/>
            </a:endParaRPr>
          </a:p>
        </p:txBody>
      </p:sp>
      <p:sp>
        <p:nvSpPr>
          <p:cNvPr id="142" name="Google Shape;142;p5"/>
          <p:cNvSpPr/>
          <p:nvPr/>
        </p:nvSpPr>
        <p:spPr>
          <a:xfrm>
            <a:off x="12631579" y="5295900"/>
            <a:ext cx="4561046" cy="971550"/>
          </a:xfrm>
          <a:prstGeom prst="rect">
            <a:avLst/>
          </a:prstGeom>
          <a:noFill/>
          <a:ln>
            <a:noFill/>
          </a:ln>
        </p:spPr>
        <p:txBody>
          <a:bodyPr spcFirstLastPara="1" wrap="square" lIns="25400" tIns="25400" rIns="25400" bIns="25400" anchor="t" anchorCtr="0">
            <a:normAutofit/>
          </a:bodyPr>
          <a:lstStyle/>
          <a:p>
            <a:pPr marL="0" marR="0" lvl="0" indent="0" algn="l" rtl="0">
              <a:spcBef>
                <a:spcPts val="0"/>
              </a:spcBef>
              <a:spcAft>
                <a:spcPts val="0"/>
              </a:spcAft>
              <a:buClr>
                <a:srgbClr val="4B4845"/>
              </a:buClr>
              <a:buSzPts val="1350"/>
              <a:buFont typeface="Courier New"/>
              <a:buNone/>
            </a:pPr>
            <a:r>
              <a:rPr lang="en-US" sz="1350">
                <a:solidFill>
                  <a:srgbClr val="4B4845"/>
                </a:solidFill>
                <a:latin typeface="Courier New"/>
                <a:ea typeface="Courier New"/>
                <a:cs typeface="Courier New"/>
                <a:sym typeface="Courier New"/>
              </a:rPr>
              <a:t>scholarship</a:t>
            </a:r>
            <a:endParaRPr sz="1350">
              <a:solidFill>
                <a:schemeClr val="dk1"/>
              </a:solidFill>
              <a:latin typeface="Calibri"/>
              <a:ea typeface="Calibri"/>
              <a:cs typeface="Calibri"/>
              <a:sym typeface="Calibri"/>
            </a:endParaRPr>
          </a:p>
          <a:p>
            <a:pPr marL="0" marR="0" lvl="0" indent="0" algn="l" rtl="0">
              <a:spcBef>
                <a:spcPts val="0"/>
              </a:spcBef>
              <a:spcAft>
                <a:spcPts val="0"/>
              </a:spcAft>
              <a:buClr>
                <a:srgbClr val="4B4845"/>
              </a:buClr>
              <a:buSzPts val="1350"/>
              <a:buFont typeface="Courier New"/>
              <a:buNone/>
            </a:pPr>
            <a:r>
              <a:rPr lang="en-US" sz="1350">
                <a:solidFill>
                  <a:srgbClr val="4B4845"/>
                </a:solidFill>
                <a:latin typeface="Courier New"/>
                <a:ea typeface="Courier New"/>
                <a:cs typeface="Courier New"/>
                <a:sym typeface="Courier New"/>
              </a:rPr>
              <a:t>debtor</a:t>
            </a:r>
            <a:endParaRPr sz="1350">
              <a:solidFill>
                <a:schemeClr val="dk1"/>
              </a:solidFill>
              <a:latin typeface="Calibri"/>
              <a:ea typeface="Calibri"/>
              <a:cs typeface="Calibri"/>
              <a:sym typeface="Calibri"/>
            </a:endParaRPr>
          </a:p>
          <a:p>
            <a:pPr marL="0" marR="0" lvl="0" indent="0" algn="l" rtl="0">
              <a:spcBef>
                <a:spcPts val="0"/>
              </a:spcBef>
              <a:spcAft>
                <a:spcPts val="0"/>
              </a:spcAft>
              <a:buClr>
                <a:srgbClr val="4B4845"/>
              </a:buClr>
              <a:buSzPts val="1350"/>
              <a:buFont typeface="Courier New"/>
              <a:buNone/>
            </a:pPr>
            <a:r>
              <a:rPr lang="en-US" sz="1350">
                <a:solidFill>
                  <a:srgbClr val="4B4845"/>
                </a:solidFill>
                <a:latin typeface="Courier New"/>
                <a:ea typeface="Courier New"/>
                <a:cs typeface="Courier New"/>
                <a:sym typeface="Courier New"/>
              </a:rPr>
              <a:t>tuition_fees</a:t>
            </a:r>
            <a:endParaRPr sz="1350">
              <a:solidFill>
                <a:schemeClr val="dk1"/>
              </a:solidFill>
              <a:latin typeface="Calibri"/>
              <a:ea typeface="Calibri"/>
              <a:cs typeface="Calibri"/>
              <a:sym typeface="Calibri"/>
            </a:endParaRPr>
          </a:p>
          <a:p>
            <a:pPr marL="0" marR="0" lvl="0" indent="0" algn="l" rtl="0">
              <a:spcBef>
                <a:spcPts val="0"/>
              </a:spcBef>
              <a:spcAft>
                <a:spcPts val="0"/>
              </a:spcAft>
              <a:buClr>
                <a:srgbClr val="4B4845"/>
              </a:buClr>
              <a:buSzPts val="1350"/>
              <a:buFont typeface="Courier New"/>
              <a:buNone/>
            </a:pPr>
            <a:r>
              <a:rPr lang="en-US" sz="1350">
                <a:solidFill>
                  <a:srgbClr val="4B4845"/>
                </a:solidFill>
                <a:latin typeface="Courier New"/>
                <a:ea typeface="Courier New"/>
                <a:cs typeface="Courier New"/>
                <a:sym typeface="Courier New"/>
              </a:rPr>
              <a:t>unemployment_rate · GDP</a:t>
            </a:r>
            <a:endParaRPr sz="1350">
              <a:solidFill>
                <a:schemeClr val="dk1"/>
              </a:solidFill>
              <a:latin typeface="Calibri"/>
              <a:ea typeface="Calibri"/>
              <a:cs typeface="Calibri"/>
              <a:sym typeface="Calibri"/>
            </a:endParaRPr>
          </a:p>
        </p:txBody>
      </p:sp>
      <p:sp>
        <p:nvSpPr>
          <p:cNvPr id="143" name="Google Shape;143;p5"/>
          <p:cNvSpPr/>
          <p:nvPr/>
        </p:nvSpPr>
        <p:spPr>
          <a:xfrm>
            <a:off x="952500" y="6943725"/>
            <a:ext cx="746968" cy="27622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526"/>
              <a:buFont typeface="Courier New"/>
              <a:buNone/>
            </a:pPr>
            <a:r>
              <a:rPr lang="en-US" sz="1526">
                <a:solidFill>
                  <a:srgbClr val="807C76"/>
                </a:solidFill>
                <a:latin typeface="Courier New"/>
                <a:ea typeface="Courier New"/>
                <a:cs typeface="Courier New"/>
                <a:sym typeface="Courier New"/>
              </a:rPr>
              <a:t>ETL ›</a:t>
            </a:r>
            <a:endParaRPr sz="1526">
              <a:solidFill>
                <a:schemeClr val="dk1"/>
              </a:solidFill>
              <a:latin typeface="Calibri"/>
              <a:ea typeface="Calibri"/>
              <a:cs typeface="Calibri"/>
              <a:sym typeface="Calibri"/>
            </a:endParaRPr>
          </a:p>
        </p:txBody>
      </p:sp>
      <p:sp>
        <p:nvSpPr>
          <p:cNvPr id="144" name="Google Shape;144;p5"/>
          <p:cNvSpPr/>
          <p:nvPr/>
        </p:nvSpPr>
        <p:spPr>
          <a:xfrm>
            <a:off x="1775668" y="6943725"/>
            <a:ext cx="1417588" cy="27622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4B4845"/>
              </a:buClr>
              <a:buSzPts val="1526"/>
              <a:buFont typeface="Courier New"/>
              <a:buNone/>
            </a:pPr>
            <a:r>
              <a:rPr lang="en-US" sz="1526">
                <a:solidFill>
                  <a:srgbClr val="4B4845"/>
                </a:solidFill>
                <a:latin typeface="Courier New"/>
                <a:ea typeface="Courier New"/>
                <a:cs typeface="Courier New"/>
                <a:sym typeface="Courier New"/>
              </a:rPr>
              <a:t>Source DBs</a:t>
            </a:r>
            <a:endParaRPr sz="1526">
              <a:solidFill>
                <a:schemeClr val="dk1"/>
              </a:solidFill>
              <a:latin typeface="Calibri"/>
              <a:ea typeface="Calibri"/>
              <a:cs typeface="Calibri"/>
              <a:sym typeface="Calibri"/>
            </a:endParaRPr>
          </a:p>
        </p:txBody>
      </p:sp>
      <p:sp>
        <p:nvSpPr>
          <p:cNvPr id="145" name="Google Shape;145;p5"/>
          <p:cNvSpPr/>
          <p:nvPr/>
        </p:nvSpPr>
        <p:spPr>
          <a:xfrm>
            <a:off x="3269456" y="6943725"/>
            <a:ext cx="210443" cy="27622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526"/>
              <a:buFont typeface="Courier New"/>
              <a:buNone/>
            </a:pPr>
            <a:r>
              <a:rPr lang="en-US" sz="1526">
                <a:solidFill>
                  <a:srgbClr val="807C76"/>
                </a:solidFill>
                <a:latin typeface="Courier New"/>
                <a:ea typeface="Courier New"/>
                <a:cs typeface="Courier New"/>
                <a:sym typeface="Courier New"/>
              </a:rPr>
              <a:t>→</a:t>
            </a:r>
            <a:endParaRPr sz="1526">
              <a:solidFill>
                <a:schemeClr val="dk1"/>
              </a:solidFill>
              <a:latin typeface="Calibri"/>
              <a:ea typeface="Calibri"/>
              <a:cs typeface="Calibri"/>
              <a:sym typeface="Calibri"/>
            </a:endParaRPr>
          </a:p>
        </p:txBody>
      </p:sp>
      <p:sp>
        <p:nvSpPr>
          <p:cNvPr id="146" name="Google Shape;146;p5"/>
          <p:cNvSpPr/>
          <p:nvPr/>
        </p:nvSpPr>
        <p:spPr>
          <a:xfrm>
            <a:off x="3556099" y="6943725"/>
            <a:ext cx="1015157" cy="27622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4B4845"/>
              </a:buClr>
              <a:buSzPts val="1526"/>
              <a:buFont typeface="Courier New"/>
              <a:buNone/>
            </a:pPr>
            <a:r>
              <a:rPr lang="en-US" sz="1526">
                <a:solidFill>
                  <a:srgbClr val="4B4845"/>
                </a:solidFill>
                <a:latin typeface="Courier New"/>
                <a:ea typeface="Courier New"/>
                <a:cs typeface="Courier New"/>
                <a:sym typeface="Courier New"/>
              </a:rPr>
              <a:t>Extract</a:t>
            </a:r>
            <a:endParaRPr sz="1526">
              <a:solidFill>
                <a:schemeClr val="dk1"/>
              </a:solidFill>
              <a:latin typeface="Calibri"/>
              <a:ea typeface="Calibri"/>
              <a:cs typeface="Calibri"/>
              <a:sym typeface="Calibri"/>
            </a:endParaRPr>
          </a:p>
        </p:txBody>
      </p:sp>
      <p:sp>
        <p:nvSpPr>
          <p:cNvPr id="147" name="Google Shape;147;p5"/>
          <p:cNvSpPr/>
          <p:nvPr/>
        </p:nvSpPr>
        <p:spPr>
          <a:xfrm>
            <a:off x="4647456" y="6943725"/>
            <a:ext cx="210443" cy="27622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526"/>
              <a:buFont typeface="Courier New"/>
              <a:buNone/>
            </a:pPr>
            <a:r>
              <a:rPr lang="en-US" sz="1526">
                <a:solidFill>
                  <a:srgbClr val="807C76"/>
                </a:solidFill>
                <a:latin typeface="Courier New"/>
                <a:ea typeface="Courier New"/>
                <a:cs typeface="Courier New"/>
                <a:sym typeface="Courier New"/>
              </a:rPr>
              <a:t>→</a:t>
            </a:r>
            <a:endParaRPr sz="1526">
              <a:solidFill>
                <a:schemeClr val="dk1"/>
              </a:solidFill>
              <a:latin typeface="Calibri"/>
              <a:ea typeface="Calibri"/>
              <a:cs typeface="Calibri"/>
              <a:sym typeface="Calibri"/>
            </a:endParaRPr>
          </a:p>
        </p:txBody>
      </p:sp>
      <p:sp>
        <p:nvSpPr>
          <p:cNvPr id="148" name="Google Shape;148;p5"/>
          <p:cNvSpPr/>
          <p:nvPr/>
        </p:nvSpPr>
        <p:spPr>
          <a:xfrm>
            <a:off x="4934099" y="6943725"/>
            <a:ext cx="4144735" cy="27622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4B4845"/>
              </a:buClr>
              <a:buSzPts val="1526"/>
              <a:buFont typeface="Courier New"/>
              <a:buNone/>
            </a:pPr>
            <a:r>
              <a:rPr lang="en-US" sz="1526">
                <a:solidFill>
                  <a:srgbClr val="4B4845"/>
                </a:solidFill>
                <a:latin typeface="Courier New"/>
                <a:ea typeface="Courier New"/>
                <a:cs typeface="Courier New"/>
                <a:sym typeface="Courier New"/>
              </a:rPr>
              <a:t>Transform</a:t>
            </a:r>
            <a:r>
              <a:rPr lang="en-US" sz="1526">
                <a:solidFill>
                  <a:srgbClr val="807C76"/>
                </a:solidFill>
                <a:latin typeface="Courier New"/>
                <a:ea typeface="Courier New"/>
                <a:cs typeface="Courier New"/>
                <a:sym typeface="Courier New"/>
              </a:rPr>
              <a:t>(encode · normalize)</a:t>
            </a:r>
            <a:endParaRPr sz="1526">
              <a:solidFill>
                <a:schemeClr val="dk1"/>
              </a:solidFill>
              <a:latin typeface="Calibri"/>
              <a:ea typeface="Calibri"/>
              <a:cs typeface="Calibri"/>
              <a:sym typeface="Calibri"/>
            </a:endParaRPr>
          </a:p>
        </p:txBody>
      </p:sp>
      <p:sp>
        <p:nvSpPr>
          <p:cNvPr id="149" name="Google Shape;149;p5"/>
          <p:cNvSpPr/>
          <p:nvPr/>
        </p:nvSpPr>
        <p:spPr>
          <a:xfrm>
            <a:off x="9110514" y="6943725"/>
            <a:ext cx="210443" cy="27622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526"/>
              <a:buFont typeface="Courier New"/>
              <a:buNone/>
            </a:pPr>
            <a:r>
              <a:rPr lang="en-US" sz="1526">
                <a:solidFill>
                  <a:srgbClr val="807C76"/>
                </a:solidFill>
                <a:latin typeface="Courier New"/>
                <a:ea typeface="Courier New"/>
                <a:cs typeface="Courier New"/>
                <a:sym typeface="Courier New"/>
              </a:rPr>
              <a:t>→</a:t>
            </a:r>
            <a:endParaRPr sz="1526">
              <a:solidFill>
                <a:schemeClr val="dk1"/>
              </a:solidFill>
              <a:latin typeface="Calibri"/>
              <a:ea typeface="Calibri"/>
              <a:cs typeface="Calibri"/>
              <a:sym typeface="Calibri"/>
            </a:endParaRPr>
          </a:p>
        </p:txBody>
      </p:sp>
      <p:sp>
        <p:nvSpPr>
          <p:cNvPr id="150" name="Google Shape;150;p5"/>
          <p:cNvSpPr/>
          <p:nvPr/>
        </p:nvSpPr>
        <p:spPr>
          <a:xfrm>
            <a:off x="9397157" y="6943725"/>
            <a:ext cx="612874" cy="27622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4B4845"/>
              </a:buClr>
              <a:buSzPts val="1526"/>
              <a:buFont typeface="Courier New"/>
              <a:buNone/>
            </a:pPr>
            <a:r>
              <a:rPr lang="en-US" sz="1526">
                <a:solidFill>
                  <a:srgbClr val="4B4845"/>
                </a:solidFill>
                <a:latin typeface="Courier New"/>
                <a:ea typeface="Courier New"/>
                <a:cs typeface="Courier New"/>
                <a:sym typeface="Courier New"/>
              </a:rPr>
              <a:t>Load</a:t>
            </a:r>
            <a:endParaRPr sz="1526">
              <a:solidFill>
                <a:schemeClr val="dk1"/>
              </a:solidFill>
              <a:latin typeface="Calibri"/>
              <a:ea typeface="Calibri"/>
              <a:cs typeface="Calibri"/>
              <a:sym typeface="Calibri"/>
            </a:endParaRPr>
          </a:p>
        </p:txBody>
      </p:sp>
      <p:sp>
        <p:nvSpPr>
          <p:cNvPr id="151" name="Google Shape;151;p5"/>
          <p:cNvSpPr/>
          <p:nvPr/>
        </p:nvSpPr>
        <p:spPr>
          <a:xfrm>
            <a:off x="10086231" y="6943725"/>
            <a:ext cx="210443" cy="27622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526"/>
              <a:buFont typeface="Courier New"/>
              <a:buNone/>
            </a:pPr>
            <a:r>
              <a:rPr lang="en-US" sz="1526">
                <a:solidFill>
                  <a:srgbClr val="807C76"/>
                </a:solidFill>
                <a:latin typeface="Courier New"/>
                <a:ea typeface="Courier New"/>
                <a:cs typeface="Courier New"/>
                <a:sym typeface="Courier New"/>
              </a:rPr>
              <a:t>→</a:t>
            </a:r>
            <a:endParaRPr sz="1526">
              <a:solidFill>
                <a:schemeClr val="dk1"/>
              </a:solidFill>
              <a:latin typeface="Calibri"/>
              <a:ea typeface="Calibri"/>
              <a:cs typeface="Calibri"/>
              <a:sym typeface="Calibri"/>
            </a:endParaRPr>
          </a:p>
        </p:txBody>
      </p:sp>
      <p:sp>
        <p:nvSpPr>
          <p:cNvPr id="152" name="Google Shape;152;p5"/>
          <p:cNvSpPr/>
          <p:nvPr/>
        </p:nvSpPr>
        <p:spPr>
          <a:xfrm>
            <a:off x="10372874" y="6924675"/>
            <a:ext cx="1615529" cy="314325"/>
          </a:xfrm>
          <a:prstGeom prst="rect">
            <a:avLst/>
          </a:prstGeom>
          <a:noFill/>
          <a:ln>
            <a:noFill/>
          </a:ln>
        </p:spPr>
        <p:txBody>
          <a:bodyPr spcFirstLastPara="1" wrap="square" lIns="25400" tIns="25400" rIns="25400" bIns="25400" anchor="t" anchorCtr="0">
            <a:normAutofit/>
          </a:bodyPr>
          <a:lstStyle/>
          <a:p>
            <a:pPr marL="0" marR="0" lvl="0" indent="0" algn="l" rtl="0">
              <a:spcBef>
                <a:spcPts val="0"/>
              </a:spcBef>
              <a:spcAft>
                <a:spcPts val="0"/>
              </a:spcAft>
              <a:buClr>
                <a:srgbClr val="0E3A53"/>
              </a:buClr>
              <a:buSzPts val="1650"/>
              <a:buFont typeface="Courier New"/>
              <a:buNone/>
            </a:pPr>
            <a:r>
              <a:rPr lang="en-US" sz="1650" b="1">
                <a:solidFill>
                  <a:srgbClr val="0E3A53"/>
                </a:solidFill>
                <a:latin typeface="Courier New"/>
                <a:ea typeface="Courier New"/>
                <a:cs typeface="Courier New"/>
                <a:sym typeface="Courier New"/>
              </a:rPr>
              <a:t>Star Schema</a:t>
            </a:r>
            <a:endParaRPr sz="1650">
              <a:solidFill>
                <a:schemeClr val="dk1"/>
              </a:solidFill>
              <a:latin typeface="Calibri"/>
              <a:ea typeface="Calibri"/>
              <a:cs typeface="Calibri"/>
              <a:sym typeface="Calibri"/>
            </a:endParaRPr>
          </a:p>
        </p:txBody>
      </p:sp>
      <p:sp>
        <p:nvSpPr>
          <p:cNvPr id="153" name="Google Shape;153;p5"/>
          <p:cNvSpPr/>
          <p:nvPr/>
        </p:nvSpPr>
        <p:spPr>
          <a:xfrm>
            <a:off x="16692116" y="7324725"/>
            <a:ext cx="1100584" cy="2952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665"/>
              <a:buFont typeface="Courier New"/>
              <a:buNone/>
            </a:pPr>
            <a:r>
              <a:rPr lang="en-US" sz="1665">
                <a:solidFill>
                  <a:srgbClr val="807C76"/>
                </a:solidFill>
                <a:latin typeface="Courier New"/>
                <a:ea typeface="Courier New"/>
                <a:cs typeface="Courier New"/>
                <a:sym typeface="Courier New"/>
              </a:rPr>
              <a:t>05/19</a:t>
            </a:r>
            <a:endParaRPr sz="1665">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Shape 158"/>
        <p:cNvGrpSpPr/>
        <p:nvPr/>
      </p:nvGrpSpPr>
      <p:grpSpPr>
        <a:xfrm>
          <a:off x="0" y="0"/>
          <a:ext cx="0" cy="0"/>
          <a:chOff x="0" y="0"/>
          <a:chExt cx="0" cy="0"/>
        </a:xfrm>
      </p:grpSpPr>
      <p:sp>
        <p:nvSpPr>
          <p:cNvPr id="159" name="Google Shape;159;p6"/>
          <p:cNvSpPr/>
          <p:nvPr/>
        </p:nvSpPr>
        <p:spPr>
          <a:xfrm>
            <a:off x="952500" y="1047006"/>
            <a:ext cx="533400" cy="19050"/>
          </a:xfrm>
          <a:prstGeom prst="rect">
            <a:avLst/>
          </a:prstGeom>
          <a:solidFill>
            <a:srgbClr val="4B484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0" name="Google Shape;160;p6"/>
          <p:cNvSpPr/>
          <p:nvPr/>
        </p:nvSpPr>
        <p:spPr>
          <a:xfrm>
            <a:off x="1657350" y="952500"/>
            <a:ext cx="3306245" cy="2952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665"/>
              <a:buFont typeface="Courier New"/>
              <a:buNone/>
            </a:pPr>
            <a:r>
              <a:rPr lang="en-US" sz="1665">
                <a:solidFill>
                  <a:srgbClr val="807C76"/>
                </a:solidFill>
                <a:latin typeface="Courier New"/>
                <a:ea typeface="Courier New"/>
                <a:cs typeface="Courier New"/>
                <a:sym typeface="Courier New"/>
              </a:rPr>
              <a:t>05 · PREPROCESSING</a:t>
            </a:r>
            <a:endParaRPr sz="1665">
              <a:solidFill>
                <a:schemeClr val="dk1"/>
              </a:solidFill>
              <a:latin typeface="Calibri"/>
              <a:ea typeface="Calibri"/>
              <a:cs typeface="Calibri"/>
              <a:sym typeface="Calibri"/>
            </a:endParaRPr>
          </a:p>
        </p:txBody>
      </p:sp>
      <p:sp>
        <p:nvSpPr>
          <p:cNvPr id="161" name="Google Shape;161;p6"/>
          <p:cNvSpPr/>
          <p:nvPr/>
        </p:nvSpPr>
        <p:spPr>
          <a:xfrm>
            <a:off x="952500" y="1704975"/>
            <a:ext cx="16874490" cy="666750"/>
          </a:xfrm>
          <a:prstGeom prst="rect">
            <a:avLst/>
          </a:prstGeom>
          <a:noFill/>
          <a:ln>
            <a:noFill/>
          </a:ln>
        </p:spPr>
        <p:txBody>
          <a:bodyPr spcFirstLastPara="1" wrap="square" lIns="25400" tIns="25400" rIns="25400" bIns="25400" anchor="t" anchorCtr="0">
            <a:normAutofit/>
          </a:bodyPr>
          <a:lstStyle/>
          <a:p>
            <a:pPr marL="0" marR="0" lvl="0" indent="0" algn="l" rtl="0">
              <a:lnSpc>
                <a:spcPct val="84000"/>
              </a:lnSpc>
              <a:spcBef>
                <a:spcPts val="0"/>
              </a:spcBef>
              <a:spcAft>
                <a:spcPts val="0"/>
              </a:spcAft>
              <a:buClr>
                <a:srgbClr val="1C1B1A"/>
              </a:buClr>
              <a:buSzPts val="4440"/>
              <a:buFont typeface="Georgia"/>
              <a:buNone/>
            </a:pPr>
            <a:r>
              <a:rPr lang="en-US" sz="4440" b="1">
                <a:solidFill>
                  <a:srgbClr val="1C1B1A"/>
                </a:solidFill>
                <a:latin typeface="Georgia"/>
                <a:ea typeface="Georgia"/>
                <a:cs typeface="Georgia"/>
                <a:sym typeface="Georgia"/>
              </a:rPr>
              <a:t>From raw CSV to model-ready matrix</a:t>
            </a:r>
            <a:endParaRPr sz="4440">
              <a:solidFill>
                <a:schemeClr val="dk1"/>
              </a:solidFill>
              <a:latin typeface="Calibri"/>
              <a:ea typeface="Calibri"/>
              <a:cs typeface="Calibri"/>
              <a:sym typeface="Calibri"/>
            </a:endParaRPr>
          </a:p>
        </p:txBody>
      </p:sp>
      <p:sp>
        <p:nvSpPr>
          <p:cNvPr id="162" name="Google Shape;162;p6"/>
          <p:cNvSpPr/>
          <p:nvPr/>
        </p:nvSpPr>
        <p:spPr>
          <a:xfrm>
            <a:off x="952500" y="2790825"/>
            <a:ext cx="609600" cy="609600"/>
          </a:xfrm>
          <a:prstGeom prst="ellipse">
            <a:avLst/>
          </a:prstGeom>
          <a:solidFill>
            <a:srgbClr val="0E3A5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3" name="Google Shape;163;p6"/>
          <p:cNvSpPr/>
          <p:nvPr/>
        </p:nvSpPr>
        <p:spPr>
          <a:xfrm>
            <a:off x="914400" y="2790825"/>
            <a:ext cx="685800" cy="647700"/>
          </a:xfrm>
          <a:prstGeom prst="rect">
            <a:avLst/>
          </a:prstGeom>
          <a:noFill/>
          <a:ln>
            <a:noFill/>
          </a:ln>
        </p:spPr>
        <p:txBody>
          <a:bodyPr spcFirstLastPara="1" wrap="square" lIns="25400" tIns="25400" rIns="25400" bIns="25400" anchor="ctr" anchorCtr="0">
            <a:normAutofit/>
          </a:bodyPr>
          <a:lstStyle/>
          <a:p>
            <a:pPr marL="0" marR="0" lvl="0" indent="0" algn="ctr" rtl="0">
              <a:spcBef>
                <a:spcPts val="0"/>
              </a:spcBef>
              <a:spcAft>
                <a:spcPts val="0"/>
              </a:spcAft>
              <a:buClr>
                <a:srgbClr val="FFFFFF"/>
              </a:buClr>
              <a:buSzPts val="2250"/>
              <a:buFont typeface="Georgia"/>
              <a:buNone/>
            </a:pPr>
            <a:r>
              <a:rPr lang="en-US" sz="2250" b="1">
                <a:solidFill>
                  <a:srgbClr val="FFFFFF"/>
                </a:solidFill>
                <a:latin typeface="Georgia"/>
                <a:ea typeface="Georgia"/>
                <a:cs typeface="Georgia"/>
                <a:sym typeface="Georgia"/>
              </a:rPr>
              <a:t>1</a:t>
            </a:r>
            <a:endParaRPr sz="2250">
              <a:solidFill>
                <a:schemeClr val="dk1"/>
              </a:solidFill>
              <a:latin typeface="Calibri"/>
              <a:ea typeface="Calibri"/>
              <a:cs typeface="Calibri"/>
              <a:sym typeface="Calibri"/>
            </a:endParaRPr>
          </a:p>
        </p:txBody>
      </p:sp>
      <p:sp>
        <p:nvSpPr>
          <p:cNvPr id="164" name="Google Shape;164;p6"/>
          <p:cNvSpPr/>
          <p:nvPr/>
        </p:nvSpPr>
        <p:spPr>
          <a:xfrm>
            <a:off x="1771650" y="2847975"/>
            <a:ext cx="7201091" cy="38100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1C1B1A"/>
              </a:buClr>
              <a:buSzPts val="2250"/>
              <a:buFont typeface="Arial"/>
              <a:buNone/>
            </a:pPr>
            <a:r>
              <a:rPr lang="en-US" sz="2250" b="1">
                <a:solidFill>
                  <a:srgbClr val="1C1B1A"/>
                </a:solidFill>
                <a:latin typeface="Arial"/>
                <a:ea typeface="Arial"/>
                <a:cs typeface="Arial"/>
                <a:sym typeface="Arial"/>
              </a:rPr>
              <a:t>Inspection</a:t>
            </a:r>
            <a:endParaRPr sz="2250">
              <a:solidFill>
                <a:schemeClr val="dk1"/>
              </a:solidFill>
              <a:latin typeface="Calibri"/>
              <a:ea typeface="Calibri"/>
              <a:cs typeface="Calibri"/>
              <a:sym typeface="Calibri"/>
            </a:endParaRPr>
          </a:p>
        </p:txBody>
      </p:sp>
      <p:sp>
        <p:nvSpPr>
          <p:cNvPr id="165" name="Google Shape;165;p6"/>
          <p:cNvSpPr/>
          <p:nvPr/>
        </p:nvSpPr>
        <p:spPr>
          <a:xfrm>
            <a:off x="1771650" y="3248025"/>
            <a:ext cx="7201091" cy="352425"/>
          </a:xfrm>
          <a:prstGeom prst="rect">
            <a:avLst/>
          </a:prstGeom>
          <a:noFill/>
          <a:ln>
            <a:noFill/>
          </a:ln>
        </p:spPr>
        <p:txBody>
          <a:bodyPr spcFirstLastPara="1" wrap="square" lIns="25400" tIns="25400" rIns="25400" bIns="25400" anchor="t" anchorCtr="0">
            <a:normAutofit/>
          </a:bodyPr>
          <a:lstStyle/>
          <a:p>
            <a:pPr marL="0" marR="0" lvl="0" indent="0" algn="l" rtl="0">
              <a:lnSpc>
                <a:spcPct val="120000"/>
              </a:lnSpc>
              <a:spcBef>
                <a:spcPts val="0"/>
              </a:spcBef>
              <a:spcAft>
                <a:spcPts val="0"/>
              </a:spcAft>
              <a:buClr>
                <a:srgbClr val="4B4845"/>
              </a:buClr>
              <a:buSzPts val="1665"/>
              <a:buFont typeface="Courier New"/>
              <a:buNone/>
            </a:pPr>
            <a:r>
              <a:rPr lang="en-US" sz="1665">
                <a:solidFill>
                  <a:srgbClr val="4B4845"/>
                </a:solidFill>
                <a:latin typeface="Courier New"/>
                <a:ea typeface="Courier New"/>
                <a:cs typeface="Courier New"/>
                <a:sym typeface="Courier New"/>
              </a:rPr>
              <a:t>4,424 rows · 36 features · 0 missing values</a:t>
            </a:r>
            <a:endParaRPr sz="1665">
              <a:solidFill>
                <a:schemeClr val="dk1"/>
              </a:solidFill>
              <a:latin typeface="Calibri"/>
              <a:ea typeface="Calibri"/>
              <a:cs typeface="Calibri"/>
              <a:sym typeface="Calibri"/>
            </a:endParaRPr>
          </a:p>
        </p:txBody>
      </p:sp>
      <p:sp>
        <p:nvSpPr>
          <p:cNvPr id="166" name="Google Shape;166;p6"/>
          <p:cNvSpPr/>
          <p:nvPr/>
        </p:nvSpPr>
        <p:spPr>
          <a:xfrm>
            <a:off x="9525000" y="2790825"/>
            <a:ext cx="609600" cy="609600"/>
          </a:xfrm>
          <a:prstGeom prst="ellipse">
            <a:avLst/>
          </a:prstGeom>
          <a:solidFill>
            <a:srgbClr val="0E3A5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7" name="Google Shape;167;p6"/>
          <p:cNvSpPr/>
          <p:nvPr/>
        </p:nvSpPr>
        <p:spPr>
          <a:xfrm>
            <a:off x="9486900" y="2790825"/>
            <a:ext cx="685800" cy="647700"/>
          </a:xfrm>
          <a:prstGeom prst="rect">
            <a:avLst/>
          </a:prstGeom>
          <a:noFill/>
          <a:ln>
            <a:noFill/>
          </a:ln>
        </p:spPr>
        <p:txBody>
          <a:bodyPr spcFirstLastPara="1" wrap="square" lIns="25400" tIns="25400" rIns="25400" bIns="25400" anchor="ctr" anchorCtr="0">
            <a:normAutofit/>
          </a:bodyPr>
          <a:lstStyle/>
          <a:p>
            <a:pPr marL="0" marR="0" lvl="0" indent="0" algn="ctr" rtl="0">
              <a:spcBef>
                <a:spcPts val="0"/>
              </a:spcBef>
              <a:spcAft>
                <a:spcPts val="0"/>
              </a:spcAft>
              <a:buClr>
                <a:srgbClr val="FFFFFF"/>
              </a:buClr>
              <a:buSzPts val="2250"/>
              <a:buFont typeface="Georgia"/>
              <a:buNone/>
            </a:pPr>
            <a:r>
              <a:rPr lang="en-US" sz="2250" b="1">
                <a:solidFill>
                  <a:srgbClr val="FFFFFF"/>
                </a:solidFill>
                <a:latin typeface="Georgia"/>
                <a:ea typeface="Georgia"/>
                <a:cs typeface="Georgia"/>
                <a:sym typeface="Georgia"/>
              </a:rPr>
              <a:t>2</a:t>
            </a:r>
            <a:endParaRPr sz="2250">
              <a:solidFill>
                <a:schemeClr val="dk1"/>
              </a:solidFill>
              <a:latin typeface="Calibri"/>
              <a:ea typeface="Calibri"/>
              <a:cs typeface="Calibri"/>
              <a:sym typeface="Calibri"/>
            </a:endParaRPr>
          </a:p>
        </p:txBody>
      </p:sp>
      <p:sp>
        <p:nvSpPr>
          <p:cNvPr id="168" name="Google Shape;168;p6"/>
          <p:cNvSpPr/>
          <p:nvPr/>
        </p:nvSpPr>
        <p:spPr>
          <a:xfrm>
            <a:off x="10344150" y="2847975"/>
            <a:ext cx="7201091" cy="38100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1C1B1A"/>
              </a:buClr>
              <a:buSzPts val="2250"/>
              <a:buFont typeface="Arial"/>
              <a:buNone/>
            </a:pPr>
            <a:r>
              <a:rPr lang="en-US" sz="2250" b="1">
                <a:solidFill>
                  <a:srgbClr val="1C1B1A"/>
                </a:solidFill>
                <a:latin typeface="Arial"/>
                <a:ea typeface="Arial"/>
                <a:cs typeface="Arial"/>
                <a:sym typeface="Arial"/>
              </a:rPr>
              <a:t>Feature typing</a:t>
            </a:r>
            <a:endParaRPr sz="2250">
              <a:solidFill>
                <a:schemeClr val="dk1"/>
              </a:solidFill>
              <a:latin typeface="Calibri"/>
              <a:ea typeface="Calibri"/>
              <a:cs typeface="Calibri"/>
              <a:sym typeface="Calibri"/>
            </a:endParaRPr>
          </a:p>
        </p:txBody>
      </p:sp>
      <p:sp>
        <p:nvSpPr>
          <p:cNvPr id="169" name="Google Shape;169;p6"/>
          <p:cNvSpPr/>
          <p:nvPr/>
        </p:nvSpPr>
        <p:spPr>
          <a:xfrm>
            <a:off x="10344150" y="3248025"/>
            <a:ext cx="7201091" cy="352425"/>
          </a:xfrm>
          <a:prstGeom prst="rect">
            <a:avLst/>
          </a:prstGeom>
          <a:noFill/>
          <a:ln>
            <a:noFill/>
          </a:ln>
        </p:spPr>
        <p:txBody>
          <a:bodyPr spcFirstLastPara="1" wrap="square" lIns="25400" tIns="25400" rIns="25400" bIns="25400" anchor="t" anchorCtr="0">
            <a:normAutofit/>
          </a:bodyPr>
          <a:lstStyle/>
          <a:p>
            <a:pPr marL="0" marR="0" lvl="0" indent="0" algn="l" rtl="0">
              <a:lnSpc>
                <a:spcPct val="120000"/>
              </a:lnSpc>
              <a:spcBef>
                <a:spcPts val="0"/>
              </a:spcBef>
              <a:spcAft>
                <a:spcPts val="0"/>
              </a:spcAft>
              <a:buClr>
                <a:srgbClr val="4B4845"/>
              </a:buClr>
              <a:buSzPts val="1665"/>
              <a:buFont typeface="Courier New"/>
              <a:buNone/>
            </a:pPr>
            <a:r>
              <a:rPr lang="en-US" sz="1665">
                <a:solidFill>
                  <a:srgbClr val="4B4845"/>
                </a:solidFill>
                <a:latin typeface="Courier New"/>
                <a:ea typeface="Courier New"/>
                <a:cs typeface="Courier New"/>
                <a:sym typeface="Courier New"/>
              </a:rPr>
              <a:t>Categorical (int-coded) vs continuous</a:t>
            </a:r>
            <a:endParaRPr sz="1665">
              <a:solidFill>
                <a:schemeClr val="dk1"/>
              </a:solidFill>
              <a:latin typeface="Calibri"/>
              <a:ea typeface="Calibri"/>
              <a:cs typeface="Calibri"/>
              <a:sym typeface="Calibri"/>
            </a:endParaRPr>
          </a:p>
        </p:txBody>
      </p:sp>
      <p:sp>
        <p:nvSpPr>
          <p:cNvPr id="170" name="Google Shape;170;p6"/>
          <p:cNvSpPr/>
          <p:nvPr/>
        </p:nvSpPr>
        <p:spPr>
          <a:xfrm>
            <a:off x="952500" y="3924300"/>
            <a:ext cx="609600" cy="609600"/>
          </a:xfrm>
          <a:prstGeom prst="ellipse">
            <a:avLst/>
          </a:prstGeom>
          <a:solidFill>
            <a:srgbClr val="0E3A5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1" name="Google Shape;171;p6"/>
          <p:cNvSpPr/>
          <p:nvPr/>
        </p:nvSpPr>
        <p:spPr>
          <a:xfrm>
            <a:off x="914400" y="3924300"/>
            <a:ext cx="685800" cy="647700"/>
          </a:xfrm>
          <a:prstGeom prst="rect">
            <a:avLst/>
          </a:prstGeom>
          <a:noFill/>
          <a:ln>
            <a:noFill/>
          </a:ln>
        </p:spPr>
        <p:txBody>
          <a:bodyPr spcFirstLastPara="1" wrap="square" lIns="25400" tIns="25400" rIns="25400" bIns="25400" anchor="ctr" anchorCtr="0">
            <a:normAutofit/>
          </a:bodyPr>
          <a:lstStyle/>
          <a:p>
            <a:pPr marL="0" marR="0" lvl="0" indent="0" algn="ctr" rtl="0">
              <a:spcBef>
                <a:spcPts val="0"/>
              </a:spcBef>
              <a:spcAft>
                <a:spcPts val="0"/>
              </a:spcAft>
              <a:buClr>
                <a:srgbClr val="FFFFFF"/>
              </a:buClr>
              <a:buSzPts val="2250"/>
              <a:buFont typeface="Georgia"/>
              <a:buNone/>
            </a:pPr>
            <a:r>
              <a:rPr lang="en-US" sz="2250" b="1">
                <a:solidFill>
                  <a:srgbClr val="FFFFFF"/>
                </a:solidFill>
                <a:latin typeface="Georgia"/>
                <a:ea typeface="Georgia"/>
                <a:cs typeface="Georgia"/>
                <a:sym typeface="Georgia"/>
              </a:rPr>
              <a:t>3</a:t>
            </a:r>
            <a:endParaRPr sz="2250">
              <a:solidFill>
                <a:schemeClr val="dk1"/>
              </a:solidFill>
              <a:latin typeface="Calibri"/>
              <a:ea typeface="Calibri"/>
              <a:cs typeface="Calibri"/>
              <a:sym typeface="Calibri"/>
            </a:endParaRPr>
          </a:p>
        </p:txBody>
      </p:sp>
      <p:sp>
        <p:nvSpPr>
          <p:cNvPr id="172" name="Google Shape;172;p6"/>
          <p:cNvSpPr/>
          <p:nvPr/>
        </p:nvSpPr>
        <p:spPr>
          <a:xfrm>
            <a:off x="1771650" y="3981450"/>
            <a:ext cx="7201091" cy="38100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1C1B1A"/>
              </a:buClr>
              <a:buSzPts val="2250"/>
              <a:buFont typeface="Arial"/>
              <a:buNone/>
            </a:pPr>
            <a:r>
              <a:rPr lang="en-US" sz="2250" b="1">
                <a:solidFill>
                  <a:srgbClr val="1C1B1A"/>
                </a:solidFill>
                <a:latin typeface="Arial"/>
                <a:ea typeface="Arial"/>
                <a:cs typeface="Arial"/>
                <a:sym typeface="Arial"/>
              </a:rPr>
              <a:t>Target encoding</a:t>
            </a:r>
            <a:endParaRPr sz="2250">
              <a:solidFill>
                <a:schemeClr val="dk1"/>
              </a:solidFill>
              <a:latin typeface="Calibri"/>
              <a:ea typeface="Calibri"/>
              <a:cs typeface="Calibri"/>
              <a:sym typeface="Calibri"/>
            </a:endParaRPr>
          </a:p>
        </p:txBody>
      </p:sp>
      <p:sp>
        <p:nvSpPr>
          <p:cNvPr id="173" name="Google Shape;173;p6"/>
          <p:cNvSpPr/>
          <p:nvPr/>
        </p:nvSpPr>
        <p:spPr>
          <a:xfrm>
            <a:off x="1771650" y="4381500"/>
            <a:ext cx="7201091" cy="352425"/>
          </a:xfrm>
          <a:prstGeom prst="rect">
            <a:avLst/>
          </a:prstGeom>
          <a:noFill/>
          <a:ln>
            <a:noFill/>
          </a:ln>
        </p:spPr>
        <p:txBody>
          <a:bodyPr spcFirstLastPara="1" wrap="square" lIns="25400" tIns="25400" rIns="25400" bIns="25400" anchor="t" anchorCtr="0">
            <a:normAutofit/>
          </a:bodyPr>
          <a:lstStyle/>
          <a:p>
            <a:pPr marL="0" marR="0" lvl="0" indent="0" algn="l" rtl="0">
              <a:lnSpc>
                <a:spcPct val="120000"/>
              </a:lnSpc>
              <a:spcBef>
                <a:spcPts val="0"/>
              </a:spcBef>
              <a:spcAft>
                <a:spcPts val="0"/>
              </a:spcAft>
              <a:buClr>
                <a:srgbClr val="4B4845"/>
              </a:buClr>
              <a:buSzPts val="1665"/>
              <a:buFont typeface="Courier New"/>
              <a:buNone/>
            </a:pPr>
            <a:r>
              <a:rPr lang="en-US" sz="1665">
                <a:solidFill>
                  <a:srgbClr val="4B4845"/>
                </a:solidFill>
                <a:latin typeface="Courier New"/>
                <a:ea typeface="Courier New"/>
                <a:cs typeface="Courier New"/>
                <a:sym typeface="Courier New"/>
              </a:rPr>
              <a:t>Dropout 0 · Enrolled 1 · Graduate 2</a:t>
            </a:r>
            <a:endParaRPr sz="1665">
              <a:solidFill>
                <a:schemeClr val="dk1"/>
              </a:solidFill>
              <a:latin typeface="Calibri"/>
              <a:ea typeface="Calibri"/>
              <a:cs typeface="Calibri"/>
              <a:sym typeface="Calibri"/>
            </a:endParaRPr>
          </a:p>
        </p:txBody>
      </p:sp>
      <p:sp>
        <p:nvSpPr>
          <p:cNvPr id="174" name="Google Shape;174;p6"/>
          <p:cNvSpPr/>
          <p:nvPr/>
        </p:nvSpPr>
        <p:spPr>
          <a:xfrm>
            <a:off x="9525000" y="3924300"/>
            <a:ext cx="609600" cy="609600"/>
          </a:xfrm>
          <a:prstGeom prst="ellipse">
            <a:avLst/>
          </a:prstGeom>
          <a:solidFill>
            <a:srgbClr val="0E3A5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5" name="Google Shape;175;p6"/>
          <p:cNvSpPr/>
          <p:nvPr/>
        </p:nvSpPr>
        <p:spPr>
          <a:xfrm>
            <a:off x="9486900" y="3924300"/>
            <a:ext cx="685800" cy="647700"/>
          </a:xfrm>
          <a:prstGeom prst="rect">
            <a:avLst/>
          </a:prstGeom>
          <a:noFill/>
          <a:ln>
            <a:noFill/>
          </a:ln>
        </p:spPr>
        <p:txBody>
          <a:bodyPr spcFirstLastPara="1" wrap="square" lIns="25400" tIns="25400" rIns="25400" bIns="25400" anchor="ctr" anchorCtr="0">
            <a:normAutofit/>
          </a:bodyPr>
          <a:lstStyle/>
          <a:p>
            <a:pPr marL="0" marR="0" lvl="0" indent="0" algn="ctr" rtl="0">
              <a:spcBef>
                <a:spcPts val="0"/>
              </a:spcBef>
              <a:spcAft>
                <a:spcPts val="0"/>
              </a:spcAft>
              <a:buClr>
                <a:srgbClr val="FFFFFF"/>
              </a:buClr>
              <a:buSzPts val="2250"/>
              <a:buFont typeface="Georgia"/>
              <a:buNone/>
            </a:pPr>
            <a:r>
              <a:rPr lang="en-US" sz="2250" b="1">
                <a:solidFill>
                  <a:srgbClr val="FFFFFF"/>
                </a:solidFill>
                <a:latin typeface="Georgia"/>
                <a:ea typeface="Georgia"/>
                <a:cs typeface="Georgia"/>
                <a:sym typeface="Georgia"/>
              </a:rPr>
              <a:t>4</a:t>
            </a:r>
            <a:endParaRPr sz="2250">
              <a:solidFill>
                <a:schemeClr val="dk1"/>
              </a:solidFill>
              <a:latin typeface="Calibri"/>
              <a:ea typeface="Calibri"/>
              <a:cs typeface="Calibri"/>
              <a:sym typeface="Calibri"/>
            </a:endParaRPr>
          </a:p>
        </p:txBody>
      </p:sp>
      <p:sp>
        <p:nvSpPr>
          <p:cNvPr id="176" name="Google Shape;176;p6"/>
          <p:cNvSpPr/>
          <p:nvPr/>
        </p:nvSpPr>
        <p:spPr>
          <a:xfrm>
            <a:off x="10344150" y="3981450"/>
            <a:ext cx="7201091" cy="38100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1C1B1A"/>
              </a:buClr>
              <a:buSzPts val="2250"/>
              <a:buFont typeface="Arial"/>
              <a:buNone/>
            </a:pPr>
            <a:r>
              <a:rPr lang="en-US" sz="2250" b="1">
                <a:solidFill>
                  <a:srgbClr val="1C1B1A"/>
                </a:solidFill>
                <a:latin typeface="Arial"/>
                <a:ea typeface="Arial"/>
                <a:cs typeface="Arial"/>
                <a:sym typeface="Arial"/>
              </a:rPr>
              <a:t>Normalization</a:t>
            </a:r>
            <a:endParaRPr sz="2250">
              <a:solidFill>
                <a:schemeClr val="dk1"/>
              </a:solidFill>
              <a:latin typeface="Calibri"/>
              <a:ea typeface="Calibri"/>
              <a:cs typeface="Calibri"/>
              <a:sym typeface="Calibri"/>
            </a:endParaRPr>
          </a:p>
        </p:txBody>
      </p:sp>
      <p:sp>
        <p:nvSpPr>
          <p:cNvPr id="177" name="Google Shape;177;p6"/>
          <p:cNvSpPr/>
          <p:nvPr/>
        </p:nvSpPr>
        <p:spPr>
          <a:xfrm>
            <a:off x="10344150" y="4381500"/>
            <a:ext cx="7201091" cy="352425"/>
          </a:xfrm>
          <a:prstGeom prst="rect">
            <a:avLst/>
          </a:prstGeom>
          <a:noFill/>
          <a:ln>
            <a:noFill/>
          </a:ln>
        </p:spPr>
        <p:txBody>
          <a:bodyPr spcFirstLastPara="1" wrap="square" lIns="25400" tIns="25400" rIns="25400" bIns="25400" anchor="t" anchorCtr="0">
            <a:normAutofit/>
          </a:bodyPr>
          <a:lstStyle/>
          <a:p>
            <a:pPr marL="0" marR="0" lvl="0" indent="0" algn="l" rtl="0">
              <a:lnSpc>
                <a:spcPct val="120000"/>
              </a:lnSpc>
              <a:spcBef>
                <a:spcPts val="0"/>
              </a:spcBef>
              <a:spcAft>
                <a:spcPts val="0"/>
              </a:spcAft>
              <a:buClr>
                <a:srgbClr val="4B4845"/>
              </a:buClr>
              <a:buSzPts val="1665"/>
              <a:buFont typeface="Courier New"/>
              <a:buNone/>
            </a:pPr>
            <a:r>
              <a:rPr lang="en-US" sz="1665">
                <a:solidFill>
                  <a:srgbClr val="4B4845"/>
                </a:solidFill>
                <a:latin typeface="Courier New"/>
                <a:ea typeface="Courier New"/>
                <a:cs typeface="Courier New"/>
                <a:sym typeface="Courier New"/>
              </a:rPr>
              <a:t>StandardScaler on all numeric features</a:t>
            </a:r>
            <a:endParaRPr sz="1665">
              <a:solidFill>
                <a:schemeClr val="dk1"/>
              </a:solidFill>
              <a:latin typeface="Calibri"/>
              <a:ea typeface="Calibri"/>
              <a:cs typeface="Calibri"/>
              <a:sym typeface="Calibri"/>
            </a:endParaRPr>
          </a:p>
        </p:txBody>
      </p:sp>
      <p:sp>
        <p:nvSpPr>
          <p:cNvPr id="178" name="Google Shape;178;p6"/>
          <p:cNvSpPr/>
          <p:nvPr/>
        </p:nvSpPr>
        <p:spPr>
          <a:xfrm>
            <a:off x="952500" y="5057775"/>
            <a:ext cx="609600" cy="609600"/>
          </a:xfrm>
          <a:prstGeom prst="ellipse">
            <a:avLst/>
          </a:prstGeom>
          <a:solidFill>
            <a:srgbClr val="0E3A5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9" name="Google Shape;179;p6"/>
          <p:cNvSpPr/>
          <p:nvPr/>
        </p:nvSpPr>
        <p:spPr>
          <a:xfrm>
            <a:off x="914400" y="5057775"/>
            <a:ext cx="685800" cy="647700"/>
          </a:xfrm>
          <a:prstGeom prst="rect">
            <a:avLst/>
          </a:prstGeom>
          <a:noFill/>
          <a:ln>
            <a:noFill/>
          </a:ln>
        </p:spPr>
        <p:txBody>
          <a:bodyPr spcFirstLastPara="1" wrap="square" lIns="25400" tIns="25400" rIns="25400" bIns="25400" anchor="ctr" anchorCtr="0">
            <a:normAutofit/>
          </a:bodyPr>
          <a:lstStyle/>
          <a:p>
            <a:pPr marL="0" marR="0" lvl="0" indent="0" algn="ctr" rtl="0">
              <a:spcBef>
                <a:spcPts val="0"/>
              </a:spcBef>
              <a:spcAft>
                <a:spcPts val="0"/>
              </a:spcAft>
              <a:buClr>
                <a:srgbClr val="FFFFFF"/>
              </a:buClr>
              <a:buSzPts val="2250"/>
              <a:buFont typeface="Georgia"/>
              <a:buNone/>
            </a:pPr>
            <a:r>
              <a:rPr lang="en-US" sz="2250" b="1">
                <a:solidFill>
                  <a:srgbClr val="FFFFFF"/>
                </a:solidFill>
                <a:latin typeface="Georgia"/>
                <a:ea typeface="Georgia"/>
                <a:cs typeface="Georgia"/>
                <a:sym typeface="Georgia"/>
              </a:rPr>
              <a:t>5</a:t>
            </a:r>
            <a:endParaRPr sz="2250">
              <a:solidFill>
                <a:schemeClr val="dk1"/>
              </a:solidFill>
              <a:latin typeface="Calibri"/>
              <a:ea typeface="Calibri"/>
              <a:cs typeface="Calibri"/>
              <a:sym typeface="Calibri"/>
            </a:endParaRPr>
          </a:p>
        </p:txBody>
      </p:sp>
      <p:sp>
        <p:nvSpPr>
          <p:cNvPr id="180" name="Google Shape;180;p6"/>
          <p:cNvSpPr/>
          <p:nvPr/>
        </p:nvSpPr>
        <p:spPr>
          <a:xfrm>
            <a:off x="1771650" y="5114925"/>
            <a:ext cx="7201091" cy="38100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1C1B1A"/>
              </a:buClr>
              <a:buSzPts val="2250"/>
              <a:buFont typeface="Arial"/>
              <a:buNone/>
            </a:pPr>
            <a:r>
              <a:rPr lang="en-US" sz="2250" b="1">
                <a:solidFill>
                  <a:srgbClr val="1C1B1A"/>
                </a:solidFill>
                <a:latin typeface="Arial"/>
                <a:ea typeface="Arial"/>
                <a:cs typeface="Arial"/>
                <a:sym typeface="Arial"/>
              </a:rPr>
              <a:t>Stratified split</a:t>
            </a:r>
            <a:endParaRPr sz="2250">
              <a:solidFill>
                <a:schemeClr val="dk1"/>
              </a:solidFill>
              <a:latin typeface="Calibri"/>
              <a:ea typeface="Calibri"/>
              <a:cs typeface="Calibri"/>
              <a:sym typeface="Calibri"/>
            </a:endParaRPr>
          </a:p>
        </p:txBody>
      </p:sp>
      <p:sp>
        <p:nvSpPr>
          <p:cNvPr id="181" name="Google Shape;181;p6"/>
          <p:cNvSpPr/>
          <p:nvPr/>
        </p:nvSpPr>
        <p:spPr>
          <a:xfrm>
            <a:off x="1771650" y="5514975"/>
            <a:ext cx="7201091" cy="352425"/>
          </a:xfrm>
          <a:prstGeom prst="rect">
            <a:avLst/>
          </a:prstGeom>
          <a:noFill/>
          <a:ln>
            <a:noFill/>
          </a:ln>
        </p:spPr>
        <p:txBody>
          <a:bodyPr spcFirstLastPara="1" wrap="square" lIns="25400" tIns="25400" rIns="25400" bIns="25400" anchor="t" anchorCtr="0">
            <a:normAutofit/>
          </a:bodyPr>
          <a:lstStyle/>
          <a:p>
            <a:pPr marL="0" marR="0" lvl="0" indent="0" algn="l" rtl="0">
              <a:lnSpc>
                <a:spcPct val="120000"/>
              </a:lnSpc>
              <a:spcBef>
                <a:spcPts val="0"/>
              </a:spcBef>
              <a:spcAft>
                <a:spcPts val="0"/>
              </a:spcAft>
              <a:buClr>
                <a:srgbClr val="4B4845"/>
              </a:buClr>
              <a:buSzPts val="1665"/>
              <a:buFont typeface="Courier New"/>
              <a:buNone/>
            </a:pPr>
            <a:r>
              <a:rPr lang="en-US" sz="1665">
                <a:solidFill>
                  <a:srgbClr val="4B4845"/>
                </a:solidFill>
                <a:latin typeface="Courier New"/>
                <a:ea typeface="Courier New"/>
                <a:cs typeface="Courier New"/>
                <a:sym typeface="Courier New"/>
              </a:rPr>
              <a:t>80% train (3,539) · 20% test (885)</a:t>
            </a:r>
            <a:endParaRPr sz="1665">
              <a:solidFill>
                <a:schemeClr val="dk1"/>
              </a:solidFill>
              <a:latin typeface="Calibri"/>
              <a:ea typeface="Calibri"/>
              <a:cs typeface="Calibri"/>
              <a:sym typeface="Calibri"/>
            </a:endParaRPr>
          </a:p>
        </p:txBody>
      </p:sp>
      <p:sp>
        <p:nvSpPr>
          <p:cNvPr id="182" name="Google Shape;182;p6"/>
          <p:cNvSpPr/>
          <p:nvPr/>
        </p:nvSpPr>
        <p:spPr>
          <a:xfrm>
            <a:off x="9525000" y="5057775"/>
            <a:ext cx="609600" cy="609600"/>
          </a:xfrm>
          <a:prstGeom prst="ellipse">
            <a:avLst/>
          </a:prstGeom>
          <a:solidFill>
            <a:srgbClr val="0E3A5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3" name="Google Shape;183;p6"/>
          <p:cNvSpPr/>
          <p:nvPr/>
        </p:nvSpPr>
        <p:spPr>
          <a:xfrm>
            <a:off x="9486900" y="5057775"/>
            <a:ext cx="685800" cy="647700"/>
          </a:xfrm>
          <a:prstGeom prst="rect">
            <a:avLst/>
          </a:prstGeom>
          <a:noFill/>
          <a:ln>
            <a:noFill/>
          </a:ln>
        </p:spPr>
        <p:txBody>
          <a:bodyPr spcFirstLastPara="1" wrap="square" lIns="25400" tIns="25400" rIns="25400" bIns="25400" anchor="ctr" anchorCtr="0">
            <a:normAutofit/>
          </a:bodyPr>
          <a:lstStyle/>
          <a:p>
            <a:pPr marL="0" marR="0" lvl="0" indent="0" algn="ctr" rtl="0">
              <a:spcBef>
                <a:spcPts val="0"/>
              </a:spcBef>
              <a:spcAft>
                <a:spcPts val="0"/>
              </a:spcAft>
              <a:buClr>
                <a:srgbClr val="FFFFFF"/>
              </a:buClr>
              <a:buSzPts val="2250"/>
              <a:buFont typeface="Georgia"/>
              <a:buNone/>
            </a:pPr>
            <a:r>
              <a:rPr lang="en-US" sz="2250" b="1">
                <a:solidFill>
                  <a:srgbClr val="FFFFFF"/>
                </a:solidFill>
                <a:latin typeface="Georgia"/>
                <a:ea typeface="Georgia"/>
                <a:cs typeface="Georgia"/>
                <a:sym typeface="Georgia"/>
              </a:rPr>
              <a:t>6</a:t>
            </a:r>
            <a:endParaRPr sz="2250">
              <a:solidFill>
                <a:schemeClr val="dk1"/>
              </a:solidFill>
              <a:latin typeface="Calibri"/>
              <a:ea typeface="Calibri"/>
              <a:cs typeface="Calibri"/>
              <a:sym typeface="Calibri"/>
            </a:endParaRPr>
          </a:p>
        </p:txBody>
      </p:sp>
      <p:sp>
        <p:nvSpPr>
          <p:cNvPr id="184" name="Google Shape;184;p6"/>
          <p:cNvSpPr/>
          <p:nvPr/>
        </p:nvSpPr>
        <p:spPr>
          <a:xfrm>
            <a:off x="10344150" y="5114925"/>
            <a:ext cx="7201091" cy="38100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1C1B1A"/>
              </a:buClr>
              <a:buSzPts val="2250"/>
              <a:buFont typeface="Arial"/>
              <a:buNone/>
            </a:pPr>
            <a:r>
              <a:rPr lang="en-US" sz="2250" b="1">
                <a:solidFill>
                  <a:srgbClr val="1C1B1A"/>
                </a:solidFill>
                <a:latin typeface="Arial"/>
                <a:ea typeface="Arial"/>
                <a:cs typeface="Arial"/>
                <a:sym typeface="Arial"/>
              </a:rPr>
              <a:t>Reproducibility</a:t>
            </a:r>
            <a:endParaRPr sz="2250">
              <a:solidFill>
                <a:schemeClr val="dk1"/>
              </a:solidFill>
              <a:latin typeface="Calibri"/>
              <a:ea typeface="Calibri"/>
              <a:cs typeface="Calibri"/>
              <a:sym typeface="Calibri"/>
            </a:endParaRPr>
          </a:p>
        </p:txBody>
      </p:sp>
      <p:sp>
        <p:nvSpPr>
          <p:cNvPr id="185" name="Google Shape;185;p6"/>
          <p:cNvSpPr/>
          <p:nvPr/>
        </p:nvSpPr>
        <p:spPr>
          <a:xfrm>
            <a:off x="10344150" y="5514975"/>
            <a:ext cx="7201091" cy="352425"/>
          </a:xfrm>
          <a:prstGeom prst="rect">
            <a:avLst/>
          </a:prstGeom>
          <a:noFill/>
          <a:ln>
            <a:noFill/>
          </a:ln>
        </p:spPr>
        <p:txBody>
          <a:bodyPr spcFirstLastPara="1" wrap="square" lIns="25400" tIns="25400" rIns="25400" bIns="25400" anchor="t" anchorCtr="0">
            <a:normAutofit/>
          </a:bodyPr>
          <a:lstStyle/>
          <a:p>
            <a:pPr marL="0" marR="0" lvl="0" indent="0" algn="l" rtl="0">
              <a:lnSpc>
                <a:spcPct val="120000"/>
              </a:lnSpc>
              <a:spcBef>
                <a:spcPts val="0"/>
              </a:spcBef>
              <a:spcAft>
                <a:spcPts val="0"/>
              </a:spcAft>
              <a:buClr>
                <a:srgbClr val="4B4845"/>
              </a:buClr>
              <a:buSzPts val="1665"/>
              <a:buFont typeface="Courier New"/>
              <a:buNone/>
            </a:pPr>
            <a:r>
              <a:rPr lang="en-US" sz="1665">
                <a:solidFill>
                  <a:srgbClr val="4B4845"/>
                </a:solidFill>
                <a:latin typeface="Courier New"/>
                <a:ea typeface="Courier New"/>
                <a:cs typeface="Courier New"/>
                <a:sym typeface="Courier New"/>
              </a:rPr>
              <a:t>random_state=42 across all operations</a:t>
            </a:r>
            <a:endParaRPr sz="1665">
              <a:solidFill>
                <a:schemeClr val="dk1"/>
              </a:solidFill>
              <a:latin typeface="Calibri"/>
              <a:ea typeface="Calibri"/>
              <a:cs typeface="Calibri"/>
              <a:sym typeface="Calibri"/>
            </a:endParaRPr>
          </a:p>
        </p:txBody>
      </p:sp>
      <p:sp>
        <p:nvSpPr>
          <p:cNvPr id="186" name="Google Shape;186;p6"/>
          <p:cNvSpPr/>
          <p:nvPr/>
        </p:nvSpPr>
        <p:spPr>
          <a:xfrm>
            <a:off x="952500" y="6362700"/>
            <a:ext cx="16383000" cy="666750"/>
          </a:xfrm>
          <a:prstGeom prst="rect">
            <a:avLst/>
          </a:prstGeom>
          <a:solidFill>
            <a:srgbClr val="F2EEE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7" name="Google Shape;187;p6"/>
          <p:cNvSpPr/>
          <p:nvPr/>
        </p:nvSpPr>
        <p:spPr>
          <a:xfrm>
            <a:off x="952500" y="6362700"/>
            <a:ext cx="38100" cy="666750"/>
          </a:xfrm>
          <a:prstGeom prst="rect">
            <a:avLst/>
          </a:prstGeom>
          <a:solidFill>
            <a:srgbClr val="EF9F2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8" name="Google Shape;188;p6"/>
          <p:cNvSpPr/>
          <p:nvPr/>
        </p:nvSpPr>
        <p:spPr>
          <a:xfrm>
            <a:off x="1257300" y="6553200"/>
            <a:ext cx="16302990" cy="32385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4B4845"/>
              </a:buClr>
              <a:buSzPts val="1950"/>
              <a:buFont typeface="Arial"/>
              <a:buNone/>
            </a:pPr>
            <a:r>
              <a:rPr lang="en-US" sz="1950" i="1">
                <a:solidFill>
                  <a:srgbClr val="4B4845"/>
                </a:solidFill>
                <a:latin typeface="Arial"/>
                <a:ea typeface="Arial"/>
                <a:cs typeface="Arial"/>
                <a:sym typeface="Arial"/>
              </a:rPr>
              <a:t>Stratified split preserves class ratios in both train and test sets. An unscaled copy is kept for EDA.</a:t>
            </a:r>
            <a:endParaRPr sz="1950">
              <a:solidFill>
                <a:schemeClr val="dk1"/>
              </a:solidFill>
              <a:latin typeface="Calibri"/>
              <a:ea typeface="Calibri"/>
              <a:cs typeface="Calibri"/>
              <a:sym typeface="Calibri"/>
            </a:endParaRPr>
          </a:p>
        </p:txBody>
      </p:sp>
      <p:sp>
        <p:nvSpPr>
          <p:cNvPr id="189" name="Google Shape;189;p6"/>
          <p:cNvSpPr/>
          <p:nvPr/>
        </p:nvSpPr>
        <p:spPr>
          <a:xfrm>
            <a:off x="16692116" y="7153275"/>
            <a:ext cx="1100584" cy="2952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665"/>
              <a:buFont typeface="Courier New"/>
              <a:buNone/>
            </a:pPr>
            <a:r>
              <a:rPr lang="en-US" sz="1665">
                <a:solidFill>
                  <a:srgbClr val="807C76"/>
                </a:solidFill>
                <a:latin typeface="Courier New"/>
                <a:ea typeface="Courier New"/>
                <a:cs typeface="Courier New"/>
                <a:sym typeface="Courier New"/>
              </a:rPr>
              <a:t>06/19</a:t>
            </a:r>
            <a:endParaRPr sz="1665">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Shape 194"/>
        <p:cNvGrpSpPr/>
        <p:nvPr/>
      </p:nvGrpSpPr>
      <p:grpSpPr>
        <a:xfrm>
          <a:off x="0" y="0"/>
          <a:ext cx="0" cy="0"/>
          <a:chOff x="0" y="0"/>
          <a:chExt cx="0" cy="0"/>
        </a:xfrm>
      </p:grpSpPr>
      <p:sp>
        <p:nvSpPr>
          <p:cNvPr id="195" name="Google Shape;195;p7"/>
          <p:cNvSpPr/>
          <p:nvPr/>
        </p:nvSpPr>
        <p:spPr>
          <a:xfrm>
            <a:off x="952500" y="1047006"/>
            <a:ext cx="533400" cy="19050"/>
          </a:xfrm>
          <a:prstGeom prst="rect">
            <a:avLst/>
          </a:prstGeom>
          <a:solidFill>
            <a:srgbClr val="4B484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6" name="Google Shape;196;p7"/>
          <p:cNvSpPr/>
          <p:nvPr/>
        </p:nvSpPr>
        <p:spPr>
          <a:xfrm>
            <a:off x="1657350" y="952500"/>
            <a:ext cx="5510408" cy="2952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665"/>
              <a:buFont typeface="Courier New"/>
              <a:buNone/>
            </a:pPr>
            <a:r>
              <a:rPr lang="en-US" sz="1665">
                <a:solidFill>
                  <a:srgbClr val="807C76"/>
                </a:solidFill>
                <a:latin typeface="Courier New"/>
                <a:ea typeface="Courier New"/>
                <a:cs typeface="Courier New"/>
                <a:sym typeface="Courier New"/>
              </a:rPr>
              <a:t>06 · EDA — TARGET DISTRIBUTION</a:t>
            </a:r>
            <a:endParaRPr sz="1665">
              <a:solidFill>
                <a:schemeClr val="dk1"/>
              </a:solidFill>
              <a:latin typeface="Calibri"/>
              <a:ea typeface="Calibri"/>
              <a:cs typeface="Calibri"/>
              <a:sym typeface="Calibri"/>
            </a:endParaRPr>
          </a:p>
        </p:txBody>
      </p:sp>
      <p:sp>
        <p:nvSpPr>
          <p:cNvPr id="197" name="Google Shape;197;p7"/>
          <p:cNvSpPr/>
          <p:nvPr/>
        </p:nvSpPr>
        <p:spPr>
          <a:xfrm>
            <a:off x="952500" y="1704975"/>
            <a:ext cx="6295896" cy="1295400"/>
          </a:xfrm>
          <a:prstGeom prst="rect">
            <a:avLst/>
          </a:prstGeom>
          <a:noFill/>
          <a:ln>
            <a:noFill/>
          </a:ln>
        </p:spPr>
        <p:txBody>
          <a:bodyPr spcFirstLastPara="1" wrap="square" lIns="25400" tIns="25400" rIns="25400" bIns="25400" anchor="t" anchorCtr="0">
            <a:normAutofit/>
          </a:bodyPr>
          <a:lstStyle/>
          <a:p>
            <a:pPr marL="0" marR="0" lvl="0" indent="0" algn="l" rtl="0">
              <a:lnSpc>
                <a:spcPct val="84000"/>
              </a:lnSpc>
              <a:spcBef>
                <a:spcPts val="0"/>
              </a:spcBef>
              <a:spcAft>
                <a:spcPts val="0"/>
              </a:spcAft>
              <a:buClr>
                <a:srgbClr val="1C1B1A"/>
              </a:buClr>
              <a:buSzPts val="4440"/>
              <a:buFont typeface="Georgia"/>
              <a:buNone/>
            </a:pPr>
            <a:r>
              <a:rPr lang="en-US" sz="4440" b="1">
                <a:solidFill>
                  <a:srgbClr val="1C1B1A"/>
                </a:solidFill>
                <a:latin typeface="Georgia"/>
                <a:ea typeface="Georgia"/>
                <a:cs typeface="Georgia"/>
                <a:sym typeface="Georgia"/>
              </a:rPr>
              <a:t>Three classes, uneven sizes</a:t>
            </a:r>
            <a:endParaRPr sz="4440">
              <a:solidFill>
                <a:schemeClr val="dk1"/>
              </a:solidFill>
              <a:latin typeface="Calibri"/>
              <a:ea typeface="Calibri"/>
              <a:cs typeface="Calibri"/>
              <a:sym typeface="Calibri"/>
            </a:endParaRPr>
          </a:p>
        </p:txBody>
      </p:sp>
      <p:sp>
        <p:nvSpPr>
          <p:cNvPr id="198" name="Google Shape;198;p7"/>
          <p:cNvSpPr/>
          <p:nvPr/>
        </p:nvSpPr>
        <p:spPr>
          <a:xfrm>
            <a:off x="952500" y="3343275"/>
            <a:ext cx="6295896" cy="1152525"/>
          </a:xfrm>
          <a:prstGeom prst="rect">
            <a:avLst/>
          </a:prstGeom>
          <a:noFill/>
          <a:ln>
            <a:noFill/>
          </a:ln>
        </p:spPr>
        <p:txBody>
          <a:bodyPr spcFirstLastPara="1" wrap="square" lIns="25400" tIns="25400" rIns="25400" bIns="25400" anchor="t" anchorCtr="0">
            <a:normAutofit/>
          </a:bodyPr>
          <a:lstStyle/>
          <a:p>
            <a:pPr marL="0" marR="0" lvl="0" indent="0" algn="l" rtl="0">
              <a:lnSpc>
                <a:spcPct val="70000"/>
              </a:lnSpc>
              <a:spcBef>
                <a:spcPts val="0"/>
              </a:spcBef>
              <a:spcAft>
                <a:spcPts val="0"/>
              </a:spcAft>
              <a:buClr>
                <a:srgbClr val="1C1B1A"/>
              </a:buClr>
              <a:buSzPts val="9018"/>
              <a:buFont typeface="Georgia"/>
              <a:buNone/>
            </a:pPr>
            <a:r>
              <a:rPr lang="en-US" sz="9019" b="1">
                <a:solidFill>
                  <a:srgbClr val="1C1B1A"/>
                </a:solidFill>
                <a:latin typeface="Georgia"/>
                <a:ea typeface="Georgia"/>
                <a:cs typeface="Georgia"/>
                <a:sym typeface="Georgia"/>
              </a:rPr>
              <a:t>4,424</a:t>
            </a:r>
            <a:endParaRPr sz="9019">
              <a:solidFill>
                <a:schemeClr val="dk1"/>
              </a:solidFill>
              <a:latin typeface="Calibri"/>
              <a:ea typeface="Calibri"/>
              <a:cs typeface="Calibri"/>
              <a:sym typeface="Calibri"/>
            </a:endParaRPr>
          </a:p>
        </p:txBody>
      </p:sp>
      <p:sp>
        <p:nvSpPr>
          <p:cNvPr id="199" name="Google Shape;199;p7"/>
          <p:cNvSpPr/>
          <p:nvPr/>
        </p:nvSpPr>
        <p:spPr>
          <a:xfrm>
            <a:off x="952500" y="4591050"/>
            <a:ext cx="6295896" cy="35242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4B4845"/>
              </a:buClr>
              <a:buSzPts val="2100"/>
              <a:buFont typeface="Arial"/>
              <a:buNone/>
            </a:pPr>
            <a:r>
              <a:rPr lang="en-US" sz="2100">
                <a:solidFill>
                  <a:srgbClr val="4B4845"/>
                </a:solidFill>
                <a:latin typeface="Arial"/>
                <a:ea typeface="Arial"/>
                <a:cs typeface="Arial"/>
                <a:sym typeface="Arial"/>
              </a:rPr>
              <a:t>students total</a:t>
            </a:r>
            <a:endParaRPr sz="2100">
              <a:solidFill>
                <a:schemeClr val="dk1"/>
              </a:solidFill>
              <a:latin typeface="Calibri"/>
              <a:ea typeface="Calibri"/>
              <a:cs typeface="Calibri"/>
              <a:sym typeface="Calibri"/>
            </a:endParaRPr>
          </a:p>
        </p:txBody>
      </p:sp>
      <p:sp>
        <p:nvSpPr>
          <p:cNvPr id="200" name="Google Shape;200;p7"/>
          <p:cNvSpPr/>
          <p:nvPr/>
        </p:nvSpPr>
        <p:spPr>
          <a:xfrm>
            <a:off x="952500" y="5248275"/>
            <a:ext cx="6112520" cy="990600"/>
          </a:xfrm>
          <a:prstGeom prst="rect">
            <a:avLst/>
          </a:prstGeom>
          <a:solidFill>
            <a:srgbClr val="F2EEE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1" name="Google Shape;201;p7"/>
          <p:cNvSpPr/>
          <p:nvPr/>
        </p:nvSpPr>
        <p:spPr>
          <a:xfrm>
            <a:off x="952500" y="5248275"/>
            <a:ext cx="38100" cy="990600"/>
          </a:xfrm>
          <a:prstGeom prst="rect">
            <a:avLst/>
          </a:prstGeom>
          <a:solidFill>
            <a:srgbClr val="EF9F2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2" name="Google Shape;202;p7"/>
          <p:cNvSpPr/>
          <p:nvPr/>
        </p:nvSpPr>
        <p:spPr>
          <a:xfrm>
            <a:off x="1219200" y="5419725"/>
            <a:ext cx="5800596" cy="685800"/>
          </a:xfrm>
          <a:prstGeom prst="rect">
            <a:avLst/>
          </a:prstGeom>
          <a:noFill/>
          <a:ln>
            <a:noFill/>
          </a:ln>
        </p:spPr>
        <p:txBody>
          <a:bodyPr spcFirstLastPara="1" wrap="square" lIns="25400" tIns="25400" rIns="25400" bIns="25400" anchor="t" anchorCtr="0">
            <a:normAutofit/>
          </a:bodyPr>
          <a:lstStyle/>
          <a:p>
            <a:pPr marL="0" marR="0" lvl="0" indent="0" algn="l" rtl="0">
              <a:lnSpc>
                <a:spcPct val="125000"/>
              </a:lnSpc>
              <a:spcBef>
                <a:spcPts val="0"/>
              </a:spcBef>
              <a:spcAft>
                <a:spcPts val="0"/>
              </a:spcAft>
              <a:buClr>
                <a:srgbClr val="4B4845"/>
              </a:buClr>
              <a:buSzPts val="1665"/>
              <a:buFont typeface="Arial"/>
              <a:buNone/>
            </a:pPr>
            <a:r>
              <a:rPr lang="en-US" sz="1665" i="1">
                <a:solidFill>
                  <a:srgbClr val="4B4845"/>
                </a:solidFill>
                <a:latin typeface="Arial"/>
                <a:ea typeface="Arial"/>
                <a:cs typeface="Arial"/>
                <a:sym typeface="Arial"/>
              </a:rPr>
              <a:t>Enrolled is the underrepresented class — stratified sampling and F1-macro keep it visible.</a:t>
            </a:r>
            <a:endParaRPr sz="1665">
              <a:solidFill>
                <a:schemeClr val="dk1"/>
              </a:solidFill>
              <a:latin typeface="Calibri"/>
              <a:ea typeface="Calibri"/>
              <a:cs typeface="Calibri"/>
              <a:sym typeface="Calibri"/>
            </a:endParaRPr>
          </a:p>
        </p:txBody>
      </p:sp>
      <p:sp>
        <p:nvSpPr>
          <p:cNvPr id="203" name="Google Shape;203;p7"/>
          <p:cNvSpPr/>
          <p:nvPr/>
        </p:nvSpPr>
        <p:spPr>
          <a:xfrm>
            <a:off x="7827020" y="2981325"/>
            <a:ext cx="1981200" cy="41910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1C1B1A"/>
              </a:buClr>
              <a:buSzPts val="2550"/>
              <a:buFont typeface="Arial"/>
              <a:buNone/>
            </a:pPr>
            <a:r>
              <a:rPr lang="en-US" sz="2550">
                <a:solidFill>
                  <a:srgbClr val="1C1B1A"/>
                </a:solidFill>
                <a:latin typeface="Arial"/>
                <a:ea typeface="Arial"/>
                <a:cs typeface="Arial"/>
                <a:sym typeface="Arial"/>
              </a:rPr>
              <a:t>Graduate</a:t>
            </a:r>
            <a:endParaRPr sz="2550">
              <a:solidFill>
                <a:schemeClr val="dk1"/>
              </a:solidFill>
              <a:latin typeface="Calibri"/>
              <a:ea typeface="Calibri"/>
              <a:cs typeface="Calibri"/>
              <a:sym typeface="Calibri"/>
            </a:endParaRPr>
          </a:p>
        </p:txBody>
      </p:sp>
      <p:sp>
        <p:nvSpPr>
          <p:cNvPr id="204" name="Google Shape;204;p7"/>
          <p:cNvSpPr/>
          <p:nvPr/>
        </p:nvSpPr>
        <p:spPr>
          <a:xfrm>
            <a:off x="9960620" y="2905125"/>
            <a:ext cx="4860280" cy="533400"/>
          </a:xfrm>
          <a:prstGeom prst="rect">
            <a:avLst/>
          </a:prstGeom>
          <a:solidFill>
            <a:srgbClr val="F2EEE6"/>
          </a:solidFill>
          <a:ln w="9525" cap="flat" cmpd="sng">
            <a:solidFill>
              <a:srgbClr val="D9D3C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5" name="Google Shape;205;p7"/>
          <p:cNvSpPr/>
          <p:nvPr/>
        </p:nvSpPr>
        <p:spPr>
          <a:xfrm>
            <a:off x="9970145" y="2914650"/>
            <a:ext cx="4841230" cy="514350"/>
          </a:xfrm>
          <a:prstGeom prst="rect">
            <a:avLst/>
          </a:prstGeom>
          <a:solidFill>
            <a:srgbClr val="1D9E7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6" name="Google Shape;206;p7"/>
          <p:cNvSpPr/>
          <p:nvPr/>
        </p:nvSpPr>
        <p:spPr>
          <a:xfrm>
            <a:off x="14973300" y="2914650"/>
            <a:ext cx="2362200" cy="552450"/>
          </a:xfrm>
          <a:prstGeom prst="rect">
            <a:avLst/>
          </a:prstGeom>
          <a:noFill/>
          <a:ln>
            <a:noFill/>
          </a:ln>
        </p:spPr>
        <p:txBody>
          <a:bodyPr spcFirstLastPara="1" wrap="square" lIns="25400" tIns="25400" rIns="25400" bIns="25400" anchor="t" anchorCtr="0">
            <a:normAutofit/>
          </a:bodyPr>
          <a:lstStyle/>
          <a:p>
            <a:pPr marL="0" marR="0" lvl="0" indent="0" algn="r" rtl="0">
              <a:spcBef>
                <a:spcPts val="0"/>
              </a:spcBef>
              <a:spcAft>
                <a:spcPts val="0"/>
              </a:spcAft>
              <a:buClr>
                <a:srgbClr val="1C1B1A"/>
              </a:buClr>
              <a:buSzPts val="3000"/>
              <a:buFont typeface="Georgia"/>
              <a:buNone/>
            </a:pPr>
            <a:r>
              <a:rPr lang="en-US" sz="3000" b="1">
                <a:solidFill>
                  <a:srgbClr val="1C1B1A"/>
                </a:solidFill>
                <a:latin typeface="Georgia"/>
                <a:ea typeface="Georgia"/>
                <a:cs typeface="Georgia"/>
                <a:sym typeface="Georgia"/>
              </a:rPr>
              <a:t>2,209 </a:t>
            </a:r>
            <a:r>
              <a:rPr lang="en-US" sz="1800">
                <a:solidFill>
                  <a:srgbClr val="807C76"/>
                </a:solidFill>
                <a:latin typeface="Georgia"/>
                <a:ea typeface="Georgia"/>
                <a:cs typeface="Georgia"/>
                <a:sym typeface="Georgia"/>
              </a:rPr>
              <a:t>49.9%</a:t>
            </a:r>
            <a:endParaRPr sz="3000">
              <a:solidFill>
                <a:schemeClr val="dk1"/>
              </a:solidFill>
              <a:latin typeface="Calibri"/>
              <a:ea typeface="Calibri"/>
              <a:cs typeface="Calibri"/>
              <a:sym typeface="Calibri"/>
            </a:endParaRPr>
          </a:p>
        </p:txBody>
      </p:sp>
      <p:sp>
        <p:nvSpPr>
          <p:cNvPr id="207" name="Google Shape;207;p7"/>
          <p:cNvSpPr/>
          <p:nvPr/>
        </p:nvSpPr>
        <p:spPr>
          <a:xfrm>
            <a:off x="7827020" y="3781425"/>
            <a:ext cx="1981200" cy="41910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1C1B1A"/>
              </a:buClr>
              <a:buSzPts val="2550"/>
              <a:buFont typeface="Arial"/>
              <a:buNone/>
            </a:pPr>
            <a:r>
              <a:rPr lang="en-US" sz="2550">
                <a:solidFill>
                  <a:srgbClr val="1C1B1A"/>
                </a:solidFill>
                <a:latin typeface="Arial"/>
                <a:ea typeface="Arial"/>
                <a:cs typeface="Arial"/>
                <a:sym typeface="Arial"/>
              </a:rPr>
              <a:t>Dropout</a:t>
            </a:r>
            <a:endParaRPr sz="2550">
              <a:solidFill>
                <a:schemeClr val="dk1"/>
              </a:solidFill>
              <a:latin typeface="Calibri"/>
              <a:ea typeface="Calibri"/>
              <a:cs typeface="Calibri"/>
              <a:sym typeface="Calibri"/>
            </a:endParaRPr>
          </a:p>
        </p:txBody>
      </p:sp>
      <p:sp>
        <p:nvSpPr>
          <p:cNvPr id="208" name="Google Shape;208;p7"/>
          <p:cNvSpPr/>
          <p:nvPr/>
        </p:nvSpPr>
        <p:spPr>
          <a:xfrm>
            <a:off x="9960620" y="3705225"/>
            <a:ext cx="4860280" cy="533400"/>
          </a:xfrm>
          <a:prstGeom prst="rect">
            <a:avLst/>
          </a:prstGeom>
          <a:solidFill>
            <a:srgbClr val="F2EEE6"/>
          </a:solidFill>
          <a:ln w="9525" cap="flat" cmpd="sng">
            <a:solidFill>
              <a:srgbClr val="D9D3C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9" name="Google Shape;209;p7"/>
          <p:cNvSpPr/>
          <p:nvPr/>
        </p:nvSpPr>
        <p:spPr>
          <a:xfrm>
            <a:off x="9970145" y="3714750"/>
            <a:ext cx="3114229" cy="514350"/>
          </a:xfrm>
          <a:prstGeom prst="rect">
            <a:avLst/>
          </a:prstGeom>
          <a:solidFill>
            <a:srgbClr val="E24B4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0" name="Google Shape;210;p7"/>
          <p:cNvSpPr/>
          <p:nvPr/>
        </p:nvSpPr>
        <p:spPr>
          <a:xfrm>
            <a:off x="14973300" y="3714750"/>
            <a:ext cx="2362200" cy="552450"/>
          </a:xfrm>
          <a:prstGeom prst="rect">
            <a:avLst/>
          </a:prstGeom>
          <a:noFill/>
          <a:ln>
            <a:noFill/>
          </a:ln>
        </p:spPr>
        <p:txBody>
          <a:bodyPr spcFirstLastPara="1" wrap="square" lIns="25400" tIns="25400" rIns="25400" bIns="25400" anchor="t" anchorCtr="0">
            <a:normAutofit/>
          </a:bodyPr>
          <a:lstStyle/>
          <a:p>
            <a:pPr marL="0" marR="0" lvl="0" indent="0" algn="r" rtl="0">
              <a:spcBef>
                <a:spcPts val="0"/>
              </a:spcBef>
              <a:spcAft>
                <a:spcPts val="0"/>
              </a:spcAft>
              <a:buClr>
                <a:srgbClr val="1C1B1A"/>
              </a:buClr>
              <a:buSzPts val="3000"/>
              <a:buFont typeface="Georgia"/>
              <a:buNone/>
            </a:pPr>
            <a:r>
              <a:rPr lang="en-US" sz="3000" b="1">
                <a:solidFill>
                  <a:srgbClr val="1C1B1A"/>
                </a:solidFill>
                <a:latin typeface="Georgia"/>
                <a:ea typeface="Georgia"/>
                <a:cs typeface="Georgia"/>
                <a:sym typeface="Georgia"/>
              </a:rPr>
              <a:t>1,421 </a:t>
            </a:r>
            <a:r>
              <a:rPr lang="en-US" sz="1800">
                <a:solidFill>
                  <a:srgbClr val="807C76"/>
                </a:solidFill>
                <a:latin typeface="Georgia"/>
                <a:ea typeface="Georgia"/>
                <a:cs typeface="Georgia"/>
                <a:sym typeface="Georgia"/>
              </a:rPr>
              <a:t>32.1%</a:t>
            </a:r>
            <a:endParaRPr sz="3000">
              <a:solidFill>
                <a:schemeClr val="dk1"/>
              </a:solidFill>
              <a:latin typeface="Calibri"/>
              <a:ea typeface="Calibri"/>
              <a:cs typeface="Calibri"/>
              <a:sym typeface="Calibri"/>
            </a:endParaRPr>
          </a:p>
        </p:txBody>
      </p:sp>
      <p:sp>
        <p:nvSpPr>
          <p:cNvPr id="211" name="Google Shape;211;p7"/>
          <p:cNvSpPr/>
          <p:nvPr/>
        </p:nvSpPr>
        <p:spPr>
          <a:xfrm>
            <a:off x="7827020" y="4581525"/>
            <a:ext cx="1981200" cy="41910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1C1B1A"/>
              </a:buClr>
              <a:buSzPts val="2550"/>
              <a:buFont typeface="Arial"/>
              <a:buNone/>
            </a:pPr>
            <a:r>
              <a:rPr lang="en-US" sz="2550">
                <a:solidFill>
                  <a:srgbClr val="1C1B1A"/>
                </a:solidFill>
                <a:latin typeface="Arial"/>
                <a:ea typeface="Arial"/>
                <a:cs typeface="Arial"/>
                <a:sym typeface="Arial"/>
              </a:rPr>
              <a:t>Enrolled</a:t>
            </a:r>
            <a:endParaRPr sz="2550">
              <a:solidFill>
                <a:schemeClr val="dk1"/>
              </a:solidFill>
              <a:latin typeface="Calibri"/>
              <a:ea typeface="Calibri"/>
              <a:cs typeface="Calibri"/>
              <a:sym typeface="Calibri"/>
            </a:endParaRPr>
          </a:p>
        </p:txBody>
      </p:sp>
      <p:sp>
        <p:nvSpPr>
          <p:cNvPr id="212" name="Google Shape;212;p7"/>
          <p:cNvSpPr/>
          <p:nvPr/>
        </p:nvSpPr>
        <p:spPr>
          <a:xfrm>
            <a:off x="9960620" y="4505325"/>
            <a:ext cx="4860280" cy="533400"/>
          </a:xfrm>
          <a:prstGeom prst="rect">
            <a:avLst/>
          </a:prstGeom>
          <a:solidFill>
            <a:srgbClr val="F2EEE6"/>
          </a:solidFill>
          <a:ln w="9525" cap="flat" cmpd="sng">
            <a:solidFill>
              <a:srgbClr val="D9D3C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3" name="Google Shape;213;p7"/>
          <p:cNvSpPr/>
          <p:nvPr/>
        </p:nvSpPr>
        <p:spPr>
          <a:xfrm>
            <a:off x="9970145" y="4514850"/>
            <a:ext cx="1740098" cy="514350"/>
          </a:xfrm>
          <a:prstGeom prst="rect">
            <a:avLst/>
          </a:prstGeom>
          <a:solidFill>
            <a:srgbClr val="EF9F2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4" name="Google Shape;214;p7"/>
          <p:cNvSpPr/>
          <p:nvPr/>
        </p:nvSpPr>
        <p:spPr>
          <a:xfrm>
            <a:off x="14973300" y="4514850"/>
            <a:ext cx="2362200" cy="552450"/>
          </a:xfrm>
          <a:prstGeom prst="rect">
            <a:avLst/>
          </a:prstGeom>
          <a:noFill/>
          <a:ln>
            <a:noFill/>
          </a:ln>
        </p:spPr>
        <p:txBody>
          <a:bodyPr spcFirstLastPara="1" wrap="square" lIns="25400" tIns="25400" rIns="25400" bIns="25400" anchor="t" anchorCtr="0">
            <a:normAutofit/>
          </a:bodyPr>
          <a:lstStyle/>
          <a:p>
            <a:pPr marL="0" marR="0" lvl="0" indent="0" algn="r" rtl="0">
              <a:spcBef>
                <a:spcPts val="0"/>
              </a:spcBef>
              <a:spcAft>
                <a:spcPts val="0"/>
              </a:spcAft>
              <a:buClr>
                <a:srgbClr val="1C1B1A"/>
              </a:buClr>
              <a:buSzPts val="3000"/>
              <a:buFont typeface="Georgia"/>
              <a:buNone/>
            </a:pPr>
            <a:r>
              <a:rPr lang="en-US" sz="3000" b="1">
                <a:solidFill>
                  <a:srgbClr val="1C1B1A"/>
                </a:solidFill>
                <a:latin typeface="Georgia"/>
                <a:ea typeface="Georgia"/>
                <a:cs typeface="Georgia"/>
                <a:sym typeface="Georgia"/>
              </a:rPr>
              <a:t>794 </a:t>
            </a:r>
            <a:r>
              <a:rPr lang="en-US" sz="1800">
                <a:solidFill>
                  <a:srgbClr val="807C76"/>
                </a:solidFill>
                <a:latin typeface="Georgia"/>
                <a:ea typeface="Georgia"/>
                <a:cs typeface="Georgia"/>
                <a:sym typeface="Georgia"/>
              </a:rPr>
              <a:t>17.9%</a:t>
            </a:r>
            <a:endParaRPr sz="3000">
              <a:solidFill>
                <a:schemeClr val="dk1"/>
              </a:solidFill>
              <a:latin typeface="Calibri"/>
              <a:ea typeface="Calibri"/>
              <a:cs typeface="Calibri"/>
              <a:sym typeface="Calibri"/>
            </a:endParaRPr>
          </a:p>
        </p:txBody>
      </p:sp>
      <p:sp>
        <p:nvSpPr>
          <p:cNvPr id="215" name="Google Shape;215;p7"/>
          <p:cNvSpPr/>
          <p:nvPr/>
        </p:nvSpPr>
        <p:spPr>
          <a:xfrm>
            <a:off x="16692116" y="6362700"/>
            <a:ext cx="1100584" cy="2952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665"/>
              <a:buFont typeface="Courier New"/>
              <a:buNone/>
            </a:pPr>
            <a:r>
              <a:rPr lang="en-US" sz="1665">
                <a:solidFill>
                  <a:srgbClr val="807C76"/>
                </a:solidFill>
                <a:latin typeface="Courier New"/>
                <a:ea typeface="Courier New"/>
                <a:cs typeface="Courier New"/>
                <a:sym typeface="Courier New"/>
              </a:rPr>
              <a:t>07/19</a:t>
            </a:r>
            <a:endParaRPr sz="1665">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Shape 220"/>
        <p:cNvGrpSpPr/>
        <p:nvPr/>
      </p:nvGrpSpPr>
      <p:grpSpPr>
        <a:xfrm>
          <a:off x="0" y="0"/>
          <a:ext cx="0" cy="0"/>
          <a:chOff x="0" y="0"/>
          <a:chExt cx="0" cy="0"/>
        </a:xfrm>
      </p:grpSpPr>
      <p:sp>
        <p:nvSpPr>
          <p:cNvPr id="221" name="Google Shape;221;p8"/>
          <p:cNvSpPr/>
          <p:nvPr/>
        </p:nvSpPr>
        <p:spPr>
          <a:xfrm>
            <a:off x="952500" y="1047006"/>
            <a:ext cx="533400" cy="19050"/>
          </a:xfrm>
          <a:prstGeom prst="rect">
            <a:avLst/>
          </a:prstGeom>
          <a:solidFill>
            <a:srgbClr val="4B484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2" name="Google Shape;222;p8"/>
          <p:cNvSpPr/>
          <p:nvPr/>
        </p:nvSpPr>
        <p:spPr>
          <a:xfrm>
            <a:off x="1657350" y="952500"/>
            <a:ext cx="4408327" cy="2952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665"/>
              <a:buFont typeface="Courier New"/>
              <a:buNone/>
            </a:pPr>
            <a:r>
              <a:rPr lang="en-US" sz="1665">
                <a:solidFill>
                  <a:srgbClr val="807C76"/>
                </a:solidFill>
                <a:latin typeface="Courier New"/>
                <a:ea typeface="Courier New"/>
                <a:cs typeface="Courier New"/>
                <a:sym typeface="Courier New"/>
              </a:rPr>
              <a:t>07 · EDA — DISTRIBUTIONS</a:t>
            </a:r>
            <a:endParaRPr sz="1665">
              <a:solidFill>
                <a:schemeClr val="dk1"/>
              </a:solidFill>
              <a:latin typeface="Calibri"/>
              <a:ea typeface="Calibri"/>
              <a:cs typeface="Calibri"/>
              <a:sym typeface="Calibri"/>
            </a:endParaRPr>
          </a:p>
        </p:txBody>
      </p:sp>
      <p:sp>
        <p:nvSpPr>
          <p:cNvPr id="223" name="Google Shape;223;p8"/>
          <p:cNvSpPr/>
          <p:nvPr/>
        </p:nvSpPr>
        <p:spPr>
          <a:xfrm>
            <a:off x="952500" y="1704975"/>
            <a:ext cx="16874490" cy="666750"/>
          </a:xfrm>
          <a:prstGeom prst="rect">
            <a:avLst/>
          </a:prstGeom>
          <a:noFill/>
          <a:ln>
            <a:noFill/>
          </a:ln>
        </p:spPr>
        <p:txBody>
          <a:bodyPr spcFirstLastPara="1" wrap="square" lIns="25400" tIns="25400" rIns="25400" bIns="25400" anchor="t" anchorCtr="0">
            <a:normAutofit/>
          </a:bodyPr>
          <a:lstStyle/>
          <a:p>
            <a:pPr marL="0" marR="0" lvl="0" indent="0" algn="l" rtl="0">
              <a:lnSpc>
                <a:spcPct val="84000"/>
              </a:lnSpc>
              <a:spcBef>
                <a:spcPts val="0"/>
              </a:spcBef>
              <a:spcAft>
                <a:spcPts val="0"/>
              </a:spcAft>
              <a:buClr>
                <a:srgbClr val="1C1B1A"/>
              </a:buClr>
              <a:buSzPts val="4440"/>
              <a:buFont typeface="Georgia"/>
              <a:buNone/>
            </a:pPr>
            <a:r>
              <a:rPr lang="en-US" sz="4440" b="1">
                <a:solidFill>
                  <a:srgbClr val="1C1B1A"/>
                </a:solidFill>
                <a:latin typeface="Georgia"/>
                <a:ea typeface="Georgia"/>
                <a:cs typeface="Georgia"/>
                <a:sym typeface="Georgia"/>
              </a:rPr>
              <a:t>Approved curricular units separate the classes</a:t>
            </a:r>
            <a:endParaRPr sz="4440">
              <a:solidFill>
                <a:schemeClr val="dk1"/>
              </a:solidFill>
              <a:latin typeface="Calibri"/>
              <a:ea typeface="Calibri"/>
              <a:cs typeface="Calibri"/>
              <a:sym typeface="Calibri"/>
            </a:endParaRPr>
          </a:p>
        </p:txBody>
      </p:sp>
      <p:sp>
        <p:nvSpPr>
          <p:cNvPr id="224" name="Google Shape;224;p8"/>
          <p:cNvSpPr/>
          <p:nvPr/>
        </p:nvSpPr>
        <p:spPr>
          <a:xfrm>
            <a:off x="952500" y="2638425"/>
            <a:ext cx="8401943" cy="6315075"/>
          </a:xfrm>
          <a:prstGeom prst="rect">
            <a:avLst/>
          </a:prstGeom>
          <a:solidFill>
            <a:srgbClr val="FFFFFF"/>
          </a:solidFill>
          <a:ln w="9525" cap="flat" cmpd="sng">
            <a:solidFill>
              <a:srgbClr val="D9D3C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25" name="Google Shape;225;p8" descr="preencoded.png"/>
          <p:cNvPicPr preferRelativeResize="0"/>
          <p:nvPr/>
        </p:nvPicPr>
        <p:blipFill rotWithShape="1">
          <a:blip r:embed="rId3">
            <a:alphaModFix/>
          </a:blip>
          <a:srcRect/>
          <a:stretch/>
        </p:blipFill>
        <p:spPr>
          <a:xfrm>
            <a:off x="1114425" y="2842766"/>
            <a:ext cx="8078093" cy="5906244"/>
          </a:xfrm>
          <a:prstGeom prst="rect">
            <a:avLst/>
          </a:prstGeom>
          <a:noFill/>
          <a:ln>
            <a:noFill/>
          </a:ln>
        </p:spPr>
      </p:pic>
      <p:sp>
        <p:nvSpPr>
          <p:cNvPr id="226" name="Google Shape;226;p8"/>
          <p:cNvSpPr/>
          <p:nvPr/>
        </p:nvSpPr>
        <p:spPr>
          <a:xfrm>
            <a:off x="9697343" y="2638425"/>
            <a:ext cx="7867302" cy="22860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4B4845"/>
              </a:buClr>
              <a:buSzPts val="1248"/>
              <a:buFont typeface="Courier New"/>
              <a:buNone/>
            </a:pPr>
            <a:r>
              <a:rPr lang="en-US" sz="1249">
                <a:solidFill>
                  <a:srgbClr val="4B4845"/>
                </a:solidFill>
                <a:latin typeface="Courier New"/>
                <a:ea typeface="Courier New"/>
                <a:cs typeface="Courier New"/>
                <a:sym typeface="Courier New"/>
              </a:rPr>
              <a:t>SPEARMAN Ρ VS TARGET (TOP 9 BY |Ρ|)</a:t>
            </a:r>
            <a:endParaRPr sz="1249">
              <a:solidFill>
                <a:schemeClr val="dk1"/>
              </a:solidFill>
              <a:latin typeface="Calibri"/>
              <a:ea typeface="Calibri"/>
              <a:cs typeface="Calibri"/>
              <a:sym typeface="Calibri"/>
            </a:endParaRPr>
          </a:p>
        </p:txBody>
      </p:sp>
      <p:sp>
        <p:nvSpPr>
          <p:cNvPr id="227" name="Google Shape;227;p8"/>
          <p:cNvSpPr/>
          <p:nvPr/>
        </p:nvSpPr>
        <p:spPr>
          <a:xfrm>
            <a:off x="9697343" y="3524250"/>
            <a:ext cx="6013103" cy="19050"/>
          </a:xfrm>
          <a:prstGeom prst="rect">
            <a:avLst/>
          </a:prstGeom>
          <a:solidFill>
            <a:srgbClr val="1C1B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8" name="Google Shape;228;p8"/>
          <p:cNvSpPr/>
          <p:nvPr/>
        </p:nvSpPr>
        <p:spPr>
          <a:xfrm>
            <a:off x="9906893" y="3114675"/>
            <a:ext cx="5774396" cy="276225"/>
          </a:xfrm>
          <a:prstGeom prst="rect">
            <a:avLst/>
          </a:prstGeom>
          <a:noFill/>
          <a:ln>
            <a:noFill/>
          </a:ln>
        </p:spPr>
        <p:txBody>
          <a:bodyPr spcFirstLastPara="1" wrap="square" lIns="25400" tIns="25400" rIns="25400" bIns="25400" anchor="ctr" anchorCtr="0">
            <a:normAutofit/>
          </a:bodyPr>
          <a:lstStyle/>
          <a:p>
            <a:pPr marL="0" marR="0" lvl="0" indent="0" algn="l" rtl="0">
              <a:lnSpc>
                <a:spcPct val="90000"/>
              </a:lnSpc>
              <a:spcBef>
                <a:spcPts val="0"/>
              </a:spcBef>
              <a:spcAft>
                <a:spcPts val="0"/>
              </a:spcAft>
              <a:buClr>
                <a:srgbClr val="807C76"/>
              </a:buClr>
              <a:buSzPts val="1526"/>
              <a:buFont typeface="Arial"/>
              <a:buNone/>
            </a:pPr>
            <a:r>
              <a:rPr lang="en-US" sz="1526" b="1">
                <a:solidFill>
                  <a:srgbClr val="807C76"/>
                </a:solidFill>
                <a:latin typeface="Arial"/>
                <a:ea typeface="Arial"/>
                <a:cs typeface="Arial"/>
                <a:sym typeface="Arial"/>
              </a:rPr>
              <a:t>FEATURE</a:t>
            </a:r>
            <a:endParaRPr sz="1526">
              <a:solidFill>
                <a:schemeClr val="dk1"/>
              </a:solidFill>
              <a:latin typeface="Calibri"/>
              <a:ea typeface="Calibri"/>
              <a:cs typeface="Calibri"/>
              <a:sym typeface="Calibri"/>
            </a:endParaRPr>
          </a:p>
        </p:txBody>
      </p:sp>
      <p:sp>
        <p:nvSpPr>
          <p:cNvPr id="229" name="Google Shape;229;p8"/>
          <p:cNvSpPr/>
          <p:nvPr/>
        </p:nvSpPr>
        <p:spPr>
          <a:xfrm>
            <a:off x="15710446" y="3524250"/>
            <a:ext cx="1625203" cy="19050"/>
          </a:xfrm>
          <a:prstGeom prst="rect">
            <a:avLst/>
          </a:prstGeom>
          <a:solidFill>
            <a:srgbClr val="1C1B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0" name="Google Shape;230;p8"/>
          <p:cNvSpPr/>
          <p:nvPr/>
        </p:nvSpPr>
        <p:spPr>
          <a:xfrm>
            <a:off x="15843796" y="3114675"/>
            <a:ext cx="1282303" cy="276225"/>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807C76"/>
              </a:buClr>
              <a:buSzPts val="1526"/>
              <a:buFont typeface="Arial"/>
              <a:buNone/>
            </a:pPr>
            <a:r>
              <a:rPr lang="en-US" sz="1526" b="1">
                <a:solidFill>
                  <a:srgbClr val="807C76"/>
                </a:solidFill>
                <a:latin typeface="Arial"/>
                <a:ea typeface="Arial"/>
                <a:cs typeface="Arial"/>
                <a:sym typeface="Arial"/>
              </a:rPr>
              <a:t>Ρ</a:t>
            </a:r>
            <a:endParaRPr sz="1526">
              <a:solidFill>
                <a:schemeClr val="dk1"/>
              </a:solidFill>
              <a:latin typeface="Calibri"/>
              <a:ea typeface="Calibri"/>
              <a:cs typeface="Calibri"/>
              <a:sym typeface="Calibri"/>
            </a:endParaRPr>
          </a:p>
        </p:txBody>
      </p:sp>
      <p:sp>
        <p:nvSpPr>
          <p:cNvPr id="231" name="Google Shape;231;p8"/>
          <p:cNvSpPr/>
          <p:nvPr/>
        </p:nvSpPr>
        <p:spPr>
          <a:xfrm>
            <a:off x="9697343" y="3543300"/>
            <a:ext cx="6013103" cy="604838"/>
          </a:xfrm>
          <a:prstGeom prst="rect">
            <a:avLst/>
          </a:prstGeom>
          <a:solidFill>
            <a:srgbClr val="1D9E75">
              <a:alpha val="7843"/>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2" name="Google Shape;232;p8"/>
          <p:cNvSpPr/>
          <p:nvPr/>
        </p:nvSpPr>
        <p:spPr>
          <a:xfrm>
            <a:off x="9697343" y="4138613"/>
            <a:ext cx="6013103"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3" name="Google Shape;233;p8"/>
          <p:cNvSpPr/>
          <p:nvPr/>
        </p:nvSpPr>
        <p:spPr>
          <a:xfrm>
            <a:off x="9906893" y="3714750"/>
            <a:ext cx="5774396" cy="290513"/>
          </a:xfrm>
          <a:prstGeom prst="rect">
            <a:avLst/>
          </a:prstGeom>
          <a:noFill/>
          <a:ln>
            <a:noFill/>
          </a:ln>
        </p:spPr>
        <p:txBody>
          <a:bodyPr spcFirstLastPara="1" wrap="square" lIns="25400" tIns="25400" rIns="25400" bIns="25400" anchor="ctr" anchorCtr="0">
            <a:normAutofit/>
          </a:bodyPr>
          <a:lstStyle/>
          <a:p>
            <a:pPr marL="0" marR="0" lvl="0" indent="0" algn="l" rtl="0">
              <a:spcBef>
                <a:spcPts val="0"/>
              </a:spcBef>
              <a:spcAft>
                <a:spcPts val="0"/>
              </a:spcAft>
              <a:buClr>
                <a:srgbClr val="1C1B1A"/>
              </a:buClr>
              <a:buSzPts val="1500"/>
              <a:buFont typeface="Arial"/>
              <a:buNone/>
            </a:pPr>
            <a:r>
              <a:rPr lang="en-US" sz="1500" b="1">
                <a:solidFill>
                  <a:srgbClr val="1C1B1A"/>
                </a:solidFill>
                <a:latin typeface="Arial"/>
                <a:ea typeface="Arial"/>
                <a:cs typeface="Arial"/>
                <a:sym typeface="Arial"/>
              </a:rPr>
              <a:t>Curricular units 2nd sem (approved)</a:t>
            </a:r>
            <a:endParaRPr sz="1500">
              <a:solidFill>
                <a:schemeClr val="dk1"/>
              </a:solidFill>
              <a:latin typeface="Calibri"/>
              <a:ea typeface="Calibri"/>
              <a:cs typeface="Calibri"/>
              <a:sym typeface="Calibri"/>
            </a:endParaRPr>
          </a:p>
        </p:txBody>
      </p:sp>
      <p:sp>
        <p:nvSpPr>
          <p:cNvPr id="234" name="Google Shape;234;p8"/>
          <p:cNvSpPr/>
          <p:nvPr/>
        </p:nvSpPr>
        <p:spPr>
          <a:xfrm>
            <a:off x="15710446" y="3543300"/>
            <a:ext cx="1625203" cy="604838"/>
          </a:xfrm>
          <a:prstGeom prst="rect">
            <a:avLst/>
          </a:prstGeom>
          <a:solidFill>
            <a:srgbClr val="1D9E75">
              <a:alpha val="7843"/>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5" name="Google Shape;235;p8"/>
          <p:cNvSpPr/>
          <p:nvPr/>
        </p:nvSpPr>
        <p:spPr>
          <a:xfrm>
            <a:off x="15710446" y="4138613"/>
            <a:ext cx="1625203"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6" name="Google Shape;236;p8"/>
          <p:cNvSpPr/>
          <p:nvPr/>
        </p:nvSpPr>
        <p:spPr>
          <a:xfrm>
            <a:off x="15843796" y="3714750"/>
            <a:ext cx="1282303" cy="290513"/>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1650"/>
              <a:buFont typeface="Arial"/>
              <a:buNone/>
            </a:pPr>
            <a:r>
              <a:rPr lang="en-US" sz="1650" b="1">
                <a:solidFill>
                  <a:srgbClr val="1C1B1A"/>
                </a:solidFill>
                <a:latin typeface="Arial"/>
                <a:ea typeface="Arial"/>
                <a:cs typeface="Arial"/>
                <a:sym typeface="Arial"/>
              </a:rPr>
              <a:t>+0.65</a:t>
            </a:r>
            <a:endParaRPr sz="1650">
              <a:solidFill>
                <a:schemeClr val="dk1"/>
              </a:solidFill>
              <a:latin typeface="Calibri"/>
              <a:ea typeface="Calibri"/>
              <a:cs typeface="Calibri"/>
              <a:sym typeface="Calibri"/>
            </a:endParaRPr>
          </a:p>
        </p:txBody>
      </p:sp>
      <p:sp>
        <p:nvSpPr>
          <p:cNvPr id="237" name="Google Shape;237;p8"/>
          <p:cNvSpPr/>
          <p:nvPr/>
        </p:nvSpPr>
        <p:spPr>
          <a:xfrm>
            <a:off x="9697343" y="4738688"/>
            <a:ext cx="6013103"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8" name="Google Shape;238;p8"/>
          <p:cNvSpPr/>
          <p:nvPr/>
        </p:nvSpPr>
        <p:spPr>
          <a:xfrm>
            <a:off x="9906893" y="4319588"/>
            <a:ext cx="5774396" cy="285750"/>
          </a:xfrm>
          <a:prstGeom prst="rect">
            <a:avLst/>
          </a:prstGeom>
          <a:noFill/>
          <a:ln>
            <a:noFill/>
          </a:ln>
        </p:spPr>
        <p:txBody>
          <a:bodyPr spcFirstLastPara="1" wrap="square" lIns="25400" tIns="25400" rIns="25400" bIns="25400" anchor="ctr" anchorCtr="0">
            <a:normAutofit/>
          </a:bodyPr>
          <a:lstStyle/>
          <a:p>
            <a:pPr marL="0" marR="0" lvl="0" indent="0" algn="l" rtl="0">
              <a:spcBef>
                <a:spcPts val="0"/>
              </a:spcBef>
              <a:spcAft>
                <a:spcPts val="0"/>
              </a:spcAft>
              <a:buClr>
                <a:srgbClr val="1C1B1A"/>
              </a:buClr>
              <a:buSzPts val="1500"/>
              <a:buFont typeface="Arial"/>
              <a:buNone/>
            </a:pPr>
            <a:r>
              <a:rPr lang="en-US" sz="1500">
                <a:solidFill>
                  <a:srgbClr val="1C1B1A"/>
                </a:solidFill>
                <a:latin typeface="Arial"/>
                <a:ea typeface="Arial"/>
                <a:cs typeface="Arial"/>
                <a:sym typeface="Arial"/>
              </a:rPr>
              <a:t>Curricular units 1st sem (approved)</a:t>
            </a:r>
            <a:endParaRPr sz="1500">
              <a:solidFill>
                <a:schemeClr val="dk1"/>
              </a:solidFill>
              <a:latin typeface="Calibri"/>
              <a:ea typeface="Calibri"/>
              <a:cs typeface="Calibri"/>
              <a:sym typeface="Calibri"/>
            </a:endParaRPr>
          </a:p>
        </p:txBody>
      </p:sp>
      <p:sp>
        <p:nvSpPr>
          <p:cNvPr id="239" name="Google Shape;239;p8"/>
          <p:cNvSpPr/>
          <p:nvPr/>
        </p:nvSpPr>
        <p:spPr>
          <a:xfrm>
            <a:off x="15710446" y="4738688"/>
            <a:ext cx="1625203"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0" name="Google Shape;240;p8"/>
          <p:cNvSpPr/>
          <p:nvPr/>
        </p:nvSpPr>
        <p:spPr>
          <a:xfrm>
            <a:off x="15843796" y="4319588"/>
            <a:ext cx="1282303" cy="28575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1650"/>
              <a:buFont typeface="Arial"/>
              <a:buNone/>
            </a:pPr>
            <a:r>
              <a:rPr lang="en-US" sz="1650">
                <a:solidFill>
                  <a:srgbClr val="1C1B1A"/>
                </a:solidFill>
                <a:latin typeface="Arial"/>
                <a:ea typeface="Arial"/>
                <a:cs typeface="Arial"/>
                <a:sym typeface="Arial"/>
              </a:rPr>
              <a:t>+0.59</a:t>
            </a:r>
            <a:endParaRPr sz="1650">
              <a:solidFill>
                <a:schemeClr val="dk1"/>
              </a:solidFill>
              <a:latin typeface="Calibri"/>
              <a:ea typeface="Calibri"/>
              <a:cs typeface="Calibri"/>
              <a:sym typeface="Calibri"/>
            </a:endParaRPr>
          </a:p>
        </p:txBody>
      </p:sp>
      <p:sp>
        <p:nvSpPr>
          <p:cNvPr id="241" name="Google Shape;241;p8"/>
          <p:cNvSpPr/>
          <p:nvPr/>
        </p:nvSpPr>
        <p:spPr>
          <a:xfrm>
            <a:off x="9697343" y="5338763"/>
            <a:ext cx="6013103"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2" name="Google Shape;242;p8"/>
          <p:cNvSpPr/>
          <p:nvPr/>
        </p:nvSpPr>
        <p:spPr>
          <a:xfrm>
            <a:off x="9906893" y="4919663"/>
            <a:ext cx="5774396" cy="285750"/>
          </a:xfrm>
          <a:prstGeom prst="rect">
            <a:avLst/>
          </a:prstGeom>
          <a:noFill/>
          <a:ln>
            <a:noFill/>
          </a:ln>
        </p:spPr>
        <p:txBody>
          <a:bodyPr spcFirstLastPara="1" wrap="square" lIns="25400" tIns="25400" rIns="25400" bIns="25400" anchor="ctr" anchorCtr="0">
            <a:normAutofit/>
          </a:bodyPr>
          <a:lstStyle/>
          <a:p>
            <a:pPr marL="0" marR="0" lvl="0" indent="0" algn="l" rtl="0">
              <a:spcBef>
                <a:spcPts val="0"/>
              </a:spcBef>
              <a:spcAft>
                <a:spcPts val="0"/>
              </a:spcAft>
              <a:buClr>
                <a:srgbClr val="1C1B1A"/>
              </a:buClr>
              <a:buSzPts val="1500"/>
              <a:buFont typeface="Arial"/>
              <a:buNone/>
            </a:pPr>
            <a:r>
              <a:rPr lang="en-US" sz="1500">
                <a:solidFill>
                  <a:srgbClr val="1C1B1A"/>
                </a:solidFill>
                <a:latin typeface="Arial"/>
                <a:ea typeface="Arial"/>
                <a:cs typeface="Arial"/>
                <a:sym typeface="Arial"/>
              </a:rPr>
              <a:t>Curricular units 2nd sem (grade)</a:t>
            </a:r>
            <a:endParaRPr sz="1500">
              <a:solidFill>
                <a:schemeClr val="dk1"/>
              </a:solidFill>
              <a:latin typeface="Calibri"/>
              <a:ea typeface="Calibri"/>
              <a:cs typeface="Calibri"/>
              <a:sym typeface="Calibri"/>
            </a:endParaRPr>
          </a:p>
        </p:txBody>
      </p:sp>
      <p:sp>
        <p:nvSpPr>
          <p:cNvPr id="243" name="Google Shape;243;p8"/>
          <p:cNvSpPr/>
          <p:nvPr/>
        </p:nvSpPr>
        <p:spPr>
          <a:xfrm>
            <a:off x="15710446" y="5338763"/>
            <a:ext cx="1625203"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4" name="Google Shape;244;p8"/>
          <p:cNvSpPr/>
          <p:nvPr/>
        </p:nvSpPr>
        <p:spPr>
          <a:xfrm>
            <a:off x="15843796" y="4919663"/>
            <a:ext cx="1282303" cy="28575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1650"/>
              <a:buFont typeface="Arial"/>
              <a:buNone/>
            </a:pPr>
            <a:r>
              <a:rPr lang="en-US" sz="1650">
                <a:solidFill>
                  <a:srgbClr val="1C1B1A"/>
                </a:solidFill>
                <a:latin typeface="Arial"/>
                <a:ea typeface="Arial"/>
                <a:cs typeface="Arial"/>
                <a:sym typeface="Arial"/>
              </a:rPr>
              <a:t>+0.56</a:t>
            </a:r>
            <a:endParaRPr sz="1650">
              <a:solidFill>
                <a:schemeClr val="dk1"/>
              </a:solidFill>
              <a:latin typeface="Calibri"/>
              <a:ea typeface="Calibri"/>
              <a:cs typeface="Calibri"/>
              <a:sym typeface="Calibri"/>
            </a:endParaRPr>
          </a:p>
        </p:txBody>
      </p:sp>
      <p:sp>
        <p:nvSpPr>
          <p:cNvPr id="245" name="Google Shape;245;p8"/>
          <p:cNvSpPr/>
          <p:nvPr/>
        </p:nvSpPr>
        <p:spPr>
          <a:xfrm>
            <a:off x="9697343" y="5938838"/>
            <a:ext cx="6013103"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6" name="Google Shape;246;p8"/>
          <p:cNvSpPr/>
          <p:nvPr/>
        </p:nvSpPr>
        <p:spPr>
          <a:xfrm>
            <a:off x="9906893" y="5519738"/>
            <a:ext cx="5774396" cy="285750"/>
          </a:xfrm>
          <a:prstGeom prst="rect">
            <a:avLst/>
          </a:prstGeom>
          <a:noFill/>
          <a:ln>
            <a:noFill/>
          </a:ln>
        </p:spPr>
        <p:txBody>
          <a:bodyPr spcFirstLastPara="1" wrap="square" lIns="25400" tIns="25400" rIns="25400" bIns="25400" anchor="ctr" anchorCtr="0">
            <a:normAutofit/>
          </a:bodyPr>
          <a:lstStyle/>
          <a:p>
            <a:pPr marL="0" marR="0" lvl="0" indent="0" algn="l" rtl="0">
              <a:spcBef>
                <a:spcPts val="0"/>
              </a:spcBef>
              <a:spcAft>
                <a:spcPts val="0"/>
              </a:spcAft>
              <a:buClr>
                <a:srgbClr val="1C1B1A"/>
              </a:buClr>
              <a:buSzPts val="1500"/>
              <a:buFont typeface="Arial"/>
              <a:buNone/>
            </a:pPr>
            <a:r>
              <a:rPr lang="en-US" sz="1500">
                <a:solidFill>
                  <a:srgbClr val="1C1B1A"/>
                </a:solidFill>
                <a:latin typeface="Arial"/>
                <a:ea typeface="Arial"/>
                <a:cs typeface="Arial"/>
                <a:sym typeface="Arial"/>
              </a:rPr>
              <a:t>Curricular units 1st sem (grade)</a:t>
            </a:r>
            <a:endParaRPr sz="1500">
              <a:solidFill>
                <a:schemeClr val="dk1"/>
              </a:solidFill>
              <a:latin typeface="Calibri"/>
              <a:ea typeface="Calibri"/>
              <a:cs typeface="Calibri"/>
              <a:sym typeface="Calibri"/>
            </a:endParaRPr>
          </a:p>
        </p:txBody>
      </p:sp>
      <p:sp>
        <p:nvSpPr>
          <p:cNvPr id="247" name="Google Shape;247;p8"/>
          <p:cNvSpPr/>
          <p:nvPr/>
        </p:nvSpPr>
        <p:spPr>
          <a:xfrm>
            <a:off x="15710446" y="5938838"/>
            <a:ext cx="1625203"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8" name="Google Shape;248;p8"/>
          <p:cNvSpPr/>
          <p:nvPr/>
        </p:nvSpPr>
        <p:spPr>
          <a:xfrm>
            <a:off x="15843796" y="5519738"/>
            <a:ext cx="1282303" cy="28575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1650"/>
              <a:buFont typeface="Arial"/>
              <a:buNone/>
            </a:pPr>
            <a:r>
              <a:rPr lang="en-US" sz="1650">
                <a:solidFill>
                  <a:srgbClr val="1C1B1A"/>
                </a:solidFill>
                <a:latin typeface="Arial"/>
                <a:ea typeface="Arial"/>
                <a:cs typeface="Arial"/>
                <a:sym typeface="Arial"/>
              </a:rPr>
              <a:t>+0.49</a:t>
            </a:r>
            <a:endParaRPr sz="1650">
              <a:solidFill>
                <a:schemeClr val="dk1"/>
              </a:solidFill>
              <a:latin typeface="Calibri"/>
              <a:ea typeface="Calibri"/>
              <a:cs typeface="Calibri"/>
              <a:sym typeface="Calibri"/>
            </a:endParaRPr>
          </a:p>
        </p:txBody>
      </p:sp>
      <p:sp>
        <p:nvSpPr>
          <p:cNvPr id="249" name="Google Shape;249;p8"/>
          <p:cNvSpPr/>
          <p:nvPr/>
        </p:nvSpPr>
        <p:spPr>
          <a:xfrm>
            <a:off x="9697343" y="6538913"/>
            <a:ext cx="6013103"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0" name="Google Shape;250;p8"/>
          <p:cNvSpPr/>
          <p:nvPr/>
        </p:nvSpPr>
        <p:spPr>
          <a:xfrm>
            <a:off x="9906893" y="6119813"/>
            <a:ext cx="5774396" cy="285750"/>
          </a:xfrm>
          <a:prstGeom prst="rect">
            <a:avLst/>
          </a:prstGeom>
          <a:noFill/>
          <a:ln>
            <a:noFill/>
          </a:ln>
        </p:spPr>
        <p:txBody>
          <a:bodyPr spcFirstLastPara="1" wrap="square" lIns="25400" tIns="25400" rIns="25400" bIns="25400" anchor="ctr" anchorCtr="0">
            <a:normAutofit/>
          </a:bodyPr>
          <a:lstStyle/>
          <a:p>
            <a:pPr marL="0" marR="0" lvl="0" indent="0" algn="l" rtl="0">
              <a:spcBef>
                <a:spcPts val="0"/>
              </a:spcBef>
              <a:spcAft>
                <a:spcPts val="0"/>
              </a:spcAft>
              <a:buClr>
                <a:srgbClr val="1C1B1A"/>
              </a:buClr>
              <a:buSzPts val="1500"/>
              <a:buFont typeface="Arial"/>
              <a:buNone/>
            </a:pPr>
            <a:r>
              <a:rPr lang="en-US" sz="1500">
                <a:solidFill>
                  <a:srgbClr val="1C1B1A"/>
                </a:solidFill>
                <a:latin typeface="Arial"/>
                <a:ea typeface="Arial"/>
                <a:cs typeface="Arial"/>
                <a:sym typeface="Arial"/>
              </a:rPr>
              <a:t>Tuition fees up to date</a:t>
            </a:r>
            <a:endParaRPr sz="1500">
              <a:solidFill>
                <a:schemeClr val="dk1"/>
              </a:solidFill>
              <a:latin typeface="Calibri"/>
              <a:ea typeface="Calibri"/>
              <a:cs typeface="Calibri"/>
              <a:sym typeface="Calibri"/>
            </a:endParaRPr>
          </a:p>
        </p:txBody>
      </p:sp>
      <p:sp>
        <p:nvSpPr>
          <p:cNvPr id="251" name="Google Shape;251;p8"/>
          <p:cNvSpPr/>
          <p:nvPr/>
        </p:nvSpPr>
        <p:spPr>
          <a:xfrm>
            <a:off x="15710446" y="6538913"/>
            <a:ext cx="1625203"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2" name="Google Shape;252;p8"/>
          <p:cNvSpPr/>
          <p:nvPr/>
        </p:nvSpPr>
        <p:spPr>
          <a:xfrm>
            <a:off x="15843796" y="6119813"/>
            <a:ext cx="1282303" cy="28575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1650"/>
              <a:buFont typeface="Arial"/>
              <a:buNone/>
            </a:pPr>
            <a:r>
              <a:rPr lang="en-US" sz="1650">
                <a:solidFill>
                  <a:srgbClr val="1C1B1A"/>
                </a:solidFill>
                <a:latin typeface="Arial"/>
                <a:ea typeface="Arial"/>
                <a:cs typeface="Arial"/>
                <a:sym typeface="Arial"/>
              </a:rPr>
              <a:t>+0.40</a:t>
            </a:r>
            <a:endParaRPr sz="1650">
              <a:solidFill>
                <a:schemeClr val="dk1"/>
              </a:solidFill>
              <a:latin typeface="Calibri"/>
              <a:ea typeface="Calibri"/>
              <a:cs typeface="Calibri"/>
              <a:sym typeface="Calibri"/>
            </a:endParaRPr>
          </a:p>
        </p:txBody>
      </p:sp>
      <p:sp>
        <p:nvSpPr>
          <p:cNvPr id="253" name="Google Shape;253;p8"/>
          <p:cNvSpPr/>
          <p:nvPr/>
        </p:nvSpPr>
        <p:spPr>
          <a:xfrm>
            <a:off x="9697343" y="7138988"/>
            <a:ext cx="6013103"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4" name="Google Shape;254;p8"/>
          <p:cNvSpPr/>
          <p:nvPr/>
        </p:nvSpPr>
        <p:spPr>
          <a:xfrm>
            <a:off x="9906893" y="6719888"/>
            <a:ext cx="5774396" cy="285750"/>
          </a:xfrm>
          <a:prstGeom prst="rect">
            <a:avLst/>
          </a:prstGeom>
          <a:noFill/>
          <a:ln>
            <a:noFill/>
          </a:ln>
        </p:spPr>
        <p:txBody>
          <a:bodyPr spcFirstLastPara="1" wrap="square" lIns="25400" tIns="25400" rIns="25400" bIns="25400" anchor="ctr" anchorCtr="0">
            <a:normAutofit/>
          </a:bodyPr>
          <a:lstStyle/>
          <a:p>
            <a:pPr marL="0" marR="0" lvl="0" indent="0" algn="l" rtl="0">
              <a:spcBef>
                <a:spcPts val="0"/>
              </a:spcBef>
              <a:spcAft>
                <a:spcPts val="0"/>
              </a:spcAft>
              <a:buClr>
                <a:srgbClr val="1C1B1A"/>
              </a:buClr>
              <a:buSzPts val="1500"/>
              <a:buFont typeface="Arial"/>
              <a:buNone/>
            </a:pPr>
            <a:r>
              <a:rPr lang="en-US" sz="1500">
                <a:solidFill>
                  <a:srgbClr val="1C1B1A"/>
                </a:solidFill>
                <a:latin typeface="Arial"/>
                <a:ea typeface="Arial"/>
                <a:cs typeface="Arial"/>
                <a:sym typeface="Arial"/>
              </a:rPr>
              <a:t>Scholarship holder</a:t>
            </a:r>
            <a:endParaRPr sz="1500">
              <a:solidFill>
                <a:schemeClr val="dk1"/>
              </a:solidFill>
              <a:latin typeface="Calibri"/>
              <a:ea typeface="Calibri"/>
              <a:cs typeface="Calibri"/>
              <a:sym typeface="Calibri"/>
            </a:endParaRPr>
          </a:p>
        </p:txBody>
      </p:sp>
      <p:sp>
        <p:nvSpPr>
          <p:cNvPr id="255" name="Google Shape;255;p8"/>
          <p:cNvSpPr/>
          <p:nvPr/>
        </p:nvSpPr>
        <p:spPr>
          <a:xfrm>
            <a:off x="15710446" y="7138988"/>
            <a:ext cx="1625203"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6" name="Google Shape;256;p8"/>
          <p:cNvSpPr/>
          <p:nvPr/>
        </p:nvSpPr>
        <p:spPr>
          <a:xfrm>
            <a:off x="15843796" y="6719888"/>
            <a:ext cx="1282303" cy="28575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1650"/>
              <a:buFont typeface="Arial"/>
              <a:buNone/>
            </a:pPr>
            <a:r>
              <a:rPr lang="en-US" sz="1650">
                <a:solidFill>
                  <a:srgbClr val="1C1B1A"/>
                </a:solidFill>
                <a:latin typeface="Arial"/>
                <a:ea typeface="Arial"/>
                <a:cs typeface="Arial"/>
                <a:sym typeface="Arial"/>
              </a:rPr>
              <a:t>+0.30</a:t>
            </a:r>
            <a:endParaRPr sz="1650">
              <a:solidFill>
                <a:schemeClr val="dk1"/>
              </a:solidFill>
              <a:latin typeface="Calibri"/>
              <a:ea typeface="Calibri"/>
              <a:cs typeface="Calibri"/>
              <a:sym typeface="Calibri"/>
            </a:endParaRPr>
          </a:p>
        </p:txBody>
      </p:sp>
      <p:sp>
        <p:nvSpPr>
          <p:cNvPr id="257" name="Google Shape;257;p8"/>
          <p:cNvSpPr/>
          <p:nvPr/>
        </p:nvSpPr>
        <p:spPr>
          <a:xfrm>
            <a:off x="9697343" y="7739062"/>
            <a:ext cx="6013103"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8" name="Google Shape;258;p8"/>
          <p:cNvSpPr/>
          <p:nvPr/>
        </p:nvSpPr>
        <p:spPr>
          <a:xfrm>
            <a:off x="9906893" y="7319962"/>
            <a:ext cx="5774396" cy="285750"/>
          </a:xfrm>
          <a:prstGeom prst="rect">
            <a:avLst/>
          </a:prstGeom>
          <a:noFill/>
          <a:ln>
            <a:noFill/>
          </a:ln>
        </p:spPr>
        <p:txBody>
          <a:bodyPr spcFirstLastPara="1" wrap="square" lIns="25400" tIns="25400" rIns="25400" bIns="25400" anchor="ctr" anchorCtr="0">
            <a:normAutofit/>
          </a:bodyPr>
          <a:lstStyle/>
          <a:p>
            <a:pPr marL="0" marR="0" lvl="0" indent="0" algn="l" rtl="0">
              <a:spcBef>
                <a:spcPts val="0"/>
              </a:spcBef>
              <a:spcAft>
                <a:spcPts val="0"/>
              </a:spcAft>
              <a:buClr>
                <a:srgbClr val="1C1B1A"/>
              </a:buClr>
              <a:buSzPts val="1500"/>
              <a:buFont typeface="Arial"/>
              <a:buNone/>
            </a:pPr>
            <a:r>
              <a:rPr lang="en-US" sz="1500">
                <a:solidFill>
                  <a:srgbClr val="1C1B1A"/>
                </a:solidFill>
                <a:latin typeface="Arial"/>
                <a:ea typeface="Arial"/>
                <a:cs typeface="Arial"/>
                <a:sym typeface="Arial"/>
              </a:rPr>
              <a:t>Admission grade</a:t>
            </a:r>
            <a:endParaRPr sz="1500">
              <a:solidFill>
                <a:schemeClr val="dk1"/>
              </a:solidFill>
              <a:latin typeface="Calibri"/>
              <a:ea typeface="Calibri"/>
              <a:cs typeface="Calibri"/>
              <a:sym typeface="Calibri"/>
            </a:endParaRPr>
          </a:p>
        </p:txBody>
      </p:sp>
      <p:sp>
        <p:nvSpPr>
          <p:cNvPr id="259" name="Google Shape;259;p8"/>
          <p:cNvSpPr/>
          <p:nvPr/>
        </p:nvSpPr>
        <p:spPr>
          <a:xfrm>
            <a:off x="15710446" y="7739062"/>
            <a:ext cx="1625203"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0" name="Google Shape;260;p8"/>
          <p:cNvSpPr/>
          <p:nvPr/>
        </p:nvSpPr>
        <p:spPr>
          <a:xfrm>
            <a:off x="15843796" y="7319962"/>
            <a:ext cx="1282303" cy="28575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1650"/>
              <a:buFont typeface="Arial"/>
              <a:buNone/>
            </a:pPr>
            <a:r>
              <a:rPr lang="en-US" sz="1650">
                <a:solidFill>
                  <a:srgbClr val="1C1B1A"/>
                </a:solidFill>
                <a:latin typeface="Arial"/>
                <a:ea typeface="Arial"/>
                <a:cs typeface="Arial"/>
                <a:sym typeface="Arial"/>
              </a:rPr>
              <a:t>+0.12</a:t>
            </a:r>
            <a:endParaRPr sz="1650">
              <a:solidFill>
                <a:schemeClr val="dk1"/>
              </a:solidFill>
              <a:latin typeface="Calibri"/>
              <a:ea typeface="Calibri"/>
              <a:cs typeface="Calibri"/>
              <a:sym typeface="Calibri"/>
            </a:endParaRPr>
          </a:p>
        </p:txBody>
      </p:sp>
      <p:sp>
        <p:nvSpPr>
          <p:cNvPr id="261" name="Google Shape;261;p8"/>
          <p:cNvSpPr/>
          <p:nvPr/>
        </p:nvSpPr>
        <p:spPr>
          <a:xfrm>
            <a:off x="9697343" y="8339137"/>
            <a:ext cx="6013103"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2" name="Google Shape;262;p8"/>
          <p:cNvSpPr/>
          <p:nvPr/>
        </p:nvSpPr>
        <p:spPr>
          <a:xfrm>
            <a:off x="9906893" y="7920038"/>
            <a:ext cx="5774396" cy="285750"/>
          </a:xfrm>
          <a:prstGeom prst="rect">
            <a:avLst/>
          </a:prstGeom>
          <a:noFill/>
          <a:ln>
            <a:noFill/>
          </a:ln>
        </p:spPr>
        <p:txBody>
          <a:bodyPr spcFirstLastPara="1" wrap="square" lIns="25400" tIns="25400" rIns="25400" bIns="25400" anchor="ctr" anchorCtr="0">
            <a:normAutofit/>
          </a:bodyPr>
          <a:lstStyle/>
          <a:p>
            <a:pPr marL="0" marR="0" lvl="0" indent="0" algn="l" rtl="0">
              <a:spcBef>
                <a:spcPts val="0"/>
              </a:spcBef>
              <a:spcAft>
                <a:spcPts val="0"/>
              </a:spcAft>
              <a:buClr>
                <a:srgbClr val="1C1B1A"/>
              </a:buClr>
              <a:buSzPts val="1500"/>
              <a:buFont typeface="Arial"/>
              <a:buNone/>
            </a:pPr>
            <a:r>
              <a:rPr lang="en-US" sz="1500">
                <a:solidFill>
                  <a:srgbClr val="1C1B1A"/>
                </a:solidFill>
                <a:latin typeface="Arial"/>
                <a:ea typeface="Arial"/>
                <a:cs typeface="Arial"/>
                <a:sym typeface="Arial"/>
              </a:rPr>
              <a:t>Debtor</a:t>
            </a:r>
            <a:endParaRPr sz="1500">
              <a:solidFill>
                <a:schemeClr val="dk1"/>
              </a:solidFill>
              <a:latin typeface="Calibri"/>
              <a:ea typeface="Calibri"/>
              <a:cs typeface="Calibri"/>
              <a:sym typeface="Calibri"/>
            </a:endParaRPr>
          </a:p>
        </p:txBody>
      </p:sp>
      <p:sp>
        <p:nvSpPr>
          <p:cNvPr id="263" name="Google Shape;263;p8"/>
          <p:cNvSpPr/>
          <p:nvPr/>
        </p:nvSpPr>
        <p:spPr>
          <a:xfrm>
            <a:off x="15710446" y="8339137"/>
            <a:ext cx="1625203"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4" name="Google Shape;264;p8"/>
          <p:cNvSpPr/>
          <p:nvPr/>
        </p:nvSpPr>
        <p:spPr>
          <a:xfrm>
            <a:off x="15843796" y="7920038"/>
            <a:ext cx="1282303" cy="28575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E24B4A"/>
              </a:buClr>
              <a:buSzPts val="1650"/>
              <a:buFont typeface="Arial"/>
              <a:buNone/>
            </a:pPr>
            <a:r>
              <a:rPr lang="en-US" sz="1650">
                <a:solidFill>
                  <a:srgbClr val="E24B4A"/>
                </a:solidFill>
                <a:latin typeface="Arial"/>
                <a:ea typeface="Arial"/>
                <a:cs typeface="Arial"/>
                <a:sym typeface="Arial"/>
              </a:rPr>
              <a:t>−0.24</a:t>
            </a:r>
            <a:endParaRPr sz="1650">
              <a:solidFill>
                <a:schemeClr val="dk1"/>
              </a:solidFill>
              <a:latin typeface="Calibri"/>
              <a:ea typeface="Calibri"/>
              <a:cs typeface="Calibri"/>
              <a:sym typeface="Calibri"/>
            </a:endParaRPr>
          </a:p>
        </p:txBody>
      </p:sp>
      <p:sp>
        <p:nvSpPr>
          <p:cNvPr id="265" name="Google Shape;265;p8"/>
          <p:cNvSpPr/>
          <p:nvPr/>
        </p:nvSpPr>
        <p:spPr>
          <a:xfrm>
            <a:off x="9697343" y="8939213"/>
            <a:ext cx="6013103"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6" name="Google Shape;266;p8"/>
          <p:cNvSpPr/>
          <p:nvPr/>
        </p:nvSpPr>
        <p:spPr>
          <a:xfrm>
            <a:off x="9906893" y="8520113"/>
            <a:ext cx="5774396" cy="285750"/>
          </a:xfrm>
          <a:prstGeom prst="rect">
            <a:avLst/>
          </a:prstGeom>
          <a:noFill/>
          <a:ln>
            <a:noFill/>
          </a:ln>
        </p:spPr>
        <p:txBody>
          <a:bodyPr spcFirstLastPara="1" wrap="square" lIns="25400" tIns="25400" rIns="25400" bIns="25400" anchor="ctr" anchorCtr="0">
            <a:normAutofit/>
          </a:bodyPr>
          <a:lstStyle/>
          <a:p>
            <a:pPr marL="0" marR="0" lvl="0" indent="0" algn="l" rtl="0">
              <a:spcBef>
                <a:spcPts val="0"/>
              </a:spcBef>
              <a:spcAft>
                <a:spcPts val="0"/>
              </a:spcAft>
              <a:buClr>
                <a:srgbClr val="1C1B1A"/>
              </a:buClr>
              <a:buSzPts val="1500"/>
              <a:buFont typeface="Arial"/>
              <a:buNone/>
            </a:pPr>
            <a:r>
              <a:rPr lang="en-US" sz="1500">
                <a:solidFill>
                  <a:srgbClr val="1C1B1A"/>
                </a:solidFill>
                <a:latin typeface="Arial"/>
                <a:ea typeface="Arial"/>
                <a:cs typeface="Arial"/>
                <a:sym typeface="Arial"/>
              </a:rPr>
              <a:t>Age at enrollment</a:t>
            </a:r>
            <a:endParaRPr sz="1500">
              <a:solidFill>
                <a:schemeClr val="dk1"/>
              </a:solidFill>
              <a:latin typeface="Calibri"/>
              <a:ea typeface="Calibri"/>
              <a:cs typeface="Calibri"/>
              <a:sym typeface="Calibri"/>
            </a:endParaRPr>
          </a:p>
        </p:txBody>
      </p:sp>
      <p:sp>
        <p:nvSpPr>
          <p:cNvPr id="267" name="Google Shape;267;p8"/>
          <p:cNvSpPr/>
          <p:nvPr/>
        </p:nvSpPr>
        <p:spPr>
          <a:xfrm>
            <a:off x="15710446" y="8939213"/>
            <a:ext cx="1625203"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8" name="Google Shape;268;p8"/>
          <p:cNvSpPr/>
          <p:nvPr/>
        </p:nvSpPr>
        <p:spPr>
          <a:xfrm>
            <a:off x="15843796" y="8520113"/>
            <a:ext cx="1282303" cy="28575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E24B4A"/>
              </a:buClr>
              <a:buSzPts val="1650"/>
              <a:buFont typeface="Arial"/>
              <a:buNone/>
            </a:pPr>
            <a:r>
              <a:rPr lang="en-US" sz="1650">
                <a:solidFill>
                  <a:srgbClr val="E24B4A"/>
                </a:solidFill>
                <a:latin typeface="Arial"/>
                <a:ea typeface="Arial"/>
                <a:cs typeface="Arial"/>
                <a:sym typeface="Arial"/>
              </a:rPr>
              <a:t>−0.29</a:t>
            </a:r>
            <a:endParaRPr sz="1650">
              <a:solidFill>
                <a:schemeClr val="dk1"/>
              </a:solidFill>
              <a:latin typeface="Calibri"/>
              <a:ea typeface="Calibri"/>
              <a:cs typeface="Calibri"/>
              <a:sym typeface="Calibri"/>
            </a:endParaRPr>
          </a:p>
        </p:txBody>
      </p:sp>
      <p:sp>
        <p:nvSpPr>
          <p:cNvPr id="269" name="Google Shape;269;p8"/>
          <p:cNvSpPr/>
          <p:nvPr/>
        </p:nvSpPr>
        <p:spPr>
          <a:xfrm>
            <a:off x="918210" y="9319685"/>
            <a:ext cx="16874490" cy="666750"/>
          </a:xfrm>
          <a:prstGeom prst="rect">
            <a:avLst/>
          </a:prstGeom>
          <a:noFill/>
          <a:ln>
            <a:noFill/>
          </a:ln>
        </p:spPr>
        <p:txBody>
          <a:bodyPr spcFirstLastPara="1" wrap="square" lIns="25400" tIns="25400" rIns="25400" bIns="25400" anchor="t" anchorCtr="0">
            <a:normAutofit/>
          </a:bodyPr>
          <a:lstStyle/>
          <a:p>
            <a:pPr marL="0" marR="0" lvl="0" indent="0" algn="l" rtl="0">
              <a:lnSpc>
                <a:spcPct val="120000"/>
              </a:lnSpc>
              <a:spcBef>
                <a:spcPts val="0"/>
              </a:spcBef>
              <a:spcAft>
                <a:spcPts val="0"/>
              </a:spcAft>
              <a:buClr>
                <a:srgbClr val="4B4845"/>
              </a:buClr>
              <a:buSzPts val="1665"/>
              <a:buFont typeface="Arial"/>
              <a:buNone/>
            </a:pPr>
            <a:r>
              <a:rPr lang="en-US" sz="1665" i="1">
                <a:solidFill>
                  <a:srgbClr val="4B4845"/>
                </a:solidFill>
                <a:latin typeface="Arial"/>
                <a:ea typeface="Arial"/>
                <a:cs typeface="Arial"/>
                <a:sym typeface="Arial"/>
              </a:rPr>
              <a:t>Dropout students cluster near zero approved units, while graduates spread across higher values. 2nd-semester approved units has the largest |ρ| ≈ 0.65 — the single strongest monotonic predictor in the dataset.</a:t>
            </a:r>
            <a:endParaRPr sz="1665">
              <a:solidFill>
                <a:schemeClr val="dk1"/>
              </a:solidFill>
              <a:latin typeface="Calibri"/>
              <a:ea typeface="Calibri"/>
              <a:cs typeface="Calibri"/>
              <a:sym typeface="Calibri"/>
            </a:endParaRPr>
          </a:p>
        </p:txBody>
      </p:sp>
      <p:sp>
        <p:nvSpPr>
          <p:cNvPr id="270" name="Google Shape;270;p8"/>
          <p:cNvSpPr/>
          <p:nvPr/>
        </p:nvSpPr>
        <p:spPr>
          <a:xfrm>
            <a:off x="16692116" y="9732436"/>
            <a:ext cx="1100584" cy="2952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665"/>
              <a:buFont typeface="Courier New"/>
              <a:buNone/>
            </a:pPr>
            <a:r>
              <a:rPr lang="en-US" sz="1665">
                <a:solidFill>
                  <a:srgbClr val="807C76"/>
                </a:solidFill>
                <a:latin typeface="Courier New"/>
                <a:ea typeface="Courier New"/>
                <a:cs typeface="Courier New"/>
                <a:sym typeface="Courier New"/>
              </a:rPr>
              <a:t>08/19</a:t>
            </a:r>
            <a:endParaRPr sz="1665">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Shape 275"/>
        <p:cNvGrpSpPr/>
        <p:nvPr/>
      </p:nvGrpSpPr>
      <p:grpSpPr>
        <a:xfrm>
          <a:off x="0" y="0"/>
          <a:ext cx="0" cy="0"/>
          <a:chOff x="0" y="0"/>
          <a:chExt cx="0" cy="0"/>
        </a:xfrm>
      </p:grpSpPr>
      <p:sp>
        <p:nvSpPr>
          <p:cNvPr id="276" name="Google Shape;276;p9"/>
          <p:cNvSpPr/>
          <p:nvPr/>
        </p:nvSpPr>
        <p:spPr>
          <a:xfrm>
            <a:off x="952500" y="1047006"/>
            <a:ext cx="533400" cy="19050"/>
          </a:xfrm>
          <a:prstGeom prst="rect">
            <a:avLst/>
          </a:prstGeom>
          <a:solidFill>
            <a:srgbClr val="4B484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7" name="Google Shape;277;p9"/>
          <p:cNvSpPr/>
          <p:nvPr/>
        </p:nvSpPr>
        <p:spPr>
          <a:xfrm>
            <a:off x="1657350" y="952500"/>
            <a:ext cx="4224646" cy="2952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665"/>
              <a:buFont typeface="Courier New"/>
              <a:buNone/>
            </a:pPr>
            <a:r>
              <a:rPr lang="en-US" sz="1665">
                <a:solidFill>
                  <a:srgbClr val="807C76"/>
                </a:solidFill>
                <a:latin typeface="Courier New"/>
                <a:ea typeface="Courier New"/>
                <a:cs typeface="Courier New"/>
                <a:sym typeface="Courier New"/>
              </a:rPr>
              <a:t>08 · EDA — THREE LENSES</a:t>
            </a:r>
            <a:endParaRPr sz="1665">
              <a:solidFill>
                <a:schemeClr val="dk1"/>
              </a:solidFill>
              <a:latin typeface="Calibri"/>
              <a:ea typeface="Calibri"/>
              <a:cs typeface="Calibri"/>
              <a:sym typeface="Calibri"/>
            </a:endParaRPr>
          </a:p>
        </p:txBody>
      </p:sp>
      <p:sp>
        <p:nvSpPr>
          <p:cNvPr id="278" name="Google Shape;278;p9"/>
          <p:cNvSpPr/>
          <p:nvPr/>
        </p:nvSpPr>
        <p:spPr>
          <a:xfrm>
            <a:off x="952500" y="1704975"/>
            <a:ext cx="16874490" cy="666750"/>
          </a:xfrm>
          <a:prstGeom prst="rect">
            <a:avLst/>
          </a:prstGeom>
          <a:noFill/>
          <a:ln>
            <a:noFill/>
          </a:ln>
        </p:spPr>
        <p:txBody>
          <a:bodyPr spcFirstLastPara="1" wrap="square" lIns="25400" tIns="25400" rIns="25400" bIns="25400" anchor="t" anchorCtr="0">
            <a:normAutofit/>
          </a:bodyPr>
          <a:lstStyle/>
          <a:p>
            <a:pPr marL="0" marR="0" lvl="0" indent="0" algn="l" rtl="0">
              <a:lnSpc>
                <a:spcPct val="84000"/>
              </a:lnSpc>
              <a:spcBef>
                <a:spcPts val="0"/>
              </a:spcBef>
              <a:spcAft>
                <a:spcPts val="0"/>
              </a:spcAft>
              <a:buClr>
                <a:srgbClr val="1C1B1A"/>
              </a:buClr>
              <a:buSzPts val="4440"/>
              <a:buFont typeface="Georgia"/>
              <a:buNone/>
            </a:pPr>
            <a:r>
              <a:rPr lang="en-US" sz="4440" b="1">
                <a:solidFill>
                  <a:srgbClr val="1C1B1A"/>
                </a:solidFill>
                <a:latin typeface="Georgia"/>
                <a:ea typeface="Georgia"/>
                <a:cs typeface="Georgia"/>
                <a:sym typeface="Georgia"/>
              </a:rPr>
              <a:t>Grades, finance, and a 2D projection</a:t>
            </a:r>
            <a:endParaRPr sz="4440">
              <a:solidFill>
                <a:schemeClr val="dk1"/>
              </a:solidFill>
              <a:latin typeface="Calibri"/>
              <a:ea typeface="Calibri"/>
              <a:cs typeface="Calibri"/>
              <a:sym typeface="Calibri"/>
            </a:endParaRPr>
          </a:p>
        </p:txBody>
      </p:sp>
      <p:sp>
        <p:nvSpPr>
          <p:cNvPr id="279" name="Google Shape;279;p9"/>
          <p:cNvSpPr/>
          <p:nvPr/>
        </p:nvSpPr>
        <p:spPr>
          <a:xfrm>
            <a:off x="952500" y="2600325"/>
            <a:ext cx="5441594" cy="22860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4B4845"/>
              </a:buClr>
              <a:buSzPts val="1248"/>
              <a:buFont typeface="Courier New"/>
              <a:buNone/>
            </a:pPr>
            <a:r>
              <a:rPr lang="en-US" sz="1249">
                <a:solidFill>
                  <a:srgbClr val="4B4845"/>
                </a:solidFill>
                <a:latin typeface="Courier New"/>
                <a:ea typeface="Courier New"/>
                <a:cs typeface="Courier New"/>
                <a:sym typeface="Courier New"/>
              </a:rPr>
              <a:t>SEMESTER GRADES BY OUTCOME</a:t>
            </a:r>
            <a:endParaRPr sz="1249">
              <a:solidFill>
                <a:schemeClr val="dk1"/>
              </a:solidFill>
              <a:latin typeface="Calibri"/>
              <a:ea typeface="Calibri"/>
              <a:cs typeface="Calibri"/>
              <a:sym typeface="Calibri"/>
            </a:endParaRPr>
          </a:p>
        </p:txBody>
      </p:sp>
      <p:sp>
        <p:nvSpPr>
          <p:cNvPr id="280" name="Google Shape;280;p9"/>
          <p:cNvSpPr/>
          <p:nvPr/>
        </p:nvSpPr>
        <p:spPr>
          <a:xfrm>
            <a:off x="952500" y="2905125"/>
            <a:ext cx="5283101" cy="4457700"/>
          </a:xfrm>
          <a:prstGeom prst="rect">
            <a:avLst/>
          </a:prstGeom>
          <a:solidFill>
            <a:srgbClr val="FFFFFF"/>
          </a:solidFill>
          <a:ln w="9525" cap="flat" cmpd="sng">
            <a:solidFill>
              <a:srgbClr val="D9D3C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81" name="Google Shape;281;p9" descr="preencoded.png"/>
          <p:cNvPicPr preferRelativeResize="0"/>
          <p:nvPr/>
        </p:nvPicPr>
        <p:blipFill rotWithShape="1">
          <a:blip r:embed="rId3">
            <a:alphaModFix/>
          </a:blip>
          <a:srcRect/>
          <a:stretch/>
        </p:blipFill>
        <p:spPr>
          <a:xfrm>
            <a:off x="1114425" y="4082653"/>
            <a:ext cx="4959251" cy="2102495"/>
          </a:xfrm>
          <a:prstGeom prst="rect">
            <a:avLst/>
          </a:prstGeom>
          <a:noFill/>
          <a:ln>
            <a:noFill/>
          </a:ln>
        </p:spPr>
      </p:pic>
      <p:sp>
        <p:nvSpPr>
          <p:cNvPr id="282" name="Google Shape;282;p9"/>
          <p:cNvSpPr/>
          <p:nvPr/>
        </p:nvSpPr>
        <p:spPr>
          <a:xfrm>
            <a:off x="6502301" y="2600325"/>
            <a:ext cx="5441747" cy="22860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4B4845"/>
              </a:buClr>
              <a:buSzPts val="1248"/>
              <a:buFont typeface="Courier New"/>
              <a:buNone/>
            </a:pPr>
            <a:r>
              <a:rPr lang="en-US" sz="1249">
                <a:solidFill>
                  <a:srgbClr val="4B4845"/>
                </a:solidFill>
                <a:latin typeface="Courier New"/>
                <a:ea typeface="Courier New"/>
                <a:cs typeface="Courier New"/>
                <a:sym typeface="Courier New"/>
              </a:rPr>
              <a:t>FINANCIAL FACTORS VS OUTCOME</a:t>
            </a:r>
            <a:endParaRPr sz="1249">
              <a:solidFill>
                <a:schemeClr val="dk1"/>
              </a:solidFill>
              <a:latin typeface="Calibri"/>
              <a:ea typeface="Calibri"/>
              <a:cs typeface="Calibri"/>
              <a:sym typeface="Calibri"/>
            </a:endParaRPr>
          </a:p>
        </p:txBody>
      </p:sp>
      <p:sp>
        <p:nvSpPr>
          <p:cNvPr id="283" name="Google Shape;283;p9"/>
          <p:cNvSpPr/>
          <p:nvPr/>
        </p:nvSpPr>
        <p:spPr>
          <a:xfrm>
            <a:off x="6502301" y="2905125"/>
            <a:ext cx="5283250" cy="4457700"/>
          </a:xfrm>
          <a:prstGeom prst="rect">
            <a:avLst/>
          </a:prstGeom>
          <a:solidFill>
            <a:srgbClr val="FFFFFF"/>
          </a:solidFill>
          <a:ln w="9525" cap="flat" cmpd="sng">
            <a:solidFill>
              <a:srgbClr val="D9D3C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84" name="Google Shape;284;p9" descr="preencoded.png"/>
          <p:cNvPicPr preferRelativeResize="0"/>
          <p:nvPr/>
        </p:nvPicPr>
        <p:blipFill rotWithShape="1">
          <a:blip r:embed="rId4">
            <a:alphaModFix/>
          </a:blip>
          <a:srcRect/>
          <a:stretch/>
        </p:blipFill>
        <p:spPr>
          <a:xfrm>
            <a:off x="6664226" y="4312890"/>
            <a:ext cx="4959403" cy="1642021"/>
          </a:xfrm>
          <a:prstGeom prst="rect">
            <a:avLst/>
          </a:prstGeom>
          <a:noFill/>
          <a:ln>
            <a:noFill/>
          </a:ln>
        </p:spPr>
      </p:pic>
      <p:sp>
        <p:nvSpPr>
          <p:cNvPr id="285" name="Google Shape;285;p9"/>
          <p:cNvSpPr/>
          <p:nvPr/>
        </p:nvSpPr>
        <p:spPr>
          <a:xfrm>
            <a:off x="12052250" y="2600325"/>
            <a:ext cx="5441594" cy="22860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4B4845"/>
              </a:buClr>
              <a:buSzPts val="1248"/>
              <a:buFont typeface="Courier New"/>
              <a:buNone/>
            </a:pPr>
            <a:r>
              <a:rPr lang="en-US" sz="1249">
                <a:solidFill>
                  <a:srgbClr val="4B4845"/>
                </a:solidFill>
                <a:latin typeface="Courier New"/>
                <a:ea typeface="Courier New"/>
                <a:cs typeface="Courier New"/>
                <a:sym typeface="Courier New"/>
              </a:rPr>
              <a:t>PCA 2D PROJECTION</a:t>
            </a:r>
            <a:endParaRPr sz="1249">
              <a:solidFill>
                <a:schemeClr val="dk1"/>
              </a:solidFill>
              <a:latin typeface="Calibri"/>
              <a:ea typeface="Calibri"/>
              <a:cs typeface="Calibri"/>
              <a:sym typeface="Calibri"/>
            </a:endParaRPr>
          </a:p>
        </p:txBody>
      </p:sp>
      <p:sp>
        <p:nvSpPr>
          <p:cNvPr id="286" name="Google Shape;286;p9"/>
          <p:cNvSpPr/>
          <p:nvPr/>
        </p:nvSpPr>
        <p:spPr>
          <a:xfrm>
            <a:off x="12052250" y="2905125"/>
            <a:ext cx="5283101" cy="4457700"/>
          </a:xfrm>
          <a:prstGeom prst="rect">
            <a:avLst/>
          </a:prstGeom>
          <a:solidFill>
            <a:srgbClr val="FFFFFF"/>
          </a:solidFill>
          <a:ln w="9525" cap="flat" cmpd="sng">
            <a:solidFill>
              <a:srgbClr val="D9D3C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87" name="Google Shape;287;p9" descr="preencoded.png"/>
          <p:cNvPicPr preferRelativeResize="0"/>
          <p:nvPr/>
        </p:nvPicPr>
        <p:blipFill rotWithShape="1">
          <a:blip r:embed="rId5">
            <a:alphaModFix/>
          </a:blip>
          <a:srcRect/>
          <a:stretch/>
        </p:blipFill>
        <p:spPr>
          <a:xfrm>
            <a:off x="12214175" y="3408908"/>
            <a:ext cx="4959251" cy="3449985"/>
          </a:xfrm>
          <a:prstGeom prst="rect">
            <a:avLst/>
          </a:prstGeom>
          <a:noFill/>
          <a:ln>
            <a:noFill/>
          </a:ln>
        </p:spPr>
      </p:pic>
      <p:sp>
        <p:nvSpPr>
          <p:cNvPr id="288" name="Google Shape;288;p9"/>
          <p:cNvSpPr/>
          <p:nvPr/>
        </p:nvSpPr>
        <p:spPr>
          <a:xfrm>
            <a:off x="952500" y="7591425"/>
            <a:ext cx="9637376" cy="22860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4B4845"/>
              </a:buClr>
              <a:buSzPts val="1248"/>
              <a:buFont typeface="Courier New"/>
              <a:buNone/>
            </a:pPr>
            <a:r>
              <a:rPr lang="en-US" sz="1249">
                <a:solidFill>
                  <a:srgbClr val="4B4845"/>
                </a:solidFill>
                <a:latin typeface="Courier New"/>
                <a:ea typeface="Courier New"/>
                <a:cs typeface="Courier New"/>
                <a:sym typeface="Courier New"/>
              </a:rPr>
              <a:t>DROPOUT RATE BY FINANCIAL FACTOR (FROM MIDDLE CHART)</a:t>
            </a:r>
            <a:endParaRPr sz="1249">
              <a:solidFill>
                <a:schemeClr val="dk1"/>
              </a:solidFill>
              <a:latin typeface="Calibri"/>
              <a:ea typeface="Calibri"/>
              <a:cs typeface="Calibri"/>
              <a:sym typeface="Calibri"/>
            </a:endParaRPr>
          </a:p>
        </p:txBody>
      </p:sp>
      <p:sp>
        <p:nvSpPr>
          <p:cNvPr id="289" name="Google Shape;289;p9"/>
          <p:cNvSpPr/>
          <p:nvPr/>
        </p:nvSpPr>
        <p:spPr>
          <a:xfrm>
            <a:off x="952500" y="8458200"/>
            <a:ext cx="2633811" cy="19050"/>
          </a:xfrm>
          <a:prstGeom prst="rect">
            <a:avLst/>
          </a:prstGeom>
          <a:solidFill>
            <a:srgbClr val="1C1B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0" name="Google Shape;290;p9"/>
          <p:cNvSpPr/>
          <p:nvPr/>
        </p:nvSpPr>
        <p:spPr>
          <a:xfrm>
            <a:off x="1162050" y="8048625"/>
            <a:ext cx="2293726" cy="276225"/>
          </a:xfrm>
          <a:prstGeom prst="rect">
            <a:avLst/>
          </a:prstGeom>
          <a:noFill/>
          <a:ln>
            <a:noFill/>
          </a:ln>
        </p:spPr>
        <p:txBody>
          <a:bodyPr spcFirstLastPara="1" wrap="square" lIns="25400" tIns="25400" rIns="25400" bIns="25400" anchor="ctr" anchorCtr="0">
            <a:normAutofit/>
          </a:bodyPr>
          <a:lstStyle/>
          <a:p>
            <a:pPr marL="0" marR="0" lvl="0" indent="0" algn="l" rtl="0">
              <a:lnSpc>
                <a:spcPct val="90000"/>
              </a:lnSpc>
              <a:spcBef>
                <a:spcPts val="0"/>
              </a:spcBef>
              <a:spcAft>
                <a:spcPts val="0"/>
              </a:spcAft>
              <a:buClr>
                <a:srgbClr val="807C76"/>
              </a:buClr>
              <a:buSzPts val="1526"/>
              <a:buFont typeface="Arial"/>
              <a:buNone/>
            </a:pPr>
            <a:r>
              <a:rPr lang="en-US" sz="1526" b="1">
                <a:solidFill>
                  <a:srgbClr val="807C76"/>
                </a:solidFill>
                <a:latin typeface="Arial"/>
                <a:ea typeface="Arial"/>
                <a:cs typeface="Arial"/>
                <a:sym typeface="Arial"/>
              </a:rPr>
              <a:t>FACTOR</a:t>
            </a:r>
            <a:endParaRPr sz="1526">
              <a:solidFill>
                <a:schemeClr val="dk1"/>
              </a:solidFill>
              <a:latin typeface="Calibri"/>
              <a:ea typeface="Calibri"/>
              <a:cs typeface="Calibri"/>
              <a:sym typeface="Calibri"/>
            </a:endParaRPr>
          </a:p>
        </p:txBody>
      </p:sp>
      <p:sp>
        <p:nvSpPr>
          <p:cNvPr id="291" name="Google Shape;291;p9"/>
          <p:cNvSpPr/>
          <p:nvPr/>
        </p:nvSpPr>
        <p:spPr>
          <a:xfrm>
            <a:off x="3586311" y="8458200"/>
            <a:ext cx="2678609" cy="19050"/>
          </a:xfrm>
          <a:prstGeom prst="rect">
            <a:avLst/>
          </a:prstGeom>
          <a:solidFill>
            <a:srgbClr val="1C1B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2" name="Google Shape;292;p9"/>
          <p:cNvSpPr/>
          <p:nvPr/>
        </p:nvSpPr>
        <p:spPr>
          <a:xfrm>
            <a:off x="3715503" y="8048625"/>
            <a:ext cx="2339867" cy="276225"/>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807C76"/>
              </a:buClr>
              <a:buSzPts val="1526"/>
              <a:buFont typeface="Arial"/>
              <a:buNone/>
            </a:pPr>
            <a:r>
              <a:rPr lang="en-US" sz="1526" b="1">
                <a:solidFill>
                  <a:srgbClr val="807C76"/>
                </a:solidFill>
                <a:latin typeface="Arial"/>
                <a:ea typeface="Arial"/>
                <a:cs typeface="Arial"/>
                <a:sym typeface="Arial"/>
              </a:rPr>
              <a:t>DROPOUT IF NO</a:t>
            </a:r>
            <a:endParaRPr sz="1526">
              <a:solidFill>
                <a:schemeClr val="dk1"/>
              </a:solidFill>
              <a:latin typeface="Calibri"/>
              <a:ea typeface="Calibri"/>
              <a:cs typeface="Calibri"/>
              <a:sym typeface="Calibri"/>
            </a:endParaRPr>
          </a:p>
        </p:txBody>
      </p:sp>
      <p:sp>
        <p:nvSpPr>
          <p:cNvPr id="293" name="Google Shape;293;p9"/>
          <p:cNvSpPr/>
          <p:nvPr/>
        </p:nvSpPr>
        <p:spPr>
          <a:xfrm>
            <a:off x="6264920" y="8458200"/>
            <a:ext cx="2808684" cy="19050"/>
          </a:xfrm>
          <a:prstGeom prst="rect">
            <a:avLst/>
          </a:prstGeom>
          <a:solidFill>
            <a:srgbClr val="1C1B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4" name="Google Shape;294;p9"/>
          <p:cNvSpPr/>
          <p:nvPr/>
        </p:nvSpPr>
        <p:spPr>
          <a:xfrm>
            <a:off x="6390209" y="8048625"/>
            <a:ext cx="2473845" cy="276225"/>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807C76"/>
              </a:buClr>
              <a:buSzPts val="1526"/>
              <a:buFont typeface="Arial"/>
              <a:buNone/>
            </a:pPr>
            <a:r>
              <a:rPr lang="en-US" sz="1526" b="1">
                <a:solidFill>
                  <a:srgbClr val="807C76"/>
                </a:solidFill>
                <a:latin typeface="Arial"/>
                <a:ea typeface="Arial"/>
                <a:cs typeface="Arial"/>
                <a:sym typeface="Arial"/>
              </a:rPr>
              <a:t>DROPOUT IF YES</a:t>
            </a:r>
            <a:endParaRPr sz="1526">
              <a:solidFill>
                <a:schemeClr val="dk1"/>
              </a:solidFill>
              <a:latin typeface="Calibri"/>
              <a:ea typeface="Calibri"/>
              <a:cs typeface="Calibri"/>
              <a:sym typeface="Calibri"/>
            </a:endParaRPr>
          </a:p>
        </p:txBody>
      </p:sp>
      <p:sp>
        <p:nvSpPr>
          <p:cNvPr id="295" name="Google Shape;295;p9"/>
          <p:cNvSpPr/>
          <p:nvPr/>
        </p:nvSpPr>
        <p:spPr>
          <a:xfrm>
            <a:off x="9073604" y="8458200"/>
            <a:ext cx="1236018" cy="19050"/>
          </a:xfrm>
          <a:prstGeom prst="rect">
            <a:avLst/>
          </a:prstGeom>
          <a:solidFill>
            <a:srgbClr val="1C1B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6" name="Google Shape;296;p9"/>
          <p:cNvSpPr/>
          <p:nvPr/>
        </p:nvSpPr>
        <p:spPr>
          <a:xfrm>
            <a:off x="9206954" y="8048625"/>
            <a:ext cx="893118" cy="276225"/>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807C76"/>
              </a:buClr>
              <a:buSzPts val="1526"/>
              <a:buFont typeface="Arial"/>
              <a:buNone/>
            </a:pPr>
            <a:r>
              <a:rPr lang="en-US" sz="1526" b="1">
                <a:solidFill>
                  <a:srgbClr val="807C76"/>
                </a:solidFill>
                <a:latin typeface="Arial"/>
                <a:ea typeface="Arial"/>
                <a:cs typeface="Arial"/>
                <a:sym typeface="Arial"/>
              </a:rPr>
              <a:t>Δ</a:t>
            </a:r>
            <a:endParaRPr sz="1526">
              <a:solidFill>
                <a:schemeClr val="dk1"/>
              </a:solidFill>
              <a:latin typeface="Calibri"/>
              <a:ea typeface="Calibri"/>
              <a:cs typeface="Calibri"/>
              <a:sym typeface="Calibri"/>
            </a:endParaRPr>
          </a:p>
        </p:txBody>
      </p:sp>
      <p:sp>
        <p:nvSpPr>
          <p:cNvPr id="297" name="Google Shape;297;p9"/>
          <p:cNvSpPr/>
          <p:nvPr/>
        </p:nvSpPr>
        <p:spPr>
          <a:xfrm>
            <a:off x="952500" y="9053513"/>
            <a:ext cx="2633811"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8" name="Google Shape;298;p9"/>
          <p:cNvSpPr/>
          <p:nvPr/>
        </p:nvSpPr>
        <p:spPr>
          <a:xfrm>
            <a:off x="1162050" y="8648700"/>
            <a:ext cx="2293726" cy="271463"/>
          </a:xfrm>
          <a:prstGeom prst="rect">
            <a:avLst/>
          </a:prstGeom>
          <a:noFill/>
          <a:ln>
            <a:noFill/>
          </a:ln>
        </p:spPr>
        <p:txBody>
          <a:bodyPr spcFirstLastPara="1" wrap="square" lIns="25400" tIns="25400" rIns="25400" bIns="25400" anchor="ctr" anchorCtr="0">
            <a:normAutofit/>
          </a:bodyPr>
          <a:lstStyle/>
          <a:p>
            <a:pPr marL="0" marR="0" lvl="0" indent="0" algn="l" rtl="0">
              <a:lnSpc>
                <a:spcPct val="90000"/>
              </a:lnSpc>
              <a:spcBef>
                <a:spcPts val="0"/>
              </a:spcBef>
              <a:spcAft>
                <a:spcPts val="0"/>
              </a:spcAft>
              <a:buClr>
                <a:srgbClr val="1C1B1A"/>
              </a:buClr>
              <a:buSzPts val="1500"/>
              <a:buFont typeface="Arial"/>
              <a:buNone/>
            </a:pPr>
            <a:r>
              <a:rPr lang="en-US" sz="1500">
                <a:solidFill>
                  <a:srgbClr val="1C1B1A"/>
                </a:solidFill>
                <a:latin typeface="Arial"/>
                <a:ea typeface="Arial"/>
                <a:cs typeface="Arial"/>
                <a:sym typeface="Arial"/>
              </a:rPr>
              <a:t>Scholarship holder</a:t>
            </a:r>
            <a:endParaRPr sz="1500">
              <a:solidFill>
                <a:schemeClr val="dk1"/>
              </a:solidFill>
              <a:latin typeface="Calibri"/>
              <a:ea typeface="Calibri"/>
              <a:cs typeface="Calibri"/>
              <a:sym typeface="Calibri"/>
            </a:endParaRPr>
          </a:p>
        </p:txBody>
      </p:sp>
      <p:sp>
        <p:nvSpPr>
          <p:cNvPr id="299" name="Google Shape;299;p9"/>
          <p:cNvSpPr/>
          <p:nvPr/>
        </p:nvSpPr>
        <p:spPr>
          <a:xfrm>
            <a:off x="3586311" y="9053513"/>
            <a:ext cx="2678609"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0" name="Google Shape;300;p9"/>
          <p:cNvSpPr/>
          <p:nvPr/>
        </p:nvSpPr>
        <p:spPr>
          <a:xfrm>
            <a:off x="3715503" y="8648700"/>
            <a:ext cx="2339867" cy="271463"/>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1500"/>
              <a:buFont typeface="Arial"/>
              <a:buNone/>
            </a:pPr>
            <a:r>
              <a:rPr lang="en-US" sz="1500">
                <a:solidFill>
                  <a:srgbClr val="1C1B1A"/>
                </a:solidFill>
                <a:latin typeface="Arial"/>
                <a:ea typeface="Arial"/>
                <a:cs typeface="Arial"/>
                <a:sym typeface="Arial"/>
              </a:rPr>
              <a:t>39%</a:t>
            </a:r>
            <a:endParaRPr sz="1500">
              <a:solidFill>
                <a:schemeClr val="dk1"/>
              </a:solidFill>
              <a:latin typeface="Calibri"/>
              <a:ea typeface="Calibri"/>
              <a:cs typeface="Calibri"/>
              <a:sym typeface="Calibri"/>
            </a:endParaRPr>
          </a:p>
        </p:txBody>
      </p:sp>
      <p:sp>
        <p:nvSpPr>
          <p:cNvPr id="301" name="Google Shape;301;p9"/>
          <p:cNvSpPr/>
          <p:nvPr/>
        </p:nvSpPr>
        <p:spPr>
          <a:xfrm>
            <a:off x="6264920" y="9053513"/>
            <a:ext cx="2808684"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2" name="Google Shape;302;p9"/>
          <p:cNvSpPr/>
          <p:nvPr/>
        </p:nvSpPr>
        <p:spPr>
          <a:xfrm>
            <a:off x="6390209" y="8648700"/>
            <a:ext cx="2473845" cy="271463"/>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D9E75"/>
              </a:buClr>
              <a:buSzPts val="1500"/>
              <a:buFont typeface="Arial"/>
              <a:buNone/>
            </a:pPr>
            <a:r>
              <a:rPr lang="en-US" sz="1500" b="1">
                <a:solidFill>
                  <a:srgbClr val="1D9E75"/>
                </a:solidFill>
                <a:latin typeface="Arial"/>
                <a:ea typeface="Arial"/>
                <a:cs typeface="Arial"/>
                <a:sym typeface="Arial"/>
              </a:rPr>
              <a:t>12%</a:t>
            </a:r>
            <a:endParaRPr sz="1500">
              <a:solidFill>
                <a:schemeClr val="dk1"/>
              </a:solidFill>
              <a:latin typeface="Calibri"/>
              <a:ea typeface="Calibri"/>
              <a:cs typeface="Calibri"/>
              <a:sym typeface="Calibri"/>
            </a:endParaRPr>
          </a:p>
        </p:txBody>
      </p:sp>
      <p:sp>
        <p:nvSpPr>
          <p:cNvPr id="303" name="Google Shape;303;p9"/>
          <p:cNvSpPr/>
          <p:nvPr/>
        </p:nvSpPr>
        <p:spPr>
          <a:xfrm>
            <a:off x="9073604" y="9053513"/>
            <a:ext cx="1236018"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4" name="Google Shape;304;p9"/>
          <p:cNvSpPr/>
          <p:nvPr/>
        </p:nvSpPr>
        <p:spPr>
          <a:xfrm>
            <a:off x="9206954" y="8648700"/>
            <a:ext cx="893118" cy="271463"/>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1500"/>
              <a:buFont typeface="Arial"/>
              <a:buNone/>
            </a:pPr>
            <a:r>
              <a:rPr lang="en-US" sz="1500" b="1">
                <a:solidFill>
                  <a:srgbClr val="1C1B1A"/>
                </a:solidFill>
                <a:latin typeface="Arial"/>
                <a:ea typeface="Arial"/>
                <a:cs typeface="Arial"/>
                <a:sym typeface="Arial"/>
              </a:rPr>
              <a:t>−27 pp</a:t>
            </a:r>
            <a:endParaRPr sz="1500">
              <a:solidFill>
                <a:schemeClr val="dk1"/>
              </a:solidFill>
              <a:latin typeface="Calibri"/>
              <a:ea typeface="Calibri"/>
              <a:cs typeface="Calibri"/>
              <a:sym typeface="Calibri"/>
            </a:endParaRPr>
          </a:p>
        </p:txBody>
      </p:sp>
      <p:sp>
        <p:nvSpPr>
          <p:cNvPr id="305" name="Google Shape;305;p9"/>
          <p:cNvSpPr/>
          <p:nvPr/>
        </p:nvSpPr>
        <p:spPr>
          <a:xfrm>
            <a:off x="952500" y="9634538"/>
            <a:ext cx="2633811"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6" name="Google Shape;306;p9"/>
          <p:cNvSpPr/>
          <p:nvPr/>
        </p:nvSpPr>
        <p:spPr>
          <a:xfrm>
            <a:off x="1162050" y="9234488"/>
            <a:ext cx="2293726" cy="266700"/>
          </a:xfrm>
          <a:prstGeom prst="rect">
            <a:avLst/>
          </a:prstGeom>
          <a:noFill/>
          <a:ln>
            <a:noFill/>
          </a:ln>
        </p:spPr>
        <p:txBody>
          <a:bodyPr spcFirstLastPara="1" wrap="square" lIns="25400" tIns="25400" rIns="25400" bIns="25400" anchor="ctr" anchorCtr="0">
            <a:normAutofit/>
          </a:bodyPr>
          <a:lstStyle/>
          <a:p>
            <a:pPr marL="0" marR="0" lvl="0" indent="0" algn="l" rtl="0">
              <a:lnSpc>
                <a:spcPct val="90000"/>
              </a:lnSpc>
              <a:spcBef>
                <a:spcPts val="0"/>
              </a:spcBef>
              <a:spcAft>
                <a:spcPts val="0"/>
              </a:spcAft>
              <a:buClr>
                <a:srgbClr val="1C1B1A"/>
              </a:buClr>
              <a:buSzPts val="1500"/>
              <a:buFont typeface="Arial"/>
              <a:buNone/>
            </a:pPr>
            <a:r>
              <a:rPr lang="en-US" sz="1500">
                <a:solidFill>
                  <a:srgbClr val="1C1B1A"/>
                </a:solidFill>
                <a:latin typeface="Arial"/>
                <a:ea typeface="Arial"/>
                <a:cs typeface="Arial"/>
                <a:sym typeface="Arial"/>
              </a:rPr>
              <a:t>Debtor</a:t>
            </a:r>
            <a:endParaRPr sz="1500">
              <a:solidFill>
                <a:schemeClr val="dk1"/>
              </a:solidFill>
              <a:latin typeface="Calibri"/>
              <a:ea typeface="Calibri"/>
              <a:cs typeface="Calibri"/>
              <a:sym typeface="Calibri"/>
            </a:endParaRPr>
          </a:p>
        </p:txBody>
      </p:sp>
      <p:sp>
        <p:nvSpPr>
          <p:cNvPr id="307" name="Google Shape;307;p9"/>
          <p:cNvSpPr/>
          <p:nvPr/>
        </p:nvSpPr>
        <p:spPr>
          <a:xfrm>
            <a:off x="3586311" y="9634538"/>
            <a:ext cx="2678609"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8" name="Google Shape;308;p9"/>
          <p:cNvSpPr/>
          <p:nvPr/>
        </p:nvSpPr>
        <p:spPr>
          <a:xfrm>
            <a:off x="3715503" y="9234488"/>
            <a:ext cx="2339867" cy="26670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1500"/>
              <a:buFont typeface="Arial"/>
              <a:buNone/>
            </a:pPr>
            <a:r>
              <a:rPr lang="en-US" sz="1500">
                <a:solidFill>
                  <a:srgbClr val="1C1B1A"/>
                </a:solidFill>
                <a:latin typeface="Arial"/>
                <a:ea typeface="Arial"/>
                <a:cs typeface="Arial"/>
                <a:sym typeface="Arial"/>
              </a:rPr>
              <a:t>28%</a:t>
            </a:r>
            <a:endParaRPr sz="1500">
              <a:solidFill>
                <a:schemeClr val="dk1"/>
              </a:solidFill>
              <a:latin typeface="Calibri"/>
              <a:ea typeface="Calibri"/>
              <a:cs typeface="Calibri"/>
              <a:sym typeface="Calibri"/>
            </a:endParaRPr>
          </a:p>
        </p:txBody>
      </p:sp>
      <p:sp>
        <p:nvSpPr>
          <p:cNvPr id="309" name="Google Shape;309;p9"/>
          <p:cNvSpPr/>
          <p:nvPr/>
        </p:nvSpPr>
        <p:spPr>
          <a:xfrm>
            <a:off x="6264920" y="9634538"/>
            <a:ext cx="2808684"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0" name="Google Shape;310;p9"/>
          <p:cNvSpPr/>
          <p:nvPr/>
        </p:nvSpPr>
        <p:spPr>
          <a:xfrm>
            <a:off x="6390209" y="9234488"/>
            <a:ext cx="2473845" cy="26670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E24B4A"/>
              </a:buClr>
              <a:buSzPts val="1500"/>
              <a:buFont typeface="Arial"/>
              <a:buNone/>
            </a:pPr>
            <a:r>
              <a:rPr lang="en-US" sz="1500" b="1">
                <a:solidFill>
                  <a:srgbClr val="E24B4A"/>
                </a:solidFill>
                <a:latin typeface="Arial"/>
                <a:ea typeface="Arial"/>
                <a:cs typeface="Arial"/>
                <a:sym typeface="Arial"/>
              </a:rPr>
              <a:t>62%</a:t>
            </a:r>
            <a:endParaRPr sz="1500">
              <a:solidFill>
                <a:schemeClr val="dk1"/>
              </a:solidFill>
              <a:latin typeface="Calibri"/>
              <a:ea typeface="Calibri"/>
              <a:cs typeface="Calibri"/>
              <a:sym typeface="Calibri"/>
            </a:endParaRPr>
          </a:p>
        </p:txBody>
      </p:sp>
      <p:sp>
        <p:nvSpPr>
          <p:cNvPr id="311" name="Google Shape;311;p9"/>
          <p:cNvSpPr/>
          <p:nvPr/>
        </p:nvSpPr>
        <p:spPr>
          <a:xfrm>
            <a:off x="9073604" y="9634538"/>
            <a:ext cx="1236018"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2" name="Google Shape;312;p9"/>
          <p:cNvSpPr/>
          <p:nvPr/>
        </p:nvSpPr>
        <p:spPr>
          <a:xfrm>
            <a:off x="9206954" y="9234488"/>
            <a:ext cx="893118" cy="26670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1500"/>
              <a:buFont typeface="Arial"/>
              <a:buNone/>
            </a:pPr>
            <a:r>
              <a:rPr lang="en-US" sz="1500" b="1">
                <a:solidFill>
                  <a:srgbClr val="1C1B1A"/>
                </a:solidFill>
                <a:latin typeface="Arial"/>
                <a:ea typeface="Arial"/>
                <a:cs typeface="Arial"/>
                <a:sym typeface="Arial"/>
              </a:rPr>
              <a:t>+34 pp</a:t>
            </a:r>
            <a:endParaRPr sz="1500">
              <a:solidFill>
                <a:schemeClr val="dk1"/>
              </a:solidFill>
              <a:latin typeface="Calibri"/>
              <a:ea typeface="Calibri"/>
              <a:cs typeface="Calibri"/>
              <a:sym typeface="Calibri"/>
            </a:endParaRPr>
          </a:p>
        </p:txBody>
      </p:sp>
      <p:sp>
        <p:nvSpPr>
          <p:cNvPr id="313" name="Google Shape;313;p9"/>
          <p:cNvSpPr/>
          <p:nvPr/>
        </p:nvSpPr>
        <p:spPr>
          <a:xfrm>
            <a:off x="952500" y="10215563"/>
            <a:ext cx="2633811"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4" name="Google Shape;314;p9"/>
          <p:cNvSpPr/>
          <p:nvPr/>
        </p:nvSpPr>
        <p:spPr>
          <a:xfrm>
            <a:off x="1162050" y="9815513"/>
            <a:ext cx="2293726" cy="266700"/>
          </a:xfrm>
          <a:prstGeom prst="rect">
            <a:avLst/>
          </a:prstGeom>
          <a:noFill/>
          <a:ln>
            <a:noFill/>
          </a:ln>
        </p:spPr>
        <p:txBody>
          <a:bodyPr spcFirstLastPara="1" wrap="square" lIns="25400" tIns="25400" rIns="25400" bIns="25400" anchor="ctr" anchorCtr="0">
            <a:normAutofit/>
          </a:bodyPr>
          <a:lstStyle/>
          <a:p>
            <a:pPr marL="0" marR="0" lvl="0" indent="0" algn="l" rtl="0">
              <a:lnSpc>
                <a:spcPct val="90000"/>
              </a:lnSpc>
              <a:spcBef>
                <a:spcPts val="0"/>
              </a:spcBef>
              <a:spcAft>
                <a:spcPts val="0"/>
              </a:spcAft>
              <a:buClr>
                <a:srgbClr val="1C1B1A"/>
              </a:buClr>
              <a:buSzPts val="1500"/>
              <a:buFont typeface="Arial"/>
              <a:buNone/>
            </a:pPr>
            <a:r>
              <a:rPr lang="en-US" sz="1500">
                <a:solidFill>
                  <a:srgbClr val="1C1B1A"/>
                </a:solidFill>
                <a:latin typeface="Arial"/>
                <a:ea typeface="Arial"/>
                <a:cs typeface="Arial"/>
                <a:sym typeface="Arial"/>
              </a:rPr>
              <a:t>Tuition fees up to date</a:t>
            </a:r>
            <a:endParaRPr sz="1500">
              <a:solidFill>
                <a:schemeClr val="dk1"/>
              </a:solidFill>
              <a:latin typeface="Calibri"/>
              <a:ea typeface="Calibri"/>
              <a:cs typeface="Calibri"/>
              <a:sym typeface="Calibri"/>
            </a:endParaRPr>
          </a:p>
        </p:txBody>
      </p:sp>
      <p:sp>
        <p:nvSpPr>
          <p:cNvPr id="315" name="Google Shape;315;p9"/>
          <p:cNvSpPr/>
          <p:nvPr/>
        </p:nvSpPr>
        <p:spPr>
          <a:xfrm>
            <a:off x="3586311" y="10215563"/>
            <a:ext cx="2678609"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6" name="Google Shape;316;p9"/>
          <p:cNvSpPr/>
          <p:nvPr/>
        </p:nvSpPr>
        <p:spPr>
          <a:xfrm>
            <a:off x="3715503" y="9815513"/>
            <a:ext cx="2339867" cy="26670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E24B4A"/>
              </a:buClr>
              <a:buSzPts val="1500"/>
              <a:buFont typeface="Arial"/>
              <a:buNone/>
            </a:pPr>
            <a:r>
              <a:rPr lang="en-US" sz="1500" b="1">
                <a:solidFill>
                  <a:srgbClr val="E24B4A"/>
                </a:solidFill>
                <a:latin typeface="Arial"/>
                <a:ea typeface="Arial"/>
                <a:cs typeface="Arial"/>
                <a:sym typeface="Arial"/>
              </a:rPr>
              <a:t>86%</a:t>
            </a:r>
            <a:endParaRPr sz="1500">
              <a:solidFill>
                <a:schemeClr val="dk1"/>
              </a:solidFill>
              <a:latin typeface="Calibri"/>
              <a:ea typeface="Calibri"/>
              <a:cs typeface="Calibri"/>
              <a:sym typeface="Calibri"/>
            </a:endParaRPr>
          </a:p>
        </p:txBody>
      </p:sp>
      <p:sp>
        <p:nvSpPr>
          <p:cNvPr id="317" name="Google Shape;317;p9"/>
          <p:cNvSpPr/>
          <p:nvPr/>
        </p:nvSpPr>
        <p:spPr>
          <a:xfrm>
            <a:off x="6264920" y="10215563"/>
            <a:ext cx="2808684"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8" name="Google Shape;318;p9"/>
          <p:cNvSpPr/>
          <p:nvPr/>
        </p:nvSpPr>
        <p:spPr>
          <a:xfrm>
            <a:off x="6390209" y="9815513"/>
            <a:ext cx="2473845" cy="26670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1500"/>
              <a:buFont typeface="Arial"/>
              <a:buNone/>
            </a:pPr>
            <a:r>
              <a:rPr lang="en-US" sz="1500">
                <a:solidFill>
                  <a:srgbClr val="1C1B1A"/>
                </a:solidFill>
                <a:latin typeface="Arial"/>
                <a:ea typeface="Arial"/>
                <a:cs typeface="Arial"/>
                <a:sym typeface="Arial"/>
              </a:rPr>
              <a:t>25%</a:t>
            </a:r>
            <a:endParaRPr sz="1500">
              <a:solidFill>
                <a:schemeClr val="dk1"/>
              </a:solidFill>
              <a:latin typeface="Calibri"/>
              <a:ea typeface="Calibri"/>
              <a:cs typeface="Calibri"/>
              <a:sym typeface="Calibri"/>
            </a:endParaRPr>
          </a:p>
        </p:txBody>
      </p:sp>
      <p:sp>
        <p:nvSpPr>
          <p:cNvPr id="319" name="Google Shape;319;p9"/>
          <p:cNvSpPr/>
          <p:nvPr/>
        </p:nvSpPr>
        <p:spPr>
          <a:xfrm>
            <a:off x="9073604" y="10215563"/>
            <a:ext cx="1236018"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0" name="Google Shape;320;p9"/>
          <p:cNvSpPr/>
          <p:nvPr/>
        </p:nvSpPr>
        <p:spPr>
          <a:xfrm>
            <a:off x="9206954" y="9815513"/>
            <a:ext cx="893118" cy="26670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1500"/>
              <a:buFont typeface="Arial"/>
              <a:buNone/>
            </a:pPr>
            <a:r>
              <a:rPr lang="en-US" sz="1500" b="1">
                <a:solidFill>
                  <a:srgbClr val="1C1B1A"/>
                </a:solidFill>
                <a:latin typeface="Arial"/>
                <a:ea typeface="Arial"/>
                <a:cs typeface="Arial"/>
                <a:sym typeface="Arial"/>
              </a:rPr>
              <a:t>−61 pp</a:t>
            </a:r>
            <a:endParaRPr sz="1500">
              <a:solidFill>
                <a:schemeClr val="dk1"/>
              </a:solidFill>
              <a:latin typeface="Calibri"/>
              <a:ea typeface="Calibri"/>
              <a:cs typeface="Calibri"/>
              <a:sym typeface="Calibri"/>
            </a:endParaRPr>
          </a:p>
        </p:txBody>
      </p:sp>
      <p:sp>
        <p:nvSpPr>
          <p:cNvPr id="321" name="Google Shape;321;p9"/>
          <p:cNvSpPr/>
          <p:nvPr/>
        </p:nvSpPr>
        <p:spPr>
          <a:xfrm>
            <a:off x="10652075" y="7591425"/>
            <a:ext cx="6883927" cy="1219200"/>
          </a:xfrm>
          <a:prstGeom prst="rect">
            <a:avLst/>
          </a:prstGeom>
          <a:noFill/>
          <a:ln>
            <a:noFill/>
          </a:ln>
        </p:spPr>
        <p:txBody>
          <a:bodyPr spcFirstLastPara="1" wrap="square" lIns="25400" tIns="25400" rIns="25400" bIns="25400" anchor="t" anchorCtr="0">
            <a:normAutofit/>
          </a:bodyPr>
          <a:lstStyle/>
          <a:p>
            <a:pPr marL="0" marR="0" lvl="0" indent="0" algn="l" rtl="0">
              <a:lnSpc>
                <a:spcPct val="145000"/>
              </a:lnSpc>
              <a:spcBef>
                <a:spcPts val="0"/>
              </a:spcBef>
              <a:spcAft>
                <a:spcPts val="0"/>
              </a:spcAft>
              <a:buClr>
                <a:srgbClr val="4B4845"/>
              </a:buClr>
              <a:buSzPts val="1526"/>
              <a:buFont typeface="Arial"/>
              <a:buNone/>
            </a:pPr>
            <a:r>
              <a:rPr lang="en-US" sz="1526">
                <a:solidFill>
                  <a:srgbClr val="4B4845"/>
                </a:solidFill>
                <a:latin typeface="Arial"/>
                <a:ea typeface="Arial"/>
                <a:cs typeface="Arial"/>
                <a:sym typeface="Arial"/>
              </a:rPr>
              <a:t>Scholarship holders drop out at 12% vs 39% for non-holders — a 3.3× lower rate. Tuition status is the most decisive single binary signal in the data. PCA projection shows moderate but imperfect class separability — a non-trivial classification problem.</a:t>
            </a:r>
            <a:endParaRPr sz="1526">
              <a:solidFill>
                <a:schemeClr val="dk1"/>
              </a:solidFill>
              <a:latin typeface="Calibri"/>
              <a:ea typeface="Calibri"/>
              <a:cs typeface="Calibri"/>
              <a:sym typeface="Calibri"/>
            </a:endParaRPr>
          </a:p>
        </p:txBody>
      </p:sp>
      <p:sp>
        <p:nvSpPr>
          <p:cNvPr id="322" name="Google Shape;322;p9"/>
          <p:cNvSpPr/>
          <p:nvPr/>
        </p:nvSpPr>
        <p:spPr>
          <a:xfrm>
            <a:off x="16692116" y="10353675"/>
            <a:ext cx="1100584" cy="2952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665"/>
              <a:buFont typeface="Courier New"/>
              <a:buNone/>
            </a:pPr>
            <a:r>
              <a:rPr lang="en-US" sz="1665">
                <a:solidFill>
                  <a:srgbClr val="807C76"/>
                </a:solidFill>
                <a:latin typeface="Courier New"/>
                <a:ea typeface="Courier New"/>
                <a:cs typeface="Courier New"/>
                <a:sym typeface="Courier New"/>
              </a:rPr>
              <a:t>09/19</a:t>
            </a:r>
            <a:endParaRPr sz="1665">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Shape 327"/>
        <p:cNvGrpSpPr/>
        <p:nvPr/>
      </p:nvGrpSpPr>
      <p:grpSpPr>
        <a:xfrm>
          <a:off x="0" y="0"/>
          <a:ext cx="0" cy="0"/>
          <a:chOff x="0" y="0"/>
          <a:chExt cx="0" cy="0"/>
        </a:xfrm>
      </p:grpSpPr>
      <p:sp>
        <p:nvSpPr>
          <p:cNvPr id="328" name="Google Shape;328;p10"/>
          <p:cNvSpPr/>
          <p:nvPr/>
        </p:nvSpPr>
        <p:spPr>
          <a:xfrm>
            <a:off x="952500" y="1047006"/>
            <a:ext cx="533400" cy="19050"/>
          </a:xfrm>
          <a:prstGeom prst="rect">
            <a:avLst/>
          </a:prstGeom>
          <a:solidFill>
            <a:srgbClr val="4B484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9" name="Google Shape;329;p10"/>
          <p:cNvSpPr/>
          <p:nvPr/>
        </p:nvSpPr>
        <p:spPr>
          <a:xfrm>
            <a:off x="1657349" y="952500"/>
            <a:ext cx="4603699" cy="310848"/>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None/>
            </a:pPr>
            <a:r>
              <a:rPr lang="en-US" sz="1700">
                <a:solidFill>
                  <a:srgbClr val="807C76"/>
                </a:solidFill>
                <a:latin typeface="Courier New"/>
                <a:ea typeface="Courier New"/>
                <a:cs typeface="Courier New"/>
                <a:sym typeface="Courier New"/>
              </a:rPr>
              <a:t>09 · VISUALIZATION TOOLKIT</a:t>
            </a:r>
            <a:endParaRPr sz="1700">
              <a:solidFill>
                <a:schemeClr val="dk1"/>
              </a:solidFill>
              <a:latin typeface="Calibri"/>
              <a:ea typeface="Calibri"/>
              <a:cs typeface="Calibri"/>
              <a:sym typeface="Calibri"/>
            </a:endParaRPr>
          </a:p>
        </p:txBody>
      </p:sp>
      <p:sp>
        <p:nvSpPr>
          <p:cNvPr id="330" name="Google Shape;330;p10"/>
          <p:cNvSpPr/>
          <p:nvPr/>
        </p:nvSpPr>
        <p:spPr>
          <a:xfrm>
            <a:off x="952500" y="1704975"/>
            <a:ext cx="16874490" cy="666750"/>
          </a:xfrm>
          <a:prstGeom prst="rect">
            <a:avLst/>
          </a:prstGeom>
          <a:noFill/>
          <a:ln>
            <a:noFill/>
          </a:ln>
        </p:spPr>
        <p:txBody>
          <a:bodyPr spcFirstLastPara="1" wrap="square" lIns="25400" tIns="25400" rIns="25400" bIns="25400" anchor="t" anchorCtr="0">
            <a:normAutofit/>
          </a:bodyPr>
          <a:lstStyle/>
          <a:p>
            <a:pPr marL="0" marR="0" lvl="0" indent="0" algn="l" rtl="0">
              <a:lnSpc>
                <a:spcPct val="84000"/>
              </a:lnSpc>
              <a:spcBef>
                <a:spcPts val="0"/>
              </a:spcBef>
              <a:spcAft>
                <a:spcPts val="0"/>
              </a:spcAft>
              <a:buNone/>
            </a:pPr>
            <a:r>
              <a:rPr lang="en-US" sz="4440" b="1">
                <a:solidFill>
                  <a:srgbClr val="1C1B1A"/>
                </a:solidFill>
                <a:latin typeface="Georgia"/>
                <a:ea typeface="Georgia"/>
                <a:cs typeface="Georgia"/>
                <a:sym typeface="Georgia"/>
              </a:rPr>
              <a:t>Six chart types, one consistent palette</a:t>
            </a:r>
            <a:endParaRPr sz="4440">
              <a:solidFill>
                <a:schemeClr val="dk1"/>
              </a:solidFill>
              <a:latin typeface="Calibri"/>
              <a:ea typeface="Calibri"/>
              <a:cs typeface="Calibri"/>
              <a:sym typeface="Calibri"/>
            </a:endParaRPr>
          </a:p>
        </p:txBody>
      </p:sp>
      <p:sp>
        <p:nvSpPr>
          <p:cNvPr id="331" name="Google Shape;331;p10"/>
          <p:cNvSpPr/>
          <p:nvPr/>
        </p:nvSpPr>
        <p:spPr>
          <a:xfrm>
            <a:off x="1008493" y="2965752"/>
            <a:ext cx="5154815" cy="1571625"/>
          </a:xfrm>
          <a:prstGeom prst="rect">
            <a:avLst/>
          </a:prstGeom>
          <a:solidFill>
            <a:srgbClr val="FFFFFF"/>
          </a:solidFill>
          <a:ln w="9525" cap="flat" cmpd="sng">
            <a:solidFill>
              <a:srgbClr val="D9D3C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2" name="Google Shape;332;p10"/>
          <p:cNvSpPr/>
          <p:nvPr/>
        </p:nvSpPr>
        <p:spPr>
          <a:xfrm>
            <a:off x="1247775" y="3067050"/>
            <a:ext cx="4859540" cy="22860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B95D2C"/>
              </a:buClr>
              <a:buSzPts val="1248"/>
              <a:buFont typeface="Courier New"/>
              <a:buNone/>
            </a:pPr>
            <a:r>
              <a:rPr lang="en-US" sz="1249">
                <a:solidFill>
                  <a:srgbClr val="B95D2C"/>
                </a:solidFill>
                <a:latin typeface="Courier New"/>
                <a:ea typeface="Courier New"/>
                <a:cs typeface="Courier New"/>
                <a:sym typeface="Courier New"/>
              </a:rPr>
              <a:t>TREE</a:t>
            </a:r>
            <a:endParaRPr sz="1249">
              <a:solidFill>
                <a:schemeClr val="dk1"/>
              </a:solidFill>
              <a:latin typeface="Calibri"/>
              <a:ea typeface="Calibri"/>
              <a:cs typeface="Calibri"/>
              <a:sym typeface="Calibri"/>
            </a:endParaRPr>
          </a:p>
        </p:txBody>
      </p:sp>
      <p:sp>
        <p:nvSpPr>
          <p:cNvPr id="333" name="Google Shape;333;p10"/>
          <p:cNvSpPr/>
          <p:nvPr/>
        </p:nvSpPr>
        <p:spPr>
          <a:xfrm>
            <a:off x="2282382" y="2384727"/>
            <a:ext cx="4859540" cy="42862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1C1B1A"/>
              </a:buClr>
              <a:buSzPts val="2636"/>
              <a:buFont typeface="Georgia"/>
              <a:buNone/>
            </a:pPr>
            <a:r>
              <a:rPr lang="en-US" sz="2636" b="1">
                <a:solidFill>
                  <a:srgbClr val="1C1B1A"/>
                </a:solidFill>
                <a:latin typeface="Georgia"/>
                <a:ea typeface="Georgia"/>
                <a:cs typeface="Georgia"/>
                <a:sym typeface="Georgia"/>
              </a:rPr>
              <a:t>Correlation Heatmap</a:t>
            </a:r>
            <a:endParaRPr sz="2636">
              <a:solidFill>
                <a:schemeClr val="dk1"/>
              </a:solidFill>
              <a:latin typeface="Calibri"/>
              <a:ea typeface="Calibri"/>
              <a:cs typeface="Calibri"/>
              <a:sym typeface="Calibri"/>
            </a:endParaRPr>
          </a:p>
        </p:txBody>
      </p:sp>
      <p:sp>
        <p:nvSpPr>
          <p:cNvPr id="334" name="Google Shape;334;p10"/>
          <p:cNvSpPr/>
          <p:nvPr/>
        </p:nvSpPr>
        <p:spPr>
          <a:xfrm>
            <a:off x="1247775" y="3876675"/>
            <a:ext cx="4859540" cy="2571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4B4845"/>
              </a:buClr>
              <a:buSzPts val="1387"/>
              <a:buFont typeface="Courier New"/>
              <a:buNone/>
            </a:pPr>
            <a:r>
              <a:rPr lang="en-US" sz="1388">
                <a:solidFill>
                  <a:srgbClr val="4B4845"/>
                </a:solidFill>
                <a:latin typeface="Courier New"/>
                <a:ea typeface="Courier New"/>
                <a:cs typeface="Courier New"/>
                <a:sym typeface="Courier New"/>
              </a:rPr>
              <a:t>max_depth = 10</a:t>
            </a:r>
            <a:endParaRPr sz="1388">
              <a:solidFill>
                <a:schemeClr val="dk1"/>
              </a:solidFill>
              <a:latin typeface="Calibri"/>
              <a:ea typeface="Calibri"/>
              <a:cs typeface="Calibri"/>
              <a:sym typeface="Calibri"/>
            </a:endParaRPr>
          </a:p>
        </p:txBody>
      </p:sp>
      <p:sp>
        <p:nvSpPr>
          <p:cNvPr id="335" name="Google Shape;335;p10"/>
          <p:cNvSpPr/>
          <p:nvPr/>
        </p:nvSpPr>
        <p:spPr>
          <a:xfrm>
            <a:off x="8716310" y="2426043"/>
            <a:ext cx="4859540" cy="42862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1C1B1A"/>
              </a:buClr>
              <a:buSzPts val="2636"/>
              <a:buFont typeface="Georgia"/>
              <a:buNone/>
            </a:pPr>
            <a:r>
              <a:rPr lang="en-US" sz="2636" b="1">
                <a:solidFill>
                  <a:srgbClr val="1C1B1A"/>
                </a:solidFill>
                <a:latin typeface="Georgia"/>
                <a:ea typeface="Georgia"/>
                <a:cs typeface="Georgia"/>
                <a:sym typeface="Georgia"/>
              </a:rPr>
              <a:t>KDE Distribution </a:t>
            </a:r>
            <a:endParaRPr sz="2636">
              <a:solidFill>
                <a:schemeClr val="dk1"/>
              </a:solidFill>
              <a:latin typeface="Calibri"/>
              <a:ea typeface="Calibri"/>
              <a:cs typeface="Calibri"/>
              <a:sym typeface="Calibri"/>
            </a:endParaRPr>
          </a:p>
        </p:txBody>
      </p:sp>
      <p:sp>
        <p:nvSpPr>
          <p:cNvPr id="336" name="Google Shape;336;p10"/>
          <p:cNvSpPr/>
          <p:nvPr/>
        </p:nvSpPr>
        <p:spPr>
          <a:xfrm>
            <a:off x="14810792" y="2426799"/>
            <a:ext cx="4859694" cy="42862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1C1B1A"/>
              </a:buClr>
              <a:buSzPts val="2636"/>
              <a:buFont typeface="Georgia"/>
              <a:buNone/>
            </a:pPr>
            <a:r>
              <a:rPr lang="en-US" sz="2636" b="1">
                <a:solidFill>
                  <a:srgbClr val="1C1B1A"/>
                </a:solidFill>
                <a:latin typeface="Georgia"/>
                <a:ea typeface="Georgia"/>
                <a:cs typeface="Georgia"/>
                <a:sym typeface="Georgia"/>
              </a:rPr>
              <a:t>Boxplots</a:t>
            </a:r>
            <a:endParaRPr sz="2636">
              <a:solidFill>
                <a:schemeClr val="dk1"/>
              </a:solidFill>
              <a:latin typeface="Calibri"/>
              <a:ea typeface="Calibri"/>
              <a:cs typeface="Calibri"/>
              <a:sym typeface="Calibri"/>
            </a:endParaRPr>
          </a:p>
        </p:txBody>
      </p:sp>
      <p:sp>
        <p:nvSpPr>
          <p:cNvPr id="337" name="Google Shape;337;p10"/>
          <p:cNvSpPr/>
          <p:nvPr/>
        </p:nvSpPr>
        <p:spPr>
          <a:xfrm>
            <a:off x="952500" y="7259665"/>
            <a:ext cx="5308550" cy="1581150"/>
          </a:xfrm>
          <a:prstGeom prst="rect">
            <a:avLst/>
          </a:prstGeom>
          <a:solidFill>
            <a:srgbClr val="FFFFFF"/>
          </a:solidFill>
          <a:ln w="9525" cap="flat" cmpd="sng">
            <a:solidFill>
              <a:srgbClr val="D9D3C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8" name="Google Shape;338;p10"/>
          <p:cNvSpPr/>
          <p:nvPr/>
        </p:nvSpPr>
        <p:spPr>
          <a:xfrm>
            <a:off x="1247775" y="7535890"/>
            <a:ext cx="4859540" cy="22860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B95D2C"/>
              </a:buClr>
              <a:buSzPts val="1248"/>
              <a:buFont typeface="Courier New"/>
              <a:buNone/>
            </a:pPr>
            <a:r>
              <a:rPr lang="en-US" sz="1249">
                <a:solidFill>
                  <a:srgbClr val="B95D2C"/>
                </a:solidFill>
                <a:latin typeface="Courier New"/>
                <a:ea typeface="Courier New"/>
                <a:cs typeface="Courier New"/>
                <a:sym typeface="Courier New"/>
              </a:rPr>
              <a:t>LINEAR</a:t>
            </a:r>
            <a:endParaRPr sz="1249">
              <a:solidFill>
                <a:schemeClr val="dk1"/>
              </a:solidFill>
              <a:latin typeface="Calibri"/>
              <a:ea typeface="Calibri"/>
              <a:cs typeface="Calibri"/>
              <a:sym typeface="Calibri"/>
            </a:endParaRPr>
          </a:p>
        </p:txBody>
      </p:sp>
      <p:sp>
        <p:nvSpPr>
          <p:cNvPr id="339" name="Google Shape;339;p10"/>
          <p:cNvSpPr/>
          <p:nvPr/>
        </p:nvSpPr>
        <p:spPr>
          <a:xfrm>
            <a:off x="1870494" y="6225374"/>
            <a:ext cx="4859540" cy="42862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1C1B1A"/>
              </a:buClr>
              <a:buSzPts val="2636"/>
              <a:buFont typeface="Georgia"/>
              <a:buNone/>
            </a:pPr>
            <a:r>
              <a:rPr lang="en-US" sz="2636" b="1">
                <a:solidFill>
                  <a:srgbClr val="1C1B1A"/>
                </a:solidFill>
                <a:latin typeface="Georgia"/>
                <a:ea typeface="Georgia"/>
                <a:cs typeface="Georgia"/>
                <a:sym typeface="Georgia"/>
              </a:rPr>
              <a:t>Stacked Bar Charts</a:t>
            </a:r>
            <a:endParaRPr sz="2636">
              <a:solidFill>
                <a:schemeClr val="dk1"/>
              </a:solidFill>
              <a:latin typeface="Calibri"/>
              <a:ea typeface="Calibri"/>
              <a:cs typeface="Calibri"/>
              <a:sym typeface="Calibri"/>
            </a:endParaRPr>
          </a:p>
        </p:txBody>
      </p:sp>
      <p:sp>
        <p:nvSpPr>
          <p:cNvPr id="340" name="Google Shape;340;p10"/>
          <p:cNvSpPr/>
          <p:nvPr/>
        </p:nvSpPr>
        <p:spPr>
          <a:xfrm>
            <a:off x="1247775" y="8345515"/>
            <a:ext cx="4859540" cy="2571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4B4845"/>
              </a:buClr>
              <a:buSzPts val="1387"/>
              <a:buFont typeface="Courier New"/>
              <a:buNone/>
            </a:pPr>
            <a:r>
              <a:rPr lang="en-US" sz="1388">
                <a:solidFill>
                  <a:srgbClr val="4B4845"/>
                </a:solidFill>
                <a:latin typeface="Courier New"/>
                <a:ea typeface="Courier New"/>
                <a:cs typeface="Courier New"/>
                <a:sym typeface="Courier New"/>
              </a:rPr>
              <a:t>multinomial · max_iter=1000</a:t>
            </a:r>
            <a:endParaRPr sz="1388">
              <a:solidFill>
                <a:schemeClr val="dk1"/>
              </a:solidFill>
              <a:latin typeface="Calibri"/>
              <a:ea typeface="Calibri"/>
              <a:cs typeface="Calibri"/>
              <a:sym typeface="Calibri"/>
            </a:endParaRPr>
          </a:p>
        </p:txBody>
      </p:sp>
      <p:sp>
        <p:nvSpPr>
          <p:cNvPr id="341" name="Google Shape;341;p10"/>
          <p:cNvSpPr/>
          <p:nvPr/>
        </p:nvSpPr>
        <p:spPr>
          <a:xfrm>
            <a:off x="8880032" y="6034016"/>
            <a:ext cx="4859540" cy="42862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1C1B1A"/>
              </a:buClr>
              <a:buSzPts val="2636"/>
              <a:buFont typeface="Georgia"/>
              <a:buNone/>
            </a:pPr>
            <a:r>
              <a:rPr lang="en-US" sz="2636" b="1">
                <a:solidFill>
                  <a:srgbClr val="1C1B1A"/>
                </a:solidFill>
                <a:latin typeface="Georgia"/>
                <a:ea typeface="Georgia"/>
                <a:cs typeface="Georgia"/>
                <a:sym typeface="Georgia"/>
              </a:rPr>
              <a:t>PCA Scatter</a:t>
            </a:r>
            <a:endParaRPr sz="2636">
              <a:solidFill>
                <a:schemeClr val="dk1"/>
              </a:solidFill>
              <a:latin typeface="Calibri"/>
              <a:ea typeface="Calibri"/>
              <a:cs typeface="Calibri"/>
              <a:sym typeface="Calibri"/>
            </a:endParaRPr>
          </a:p>
        </p:txBody>
      </p:sp>
      <p:sp>
        <p:nvSpPr>
          <p:cNvPr id="342" name="Google Shape;342;p10"/>
          <p:cNvSpPr/>
          <p:nvPr/>
        </p:nvSpPr>
        <p:spPr>
          <a:xfrm>
            <a:off x="14534976" y="6067399"/>
            <a:ext cx="4859694" cy="42862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1C1B1A"/>
              </a:buClr>
              <a:buSzPts val="2636"/>
              <a:buFont typeface="Georgia"/>
              <a:buNone/>
            </a:pPr>
            <a:r>
              <a:rPr lang="en-US" sz="2636" b="1">
                <a:solidFill>
                  <a:srgbClr val="1C1B1A"/>
                </a:solidFill>
                <a:latin typeface="Georgia"/>
                <a:ea typeface="Georgia"/>
                <a:cs typeface="Georgia"/>
                <a:sym typeface="Georgia"/>
              </a:rPr>
              <a:t>Feature Importance</a:t>
            </a:r>
            <a:endParaRPr sz="2636">
              <a:solidFill>
                <a:schemeClr val="dk1"/>
              </a:solidFill>
              <a:latin typeface="Calibri"/>
              <a:ea typeface="Calibri"/>
              <a:cs typeface="Calibri"/>
              <a:sym typeface="Calibri"/>
            </a:endParaRPr>
          </a:p>
        </p:txBody>
      </p:sp>
      <p:sp>
        <p:nvSpPr>
          <p:cNvPr id="343" name="Google Shape;343;p10"/>
          <p:cNvSpPr/>
          <p:nvPr/>
        </p:nvSpPr>
        <p:spPr>
          <a:xfrm>
            <a:off x="16414531" y="9707999"/>
            <a:ext cx="1100584" cy="2952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665"/>
              <a:buFont typeface="Courier New"/>
              <a:buNone/>
            </a:pPr>
            <a:r>
              <a:rPr lang="en-US" sz="1665">
                <a:solidFill>
                  <a:srgbClr val="807C76"/>
                </a:solidFill>
                <a:latin typeface="Courier New"/>
                <a:ea typeface="Courier New"/>
                <a:cs typeface="Courier New"/>
                <a:sym typeface="Courier New"/>
              </a:rPr>
              <a:t>10/19</a:t>
            </a:r>
            <a:endParaRPr sz="1665">
              <a:solidFill>
                <a:schemeClr val="dk1"/>
              </a:solidFill>
              <a:latin typeface="Calibri"/>
              <a:ea typeface="Calibri"/>
              <a:cs typeface="Calibri"/>
              <a:sym typeface="Calibri"/>
            </a:endParaRPr>
          </a:p>
        </p:txBody>
      </p:sp>
      <p:pic>
        <p:nvPicPr>
          <p:cNvPr id="344" name="Google Shape;344;p10" descr="correlation_heatmap.png"/>
          <p:cNvPicPr preferRelativeResize="0"/>
          <p:nvPr/>
        </p:nvPicPr>
        <p:blipFill rotWithShape="1">
          <a:blip r:embed="rId3">
            <a:alphaModFix/>
          </a:blip>
          <a:srcRect/>
          <a:stretch/>
        </p:blipFill>
        <p:spPr>
          <a:xfrm>
            <a:off x="952500" y="2908987"/>
            <a:ext cx="5308549" cy="2933672"/>
          </a:xfrm>
          <a:prstGeom prst="rect">
            <a:avLst/>
          </a:prstGeom>
          <a:noFill/>
          <a:ln>
            <a:noFill/>
          </a:ln>
        </p:spPr>
      </p:pic>
      <p:pic>
        <p:nvPicPr>
          <p:cNvPr id="345" name="Google Shape;345;p10" descr="stacked_bar_binary.png"/>
          <p:cNvPicPr preferRelativeResize="0"/>
          <p:nvPr/>
        </p:nvPicPr>
        <p:blipFill rotWithShape="1">
          <a:blip r:embed="rId4">
            <a:alphaModFix/>
          </a:blip>
          <a:srcRect/>
          <a:stretch/>
        </p:blipFill>
        <p:spPr>
          <a:xfrm>
            <a:off x="952500" y="6722403"/>
            <a:ext cx="5266803" cy="2910602"/>
          </a:xfrm>
          <a:prstGeom prst="rect">
            <a:avLst/>
          </a:prstGeom>
          <a:noFill/>
          <a:ln>
            <a:noFill/>
          </a:ln>
        </p:spPr>
      </p:pic>
      <p:pic>
        <p:nvPicPr>
          <p:cNvPr id="346" name="Google Shape;346;p10" descr="feature_distributions.png"/>
          <p:cNvPicPr preferRelativeResize="0"/>
          <p:nvPr/>
        </p:nvPicPr>
        <p:blipFill rotWithShape="1">
          <a:blip r:embed="rId5">
            <a:alphaModFix/>
          </a:blip>
          <a:srcRect/>
          <a:stretch/>
        </p:blipFill>
        <p:spPr>
          <a:xfrm>
            <a:off x="6925283" y="2908988"/>
            <a:ext cx="5308548" cy="2933671"/>
          </a:xfrm>
          <a:prstGeom prst="rect">
            <a:avLst/>
          </a:prstGeom>
          <a:noFill/>
          <a:ln>
            <a:noFill/>
          </a:ln>
        </p:spPr>
      </p:pic>
      <p:pic>
        <p:nvPicPr>
          <p:cNvPr id="347" name="Google Shape;347;p10" descr="pca_scatter.png"/>
          <p:cNvPicPr preferRelativeResize="0"/>
          <p:nvPr/>
        </p:nvPicPr>
        <p:blipFill rotWithShape="1">
          <a:blip r:embed="rId6">
            <a:alphaModFix/>
          </a:blip>
          <a:srcRect/>
          <a:stretch/>
        </p:blipFill>
        <p:spPr>
          <a:xfrm>
            <a:off x="6991776" y="6653999"/>
            <a:ext cx="5304415" cy="2931387"/>
          </a:xfrm>
          <a:prstGeom prst="rect">
            <a:avLst/>
          </a:prstGeom>
          <a:noFill/>
          <a:ln>
            <a:noFill/>
          </a:ln>
        </p:spPr>
      </p:pic>
      <p:pic>
        <p:nvPicPr>
          <p:cNvPr id="348" name="Google Shape;348;p10" descr="boxplots_grades.png"/>
          <p:cNvPicPr preferRelativeResize="0"/>
          <p:nvPr/>
        </p:nvPicPr>
        <p:blipFill rotWithShape="1">
          <a:blip r:embed="rId7">
            <a:alphaModFix/>
          </a:blip>
          <a:srcRect/>
          <a:stretch/>
        </p:blipFill>
        <p:spPr>
          <a:xfrm>
            <a:off x="12939809" y="2963143"/>
            <a:ext cx="5210553" cy="2879516"/>
          </a:xfrm>
          <a:prstGeom prst="rect">
            <a:avLst/>
          </a:prstGeom>
          <a:noFill/>
          <a:ln>
            <a:noFill/>
          </a:ln>
        </p:spPr>
      </p:pic>
      <p:pic>
        <p:nvPicPr>
          <p:cNvPr id="349" name="Google Shape;349;p10" descr="rf_feature_importance.png"/>
          <p:cNvPicPr preferRelativeResize="0"/>
          <p:nvPr/>
        </p:nvPicPr>
        <p:blipFill rotWithShape="1">
          <a:blip r:embed="rId8">
            <a:alphaModFix/>
          </a:blip>
          <a:srcRect/>
          <a:stretch/>
        </p:blipFill>
        <p:spPr>
          <a:xfrm>
            <a:off x="12939810" y="6643663"/>
            <a:ext cx="5142129" cy="284170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11"/>
          <p:cNvSpPr/>
          <p:nvPr/>
        </p:nvSpPr>
        <p:spPr>
          <a:xfrm>
            <a:off x="952500" y="1047006"/>
            <a:ext cx="533400" cy="19050"/>
          </a:xfrm>
          <a:prstGeom prst="rect">
            <a:avLst/>
          </a:prstGeom>
          <a:solidFill>
            <a:srgbClr val="4B484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6" name="Google Shape;356;p11"/>
          <p:cNvSpPr/>
          <p:nvPr/>
        </p:nvSpPr>
        <p:spPr>
          <a:xfrm>
            <a:off x="1657350" y="952500"/>
            <a:ext cx="2394495" cy="2952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665"/>
              <a:buFont typeface="Courier New"/>
              <a:buNone/>
            </a:pPr>
            <a:r>
              <a:rPr lang="en-US" sz="1665">
                <a:solidFill>
                  <a:srgbClr val="807C76"/>
                </a:solidFill>
                <a:latin typeface="Courier New"/>
                <a:ea typeface="Courier New"/>
                <a:cs typeface="Courier New"/>
                <a:sym typeface="Courier New"/>
              </a:rPr>
              <a:t>10 · MODELING</a:t>
            </a:r>
            <a:endParaRPr sz="1665">
              <a:solidFill>
                <a:schemeClr val="dk1"/>
              </a:solidFill>
              <a:latin typeface="Calibri"/>
              <a:ea typeface="Calibri"/>
              <a:cs typeface="Calibri"/>
              <a:sym typeface="Calibri"/>
            </a:endParaRPr>
          </a:p>
        </p:txBody>
      </p:sp>
      <p:sp>
        <p:nvSpPr>
          <p:cNvPr id="357" name="Google Shape;357;p11"/>
          <p:cNvSpPr/>
          <p:nvPr/>
        </p:nvSpPr>
        <p:spPr>
          <a:xfrm>
            <a:off x="952500" y="1704975"/>
            <a:ext cx="16874490" cy="666750"/>
          </a:xfrm>
          <a:prstGeom prst="rect">
            <a:avLst/>
          </a:prstGeom>
          <a:noFill/>
          <a:ln>
            <a:noFill/>
          </a:ln>
        </p:spPr>
        <p:txBody>
          <a:bodyPr spcFirstLastPara="1" wrap="square" lIns="25400" tIns="25400" rIns="25400" bIns="25400" anchor="t" anchorCtr="0">
            <a:normAutofit/>
          </a:bodyPr>
          <a:lstStyle/>
          <a:p>
            <a:pPr marL="0" marR="0" lvl="0" indent="0" algn="l" rtl="0">
              <a:lnSpc>
                <a:spcPct val="84000"/>
              </a:lnSpc>
              <a:spcBef>
                <a:spcPts val="0"/>
              </a:spcBef>
              <a:spcAft>
                <a:spcPts val="0"/>
              </a:spcAft>
              <a:buClr>
                <a:srgbClr val="1C1B1A"/>
              </a:buClr>
              <a:buSzPts val="4440"/>
              <a:buFont typeface="Georgia"/>
              <a:buNone/>
            </a:pPr>
            <a:r>
              <a:rPr lang="en-US" sz="4440" b="1">
                <a:solidFill>
                  <a:srgbClr val="1C1B1A"/>
                </a:solidFill>
                <a:latin typeface="Georgia"/>
                <a:ea typeface="Georgia"/>
                <a:cs typeface="Georgia"/>
                <a:sym typeface="Georgia"/>
              </a:rPr>
              <a:t>Six classifiers across five algorithm families</a:t>
            </a:r>
            <a:endParaRPr sz="4440">
              <a:solidFill>
                <a:schemeClr val="dk1"/>
              </a:solidFill>
              <a:latin typeface="Calibri"/>
              <a:ea typeface="Calibri"/>
              <a:cs typeface="Calibri"/>
              <a:sym typeface="Calibri"/>
            </a:endParaRPr>
          </a:p>
        </p:txBody>
      </p:sp>
      <p:sp>
        <p:nvSpPr>
          <p:cNvPr id="358" name="Google Shape;358;p11"/>
          <p:cNvSpPr/>
          <p:nvPr/>
        </p:nvSpPr>
        <p:spPr>
          <a:xfrm>
            <a:off x="952500" y="2790825"/>
            <a:ext cx="5308550" cy="1581150"/>
          </a:xfrm>
          <a:prstGeom prst="rect">
            <a:avLst/>
          </a:prstGeom>
          <a:solidFill>
            <a:srgbClr val="FFFFFF"/>
          </a:solidFill>
          <a:ln w="9525" cap="flat" cmpd="sng">
            <a:solidFill>
              <a:srgbClr val="D9D3C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9" name="Google Shape;359;p11"/>
          <p:cNvSpPr/>
          <p:nvPr/>
        </p:nvSpPr>
        <p:spPr>
          <a:xfrm>
            <a:off x="1247775" y="3067050"/>
            <a:ext cx="4859540" cy="22860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B95D2C"/>
              </a:buClr>
              <a:buSzPts val="1248"/>
              <a:buFont typeface="Courier New"/>
              <a:buNone/>
            </a:pPr>
            <a:r>
              <a:rPr lang="en-US" sz="1249">
                <a:solidFill>
                  <a:srgbClr val="B95D2C"/>
                </a:solidFill>
                <a:latin typeface="Courier New"/>
                <a:ea typeface="Courier New"/>
                <a:cs typeface="Courier New"/>
                <a:sym typeface="Courier New"/>
              </a:rPr>
              <a:t>TREE</a:t>
            </a:r>
            <a:endParaRPr sz="1249">
              <a:solidFill>
                <a:schemeClr val="dk1"/>
              </a:solidFill>
              <a:latin typeface="Calibri"/>
              <a:ea typeface="Calibri"/>
              <a:cs typeface="Calibri"/>
              <a:sym typeface="Calibri"/>
            </a:endParaRPr>
          </a:p>
        </p:txBody>
      </p:sp>
      <p:sp>
        <p:nvSpPr>
          <p:cNvPr id="360" name="Google Shape;360;p11"/>
          <p:cNvSpPr/>
          <p:nvPr/>
        </p:nvSpPr>
        <p:spPr>
          <a:xfrm>
            <a:off x="1247775" y="3352800"/>
            <a:ext cx="4859540" cy="42862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1C1B1A"/>
              </a:buClr>
              <a:buSzPts val="2636"/>
              <a:buFont typeface="Georgia"/>
              <a:buNone/>
            </a:pPr>
            <a:r>
              <a:rPr lang="en-US" sz="2636" b="1">
                <a:solidFill>
                  <a:srgbClr val="1C1B1A"/>
                </a:solidFill>
                <a:latin typeface="Georgia"/>
                <a:ea typeface="Georgia"/>
                <a:cs typeface="Georgia"/>
                <a:sym typeface="Georgia"/>
              </a:rPr>
              <a:t>Decision Tree</a:t>
            </a:r>
            <a:endParaRPr sz="2636">
              <a:solidFill>
                <a:schemeClr val="dk1"/>
              </a:solidFill>
              <a:latin typeface="Calibri"/>
              <a:ea typeface="Calibri"/>
              <a:cs typeface="Calibri"/>
              <a:sym typeface="Calibri"/>
            </a:endParaRPr>
          </a:p>
        </p:txBody>
      </p:sp>
      <p:sp>
        <p:nvSpPr>
          <p:cNvPr id="361" name="Google Shape;361;p11"/>
          <p:cNvSpPr/>
          <p:nvPr/>
        </p:nvSpPr>
        <p:spPr>
          <a:xfrm>
            <a:off x="1247775" y="3876675"/>
            <a:ext cx="4859540" cy="2571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4B4845"/>
              </a:buClr>
              <a:buSzPts val="1387"/>
              <a:buFont typeface="Courier New"/>
              <a:buNone/>
            </a:pPr>
            <a:r>
              <a:rPr lang="en-US" sz="1388">
                <a:solidFill>
                  <a:srgbClr val="4B4845"/>
                </a:solidFill>
                <a:latin typeface="Courier New"/>
                <a:ea typeface="Courier New"/>
                <a:cs typeface="Courier New"/>
                <a:sym typeface="Courier New"/>
              </a:rPr>
              <a:t>max_depth = 10</a:t>
            </a:r>
            <a:endParaRPr sz="1388">
              <a:solidFill>
                <a:schemeClr val="dk1"/>
              </a:solidFill>
              <a:latin typeface="Calibri"/>
              <a:ea typeface="Calibri"/>
              <a:cs typeface="Calibri"/>
              <a:sym typeface="Calibri"/>
            </a:endParaRPr>
          </a:p>
        </p:txBody>
      </p:sp>
      <p:sp>
        <p:nvSpPr>
          <p:cNvPr id="362" name="Google Shape;362;p11"/>
          <p:cNvSpPr/>
          <p:nvPr/>
        </p:nvSpPr>
        <p:spPr>
          <a:xfrm>
            <a:off x="6489650" y="2790825"/>
            <a:ext cx="5308550" cy="1581150"/>
          </a:xfrm>
          <a:prstGeom prst="rect">
            <a:avLst/>
          </a:prstGeom>
          <a:solidFill>
            <a:srgbClr val="FFFFFF"/>
          </a:solidFill>
          <a:ln w="9525" cap="flat" cmpd="sng">
            <a:solidFill>
              <a:srgbClr val="D9D3C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3" name="Google Shape;363;p11"/>
          <p:cNvSpPr/>
          <p:nvPr/>
        </p:nvSpPr>
        <p:spPr>
          <a:xfrm>
            <a:off x="6784925" y="3067050"/>
            <a:ext cx="4859540" cy="22860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B95D2C"/>
              </a:buClr>
              <a:buSzPts val="1248"/>
              <a:buFont typeface="Courier New"/>
              <a:buNone/>
            </a:pPr>
            <a:r>
              <a:rPr lang="en-US" sz="1249">
                <a:solidFill>
                  <a:srgbClr val="B95D2C"/>
                </a:solidFill>
                <a:latin typeface="Courier New"/>
                <a:ea typeface="Courier New"/>
                <a:cs typeface="Courier New"/>
                <a:sym typeface="Courier New"/>
              </a:rPr>
              <a:t>ENSEMBLE</a:t>
            </a:r>
            <a:endParaRPr sz="1249">
              <a:solidFill>
                <a:schemeClr val="dk1"/>
              </a:solidFill>
              <a:latin typeface="Calibri"/>
              <a:ea typeface="Calibri"/>
              <a:cs typeface="Calibri"/>
              <a:sym typeface="Calibri"/>
            </a:endParaRPr>
          </a:p>
        </p:txBody>
      </p:sp>
      <p:sp>
        <p:nvSpPr>
          <p:cNvPr id="364" name="Google Shape;364;p11"/>
          <p:cNvSpPr/>
          <p:nvPr/>
        </p:nvSpPr>
        <p:spPr>
          <a:xfrm>
            <a:off x="6784925" y="3352800"/>
            <a:ext cx="4859540" cy="42862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1C1B1A"/>
              </a:buClr>
              <a:buSzPts val="2636"/>
              <a:buFont typeface="Georgia"/>
              <a:buNone/>
            </a:pPr>
            <a:r>
              <a:rPr lang="en-US" sz="2636" b="1">
                <a:solidFill>
                  <a:srgbClr val="1C1B1A"/>
                </a:solidFill>
                <a:latin typeface="Georgia"/>
                <a:ea typeface="Georgia"/>
                <a:cs typeface="Georgia"/>
                <a:sym typeface="Georgia"/>
              </a:rPr>
              <a:t>Random Forest</a:t>
            </a:r>
            <a:endParaRPr sz="2636">
              <a:solidFill>
                <a:schemeClr val="dk1"/>
              </a:solidFill>
              <a:latin typeface="Calibri"/>
              <a:ea typeface="Calibri"/>
              <a:cs typeface="Calibri"/>
              <a:sym typeface="Calibri"/>
            </a:endParaRPr>
          </a:p>
        </p:txBody>
      </p:sp>
      <p:sp>
        <p:nvSpPr>
          <p:cNvPr id="365" name="Google Shape;365;p11"/>
          <p:cNvSpPr/>
          <p:nvPr/>
        </p:nvSpPr>
        <p:spPr>
          <a:xfrm>
            <a:off x="6784925" y="3876675"/>
            <a:ext cx="4859540" cy="2571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4B4845"/>
              </a:buClr>
              <a:buSzPts val="1387"/>
              <a:buFont typeface="Courier New"/>
              <a:buNone/>
            </a:pPr>
            <a:r>
              <a:rPr lang="en-US" sz="1388">
                <a:solidFill>
                  <a:srgbClr val="4B4845"/>
                </a:solidFill>
                <a:latin typeface="Courier New"/>
                <a:ea typeface="Courier New"/>
                <a:cs typeface="Courier New"/>
                <a:sym typeface="Courier New"/>
              </a:rPr>
              <a:t>n_estimators = 200</a:t>
            </a:r>
            <a:endParaRPr sz="1388">
              <a:solidFill>
                <a:schemeClr val="dk1"/>
              </a:solidFill>
              <a:latin typeface="Calibri"/>
              <a:ea typeface="Calibri"/>
              <a:cs typeface="Calibri"/>
              <a:sym typeface="Calibri"/>
            </a:endParaRPr>
          </a:p>
        </p:txBody>
      </p:sp>
      <p:sp>
        <p:nvSpPr>
          <p:cNvPr id="366" name="Google Shape;366;p11"/>
          <p:cNvSpPr/>
          <p:nvPr/>
        </p:nvSpPr>
        <p:spPr>
          <a:xfrm>
            <a:off x="12026801" y="2790825"/>
            <a:ext cx="5308699" cy="1581150"/>
          </a:xfrm>
          <a:prstGeom prst="rect">
            <a:avLst/>
          </a:prstGeom>
          <a:solidFill>
            <a:srgbClr val="FFFFFF"/>
          </a:solidFill>
          <a:ln w="9525" cap="flat" cmpd="sng">
            <a:solidFill>
              <a:srgbClr val="D9D3C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7" name="Google Shape;367;p11"/>
          <p:cNvSpPr/>
          <p:nvPr/>
        </p:nvSpPr>
        <p:spPr>
          <a:xfrm>
            <a:off x="12322076" y="3067050"/>
            <a:ext cx="4859694" cy="22860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B95D2C"/>
              </a:buClr>
              <a:buSzPts val="1248"/>
              <a:buFont typeface="Courier New"/>
              <a:buNone/>
            </a:pPr>
            <a:r>
              <a:rPr lang="en-US" sz="1249">
                <a:solidFill>
                  <a:srgbClr val="B95D2C"/>
                </a:solidFill>
                <a:latin typeface="Courier New"/>
                <a:ea typeface="Courier New"/>
                <a:cs typeface="Courier New"/>
                <a:sym typeface="Courier New"/>
              </a:rPr>
              <a:t>INSTANCE</a:t>
            </a:r>
            <a:endParaRPr sz="1249">
              <a:solidFill>
                <a:schemeClr val="dk1"/>
              </a:solidFill>
              <a:latin typeface="Calibri"/>
              <a:ea typeface="Calibri"/>
              <a:cs typeface="Calibri"/>
              <a:sym typeface="Calibri"/>
            </a:endParaRPr>
          </a:p>
        </p:txBody>
      </p:sp>
      <p:sp>
        <p:nvSpPr>
          <p:cNvPr id="368" name="Google Shape;368;p11"/>
          <p:cNvSpPr/>
          <p:nvPr/>
        </p:nvSpPr>
        <p:spPr>
          <a:xfrm>
            <a:off x="12322076" y="3352800"/>
            <a:ext cx="4859694" cy="42862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1C1B1A"/>
              </a:buClr>
              <a:buSzPts val="2636"/>
              <a:buFont typeface="Georgia"/>
              <a:buNone/>
            </a:pPr>
            <a:r>
              <a:rPr lang="en-US" sz="2636" b="1">
                <a:solidFill>
                  <a:srgbClr val="1C1B1A"/>
                </a:solidFill>
                <a:latin typeface="Georgia"/>
                <a:ea typeface="Georgia"/>
                <a:cs typeface="Georgia"/>
                <a:sym typeface="Georgia"/>
              </a:rPr>
              <a:t>KNN</a:t>
            </a:r>
            <a:endParaRPr sz="2636">
              <a:solidFill>
                <a:schemeClr val="dk1"/>
              </a:solidFill>
              <a:latin typeface="Calibri"/>
              <a:ea typeface="Calibri"/>
              <a:cs typeface="Calibri"/>
              <a:sym typeface="Calibri"/>
            </a:endParaRPr>
          </a:p>
        </p:txBody>
      </p:sp>
      <p:sp>
        <p:nvSpPr>
          <p:cNvPr id="369" name="Google Shape;369;p11"/>
          <p:cNvSpPr/>
          <p:nvPr/>
        </p:nvSpPr>
        <p:spPr>
          <a:xfrm>
            <a:off x="12322076" y="3876675"/>
            <a:ext cx="4859694" cy="2571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4B4845"/>
              </a:buClr>
              <a:buSzPts val="1387"/>
              <a:buFont typeface="Courier New"/>
              <a:buNone/>
            </a:pPr>
            <a:r>
              <a:rPr lang="en-US" sz="1388">
                <a:solidFill>
                  <a:srgbClr val="4B4845"/>
                </a:solidFill>
                <a:latin typeface="Courier New"/>
                <a:ea typeface="Courier New"/>
                <a:cs typeface="Courier New"/>
                <a:sym typeface="Courier New"/>
              </a:rPr>
              <a:t>best k = 11 (tuned)</a:t>
            </a:r>
            <a:endParaRPr sz="1388">
              <a:solidFill>
                <a:schemeClr val="dk1"/>
              </a:solidFill>
              <a:latin typeface="Calibri"/>
              <a:ea typeface="Calibri"/>
              <a:cs typeface="Calibri"/>
              <a:sym typeface="Calibri"/>
            </a:endParaRPr>
          </a:p>
        </p:txBody>
      </p:sp>
      <p:sp>
        <p:nvSpPr>
          <p:cNvPr id="370" name="Google Shape;370;p11"/>
          <p:cNvSpPr/>
          <p:nvPr/>
        </p:nvSpPr>
        <p:spPr>
          <a:xfrm>
            <a:off x="952500" y="4600575"/>
            <a:ext cx="5308550" cy="1581150"/>
          </a:xfrm>
          <a:prstGeom prst="rect">
            <a:avLst/>
          </a:prstGeom>
          <a:solidFill>
            <a:srgbClr val="FFFFFF"/>
          </a:solidFill>
          <a:ln w="9525" cap="flat" cmpd="sng">
            <a:solidFill>
              <a:srgbClr val="D9D3C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1" name="Google Shape;371;p11"/>
          <p:cNvSpPr/>
          <p:nvPr/>
        </p:nvSpPr>
        <p:spPr>
          <a:xfrm>
            <a:off x="1247775" y="4876800"/>
            <a:ext cx="4859540" cy="22860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B95D2C"/>
              </a:buClr>
              <a:buSzPts val="1248"/>
              <a:buFont typeface="Courier New"/>
              <a:buNone/>
            </a:pPr>
            <a:r>
              <a:rPr lang="en-US" sz="1249">
                <a:solidFill>
                  <a:srgbClr val="B95D2C"/>
                </a:solidFill>
                <a:latin typeface="Courier New"/>
                <a:ea typeface="Courier New"/>
                <a:cs typeface="Courier New"/>
                <a:sym typeface="Courier New"/>
              </a:rPr>
              <a:t>LINEAR</a:t>
            </a:r>
            <a:endParaRPr sz="1249">
              <a:solidFill>
                <a:schemeClr val="dk1"/>
              </a:solidFill>
              <a:latin typeface="Calibri"/>
              <a:ea typeface="Calibri"/>
              <a:cs typeface="Calibri"/>
              <a:sym typeface="Calibri"/>
            </a:endParaRPr>
          </a:p>
        </p:txBody>
      </p:sp>
      <p:sp>
        <p:nvSpPr>
          <p:cNvPr id="372" name="Google Shape;372;p11"/>
          <p:cNvSpPr/>
          <p:nvPr/>
        </p:nvSpPr>
        <p:spPr>
          <a:xfrm>
            <a:off x="1247775" y="5162550"/>
            <a:ext cx="4859540" cy="42862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1C1B1A"/>
              </a:buClr>
              <a:buSzPts val="2636"/>
              <a:buFont typeface="Georgia"/>
              <a:buNone/>
            </a:pPr>
            <a:r>
              <a:rPr lang="en-US" sz="2636" b="1">
                <a:solidFill>
                  <a:srgbClr val="1C1B1A"/>
                </a:solidFill>
                <a:latin typeface="Georgia"/>
                <a:ea typeface="Georgia"/>
                <a:cs typeface="Georgia"/>
                <a:sym typeface="Georgia"/>
              </a:rPr>
              <a:t>Logistic Regression</a:t>
            </a:r>
            <a:endParaRPr sz="2636">
              <a:solidFill>
                <a:schemeClr val="dk1"/>
              </a:solidFill>
              <a:latin typeface="Calibri"/>
              <a:ea typeface="Calibri"/>
              <a:cs typeface="Calibri"/>
              <a:sym typeface="Calibri"/>
            </a:endParaRPr>
          </a:p>
        </p:txBody>
      </p:sp>
      <p:sp>
        <p:nvSpPr>
          <p:cNvPr id="373" name="Google Shape;373;p11"/>
          <p:cNvSpPr/>
          <p:nvPr/>
        </p:nvSpPr>
        <p:spPr>
          <a:xfrm>
            <a:off x="1247775" y="5686425"/>
            <a:ext cx="4859540" cy="2571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4B4845"/>
              </a:buClr>
              <a:buSzPts val="1387"/>
              <a:buFont typeface="Courier New"/>
              <a:buNone/>
            </a:pPr>
            <a:r>
              <a:rPr lang="en-US" sz="1388">
                <a:solidFill>
                  <a:srgbClr val="4B4845"/>
                </a:solidFill>
                <a:latin typeface="Courier New"/>
                <a:ea typeface="Courier New"/>
                <a:cs typeface="Courier New"/>
                <a:sym typeface="Courier New"/>
              </a:rPr>
              <a:t>multinomial · max_iter=1000</a:t>
            </a:r>
            <a:endParaRPr sz="1388">
              <a:solidFill>
                <a:schemeClr val="dk1"/>
              </a:solidFill>
              <a:latin typeface="Calibri"/>
              <a:ea typeface="Calibri"/>
              <a:cs typeface="Calibri"/>
              <a:sym typeface="Calibri"/>
            </a:endParaRPr>
          </a:p>
        </p:txBody>
      </p:sp>
      <p:sp>
        <p:nvSpPr>
          <p:cNvPr id="374" name="Google Shape;374;p11"/>
          <p:cNvSpPr/>
          <p:nvPr/>
        </p:nvSpPr>
        <p:spPr>
          <a:xfrm>
            <a:off x="6489650" y="4600575"/>
            <a:ext cx="5308550" cy="1581150"/>
          </a:xfrm>
          <a:prstGeom prst="rect">
            <a:avLst/>
          </a:prstGeom>
          <a:solidFill>
            <a:srgbClr val="FFFFFF"/>
          </a:solidFill>
          <a:ln w="9525" cap="flat" cmpd="sng">
            <a:solidFill>
              <a:srgbClr val="D9D3C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5" name="Google Shape;375;p11"/>
          <p:cNvSpPr/>
          <p:nvPr/>
        </p:nvSpPr>
        <p:spPr>
          <a:xfrm>
            <a:off x="6784925" y="4876800"/>
            <a:ext cx="4859540" cy="22860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B95D2C"/>
              </a:buClr>
              <a:buSzPts val="1248"/>
              <a:buFont typeface="Courier New"/>
              <a:buNone/>
            </a:pPr>
            <a:r>
              <a:rPr lang="en-US" sz="1249">
                <a:solidFill>
                  <a:srgbClr val="B95D2C"/>
                </a:solidFill>
                <a:latin typeface="Courier New"/>
                <a:ea typeface="Courier New"/>
                <a:cs typeface="Courier New"/>
                <a:sym typeface="Courier New"/>
              </a:rPr>
              <a:t>KERNEL</a:t>
            </a:r>
            <a:endParaRPr sz="1249">
              <a:solidFill>
                <a:schemeClr val="dk1"/>
              </a:solidFill>
              <a:latin typeface="Calibri"/>
              <a:ea typeface="Calibri"/>
              <a:cs typeface="Calibri"/>
              <a:sym typeface="Calibri"/>
            </a:endParaRPr>
          </a:p>
        </p:txBody>
      </p:sp>
      <p:sp>
        <p:nvSpPr>
          <p:cNvPr id="376" name="Google Shape;376;p11"/>
          <p:cNvSpPr/>
          <p:nvPr/>
        </p:nvSpPr>
        <p:spPr>
          <a:xfrm>
            <a:off x="6784925" y="5162550"/>
            <a:ext cx="4859540" cy="42862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1C1B1A"/>
              </a:buClr>
              <a:buSzPts val="2636"/>
              <a:buFont typeface="Georgia"/>
              <a:buNone/>
            </a:pPr>
            <a:r>
              <a:rPr lang="en-US" sz="2636" b="1">
                <a:solidFill>
                  <a:srgbClr val="1C1B1A"/>
                </a:solidFill>
                <a:latin typeface="Georgia"/>
                <a:ea typeface="Georgia"/>
                <a:cs typeface="Georgia"/>
                <a:sym typeface="Georgia"/>
              </a:rPr>
              <a:t>SVM</a:t>
            </a:r>
            <a:endParaRPr sz="2636">
              <a:solidFill>
                <a:schemeClr val="dk1"/>
              </a:solidFill>
              <a:latin typeface="Calibri"/>
              <a:ea typeface="Calibri"/>
              <a:cs typeface="Calibri"/>
              <a:sym typeface="Calibri"/>
            </a:endParaRPr>
          </a:p>
        </p:txBody>
      </p:sp>
      <p:sp>
        <p:nvSpPr>
          <p:cNvPr id="377" name="Google Shape;377;p11"/>
          <p:cNvSpPr/>
          <p:nvPr/>
        </p:nvSpPr>
        <p:spPr>
          <a:xfrm>
            <a:off x="6784925" y="5686425"/>
            <a:ext cx="4859540" cy="2571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4B4845"/>
              </a:buClr>
              <a:buSzPts val="1387"/>
              <a:buFont typeface="Courier New"/>
              <a:buNone/>
            </a:pPr>
            <a:r>
              <a:rPr lang="en-US" sz="1388">
                <a:solidFill>
                  <a:srgbClr val="4B4845"/>
                </a:solidFill>
                <a:latin typeface="Courier New"/>
                <a:ea typeface="Courier New"/>
                <a:cs typeface="Courier New"/>
                <a:sym typeface="Courier New"/>
              </a:rPr>
              <a:t>RBF kernel · probability=True</a:t>
            </a:r>
            <a:endParaRPr sz="1388">
              <a:solidFill>
                <a:schemeClr val="dk1"/>
              </a:solidFill>
              <a:latin typeface="Calibri"/>
              <a:ea typeface="Calibri"/>
              <a:cs typeface="Calibri"/>
              <a:sym typeface="Calibri"/>
            </a:endParaRPr>
          </a:p>
        </p:txBody>
      </p:sp>
      <p:sp>
        <p:nvSpPr>
          <p:cNvPr id="378" name="Google Shape;378;p11"/>
          <p:cNvSpPr/>
          <p:nvPr/>
        </p:nvSpPr>
        <p:spPr>
          <a:xfrm>
            <a:off x="12026801" y="4600575"/>
            <a:ext cx="5308699" cy="1581150"/>
          </a:xfrm>
          <a:prstGeom prst="rect">
            <a:avLst/>
          </a:prstGeom>
          <a:solidFill>
            <a:srgbClr val="FFFFFF"/>
          </a:solidFill>
          <a:ln w="9525" cap="flat" cmpd="sng">
            <a:solidFill>
              <a:srgbClr val="D9D3C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9" name="Google Shape;379;p11"/>
          <p:cNvSpPr/>
          <p:nvPr/>
        </p:nvSpPr>
        <p:spPr>
          <a:xfrm>
            <a:off x="12322076" y="4876800"/>
            <a:ext cx="4859694" cy="22860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B95D2C"/>
              </a:buClr>
              <a:buSzPts val="1248"/>
              <a:buFont typeface="Courier New"/>
              <a:buNone/>
            </a:pPr>
            <a:r>
              <a:rPr lang="en-US" sz="1249">
                <a:solidFill>
                  <a:srgbClr val="B95D2C"/>
                </a:solidFill>
                <a:latin typeface="Courier New"/>
                <a:ea typeface="Courier New"/>
                <a:cs typeface="Courier New"/>
                <a:sym typeface="Courier New"/>
              </a:rPr>
              <a:t>BOOSTING</a:t>
            </a:r>
            <a:endParaRPr sz="1249">
              <a:solidFill>
                <a:schemeClr val="dk1"/>
              </a:solidFill>
              <a:latin typeface="Calibri"/>
              <a:ea typeface="Calibri"/>
              <a:cs typeface="Calibri"/>
              <a:sym typeface="Calibri"/>
            </a:endParaRPr>
          </a:p>
        </p:txBody>
      </p:sp>
      <p:sp>
        <p:nvSpPr>
          <p:cNvPr id="380" name="Google Shape;380;p11"/>
          <p:cNvSpPr/>
          <p:nvPr/>
        </p:nvSpPr>
        <p:spPr>
          <a:xfrm>
            <a:off x="12322076" y="5162550"/>
            <a:ext cx="4859694" cy="42862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1C1B1A"/>
              </a:buClr>
              <a:buSzPts val="2636"/>
              <a:buFont typeface="Georgia"/>
              <a:buNone/>
            </a:pPr>
            <a:r>
              <a:rPr lang="en-US" sz="2636" b="1">
                <a:solidFill>
                  <a:srgbClr val="1C1B1A"/>
                </a:solidFill>
                <a:latin typeface="Georgia"/>
                <a:ea typeface="Georgia"/>
                <a:cs typeface="Georgia"/>
                <a:sym typeface="Georgia"/>
              </a:rPr>
              <a:t>XGBoost</a:t>
            </a:r>
            <a:endParaRPr sz="2636">
              <a:solidFill>
                <a:schemeClr val="dk1"/>
              </a:solidFill>
              <a:latin typeface="Calibri"/>
              <a:ea typeface="Calibri"/>
              <a:cs typeface="Calibri"/>
              <a:sym typeface="Calibri"/>
            </a:endParaRPr>
          </a:p>
        </p:txBody>
      </p:sp>
      <p:sp>
        <p:nvSpPr>
          <p:cNvPr id="381" name="Google Shape;381;p11"/>
          <p:cNvSpPr/>
          <p:nvPr/>
        </p:nvSpPr>
        <p:spPr>
          <a:xfrm>
            <a:off x="12322076" y="5686425"/>
            <a:ext cx="4859694" cy="2571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4B4845"/>
              </a:buClr>
              <a:buSzPts val="1387"/>
              <a:buFont typeface="Courier New"/>
              <a:buNone/>
            </a:pPr>
            <a:r>
              <a:rPr lang="en-US" sz="1388">
                <a:solidFill>
                  <a:srgbClr val="4B4845"/>
                </a:solidFill>
                <a:latin typeface="Courier New"/>
                <a:ea typeface="Courier New"/>
                <a:cs typeface="Courier New"/>
                <a:sym typeface="Courier New"/>
              </a:rPr>
              <a:t>n_est=200 · depth=6 · lr=0.1</a:t>
            </a:r>
            <a:endParaRPr sz="1388">
              <a:solidFill>
                <a:schemeClr val="dk1"/>
              </a:solidFill>
              <a:latin typeface="Calibri"/>
              <a:ea typeface="Calibri"/>
              <a:cs typeface="Calibri"/>
              <a:sym typeface="Calibri"/>
            </a:endParaRPr>
          </a:p>
        </p:txBody>
      </p:sp>
      <p:sp>
        <p:nvSpPr>
          <p:cNvPr id="382" name="Google Shape;382;p11"/>
          <p:cNvSpPr/>
          <p:nvPr/>
        </p:nvSpPr>
        <p:spPr>
          <a:xfrm>
            <a:off x="952500" y="6638925"/>
            <a:ext cx="2267396" cy="390525"/>
          </a:xfrm>
          <a:prstGeom prst="roundRect">
            <a:avLst>
              <a:gd name="adj" fmla="val 50000"/>
            </a:avLst>
          </a:prstGeom>
          <a:solidFill>
            <a:srgbClr val="FAF8F4"/>
          </a:solidFill>
          <a:ln w="9525" cap="flat" cmpd="sng">
            <a:solidFill>
              <a:srgbClr val="D9D3C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3" name="Google Shape;383;p11"/>
          <p:cNvSpPr/>
          <p:nvPr/>
        </p:nvSpPr>
        <p:spPr>
          <a:xfrm>
            <a:off x="1114425" y="6724650"/>
            <a:ext cx="2019746" cy="2571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4B4845"/>
              </a:buClr>
              <a:buSzPts val="1387"/>
              <a:buFont typeface="Courier New"/>
              <a:buNone/>
            </a:pPr>
            <a:r>
              <a:rPr lang="en-US" sz="1388">
                <a:solidFill>
                  <a:srgbClr val="4B4845"/>
                </a:solidFill>
                <a:latin typeface="Courier New"/>
                <a:ea typeface="Courier New"/>
                <a:cs typeface="Courier New"/>
                <a:sym typeface="Courier New"/>
              </a:rPr>
              <a:t>random_state = 42</a:t>
            </a:r>
            <a:endParaRPr sz="1388">
              <a:solidFill>
                <a:schemeClr val="dk1"/>
              </a:solidFill>
              <a:latin typeface="Calibri"/>
              <a:ea typeface="Calibri"/>
              <a:cs typeface="Calibri"/>
              <a:sym typeface="Calibri"/>
            </a:endParaRPr>
          </a:p>
        </p:txBody>
      </p:sp>
      <p:sp>
        <p:nvSpPr>
          <p:cNvPr id="384" name="Google Shape;384;p11"/>
          <p:cNvSpPr/>
          <p:nvPr/>
        </p:nvSpPr>
        <p:spPr>
          <a:xfrm>
            <a:off x="3353246" y="6638925"/>
            <a:ext cx="3067496" cy="390525"/>
          </a:xfrm>
          <a:prstGeom prst="roundRect">
            <a:avLst>
              <a:gd name="adj" fmla="val 50000"/>
            </a:avLst>
          </a:prstGeom>
          <a:solidFill>
            <a:srgbClr val="FAF8F4"/>
          </a:solidFill>
          <a:ln w="9525" cap="flat" cmpd="sng">
            <a:solidFill>
              <a:srgbClr val="D9D3C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5" name="Google Shape;385;p11"/>
          <p:cNvSpPr/>
          <p:nvPr/>
        </p:nvSpPr>
        <p:spPr>
          <a:xfrm>
            <a:off x="3515171" y="6724650"/>
            <a:ext cx="2825956" cy="2571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4B4845"/>
              </a:buClr>
              <a:buSzPts val="1387"/>
              <a:buFont typeface="Courier New"/>
              <a:buNone/>
            </a:pPr>
            <a:r>
              <a:rPr lang="en-US" sz="1388">
                <a:solidFill>
                  <a:srgbClr val="4B4845"/>
                </a:solidFill>
                <a:latin typeface="Courier New"/>
                <a:ea typeface="Courier New"/>
                <a:cs typeface="Courier New"/>
                <a:sym typeface="Courier New"/>
              </a:rPr>
              <a:t>80 / 20 stratified split</a:t>
            </a:r>
            <a:endParaRPr sz="1388">
              <a:solidFill>
                <a:schemeClr val="dk1"/>
              </a:solidFill>
              <a:latin typeface="Calibri"/>
              <a:ea typeface="Calibri"/>
              <a:cs typeface="Calibri"/>
              <a:sym typeface="Calibri"/>
            </a:endParaRPr>
          </a:p>
        </p:txBody>
      </p:sp>
      <p:sp>
        <p:nvSpPr>
          <p:cNvPr id="386" name="Google Shape;386;p11"/>
          <p:cNvSpPr/>
          <p:nvPr/>
        </p:nvSpPr>
        <p:spPr>
          <a:xfrm>
            <a:off x="6554093" y="6638925"/>
            <a:ext cx="2953196" cy="390525"/>
          </a:xfrm>
          <a:prstGeom prst="roundRect">
            <a:avLst>
              <a:gd name="adj" fmla="val 50000"/>
            </a:avLst>
          </a:prstGeom>
          <a:solidFill>
            <a:srgbClr val="FAF8F4"/>
          </a:solidFill>
          <a:ln w="9525" cap="flat" cmpd="sng">
            <a:solidFill>
              <a:srgbClr val="D9D3C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7" name="Google Shape;387;p11"/>
          <p:cNvSpPr/>
          <p:nvPr/>
        </p:nvSpPr>
        <p:spPr>
          <a:xfrm>
            <a:off x="6716018" y="6724650"/>
            <a:ext cx="2708227" cy="2571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4B4845"/>
              </a:buClr>
              <a:buSzPts val="1387"/>
              <a:buFont typeface="Courier New"/>
              <a:buNone/>
            </a:pPr>
            <a:r>
              <a:rPr lang="en-US" sz="1388">
                <a:solidFill>
                  <a:srgbClr val="4B4845"/>
                </a:solidFill>
                <a:latin typeface="Courier New"/>
                <a:ea typeface="Courier New"/>
                <a:cs typeface="Courier New"/>
                <a:sym typeface="Courier New"/>
              </a:rPr>
              <a:t>5-fold cross-validation</a:t>
            </a:r>
            <a:endParaRPr sz="1388">
              <a:solidFill>
                <a:schemeClr val="dk1"/>
              </a:solidFill>
              <a:latin typeface="Calibri"/>
              <a:ea typeface="Calibri"/>
              <a:cs typeface="Calibri"/>
              <a:sym typeface="Calibri"/>
            </a:endParaRPr>
          </a:p>
        </p:txBody>
      </p:sp>
      <p:sp>
        <p:nvSpPr>
          <p:cNvPr id="388" name="Google Shape;388;p11"/>
          <p:cNvSpPr/>
          <p:nvPr/>
        </p:nvSpPr>
        <p:spPr>
          <a:xfrm>
            <a:off x="9640639" y="6638925"/>
            <a:ext cx="3067496" cy="390525"/>
          </a:xfrm>
          <a:prstGeom prst="roundRect">
            <a:avLst>
              <a:gd name="adj" fmla="val 50000"/>
            </a:avLst>
          </a:prstGeom>
          <a:solidFill>
            <a:srgbClr val="0E3A53"/>
          </a:solidFill>
          <a:ln w="9525" cap="flat" cmpd="sng">
            <a:solidFill>
              <a:srgbClr val="0E3A5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9" name="Google Shape;389;p11"/>
          <p:cNvSpPr/>
          <p:nvPr/>
        </p:nvSpPr>
        <p:spPr>
          <a:xfrm>
            <a:off x="9802564" y="6724650"/>
            <a:ext cx="2825956" cy="2571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FFFFFF"/>
              </a:buClr>
              <a:buSzPts val="1387"/>
              <a:buFont typeface="Courier New"/>
              <a:buNone/>
            </a:pPr>
            <a:r>
              <a:rPr lang="en-US" sz="1388">
                <a:solidFill>
                  <a:srgbClr val="FFFFFF"/>
                </a:solidFill>
                <a:latin typeface="Courier New"/>
                <a:ea typeface="Courier New"/>
                <a:cs typeface="Courier New"/>
                <a:sym typeface="Courier New"/>
              </a:rPr>
              <a:t>Primary metric: F1-macro</a:t>
            </a:r>
            <a:endParaRPr sz="1388">
              <a:solidFill>
                <a:schemeClr val="dk1"/>
              </a:solidFill>
              <a:latin typeface="Calibri"/>
              <a:ea typeface="Calibri"/>
              <a:cs typeface="Calibri"/>
              <a:sym typeface="Calibri"/>
            </a:endParaRPr>
          </a:p>
        </p:txBody>
      </p:sp>
      <p:sp>
        <p:nvSpPr>
          <p:cNvPr id="390" name="Google Shape;390;p11"/>
          <p:cNvSpPr/>
          <p:nvPr/>
        </p:nvSpPr>
        <p:spPr>
          <a:xfrm>
            <a:off x="16692116" y="7153275"/>
            <a:ext cx="1100584" cy="2952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665"/>
              <a:buFont typeface="Courier New"/>
              <a:buNone/>
            </a:pPr>
            <a:r>
              <a:rPr lang="en-US" sz="1665">
                <a:solidFill>
                  <a:srgbClr val="807C76"/>
                </a:solidFill>
                <a:latin typeface="Courier New"/>
                <a:ea typeface="Courier New"/>
                <a:cs typeface="Courier New"/>
                <a:sym typeface="Courier New"/>
              </a:rPr>
              <a:t>11/19</a:t>
            </a:r>
            <a:endParaRPr sz="1665">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Shape 395"/>
        <p:cNvGrpSpPr/>
        <p:nvPr/>
      </p:nvGrpSpPr>
      <p:grpSpPr>
        <a:xfrm>
          <a:off x="0" y="0"/>
          <a:ext cx="0" cy="0"/>
          <a:chOff x="0" y="0"/>
          <a:chExt cx="0" cy="0"/>
        </a:xfrm>
      </p:grpSpPr>
      <p:sp>
        <p:nvSpPr>
          <p:cNvPr id="396" name="Google Shape;396;p12"/>
          <p:cNvSpPr/>
          <p:nvPr/>
        </p:nvSpPr>
        <p:spPr>
          <a:xfrm>
            <a:off x="952500" y="1047006"/>
            <a:ext cx="533400" cy="19050"/>
          </a:xfrm>
          <a:prstGeom prst="rect">
            <a:avLst/>
          </a:prstGeom>
          <a:solidFill>
            <a:srgbClr val="4B484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7" name="Google Shape;397;p12"/>
          <p:cNvSpPr/>
          <p:nvPr/>
        </p:nvSpPr>
        <p:spPr>
          <a:xfrm>
            <a:off x="1657350" y="952500"/>
            <a:ext cx="4959368" cy="2952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665"/>
              <a:buFont typeface="Courier New"/>
              <a:buNone/>
            </a:pPr>
            <a:r>
              <a:rPr lang="en-US" sz="1665">
                <a:solidFill>
                  <a:srgbClr val="807C76"/>
                </a:solidFill>
                <a:latin typeface="Courier New"/>
                <a:ea typeface="Courier New"/>
                <a:cs typeface="Courier New"/>
                <a:sym typeface="Courier New"/>
              </a:rPr>
              <a:t>11 · CLASSIFICATION RESULTS</a:t>
            </a:r>
            <a:endParaRPr sz="1665">
              <a:solidFill>
                <a:schemeClr val="dk1"/>
              </a:solidFill>
              <a:latin typeface="Calibri"/>
              <a:ea typeface="Calibri"/>
              <a:cs typeface="Calibri"/>
              <a:sym typeface="Calibri"/>
            </a:endParaRPr>
          </a:p>
        </p:txBody>
      </p:sp>
      <p:sp>
        <p:nvSpPr>
          <p:cNvPr id="398" name="Google Shape;398;p12"/>
          <p:cNvSpPr/>
          <p:nvPr/>
        </p:nvSpPr>
        <p:spPr>
          <a:xfrm>
            <a:off x="952500" y="1704975"/>
            <a:ext cx="16874490" cy="666750"/>
          </a:xfrm>
          <a:prstGeom prst="rect">
            <a:avLst/>
          </a:prstGeom>
          <a:noFill/>
          <a:ln>
            <a:noFill/>
          </a:ln>
        </p:spPr>
        <p:txBody>
          <a:bodyPr spcFirstLastPara="1" wrap="square" lIns="25400" tIns="25400" rIns="25400" bIns="25400" anchor="t" anchorCtr="0">
            <a:normAutofit/>
          </a:bodyPr>
          <a:lstStyle/>
          <a:p>
            <a:pPr marL="0" marR="0" lvl="0" indent="0" algn="l" rtl="0">
              <a:lnSpc>
                <a:spcPct val="84000"/>
              </a:lnSpc>
              <a:spcBef>
                <a:spcPts val="0"/>
              </a:spcBef>
              <a:spcAft>
                <a:spcPts val="0"/>
              </a:spcAft>
              <a:buClr>
                <a:srgbClr val="1C1B1A"/>
              </a:buClr>
              <a:buSzPts val="4440"/>
              <a:buFont typeface="Georgia"/>
              <a:buNone/>
            </a:pPr>
            <a:r>
              <a:rPr lang="en-US" sz="4440" b="1">
                <a:solidFill>
                  <a:srgbClr val="1C1B1A"/>
                </a:solidFill>
                <a:latin typeface="Georgia"/>
                <a:ea typeface="Georgia"/>
                <a:cs typeface="Georgia"/>
                <a:sym typeface="Georgia"/>
              </a:rPr>
              <a:t>Best, middle, and worst — side by side</a:t>
            </a:r>
            <a:endParaRPr sz="4440">
              <a:solidFill>
                <a:schemeClr val="dk1"/>
              </a:solidFill>
              <a:latin typeface="Calibri"/>
              <a:ea typeface="Calibri"/>
              <a:cs typeface="Calibri"/>
              <a:sym typeface="Calibri"/>
            </a:endParaRPr>
          </a:p>
        </p:txBody>
      </p:sp>
      <p:sp>
        <p:nvSpPr>
          <p:cNvPr id="399" name="Google Shape;399;p12"/>
          <p:cNvSpPr/>
          <p:nvPr/>
        </p:nvSpPr>
        <p:spPr>
          <a:xfrm>
            <a:off x="952500" y="3743325"/>
            <a:ext cx="5283101" cy="19050"/>
          </a:xfrm>
          <a:prstGeom prst="rect">
            <a:avLst/>
          </a:prstGeom>
          <a:solidFill>
            <a:srgbClr val="1D9E7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0" name="Google Shape;400;p12"/>
          <p:cNvSpPr/>
          <p:nvPr/>
        </p:nvSpPr>
        <p:spPr>
          <a:xfrm>
            <a:off x="952500" y="2676525"/>
            <a:ext cx="5441594" cy="22860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1D9E75"/>
              </a:buClr>
              <a:buSzPts val="1248"/>
              <a:buFont typeface="Courier New"/>
              <a:buNone/>
            </a:pPr>
            <a:r>
              <a:rPr lang="en-US" sz="1249">
                <a:solidFill>
                  <a:srgbClr val="1D9E75"/>
                </a:solidFill>
                <a:latin typeface="Courier New"/>
                <a:ea typeface="Courier New"/>
                <a:cs typeface="Courier New"/>
                <a:sym typeface="Courier New"/>
              </a:rPr>
              <a:t>BEST</a:t>
            </a:r>
            <a:endParaRPr sz="1249">
              <a:solidFill>
                <a:schemeClr val="dk1"/>
              </a:solidFill>
              <a:latin typeface="Calibri"/>
              <a:ea typeface="Calibri"/>
              <a:cs typeface="Calibri"/>
              <a:sym typeface="Calibri"/>
            </a:endParaRPr>
          </a:p>
        </p:txBody>
      </p:sp>
      <p:sp>
        <p:nvSpPr>
          <p:cNvPr id="401" name="Google Shape;401;p12"/>
          <p:cNvSpPr/>
          <p:nvPr/>
        </p:nvSpPr>
        <p:spPr>
          <a:xfrm>
            <a:off x="952500" y="2924175"/>
            <a:ext cx="5441594" cy="32385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1C1B1A"/>
              </a:buClr>
              <a:buSzPts val="1942"/>
              <a:buFont typeface="Georgia"/>
              <a:buNone/>
            </a:pPr>
            <a:r>
              <a:rPr lang="en-US" sz="1943" b="1">
                <a:solidFill>
                  <a:srgbClr val="1C1B1A"/>
                </a:solidFill>
                <a:latin typeface="Georgia"/>
                <a:ea typeface="Georgia"/>
                <a:cs typeface="Georgia"/>
                <a:sym typeface="Georgia"/>
              </a:rPr>
              <a:t>XGBoost</a:t>
            </a:r>
            <a:endParaRPr sz="1943">
              <a:solidFill>
                <a:schemeClr val="dk1"/>
              </a:solidFill>
              <a:latin typeface="Calibri"/>
              <a:ea typeface="Calibri"/>
              <a:cs typeface="Calibri"/>
              <a:sym typeface="Calibri"/>
            </a:endParaRPr>
          </a:p>
        </p:txBody>
      </p:sp>
      <p:sp>
        <p:nvSpPr>
          <p:cNvPr id="402" name="Google Shape;402;p12"/>
          <p:cNvSpPr/>
          <p:nvPr/>
        </p:nvSpPr>
        <p:spPr>
          <a:xfrm>
            <a:off x="952500" y="3419475"/>
            <a:ext cx="954286" cy="22860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248"/>
              <a:buFont typeface="Courier New"/>
              <a:buNone/>
            </a:pPr>
            <a:r>
              <a:rPr lang="en-US" sz="1249">
                <a:solidFill>
                  <a:srgbClr val="807C76"/>
                </a:solidFill>
                <a:latin typeface="Courier New"/>
                <a:ea typeface="Courier New"/>
                <a:cs typeface="Courier New"/>
                <a:sym typeface="Courier New"/>
              </a:rPr>
              <a:t>F1-MACRO</a:t>
            </a:r>
            <a:endParaRPr sz="1249">
              <a:solidFill>
                <a:schemeClr val="dk1"/>
              </a:solidFill>
              <a:latin typeface="Calibri"/>
              <a:ea typeface="Calibri"/>
              <a:cs typeface="Calibri"/>
              <a:sym typeface="Calibri"/>
            </a:endParaRPr>
          </a:p>
        </p:txBody>
      </p:sp>
      <p:sp>
        <p:nvSpPr>
          <p:cNvPr id="403" name="Google Shape;403;p12"/>
          <p:cNvSpPr/>
          <p:nvPr/>
        </p:nvSpPr>
        <p:spPr>
          <a:xfrm>
            <a:off x="5556200" y="3324225"/>
            <a:ext cx="755600" cy="314325"/>
          </a:xfrm>
          <a:prstGeom prst="rect">
            <a:avLst/>
          </a:prstGeom>
          <a:noFill/>
          <a:ln>
            <a:noFill/>
          </a:ln>
        </p:spPr>
        <p:txBody>
          <a:bodyPr spcFirstLastPara="1" wrap="square" lIns="25400" tIns="25400" rIns="25400" bIns="25400" anchor="t" anchorCtr="0">
            <a:normAutofit/>
          </a:bodyPr>
          <a:lstStyle/>
          <a:p>
            <a:pPr marL="0" marR="0" lvl="0" indent="0" algn="l" rtl="0">
              <a:lnSpc>
                <a:spcPct val="72000"/>
              </a:lnSpc>
              <a:spcBef>
                <a:spcPts val="0"/>
              </a:spcBef>
              <a:spcAft>
                <a:spcPts val="0"/>
              </a:spcAft>
              <a:buClr>
                <a:srgbClr val="1D9E75"/>
              </a:buClr>
              <a:buSzPts val="1860"/>
              <a:buFont typeface="Georgia"/>
              <a:buNone/>
            </a:pPr>
            <a:r>
              <a:rPr lang="en-US" sz="1860" b="1">
                <a:solidFill>
                  <a:srgbClr val="1D9E75"/>
                </a:solidFill>
                <a:latin typeface="Georgia"/>
                <a:ea typeface="Georgia"/>
                <a:cs typeface="Georgia"/>
                <a:sym typeface="Georgia"/>
              </a:rPr>
              <a:t>0.706</a:t>
            </a:r>
            <a:endParaRPr sz="1860">
              <a:solidFill>
                <a:schemeClr val="dk1"/>
              </a:solidFill>
              <a:latin typeface="Calibri"/>
              <a:ea typeface="Calibri"/>
              <a:cs typeface="Calibri"/>
              <a:sym typeface="Calibri"/>
            </a:endParaRPr>
          </a:p>
        </p:txBody>
      </p:sp>
      <p:sp>
        <p:nvSpPr>
          <p:cNvPr id="404" name="Google Shape;404;p12"/>
          <p:cNvSpPr/>
          <p:nvPr/>
        </p:nvSpPr>
        <p:spPr>
          <a:xfrm>
            <a:off x="952500" y="3895725"/>
            <a:ext cx="5283101" cy="2286000"/>
          </a:xfrm>
          <a:prstGeom prst="rect">
            <a:avLst/>
          </a:prstGeom>
          <a:solidFill>
            <a:srgbClr val="FFFFFF"/>
          </a:solidFill>
          <a:ln w="9525" cap="flat" cmpd="sng">
            <a:solidFill>
              <a:srgbClr val="D9D3C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405" name="Google Shape;405;p12" descr="preencoded.png"/>
          <p:cNvPicPr preferRelativeResize="0"/>
          <p:nvPr/>
        </p:nvPicPr>
        <p:blipFill rotWithShape="1">
          <a:blip r:embed="rId3">
            <a:alphaModFix/>
          </a:blip>
          <a:srcRect/>
          <a:stretch/>
        </p:blipFill>
        <p:spPr>
          <a:xfrm>
            <a:off x="2294965" y="3868054"/>
            <a:ext cx="2387763" cy="2151598"/>
          </a:xfrm>
          <a:prstGeom prst="rect">
            <a:avLst/>
          </a:prstGeom>
          <a:noFill/>
          <a:ln>
            <a:noFill/>
          </a:ln>
        </p:spPr>
      </p:pic>
      <p:sp>
        <p:nvSpPr>
          <p:cNvPr id="406" name="Google Shape;406;p12"/>
          <p:cNvSpPr/>
          <p:nvPr/>
        </p:nvSpPr>
        <p:spPr>
          <a:xfrm>
            <a:off x="6502301" y="3743325"/>
            <a:ext cx="5283250" cy="19050"/>
          </a:xfrm>
          <a:prstGeom prst="rect">
            <a:avLst/>
          </a:prstGeom>
          <a:solidFill>
            <a:srgbClr val="0E3A5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7" name="Google Shape;407;p12"/>
          <p:cNvSpPr/>
          <p:nvPr/>
        </p:nvSpPr>
        <p:spPr>
          <a:xfrm>
            <a:off x="6502301" y="2676525"/>
            <a:ext cx="5441747" cy="22860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0E3A53"/>
              </a:buClr>
              <a:buSzPts val="1248"/>
              <a:buFont typeface="Courier New"/>
              <a:buNone/>
            </a:pPr>
            <a:r>
              <a:rPr lang="en-US" sz="1249">
                <a:solidFill>
                  <a:srgbClr val="0E3A53"/>
                </a:solidFill>
                <a:latin typeface="Courier New"/>
                <a:ea typeface="Courier New"/>
                <a:cs typeface="Courier New"/>
                <a:sym typeface="Courier New"/>
              </a:rPr>
              <a:t>MID-RANGE</a:t>
            </a:r>
            <a:endParaRPr sz="1249">
              <a:solidFill>
                <a:schemeClr val="dk1"/>
              </a:solidFill>
              <a:latin typeface="Calibri"/>
              <a:ea typeface="Calibri"/>
              <a:cs typeface="Calibri"/>
              <a:sym typeface="Calibri"/>
            </a:endParaRPr>
          </a:p>
        </p:txBody>
      </p:sp>
      <p:sp>
        <p:nvSpPr>
          <p:cNvPr id="408" name="Google Shape;408;p12"/>
          <p:cNvSpPr/>
          <p:nvPr/>
        </p:nvSpPr>
        <p:spPr>
          <a:xfrm>
            <a:off x="6502301" y="2924175"/>
            <a:ext cx="5441747" cy="32385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1C1B1A"/>
              </a:buClr>
              <a:buSzPts val="1942"/>
              <a:buFont typeface="Georgia"/>
              <a:buNone/>
            </a:pPr>
            <a:r>
              <a:rPr lang="en-US" sz="1943" b="1">
                <a:solidFill>
                  <a:srgbClr val="1C1B1A"/>
                </a:solidFill>
                <a:latin typeface="Georgia"/>
                <a:ea typeface="Georgia"/>
                <a:cs typeface="Georgia"/>
                <a:sym typeface="Georgia"/>
              </a:rPr>
              <a:t>Logistic Regression</a:t>
            </a:r>
            <a:endParaRPr sz="1943">
              <a:solidFill>
                <a:schemeClr val="dk1"/>
              </a:solidFill>
              <a:latin typeface="Calibri"/>
              <a:ea typeface="Calibri"/>
              <a:cs typeface="Calibri"/>
              <a:sym typeface="Calibri"/>
            </a:endParaRPr>
          </a:p>
        </p:txBody>
      </p:sp>
      <p:sp>
        <p:nvSpPr>
          <p:cNvPr id="409" name="Google Shape;409;p12"/>
          <p:cNvSpPr/>
          <p:nvPr/>
        </p:nvSpPr>
        <p:spPr>
          <a:xfrm>
            <a:off x="6502301" y="3419475"/>
            <a:ext cx="954286" cy="22860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248"/>
              <a:buFont typeface="Courier New"/>
              <a:buNone/>
            </a:pPr>
            <a:r>
              <a:rPr lang="en-US" sz="1249">
                <a:solidFill>
                  <a:srgbClr val="807C76"/>
                </a:solidFill>
                <a:latin typeface="Courier New"/>
                <a:ea typeface="Courier New"/>
                <a:cs typeface="Courier New"/>
                <a:sym typeface="Courier New"/>
              </a:rPr>
              <a:t>F1-MACRO</a:t>
            </a:r>
            <a:endParaRPr sz="1249">
              <a:solidFill>
                <a:schemeClr val="dk1"/>
              </a:solidFill>
              <a:latin typeface="Calibri"/>
              <a:ea typeface="Calibri"/>
              <a:cs typeface="Calibri"/>
              <a:sym typeface="Calibri"/>
            </a:endParaRPr>
          </a:p>
        </p:txBody>
      </p:sp>
      <p:sp>
        <p:nvSpPr>
          <p:cNvPr id="410" name="Google Shape;410;p12"/>
          <p:cNvSpPr/>
          <p:nvPr/>
        </p:nvSpPr>
        <p:spPr>
          <a:xfrm>
            <a:off x="10831415" y="3381375"/>
            <a:ext cx="1030335" cy="257175"/>
          </a:xfrm>
          <a:prstGeom prst="rect">
            <a:avLst/>
          </a:prstGeom>
          <a:noFill/>
          <a:ln>
            <a:noFill/>
          </a:ln>
        </p:spPr>
        <p:txBody>
          <a:bodyPr spcFirstLastPara="1" wrap="square" lIns="25400" tIns="25400" rIns="25400" bIns="25400" anchor="t" anchorCtr="0">
            <a:normAutofit/>
          </a:bodyPr>
          <a:lstStyle/>
          <a:p>
            <a:pPr marL="0" marR="0" lvl="0" indent="0" algn="l" rtl="0">
              <a:lnSpc>
                <a:spcPct val="72000"/>
              </a:lnSpc>
              <a:spcBef>
                <a:spcPts val="0"/>
              </a:spcBef>
              <a:spcAft>
                <a:spcPts val="0"/>
              </a:spcAft>
              <a:buClr>
                <a:srgbClr val="0E3A53"/>
              </a:buClr>
              <a:buSzPts val="1679"/>
              <a:buFont typeface="Georgia"/>
              <a:buNone/>
            </a:pPr>
            <a:r>
              <a:rPr lang="en-US" sz="1680" b="1">
                <a:solidFill>
                  <a:srgbClr val="0E3A53"/>
                </a:solidFill>
                <a:latin typeface="Georgia"/>
                <a:ea typeface="Georgia"/>
                <a:cs typeface="Georgia"/>
                <a:sym typeface="Georgia"/>
              </a:rPr>
              <a:t>0.683</a:t>
            </a:r>
            <a:endParaRPr sz="1680">
              <a:solidFill>
                <a:schemeClr val="dk1"/>
              </a:solidFill>
              <a:latin typeface="Calibri"/>
              <a:ea typeface="Calibri"/>
              <a:cs typeface="Calibri"/>
              <a:sym typeface="Calibri"/>
            </a:endParaRPr>
          </a:p>
        </p:txBody>
      </p:sp>
      <p:sp>
        <p:nvSpPr>
          <p:cNvPr id="411" name="Google Shape;411;p12"/>
          <p:cNvSpPr/>
          <p:nvPr/>
        </p:nvSpPr>
        <p:spPr>
          <a:xfrm>
            <a:off x="6502301" y="3895725"/>
            <a:ext cx="5283250" cy="2286000"/>
          </a:xfrm>
          <a:prstGeom prst="rect">
            <a:avLst/>
          </a:prstGeom>
          <a:solidFill>
            <a:srgbClr val="FFFFFF"/>
          </a:solidFill>
          <a:ln w="9525" cap="flat" cmpd="sng">
            <a:solidFill>
              <a:srgbClr val="D9D3C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412" name="Google Shape;412;p12" descr="preencoded.png"/>
          <p:cNvPicPr preferRelativeResize="0"/>
          <p:nvPr/>
        </p:nvPicPr>
        <p:blipFill rotWithShape="1">
          <a:blip r:embed="rId4">
            <a:alphaModFix/>
          </a:blip>
          <a:srcRect/>
          <a:stretch/>
        </p:blipFill>
        <p:spPr>
          <a:xfrm>
            <a:off x="8055173" y="4057650"/>
            <a:ext cx="2177355" cy="1962001"/>
          </a:xfrm>
          <a:prstGeom prst="rect">
            <a:avLst/>
          </a:prstGeom>
          <a:noFill/>
          <a:ln>
            <a:noFill/>
          </a:ln>
        </p:spPr>
      </p:pic>
      <p:sp>
        <p:nvSpPr>
          <p:cNvPr id="413" name="Google Shape;413;p12"/>
          <p:cNvSpPr/>
          <p:nvPr/>
        </p:nvSpPr>
        <p:spPr>
          <a:xfrm>
            <a:off x="12052250" y="3743325"/>
            <a:ext cx="5283101" cy="19050"/>
          </a:xfrm>
          <a:prstGeom prst="rect">
            <a:avLst/>
          </a:prstGeom>
          <a:solidFill>
            <a:srgbClr val="E24B4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4" name="Google Shape;414;p12"/>
          <p:cNvSpPr/>
          <p:nvPr/>
        </p:nvSpPr>
        <p:spPr>
          <a:xfrm>
            <a:off x="12052250" y="2676525"/>
            <a:ext cx="5441594" cy="22860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E24B4A"/>
              </a:buClr>
              <a:buSzPts val="1248"/>
              <a:buFont typeface="Courier New"/>
              <a:buNone/>
            </a:pPr>
            <a:r>
              <a:rPr lang="en-US" sz="1249">
                <a:solidFill>
                  <a:srgbClr val="E24B4A"/>
                </a:solidFill>
                <a:latin typeface="Courier New"/>
                <a:ea typeface="Courier New"/>
                <a:cs typeface="Courier New"/>
                <a:sym typeface="Courier New"/>
              </a:rPr>
              <a:t>WEAKEST</a:t>
            </a:r>
            <a:endParaRPr sz="1249">
              <a:solidFill>
                <a:schemeClr val="dk1"/>
              </a:solidFill>
              <a:latin typeface="Calibri"/>
              <a:ea typeface="Calibri"/>
              <a:cs typeface="Calibri"/>
              <a:sym typeface="Calibri"/>
            </a:endParaRPr>
          </a:p>
        </p:txBody>
      </p:sp>
      <p:sp>
        <p:nvSpPr>
          <p:cNvPr id="415" name="Google Shape;415;p12"/>
          <p:cNvSpPr/>
          <p:nvPr/>
        </p:nvSpPr>
        <p:spPr>
          <a:xfrm>
            <a:off x="12052250" y="2924175"/>
            <a:ext cx="5441594" cy="32385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1C1B1A"/>
              </a:buClr>
              <a:buSzPts val="1942"/>
              <a:buFont typeface="Georgia"/>
              <a:buNone/>
            </a:pPr>
            <a:r>
              <a:rPr lang="en-US" sz="1943" b="1">
                <a:solidFill>
                  <a:srgbClr val="1C1B1A"/>
                </a:solidFill>
                <a:latin typeface="Georgia"/>
                <a:ea typeface="Georgia"/>
                <a:cs typeface="Georgia"/>
                <a:sym typeface="Georgia"/>
              </a:rPr>
              <a:t>KNN (k=11)</a:t>
            </a:r>
            <a:endParaRPr sz="1943">
              <a:solidFill>
                <a:schemeClr val="dk1"/>
              </a:solidFill>
              <a:latin typeface="Calibri"/>
              <a:ea typeface="Calibri"/>
              <a:cs typeface="Calibri"/>
              <a:sym typeface="Calibri"/>
            </a:endParaRPr>
          </a:p>
        </p:txBody>
      </p:sp>
      <p:sp>
        <p:nvSpPr>
          <p:cNvPr id="416" name="Google Shape;416;p12"/>
          <p:cNvSpPr/>
          <p:nvPr/>
        </p:nvSpPr>
        <p:spPr>
          <a:xfrm>
            <a:off x="12052250" y="3419475"/>
            <a:ext cx="954286" cy="22860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248"/>
              <a:buFont typeface="Courier New"/>
              <a:buNone/>
            </a:pPr>
            <a:r>
              <a:rPr lang="en-US" sz="1249">
                <a:solidFill>
                  <a:srgbClr val="807C76"/>
                </a:solidFill>
                <a:latin typeface="Courier New"/>
                <a:ea typeface="Courier New"/>
                <a:cs typeface="Courier New"/>
                <a:sym typeface="Courier New"/>
              </a:rPr>
              <a:t>F1-MACRO</a:t>
            </a:r>
            <a:endParaRPr sz="1249">
              <a:solidFill>
                <a:schemeClr val="dk1"/>
              </a:solidFill>
              <a:latin typeface="Calibri"/>
              <a:ea typeface="Calibri"/>
              <a:cs typeface="Calibri"/>
              <a:sym typeface="Calibri"/>
            </a:endParaRPr>
          </a:p>
        </p:txBody>
      </p:sp>
      <p:sp>
        <p:nvSpPr>
          <p:cNvPr id="417" name="Google Shape;417;p12"/>
          <p:cNvSpPr/>
          <p:nvPr/>
        </p:nvSpPr>
        <p:spPr>
          <a:xfrm>
            <a:off x="16455023" y="3333750"/>
            <a:ext cx="954286" cy="342899"/>
          </a:xfrm>
          <a:prstGeom prst="rect">
            <a:avLst/>
          </a:prstGeom>
          <a:noFill/>
          <a:ln>
            <a:noFill/>
          </a:ln>
        </p:spPr>
        <p:txBody>
          <a:bodyPr spcFirstLastPara="1" wrap="square" lIns="25400" tIns="25400" rIns="25400" bIns="25400" anchor="t" anchorCtr="0">
            <a:normAutofit/>
          </a:bodyPr>
          <a:lstStyle/>
          <a:p>
            <a:pPr marL="0" marR="0" lvl="0" indent="0" algn="l" rtl="0">
              <a:lnSpc>
                <a:spcPct val="82000"/>
              </a:lnSpc>
              <a:spcBef>
                <a:spcPts val="0"/>
              </a:spcBef>
              <a:spcAft>
                <a:spcPts val="0"/>
              </a:spcAft>
              <a:buClr>
                <a:srgbClr val="E24B4A"/>
              </a:buClr>
              <a:buSzPts val="2220"/>
              <a:buFont typeface="Georgia"/>
              <a:buNone/>
            </a:pPr>
            <a:r>
              <a:rPr lang="en-US" sz="2220" b="1">
                <a:solidFill>
                  <a:srgbClr val="E24B4A"/>
                </a:solidFill>
                <a:latin typeface="Georgia"/>
                <a:ea typeface="Georgia"/>
                <a:cs typeface="Georgia"/>
                <a:sym typeface="Georgia"/>
              </a:rPr>
              <a:t>0.586</a:t>
            </a:r>
            <a:endParaRPr sz="2220">
              <a:solidFill>
                <a:schemeClr val="dk1"/>
              </a:solidFill>
              <a:latin typeface="Calibri"/>
              <a:ea typeface="Calibri"/>
              <a:cs typeface="Calibri"/>
              <a:sym typeface="Calibri"/>
            </a:endParaRPr>
          </a:p>
        </p:txBody>
      </p:sp>
      <p:sp>
        <p:nvSpPr>
          <p:cNvPr id="418" name="Google Shape;418;p12"/>
          <p:cNvSpPr/>
          <p:nvPr/>
        </p:nvSpPr>
        <p:spPr>
          <a:xfrm>
            <a:off x="12052250" y="3895725"/>
            <a:ext cx="5283101" cy="2286000"/>
          </a:xfrm>
          <a:prstGeom prst="rect">
            <a:avLst/>
          </a:prstGeom>
          <a:solidFill>
            <a:srgbClr val="FFFFFF"/>
          </a:solidFill>
          <a:ln w="9525" cap="flat" cmpd="sng">
            <a:solidFill>
              <a:srgbClr val="D9D3C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419" name="Google Shape;419;p12" descr="preencoded.png"/>
          <p:cNvPicPr preferRelativeResize="0"/>
          <p:nvPr/>
        </p:nvPicPr>
        <p:blipFill rotWithShape="1">
          <a:blip r:embed="rId5">
            <a:alphaModFix/>
          </a:blip>
          <a:srcRect/>
          <a:stretch/>
        </p:blipFill>
        <p:spPr>
          <a:xfrm>
            <a:off x="13605123" y="4057650"/>
            <a:ext cx="2177355" cy="1962001"/>
          </a:xfrm>
          <a:prstGeom prst="rect">
            <a:avLst/>
          </a:prstGeom>
          <a:noFill/>
          <a:ln>
            <a:noFill/>
          </a:ln>
        </p:spPr>
      </p:pic>
      <p:sp>
        <p:nvSpPr>
          <p:cNvPr id="420" name="Google Shape;420;p12"/>
          <p:cNvSpPr/>
          <p:nvPr/>
        </p:nvSpPr>
        <p:spPr>
          <a:xfrm>
            <a:off x="952500" y="6410325"/>
            <a:ext cx="8654001" cy="22860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4B4845"/>
              </a:buClr>
              <a:buSzPts val="1248"/>
              <a:buFont typeface="Courier New"/>
              <a:buNone/>
            </a:pPr>
            <a:r>
              <a:rPr lang="en-US" sz="1249">
                <a:solidFill>
                  <a:srgbClr val="4B4845"/>
                </a:solidFill>
                <a:latin typeface="Courier New"/>
                <a:ea typeface="Courier New"/>
                <a:cs typeface="Courier New"/>
                <a:sym typeface="Courier New"/>
              </a:rPr>
              <a:t>PER-CLASS RECALL — XGBOOST (N = 885 TEST SET)</a:t>
            </a:r>
            <a:endParaRPr sz="1249">
              <a:solidFill>
                <a:schemeClr val="dk1"/>
              </a:solidFill>
              <a:latin typeface="Calibri"/>
              <a:ea typeface="Calibri"/>
              <a:cs typeface="Calibri"/>
              <a:sym typeface="Calibri"/>
            </a:endParaRPr>
          </a:p>
        </p:txBody>
      </p:sp>
      <p:sp>
        <p:nvSpPr>
          <p:cNvPr id="421" name="Google Shape;421;p12"/>
          <p:cNvSpPr/>
          <p:nvPr/>
        </p:nvSpPr>
        <p:spPr>
          <a:xfrm>
            <a:off x="952500" y="7277100"/>
            <a:ext cx="1942802" cy="19050"/>
          </a:xfrm>
          <a:prstGeom prst="rect">
            <a:avLst/>
          </a:prstGeom>
          <a:solidFill>
            <a:srgbClr val="1C1B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2" name="Google Shape;422;p12"/>
          <p:cNvSpPr/>
          <p:nvPr/>
        </p:nvSpPr>
        <p:spPr>
          <a:xfrm>
            <a:off x="1162050" y="6867525"/>
            <a:ext cx="1599902" cy="276225"/>
          </a:xfrm>
          <a:prstGeom prst="rect">
            <a:avLst/>
          </a:prstGeom>
          <a:noFill/>
          <a:ln>
            <a:noFill/>
          </a:ln>
        </p:spPr>
        <p:txBody>
          <a:bodyPr spcFirstLastPara="1" wrap="square" lIns="25400" tIns="25400" rIns="25400" bIns="25400" anchor="ctr" anchorCtr="0">
            <a:normAutofit/>
          </a:bodyPr>
          <a:lstStyle/>
          <a:p>
            <a:pPr marL="0" marR="0" lvl="0" indent="0" algn="l" rtl="0">
              <a:lnSpc>
                <a:spcPct val="90000"/>
              </a:lnSpc>
              <a:spcBef>
                <a:spcPts val="0"/>
              </a:spcBef>
              <a:spcAft>
                <a:spcPts val="0"/>
              </a:spcAft>
              <a:buClr>
                <a:srgbClr val="807C76"/>
              </a:buClr>
              <a:buSzPts val="1526"/>
              <a:buFont typeface="Arial"/>
              <a:buNone/>
            </a:pPr>
            <a:r>
              <a:rPr lang="en-US" sz="1526" b="1">
                <a:solidFill>
                  <a:srgbClr val="807C76"/>
                </a:solidFill>
                <a:latin typeface="Arial"/>
                <a:ea typeface="Arial"/>
                <a:cs typeface="Arial"/>
                <a:sym typeface="Arial"/>
              </a:rPr>
              <a:t>CLASS</a:t>
            </a:r>
            <a:endParaRPr sz="1526">
              <a:solidFill>
                <a:schemeClr val="dk1"/>
              </a:solidFill>
              <a:latin typeface="Calibri"/>
              <a:ea typeface="Calibri"/>
              <a:cs typeface="Calibri"/>
              <a:sym typeface="Calibri"/>
            </a:endParaRPr>
          </a:p>
        </p:txBody>
      </p:sp>
      <p:sp>
        <p:nvSpPr>
          <p:cNvPr id="423" name="Google Shape;423;p12"/>
          <p:cNvSpPr/>
          <p:nvPr/>
        </p:nvSpPr>
        <p:spPr>
          <a:xfrm>
            <a:off x="2895302" y="7277100"/>
            <a:ext cx="1984325" cy="19050"/>
          </a:xfrm>
          <a:prstGeom prst="rect">
            <a:avLst/>
          </a:prstGeom>
          <a:solidFill>
            <a:srgbClr val="1C1B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4" name="Google Shape;424;p12"/>
          <p:cNvSpPr/>
          <p:nvPr/>
        </p:nvSpPr>
        <p:spPr>
          <a:xfrm>
            <a:off x="3028652" y="6867525"/>
            <a:ext cx="1641425" cy="276225"/>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807C76"/>
              </a:buClr>
              <a:buSzPts val="1526"/>
              <a:buFont typeface="Arial"/>
              <a:buNone/>
            </a:pPr>
            <a:r>
              <a:rPr lang="en-US" sz="1526" b="1">
                <a:solidFill>
                  <a:srgbClr val="807C76"/>
                </a:solidFill>
                <a:latin typeface="Arial"/>
                <a:ea typeface="Arial"/>
                <a:cs typeface="Arial"/>
                <a:sym typeface="Arial"/>
              </a:rPr>
              <a:t>TEST N</a:t>
            </a:r>
            <a:endParaRPr sz="1526">
              <a:solidFill>
                <a:schemeClr val="dk1"/>
              </a:solidFill>
              <a:latin typeface="Calibri"/>
              <a:ea typeface="Calibri"/>
              <a:cs typeface="Calibri"/>
              <a:sym typeface="Calibri"/>
            </a:endParaRPr>
          </a:p>
        </p:txBody>
      </p:sp>
      <p:sp>
        <p:nvSpPr>
          <p:cNvPr id="425" name="Google Shape;425;p12"/>
          <p:cNvSpPr/>
          <p:nvPr/>
        </p:nvSpPr>
        <p:spPr>
          <a:xfrm>
            <a:off x="4879628" y="7277100"/>
            <a:ext cx="2411611" cy="19050"/>
          </a:xfrm>
          <a:prstGeom prst="rect">
            <a:avLst/>
          </a:prstGeom>
          <a:solidFill>
            <a:srgbClr val="1C1B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6" name="Google Shape;426;p12"/>
          <p:cNvSpPr/>
          <p:nvPr/>
        </p:nvSpPr>
        <p:spPr>
          <a:xfrm>
            <a:off x="5012978" y="6867525"/>
            <a:ext cx="2068711" cy="276225"/>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807C76"/>
              </a:buClr>
              <a:buSzPts val="1526"/>
              <a:buFont typeface="Arial"/>
              <a:buNone/>
            </a:pPr>
            <a:r>
              <a:rPr lang="en-US" sz="1526" b="1">
                <a:solidFill>
                  <a:srgbClr val="807C76"/>
                </a:solidFill>
                <a:latin typeface="Arial"/>
                <a:ea typeface="Arial"/>
                <a:cs typeface="Arial"/>
                <a:sym typeface="Arial"/>
              </a:rPr>
              <a:t>CORRECT</a:t>
            </a:r>
            <a:endParaRPr sz="1526">
              <a:solidFill>
                <a:schemeClr val="dk1"/>
              </a:solidFill>
              <a:latin typeface="Calibri"/>
              <a:ea typeface="Calibri"/>
              <a:cs typeface="Calibri"/>
              <a:sym typeface="Calibri"/>
            </a:endParaRPr>
          </a:p>
        </p:txBody>
      </p:sp>
      <p:sp>
        <p:nvSpPr>
          <p:cNvPr id="427" name="Google Shape;427;p12"/>
          <p:cNvSpPr/>
          <p:nvPr/>
        </p:nvSpPr>
        <p:spPr>
          <a:xfrm>
            <a:off x="7291239" y="7277100"/>
            <a:ext cx="2063651" cy="19050"/>
          </a:xfrm>
          <a:prstGeom prst="rect">
            <a:avLst/>
          </a:prstGeom>
          <a:solidFill>
            <a:srgbClr val="1C1B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8" name="Google Shape;428;p12"/>
          <p:cNvSpPr/>
          <p:nvPr/>
        </p:nvSpPr>
        <p:spPr>
          <a:xfrm>
            <a:off x="7424589" y="6867525"/>
            <a:ext cx="1720751" cy="276225"/>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807C76"/>
              </a:buClr>
              <a:buSzPts val="1526"/>
              <a:buFont typeface="Arial"/>
              <a:buNone/>
            </a:pPr>
            <a:r>
              <a:rPr lang="en-US" sz="1526" b="1">
                <a:solidFill>
                  <a:srgbClr val="807C76"/>
                </a:solidFill>
                <a:latin typeface="Arial"/>
                <a:ea typeface="Arial"/>
                <a:cs typeface="Arial"/>
                <a:sym typeface="Arial"/>
              </a:rPr>
              <a:t>RECALL</a:t>
            </a:r>
            <a:endParaRPr sz="1526">
              <a:solidFill>
                <a:schemeClr val="dk1"/>
              </a:solidFill>
              <a:latin typeface="Calibri"/>
              <a:ea typeface="Calibri"/>
              <a:cs typeface="Calibri"/>
              <a:sym typeface="Calibri"/>
            </a:endParaRPr>
          </a:p>
        </p:txBody>
      </p:sp>
      <p:sp>
        <p:nvSpPr>
          <p:cNvPr id="429" name="Google Shape;429;p12"/>
          <p:cNvSpPr/>
          <p:nvPr/>
        </p:nvSpPr>
        <p:spPr>
          <a:xfrm>
            <a:off x="952500" y="7872413"/>
            <a:ext cx="1942802"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0" name="Google Shape;430;p12"/>
          <p:cNvSpPr/>
          <p:nvPr/>
        </p:nvSpPr>
        <p:spPr>
          <a:xfrm>
            <a:off x="1162050" y="7467600"/>
            <a:ext cx="1599902" cy="271463"/>
          </a:xfrm>
          <a:prstGeom prst="rect">
            <a:avLst/>
          </a:prstGeom>
          <a:noFill/>
          <a:ln>
            <a:noFill/>
          </a:ln>
        </p:spPr>
        <p:txBody>
          <a:bodyPr spcFirstLastPara="1" wrap="square" lIns="25400" tIns="25400" rIns="25400" bIns="25400" anchor="ctr" anchorCtr="0">
            <a:normAutofit/>
          </a:bodyPr>
          <a:lstStyle/>
          <a:p>
            <a:pPr marL="0" marR="0" lvl="0" indent="0" algn="l" rtl="0">
              <a:lnSpc>
                <a:spcPct val="90000"/>
              </a:lnSpc>
              <a:spcBef>
                <a:spcPts val="0"/>
              </a:spcBef>
              <a:spcAft>
                <a:spcPts val="0"/>
              </a:spcAft>
              <a:buClr>
                <a:srgbClr val="E24B4A"/>
              </a:buClr>
              <a:buSzPts val="1500"/>
              <a:buFont typeface="Arial"/>
              <a:buNone/>
            </a:pPr>
            <a:r>
              <a:rPr lang="en-US" sz="1500" b="1">
                <a:solidFill>
                  <a:srgbClr val="E24B4A"/>
                </a:solidFill>
                <a:latin typeface="Arial"/>
                <a:ea typeface="Arial"/>
                <a:cs typeface="Arial"/>
                <a:sym typeface="Arial"/>
              </a:rPr>
              <a:t>Dropout</a:t>
            </a:r>
            <a:endParaRPr sz="1500">
              <a:solidFill>
                <a:schemeClr val="dk1"/>
              </a:solidFill>
              <a:latin typeface="Calibri"/>
              <a:ea typeface="Calibri"/>
              <a:cs typeface="Calibri"/>
              <a:sym typeface="Calibri"/>
            </a:endParaRPr>
          </a:p>
        </p:txBody>
      </p:sp>
      <p:sp>
        <p:nvSpPr>
          <p:cNvPr id="431" name="Google Shape;431;p12"/>
          <p:cNvSpPr/>
          <p:nvPr/>
        </p:nvSpPr>
        <p:spPr>
          <a:xfrm>
            <a:off x="2895302" y="7872413"/>
            <a:ext cx="1984325"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2" name="Google Shape;432;p12"/>
          <p:cNvSpPr/>
          <p:nvPr/>
        </p:nvSpPr>
        <p:spPr>
          <a:xfrm>
            <a:off x="3028652" y="7467600"/>
            <a:ext cx="1641425" cy="271463"/>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1500"/>
              <a:buFont typeface="Arial"/>
              <a:buNone/>
            </a:pPr>
            <a:r>
              <a:rPr lang="en-US" sz="1500">
                <a:solidFill>
                  <a:srgbClr val="1C1B1A"/>
                </a:solidFill>
                <a:latin typeface="Arial"/>
                <a:ea typeface="Arial"/>
                <a:cs typeface="Arial"/>
                <a:sym typeface="Arial"/>
              </a:rPr>
              <a:t>284</a:t>
            </a:r>
            <a:endParaRPr sz="1500">
              <a:solidFill>
                <a:schemeClr val="dk1"/>
              </a:solidFill>
              <a:latin typeface="Calibri"/>
              <a:ea typeface="Calibri"/>
              <a:cs typeface="Calibri"/>
              <a:sym typeface="Calibri"/>
            </a:endParaRPr>
          </a:p>
        </p:txBody>
      </p:sp>
      <p:sp>
        <p:nvSpPr>
          <p:cNvPr id="433" name="Google Shape;433;p12"/>
          <p:cNvSpPr/>
          <p:nvPr/>
        </p:nvSpPr>
        <p:spPr>
          <a:xfrm>
            <a:off x="4879628" y="7872413"/>
            <a:ext cx="2411611"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4" name="Google Shape;434;p12"/>
          <p:cNvSpPr/>
          <p:nvPr/>
        </p:nvSpPr>
        <p:spPr>
          <a:xfrm>
            <a:off x="5012978" y="7467600"/>
            <a:ext cx="2068711" cy="271463"/>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1500"/>
              <a:buFont typeface="Arial"/>
              <a:buNone/>
            </a:pPr>
            <a:r>
              <a:rPr lang="en-US" sz="1500">
                <a:solidFill>
                  <a:srgbClr val="1C1B1A"/>
                </a:solidFill>
                <a:latin typeface="Arial"/>
                <a:ea typeface="Arial"/>
                <a:cs typeface="Arial"/>
                <a:sym typeface="Arial"/>
              </a:rPr>
              <a:t>213</a:t>
            </a:r>
            <a:endParaRPr sz="1500">
              <a:solidFill>
                <a:schemeClr val="dk1"/>
              </a:solidFill>
              <a:latin typeface="Calibri"/>
              <a:ea typeface="Calibri"/>
              <a:cs typeface="Calibri"/>
              <a:sym typeface="Calibri"/>
            </a:endParaRPr>
          </a:p>
        </p:txBody>
      </p:sp>
      <p:sp>
        <p:nvSpPr>
          <p:cNvPr id="435" name="Google Shape;435;p12"/>
          <p:cNvSpPr/>
          <p:nvPr/>
        </p:nvSpPr>
        <p:spPr>
          <a:xfrm>
            <a:off x="7291239" y="7872413"/>
            <a:ext cx="2063651"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6" name="Google Shape;436;p12"/>
          <p:cNvSpPr/>
          <p:nvPr/>
        </p:nvSpPr>
        <p:spPr>
          <a:xfrm>
            <a:off x="7424589" y="7467600"/>
            <a:ext cx="1720751" cy="271463"/>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1500"/>
              <a:buFont typeface="Arial"/>
              <a:buNone/>
            </a:pPr>
            <a:r>
              <a:rPr lang="en-US" sz="1500" b="1">
                <a:solidFill>
                  <a:srgbClr val="1C1B1A"/>
                </a:solidFill>
                <a:latin typeface="Arial"/>
                <a:ea typeface="Arial"/>
                <a:cs typeface="Arial"/>
                <a:sym typeface="Arial"/>
              </a:rPr>
              <a:t>75.0%</a:t>
            </a:r>
            <a:endParaRPr sz="1500">
              <a:solidFill>
                <a:schemeClr val="dk1"/>
              </a:solidFill>
              <a:latin typeface="Calibri"/>
              <a:ea typeface="Calibri"/>
              <a:cs typeface="Calibri"/>
              <a:sym typeface="Calibri"/>
            </a:endParaRPr>
          </a:p>
        </p:txBody>
      </p:sp>
      <p:sp>
        <p:nvSpPr>
          <p:cNvPr id="437" name="Google Shape;437;p12"/>
          <p:cNvSpPr/>
          <p:nvPr/>
        </p:nvSpPr>
        <p:spPr>
          <a:xfrm>
            <a:off x="952500" y="7881937"/>
            <a:ext cx="1942802" cy="581025"/>
          </a:xfrm>
          <a:prstGeom prst="rect">
            <a:avLst/>
          </a:prstGeom>
          <a:solidFill>
            <a:srgbClr val="1D9E75">
              <a:alpha val="7843"/>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8" name="Google Shape;438;p12"/>
          <p:cNvSpPr/>
          <p:nvPr/>
        </p:nvSpPr>
        <p:spPr>
          <a:xfrm>
            <a:off x="952500" y="8453438"/>
            <a:ext cx="1942802"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9" name="Google Shape;439;p12"/>
          <p:cNvSpPr/>
          <p:nvPr/>
        </p:nvSpPr>
        <p:spPr>
          <a:xfrm>
            <a:off x="1162050" y="8053387"/>
            <a:ext cx="1599902" cy="266700"/>
          </a:xfrm>
          <a:prstGeom prst="rect">
            <a:avLst/>
          </a:prstGeom>
          <a:noFill/>
          <a:ln>
            <a:noFill/>
          </a:ln>
        </p:spPr>
        <p:txBody>
          <a:bodyPr spcFirstLastPara="1" wrap="square" lIns="25400" tIns="25400" rIns="25400" bIns="25400" anchor="ctr" anchorCtr="0">
            <a:normAutofit/>
          </a:bodyPr>
          <a:lstStyle/>
          <a:p>
            <a:pPr marL="0" marR="0" lvl="0" indent="0" algn="l" rtl="0">
              <a:lnSpc>
                <a:spcPct val="90000"/>
              </a:lnSpc>
              <a:spcBef>
                <a:spcPts val="0"/>
              </a:spcBef>
              <a:spcAft>
                <a:spcPts val="0"/>
              </a:spcAft>
              <a:buClr>
                <a:srgbClr val="EF9F27"/>
              </a:buClr>
              <a:buSzPts val="1500"/>
              <a:buFont typeface="Arial"/>
              <a:buNone/>
            </a:pPr>
            <a:r>
              <a:rPr lang="en-US" sz="1500" b="1">
                <a:solidFill>
                  <a:srgbClr val="EF9F27"/>
                </a:solidFill>
                <a:latin typeface="Arial"/>
                <a:ea typeface="Arial"/>
                <a:cs typeface="Arial"/>
                <a:sym typeface="Arial"/>
              </a:rPr>
              <a:t>Enrolled</a:t>
            </a:r>
            <a:endParaRPr sz="1500">
              <a:solidFill>
                <a:schemeClr val="dk1"/>
              </a:solidFill>
              <a:latin typeface="Calibri"/>
              <a:ea typeface="Calibri"/>
              <a:cs typeface="Calibri"/>
              <a:sym typeface="Calibri"/>
            </a:endParaRPr>
          </a:p>
        </p:txBody>
      </p:sp>
      <p:sp>
        <p:nvSpPr>
          <p:cNvPr id="440" name="Google Shape;440;p12"/>
          <p:cNvSpPr/>
          <p:nvPr/>
        </p:nvSpPr>
        <p:spPr>
          <a:xfrm>
            <a:off x="2895302" y="7881937"/>
            <a:ext cx="1984325" cy="581025"/>
          </a:xfrm>
          <a:prstGeom prst="rect">
            <a:avLst/>
          </a:prstGeom>
          <a:solidFill>
            <a:srgbClr val="1D9E75">
              <a:alpha val="7843"/>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1" name="Google Shape;441;p12"/>
          <p:cNvSpPr/>
          <p:nvPr/>
        </p:nvSpPr>
        <p:spPr>
          <a:xfrm>
            <a:off x="2895302" y="8453438"/>
            <a:ext cx="1984325"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2" name="Google Shape;442;p12"/>
          <p:cNvSpPr/>
          <p:nvPr/>
        </p:nvSpPr>
        <p:spPr>
          <a:xfrm>
            <a:off x="3028652" y="8053387"/>
            <a:ext cx="1641425" cy="26670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1500"/>
              <a:buFont typeface="Arial"/>
              <a:buNone/>
            </a:pPr>
            <a:r>
              <a:rPr lang="en-US" sz="1500" b="1">
                <a:solidFill>
                  <a:srgbClr val="1C1B1A"/>
                </a:solidFill>
                <a:latin typeface="Arial"/>
                <a:ea typeface="Arial"/>
                <a:cs typeface="Arial"/>
                <a:sym typeface="Arial"/>
              </a:rPr>
              <a:t>159</a:t>
            </a:r>
            <a:endParaRPr sz="1500">
              <a:solidFill>
                <a:schemeClr val="dk1"/>
              </a:solidFill>
              <a:latin typeface="Calibri"/>
              <a:ea typeface="Calibri"/>
              <a:cs typeface="Calibri"/>
              <a:sym typeface="Calibri"/>
            </a:endParaRPr>
          </a:p>
        </p:txBody>
      </p:sp>
      <p:sp>
        <p:nvSpPr>
          <p:cNvPr id="443" name="Google Shape;443;p12"/>
          <p:cNvSpPr/>
          <p:nvPr/>
        </p:nvSpPr>
        <p:spPr>
          <a:xfrm>
            <a:off x="4879628" y="7881937"/>
            <a:ext cx="2411611" cy="581025"/>
          </a:xfrm>
          <a:prstGeom prst="rect">
            <a:avLst/>
          </a:prstGeom>
          <a:solidFill>
            <a:srgbClr val="1D9E75">
              <a:alpha val="7843"/>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4" name="Google Shape;444;p12"/>
          <p:cNvSpPr/>
          <p:nvPr/>
        </p:nvSpPr>
        <p:spPr>
          <a:xfrm>
            <a:off x="4879628" y="8453438"/>
            <a:ext cx="2411611"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5" name="Google Shape;445;p12"/>
          <p:cNvSpPr/>
          <p:nvPr/>
        </p:nvSpPr>
        <p:spPr>
          <a:xfrm>
            <a:off x="5012978" y="8053387"/>
            <a:ext cx="2068711" cy="26670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1500"/>
              <a:buFont typeface="Arial"/>
              <a:buNone/>
            </a:pPr>
            <a:r>
              <a:rPr lang="en-US" sz="1500" b="1">
                <a:solidFill>
                  <a:srgbClr val="1C1B1A"/>
                </a:solidFill>
                <a:latin typeface="Arial"/>
                <a:ea typeface="Arial"/>
                <a:cs typeface="Arial"/>
                <a:sym typeface="Arial"/>
              </a:rPr>
              <a:t>71</a:t>
            </a:r>
            <a:endParaRPr sz="1500">
              <a:solidFill>
                <a:schemeClr val="dk1"/>
              </a:solidFill>
              <a:latin typeface="Calibri"/>
              <a:ea typeface="Calibri"/>
              <a:cs typeface="Calibri"/>
              <a:sym typeface="Calibri"/>
            </a:endParaRPr>
          </a:p>
        </p:txBody>
      </p:sp>
      <p:sp>
        <p:nvSpPr>
          <p:cNvPr id="446" name="Google Shape;446;p12"/>
          <p:cNvSpPr/>
          <p:nvPr/>
        </p:nvSpPr>
        <p:spPr>
          <a:xfrm>
            <a:off x="7291239" y="7881937"/>
            <a:ext cx="2063651" cy="581025"/>
          </a:xfrm>
          <a:prstGeom prst="rect">
            <a:avLst/>
          </a:prstGeom>
          <a:solidFill>
            <a:srgbClr val="1D9E75">
              <a:alpha val="7843"/>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7" name="Google Shape;447;p12"/>
          <p:cNvSpPr/>
          <p:nvPr/>
        </p:nvSpPr>
        <p:spPr>
          <a:xfrm>
            <a:off x="7291239" y="8453438"/>
            <a:ext cx="2063651"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8" name="Google Shape;448;p12"/>
          <p:cNvSpPr/>
          <p:nvPr/>
        </p:nvSpPr>
        <p:spPr>
          <a:xfrm>
            <a:off x="7424589" y="8053387"/>
            <a:ext cx="1720751" cy="26670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E24B4A"/>
              </a:buClr>
              <a:buSzPts val="1500"/>
              <a:buFont typeface="Arial"/>
              <a:buNone/>
            </a:pPr>
            <a:r>
              <a:rPr lang="en-US" sz="1500" b="1">
                <a:solidFill>
                  <a:srgbClr val="E24B4A"/>
                </a:solidFill>
                <a:latin typeface="Arial"/>
                <a:ea typeface="Arial"/>
                <a:cs typeface="Arial"/>
                <a:sym typeface="Arial"/>
              </a:rPr>
              <a:t>44.7%</a:t>
            </a:r>
            <a:endParaRPr sz="1500">
              <a:solidFill>
                <a:schemeClr val="dk1"/>
              </a:solidFill>
              <a:latin typeface="Calibri"/>
              <a:ea typeface="Calibri"/>
              <a:cs typeface="Calibri"/>
              <a:sym typeface="Calibri"/>
            </a:endParaRPr>
          </a:p>
        </p:txBody>
      </p:sp>
      <p:sp>
        <p:nvSpPr>
          <p:cNvPr id="449" name="Google Shape;449;p12"/>
          <p:cNvSpPr/>
          <p:nvPr/>
        </p:nvSpPr>
        <p:spPr>
          <a:xfrm>
            <a:off x="952500" y="9034463"/>
            <a:ext cx="1942802"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0" name="Google Shape;450;p12"/>
          <p:cNvSpPr/>
          <p:nvPr/>
        </p:nvSpPr>
        <p:spPr>
          <a:xfrm>
            <a:off x="1162050" y="8634413"/>
            <a:ext cx="1599902" cy="266700"/>
          </a:xfrm>
          <a:prstGeom prst="rect">
            <a:avLst/>
          </a:prstGeom>
          <a:noFill/>
          <a:ln>
            <a:noFill/>
          </a:ln>
        </p:spPr>
        <p:txBody>
          <a:bodyPr spcFirstLastPara="1" wrap="square" lIns="25400" tIns="25400" rIns="25400" bIns="25400" anchor="ctr" anchorCtr="0">
            <a:normAutofit/>
          </a:bodyPr>
          <a:lstStyle/>
          <a:p>
            <a:pPr marL="0" marR="0" lvl="0" indent="0" algn="l" rtl="0">
              <a:lnSpc>
                <a:spcPct val="90000"/>
              </a:lnSpc>
              <a:spcBef>
                <a:spcPts val="0"/>
              </a:spcBef>
              <a:spcAft>
                <a:spcPts val="0"/>
              </a:spcAft>
              <a:buClr>
                <a:srgbClr val="1D9E75"/>
              </a:buClr>
              <a:buSzPts val="1500"/>
              <a:buFont typeface="Arial"/>
              <a:buNone/>
            </a:pPr>
            <a:r>
              <a:rPr lang="en-US" sz="1500" b="1">
                <a:solidFill>
                  <a:srgbClr val="1D9E75"/>
                </a:solidFill>
                <a:latin typeface="Arial"/>
                <a:ea typeface="Arial"/>
                <a:cs typeface="Arial"/>
                <a:sym typeface="Arial"/>
              </a:rPr>
              <a:t>Graduate</a:t>
            </a:r>
            <a:endParaRPr sz="1500">
              <a:solidFill>
                <a:schemeClr val="dk1"/>
              </a:solidFill>
              <a:latin typeface="Calibri"/>
              <a:ea typeface="Calibri"/>
              <a:cs typeface="Calibri"/>
              <a:sym typeface="Calibri"/>
            </a:endParaRPr>
          </a:p>
        </p:txBody>
      </p:sp>
      <p:sp>
        <p:nvSpPr>
          <p:cNvPr id="451" name="Google Shape;451;p12"/>
          <p:cNvSpPr/>
          <p:nvPr/>
        </p:nvSpPr>
        <p:spPr>
          <a:xfrm>
            <a:off x="2895302" y="9034463"/>
            <a:ext cx="1984325"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2" name="Google Shape;452;p12"/>
          <p:cNvSpPr/>
          <p:nvPr/>
        </p:nvSpPr>
        <p:spPr>
          <a:xfrm>
            <a:off x="3028652" y="8634413"/>
            <a:ext cx="1641425" cy="26670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1500"/>
              <a:buFont typeface="Arial"/>
              <a:buNone/>
            </a:pPr>
            <a:r>
              <a:rPr lang="en-US" sz="1500">
                <a:solidFill>
                  <a:srgbClr val="1C1B1A"/>
                </a:solidFill>
                <a:latin typeface="Arial"/>
                <a:ea typeface="Arial"/>
                <a:cs typeface="Arial"/>
                <a:sym typeface="Arial"/>
              </a:rPr>
              <a:t>442</a:t>
            </a:r>
            <a:endParaRPr sz="1500">
              <a:solidFill>
                <a:schemeClr val="dk1"/>
              </a:solidFill>
              <a:latin typeface="Calibri"/>
              <a:ea typeface="Calibri"/>
              <a:cs typeface="Calibri"/>
              <a:sym typeface="Calibri"/>
            </a:endParaRPr>
          </a:p>
        </p:txBody>
      </p:sp>
      <p:sp>
        <p:nvSpPr>
          <p:cNvPr id="453" name="Google Shape;453;p12"/>
          <p:cNvSpPr/>
          <p:nvPr/>
        </p:nvSpPr>
        <p:spPr>
          <a:xfrm>
            <a:off x="4879628" y="9034463"/>
            <a:ext cx="2411611"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4" name="Google Shape;454;p12"/>
          <p:cNvSpPr/>
          <p:nvPr/>
        </p:nvSpPr>
        <p:spPr>
          <a:xfrm>
            <a:off x="5012978" y="8634413"/>
            <a:ext cx="2068711" cy="26670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1500"/>
              <a:buFont typeface="Arial"/>
              <a:buNone/>
            </a:pPr>
            <a:r>
              <a:rPr lang="en-US" sz="1500">
                <a:solidFill>
                  <a:srgbClr val="1C1B1A"/>
                </a:solidFill>
                <a:latin typeface="Arial"/>
                <a:ea typeface="Arial"/>
                <a:cs typeface="Arial"/>
                <a:sym typeface="Arial"/>
              </a:rPr>
              <a:t>397</a:t>
            </a:r>
            <a:endParaRPr sz="1500">
              <a:solidFill>
                <a:schemeClr val="dk1"/>
              </a:solidFill>
              <a:latin typeface="Calibri"/>
              <a:ea typeface="Calibri"/>
              <a:cs typeface="Calibri"/>
              <a:sym typeface="Calibri"/>
            </a:endParaRPr>
          </a:p>
        </p:txBody>
      </p:sp>
      <p:sp>
        <p:nvSpPr>
          <p:cNvPr id="455" name="Google Shape;455;p12"/>
          <p:cNvSpPr/>
          <p:nvPr/>
        </p:nvSpPr>
        <p:spPr>
          <a:xfrm>
            <a:off x="7291239" y="9034463"/>
            <a:ext cx="2063651"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6" name="Google Shape;456;p12"/>
          <p:cNvSpPr/>
          <p:nvPr/>
        </p:nvSpPr>
        <p:spPr>
          <a:xfrm>
            <a:off x="7424589" y="8634413"/>
            <a:ext cx="1720751" cy="26670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1500"/>
              <a:buFont typeface="Arial"/>
              <a:buNone/>
            </a:pPr>
            <a:r>
              <a:rPr lang="en-US" sz="1500" b="1">
                <a:solidFill>
                  <a:srgbClr val="1C1B1A"/>
                </a:solidFill>
                <a:latin typeface="Arial"/>
                <a:ea typeface="Arial"/>
                <a:cs typeface="Arial"/>
                <a:sym typeface="Arial"/>
              </a:rPr>
              <a:t>89.8%</a:t>
            </a:r>
            <a:endParaRPr sz="1500">
              <a:solidFill>
                <a:schemeClr val="dk1"/>
              </a:solidFill>
              <a:latin typeface="Calibri"/>
              <a:ea typeface="Calibri"/>
              <a:cs typeface="Calibri"/>
              <a:sym typeface="Calibri"/>
            </a:endParaRPr>
          </a:p>
        </p:txBody>
      </p:sp>
      <p:sp>
        <p:nvSpPr>
          <p:cNvPr id="457" name="Google Shape;457;p12"/>
          <p:cNvSpPr/>
          <p:nvPr/>
        </p:nvSpPr>
        <p:spPr>
          <a:xfrm>
            <a:off x="9697343" y="6410325"/>
            <a:ext cx="7867302" cy="1219200"/>
          </a:xfrm>
          <a:prstGeom prst="rect">
            <a:avLst/>
          </a:prstGeom>
          <a:noFill/>
          <a:ln>
            <a:noFill/>
          </a:ln>
        </p:spPr>
        <p:txBody>
          <a:bodyPr spcFirstLastPara="1" wrap="square" lIns="25400" tIns="25400" rIns="25400" bIns="25400" anchor="t" anchorCtr="0">
            <a:normAutofit/>
          </a:bodyPr>
          <a:lstStyle/>
          <a:p>
            <a:pPr marL="0" marR="0" lvl="0" indent="0" algn="l" rtl="0">
              <a:lnSpc>
                <a:spcPct val="125000"/>
              </a:lnSpc>
              <a:spcBef>
                <a:spcPts val="0"/>
              </a:spcBef>
              <a:spcAft>
                <a:spcPts val="0"/>
              </a:spcAft>
              <a:buClr>
                <a:srgbClr val="4B4845"/>
              </a:buClr>
              <a:buSzPts val="1526"/>
              <a:buFont typeface="Arial"/>
              <a:buNone/>
            </a:pPr>
            <a:r>
              <a:rPr lang="en-US" sz="1526" i="1">
                <a:solidFill>
                  <a:srgbClr val="4B4845"/>
                </a:solidFill>
                <a:latin typeface="Arial"/>
                <a:ea typeface="Arial"/>
                <a:cs typeface="Arial"/>
                <a:sym typeface="Arial"/>
              </a:rPr>
              <a:t>The Enrolled class is recovered at only 44.7% — half the rate of Graduate. With just 159 test instances vs 442 for Graduate, the model has fewer training examples to learn its boundary, and the class sits geometrically between the other two — confusions go in both directions (37 → Dropout, 51 → Graduate).</a:t>
            </a:r>
            <a:endParaRPr sz="1526">
              <a:solidFill>
                <a:schemeClr val="dk1"/>
              </a:solidFill>
              <a:latin typeface="Calibri"/>
              <a:ea typeface="Calibri"/>
              <a:cs typeface="Calibri"/>
              <a:sym typeface="Calibri"/>
            </a:endParaRPr>
          </a:p>
        </p:txBody>
      </p:sp>
      <p:sp>
        <p:nvSpPr>
          <p:cNvPr id="458" name="Google Shape;458;p12"/>
          <p:cNvSpPr/>
          <p:nvPr/>
        </p:nvSpPr>
        <p:spPr>
          <a:xfrm>
            <a:off x="16692116" y="9172575"/>
            <a:ext cx="1100584" cy="2952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665"/>
              <a:buFont typeface="Courier New"/>
              <a:buNone/>
            </a:pPr>
            <a:r>
              <a:rPr lang="en-US" sz="1665">
                <a:solidFill>
                  <a:srgbClr val="807C76"/>
                </a:solidFill>
                <a:latin typeface="Courier New"/>
                <a:ea typeface="Courier New"/>
                <a:cs typeface="Courier New"/>
                <a:sym typeface="Courier New"/>
              </a:rPr>
              <a:t>12/19</a:t>
            </a:r>
            <a:endParaRPr sz="1665">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Shape 463"/>
        <p:cNvGrpSpPr/>
        <p:nvPr/>
      </p:nvGrpSpPr>
      <p:grpSpPr>
        <a:xfrm>
          <a:off x="0" y="0"/>
          <a:ext cx="0" cy="0"/>
          <a:chOff x="0" y="0"/>
          <a:chExt cx="0" cy="0"/>
        </a:xfrm>
      </p:grpSpPr>
      <p:sp>
        <p:nvSpPr>
          <p:cNvPr id="464" name="Google Shape;464;p13"/>
          <p:cNvSpPr/>
          <p:nvPr/>
        </p:nvSpPr>
        <p:spPr>
          <a:xfrm>
            <a:off x="952500" y="1047006"/>
            <a:ext cx="533400" cy="19050"/>
          </a:xfrm>
          <a:prstGeom prst="rect">
            <a:avLst/>
          </a:prstGeom>
          <a:solidFill>
            <a:srgbClr val="4B484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65" name="Google Shape;465;p13"/>
          <p:cNvSpPr/>
          <p:nvPr/>
        </p:nvSpPr>
        <p:spPr>
          <a:xfrm>
            <a:off x="1657350" y="952500"/>
            <a:ext cx="4775687" cy="2952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665"/>
              <a:buFont typeface="Courier New"/>
              <a:buNone/>
            </a:pPr>
            <a:r>
              <a:rPr lang="en-US" sz="1665">
                <a:solidFill>
                  <a:srgbClr val="807C76"/>
                </a:solidFill>
                <a:latin typeface="Courier New"/>
                <a:ea typeface="Courier New"/>
                <a:cs typeface="Courier New"/>
                <a:sym typeface="Courier New"/>
              </a:rPr>
              <a:t>12 · UNSUPERVISED ANALYSIS</a:t>
            </a:r>
            <a:endParaRPr sz="1665">
              <a:solidFill>
                <a:schemeClr val="dk1"/>
              </a:solidFill>
              <a:latin typeface="Calibri"/>
              <a:ea typeface="Calibri"/>
              <a:cs typeface="Calibri"/>
              <a:sym typeface="Calibri"/>
            </a:endParaRPr>
          </a:p>
        </p:txBody>
      </p:sp>
      <p:sp>
        <p:nvSpPr>
          <p:cNvPr id="466" name="Google Shape;466;p13"/>
          <p:cNvSpPr/>
          <p:nvPr/>
        </p:nvSpPr>
        <p:spPr>
          <a:xfrm>
            <a:off x="952500" y="1704975"/>
            <a:ext cx="16874490" cy="666750"/>
          </a:xfrm>
          <a:prstGeom prst="rect">
            <a:avLst/>
          </a:prstGeom>
          <a:noFill/>
          <a:ln>
            <a:noFill/>
          </a:ln>
        </p:spPr>
        <p:txBody>
          <a:bodyPr spcFirstLastPara="1" wrap="square" lIns="25400" tIns="25400" rIns="25400" bIns="25400" anchor="t" anchorCtr="0">
            <a:normAutofit/>
          </a:bodyPr>
          <a:lstStyle/>
          <a:p>
            <a:pPr marL="0" marR="0" lvl="0" indent="0" algn="l" rtl="0">
              <a:lnSpc>
                <a:spcPct val="84000"/>
              </a:lnSpc>
              <a:spcBef>
                <a:spcPts val="0"/>
              </a:spcBef>
              <a:spcAft>
                <a:spcPts val="0"/>
              </a:spcAft>
              <a:buClr>
                <a:srgbClr val="1C1B1A"/>
              </a:buClr>
              <a:buSzPts val="4440"/>
              <a:buFont typeface="Georgia"/>
              <a:buNone/>
            </a:pPr>
            <a:r>
              <a:rPr lang="en-US" sz="4440" b="1">
                <a:solidFill>
                  <a:srgbClr val="1C1B1A"/>
                </a:solidFill>
                <a:latin typeface="Georgia"/>
                <a:ea typeface="Georgia"/>
                <a:cs typeface="Georgia"/>
                <a:sym typeface="Georgia"/>
              </a:rPr>
              <a:t>Clustering reveals overlap, not boundaries</a:t>
            </a:r>
            <a:endParaRPr sz="4440">
              <a:solidFill>
                <a:schemeClr val="dk1"/>
              </a:solidFill>
              <a:latin typeface="Calibri"/>
              <a:ea typeface="Calibri"/>
              <a:cs typeface="Calibri"/>
              <a:sym typeface="Calibri"/>
            </a:endParaRPr>
          </a:p>
        </p:txBody>
      </p:sp>
      <p:sp>
        <p:nvSpPr>
          <p:cNvPr id="467" name="Google Shape;467;p13"/>
          <p:cNvSpPr/>
          <p:nvPr/>
        </p:nvSpPr>
        <p:spPr>
          <a:xfrm>
            <a:off x="952500" y="2676525"/>
            <a:ext cx="8020050" cy="4572000"/>
          </a:xfrm>
          <a:prstGeom prst="rect">
            <a:avLst/>
          </a:prstGeom>
          <a:solidFill>
            <a:srgbClr val="FFFFFF"/>
          </a:solidFill>
          <a:ln w="9525" cap="flat" cmpd="sng">
            <a:solidFill>
              <a:srgbClr val="D9D3C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468" name="Google Shape;468;p13" descr="preencoded.png"/>
          <p:cNvPicPr preferRelativeResize="0"/>
          <p:nvPr/>
        </p:nvPicPr>
        <p:blipFill rotWithShape="1">
          <a:blip r:embed="rId3">
            <a:alphaModFix/>
          </a:blip>
          <a:srcRect/>
          <a:stretch/>
        </p:blipFill>
        <p:spPr>
          <a:xfrm>
            <a:off x="1657350" y="2905125"/>
            <a:ext cx="6591606" cy="5638800"/>
          </a:xfrm>
          <a:prstGeom prst="rect">
            <a:avLst/>
          </a:prstGeom>
          <a:noFill/>
          <a:ln>
            <a:noFill/>
          </a:ln>
        </p:spPr>
      </p:pic>
      <p:sp>
        <p:nvSpPr>
          <p:cNvPr id="469" name="Google Shape;469;p13"/>
          <p:cNvSpPr/>
          <p:nvPr/>
        </p:nvSpPr>
        <p:spPr>
          <a:xfrm>
            <a:off x="9315450" y="3228975"/>
            <a:ext cx="8020050"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70" name="Google Shape;470;p13"/>
          <p:cNvSpPr/>
          <p:nvPr/>
        </p:nvSpPr>
        <p:spPr>
          <a:xfrm>
            <a:off x="9315450" y="2819400"/>
            <a:ext cx="3626605" cy="27622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526"/>
              <a:buFont typeface="Courier New"/>
              <a:buNone/>
            </a:pPr>
            <a:r>
              <a:rPr lang="en-US" sz="1526">
                <a:solidFill>
                  <a:srgbClr val="807C76"/>
                </a:solidFill>
                <a:latin typeface="Courier New"/>
                <a:ea typeface="Courier New"/>
                <a:cs typeface="Courier New"/>
                <a:sym typeface="Courier New"/>
              </a:rPr>
              <a:t>K-MEANS (K=3) SILHOUETTE</a:t>
            </a:r>
            <a:endParaRPr sz="1526">
              <a:solidFill>
                <a:schemeClr val="dk1"/>
              </a:solidFill>
              <a:latin typeface="Calibri"/>
              <a:ea typeface="Calibri"/>
              <a:cs typeface="Calibri"/>
              <a:sym typeface="Calibri"/>
            </a:endParaRPr>
          </a:p>
        </p:txBody>
      </p:sp>
      <p:sp>
        <p:nvSpPr>
          <p:cNvPr id="471" name="Google Shape;471;p13"/>
          <p:cNvSpPr/>
          <p:nvPr/>
        </p:nvSpPr>
        <p:spPr>
          <a:xfrm>
            <a:off x="16035867" y="2676525"/>
            <a:ext cx="1375833" cy="457200"/>
          </a:xfrm>
          <a:prstGeom prst="rect">
            <a:avLst/>
          </a:prstGeom>
          <a:noFill/>
          <a:ln>
            <a:noFill/>
          </a:ln>
        </p:spPr>
        <p:txBody>
          <a:bodyPr spcFirstLastPara="1" wrap="square" lIns="25400" tIns="25400" rIns="25400" bIns="25400" anchor="t" anchorCtr="0">
            <a:normAutofit/>
          </a:bodyPr>
          <a:lstStyle/>
          <a:p>
            <a:pPr marL="0" marR="0" lvl="0" indent="0" algn="l" rtl="0">
              <a:spcBef>
                <a:spcPts val="0"/>
              </a:spcBef>
              <a:spcAft>
                <a:spcPts val="0"/>
              </a:spcAft>
              <a:buClr>
                <a:srgbClr val="1C1B1A"/>
              </a:buClr>
              <a:buSzPts val="2400"/>
              <a:buFont typeface="Georgia"/>
              <a:buNone/>
            </a:pPr>
            <a:r>
              <a:rPr lang="en-US" sz="2400" b="1">
                <a:solidFill>
                  <a:srgbClr val="1C1B1A"/>
                </a:solidFill>
                <a:latin typeface="Georgia"/>
                <a:ea typeface="Georgia"/>
                <a:cs typeface="Georgia"/>
                <a:sym typeface="Georgia"/>
              </a:rPr>
              <a:t>0.2145</a:t>
            </a:r>
            <a:endParaRPr sz="2400">
              <a:solidFill>
                <a:schemeClr val="dk1"/>
              </a:solidFill>
              <a:latin typeface="Calibri"/>
              <a:ea typeface="Calibri"/>
              <a:cs typeface="Calibri"/>
              <a:sym typeface="Calibri"/>
            </a:endParaRPr>
          </a:p>
        </p:txBody>
      </p:sp>
      <p:sp>
        <p:nvSpPr>
          <p:cNvPr id="472" name="Google Shape;472;p13"/>
          <p:cNvSpPr/>
          <p:nvPr/>
        </p:nvSpPr>
        <p:spPr>
          <a:xfrm>
            <a:off x="9315450" y="4019550"/>
            <a:ext cx="8020050"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73" name="Google Shape;473;p13"/>
          <p:cNvSpPr/>
          <p:nvPr/>
        </p:nvSpPr>
        <p:spPr>
          <a:xfrm>
            <a:off x="9315450" y="3609975"/>
            <a:ext cx="4533333" cy="27622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526"/>
              <a:buFont typeface="Courier New"/>
              <a:buNone/>
            </a:pPr>
            <a:r>
              <a:rPr lang="en-US" sz="1526">
                <a:solidFill>
                  <a:srgbClr val="807C76"/>
                </a:solidFill>
                <a:latin typeface="Courier New"/>
                <a:ea typeface="Courier New"/>
                <a:cs typeface="Courier New"/>
                <a:sym typeface="Courier New"/>
              </a:rPr>
              <a:t>HIERARCHICAL (WARD) SILHOUETTE</a:t>
            </a:r>
            <a:endParaRPr sz="1526">
              <a:solidFill>
                <a:schemeClr val="dk1"/>
              </a:solidFill>
              <a:latin typeface="Calibri"/>
              <a:ea typeface="Calibri"/>
              <a:cs typeface="Calibri"/>
              <a:sym typeface="Calibri"/>
            </a:endParaRPr>
          </a:p>
        </p:txBody>
      </p:sp>
      <p:sp>
        <p:nvSpPr>
          <p:cNvPr id="474" name="Google Shape;474;p13"/>
          <p:cNvSpPr/>
          <p:nvPr/>
        </p:nvSpPr>
        <p:spPr>
          <a:xfrm>
            <a:off x="16035867" y="3467100"/>
            <a:ext cx="1375833" cy="457200"/>
          </a:xfrm>
          <a:prstGeom prst="rect">
            <a:avLst/>
          </a:prstGeom>
          <a:noFill/>
          <a:ln>
            <a:noFill/>
          </a:ln>
        </p:spPr>
        <p:txBody>
          <a:bodyPr spcFirstLastPara="1" wrap="square" lIns="25400" tIns="25400" rIns="25400" bIns="25400" anchor="t" anchorCtr="0">
            <a:normAutofit/>
          </a:bodyPr>
          <a:lstStyle/>
          <a:p>
            <a:pPr marL="0" marR="0" lvl="0" indent="0" algn="l" rtl="0">
              <a:spcBef>
                <a:spcPts val="0"/>
              </a:spcBef>
              <a:spcAft>
                <a:spcPts val="0"/>
              </a:spcAft>
              <a:buClr>
                <a:srgbClr val="1C1B1A"/>
              </a:buClr>
              <a:buSzPts val="2400"/>
              <a:buFont typeface="Georgia"/>
              <a:buNone/>
            </a:pPr>
            <a:r>
              <a:rPr lang="en-US" sz="2400" b="1">
                <a:solidFill>
                  <a:srgbClr val="1C1B1A"/>
                </a:solidFill>
                <a:latin typeface="Georgia"/>
                <a:ea typeface="Georgia"/>
                <a:cs typeface="Georgia"/>
                <a:sym typeface="Georgia"/>
              </a:rPr>
              <a:t>0.1158</a:t>
            </a:r>
            <a:endParaRPr sz="2400">
              <a:solidFill>
                <a:schemeClr val="dk1"/>
              </a:solidFill>
              <a:latin typeface="Calibri"/>
              <a:ea typeface="Calibri"/>
              <a:cs typeface="Calibri"/>
              <a:sym typeface="Calibri"/>
            </a:endParaRPr>
          </a:p>
        </p:txBody>
      </p:sp>
      <p:sp>
        <p:nvSpPr>
          <p:cNvPr id="475" name="Google Shape;475;p13"/>
          <p:cNvSpPr/>
          <p:nvPr/>
        </p:nvSpPr>
        <p:spPr>
          <a:xfrm>
            <a:off x="9315450" y="4257675"/>
            <a:ext cx="8020050" cy="1057275"/>
          </a:xfrm>
          <a:prstGeom prst="rect">
            <a:avLst/>
          </a:prstGeom>
          <a:solidFill>
            <a:srgbClr val="FFFFFF"/>
          </a:solidFill>
          <a:ln w="9525" cap="flat" cmpd="sng">
            <a:solidFill>
              <a:srgbClr val="D9D3C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76" name="Google Shape;476;p13"/>
          <p:cNvSpPr/>
          <p:nvPr/>
        </p:nvSpPr>
        <p:spPr>
          <a:xfrm>
            <a:off x="9496425" y="4400550"/>
            <a:ext cx="7898702" cy="809625"/>
          </a:xfrm>
          <a:prstGeom prst="rect">
            <a:avLst/>
          </a:prstGeom>
          <a:noFill/>
          <a:ln>
            <a:noFill/>
          </a:ln>
        </p:spPr>
        <p:txBody>
          <a:bodyPr spcFirstLastPara="1" wrap="square" lIns="25400" tIns="25400" rIns="25400" bIns="25400" anchor="t" anchorCtr="0">
            <a:normAutofit/>
          </a:bodyPr>
          <a:lstStyle/>
          <a:p>
            <a:pPr marL="0" marR="0" lvl="0" indent="0" algn="l" rtl="0">
              <a:lnSpc>
                <a:spcPct val="150000"/>
              </a:lnSpc>
              <a:spcBef>
                <a:spcPts val="0"/>
              </a:spcBef>
              <a:spcAft>
                <a:spcPts val="0"/>
              </a:spcAft>
              <a:buClr>
                <a:srgbClr val="807C76"/>
              </a:buClr>
              <a:buSzPts val="1350"/>
              <a:buFont typeface="Courier New"/>
              <a:buNone/>
            </a:pPr>
            <a:r>
              <a:rPr lang="en-US" sz="1350">
                <a:solidFill>
                  <a:srgbClr val="807C76"/>
                </a:solidFill>
                <a:latin typeface="Courier New"/>
                <a:ea typeface="Courier New"/>
                <a:cs typeface="Courier New"/>
                <a:sym typeface="Courier New"/>
              </a:rPr>
              <a:t>Silhouette interpretation (Rousseeuw, 1987): </a:t>
            </a:r>
            <a:r>
              <a:rPr lang="en-US" sz="1350">
                <a:solidFill>
                  <a:srgbClr val="4B4845"/>
                </a:solidFill>
                <a:latin typeface="Courier New"/>
                <a:ea typeface="Courier New"/>
                <a:cs typeface="Courier New"/>
                <a:sym typeface="Courier New"/>
              </a:rPr>
              <a:t>&gt; 0.7 strong · 0.5–0.7 reasonable · 0.25–0.5 weak · &lt; 0.25 no substantial structure</a:t>
            </a:r>
            <a:endParaRPr sz="1350">
              <a:solidFill>
                <a:schemeClr val="dk1"/>
              </a:solidFill>
              <a:latin typeface="Calibri"/>
              <a:ea typeface="Calibri"/>
              <a:cs typeface="Calibri"/>
              <a:sym typeface="Calibri"/>
            </a:endParaRPr>
          </a:p>
        </p:txBody>
      </p:sp>
      <p:sp>
        <p:nvSpPr>
          <p:cNvPr id="477" name="Google Shape;477;p13"/>
          <p:cNvSpPr/>
          <p:nvPr/>
        </p:nvSpPr>
        <p:spPr>
          <a:xfrm>
            <a:off x="9315450" y="5695950"/>
            <a:ext cx="8020050" cy="1857375"/>
          </a:xfrm>
          <a:prstGeom prst="rect">
            <a:avLst/>
          </a:prstGeom>
          <a:solidFill>
            <a:srgbClr val="F2EEE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78" name="Google Shape;478;p13"/>
          <p:cNvSpPr/>
          <p:nvPr/>
        </p:nvSpPr>
        <p:spPr>
          <a:xfrm>
            <a:off x="9315450" y="5695950"/>
            <a:ext cx="38100" cy="1857375"/>
          </a:xfrm>
          <a:prstGeom prst="rect">
            <a:avLst/>
          </a:prstGeom>
          <a:solidFill>
            <a:srgbClr val="E24B4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79" name="Google Shape;479;p13"/>
          <p:cNvSpPr/>
          <p:nvPr/>
        </p:nvSpPr>
        <p:spPr>
          <a:xfrm>
            <a:off x="9620250" y="5924550"/>
            <a:ext cx="7672007" cy="22860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E24B4A"/>
              </a:buClr>
              <a:buSzPts val="1248"/>
              <a:buFont typeface="Courier New"/>
              <a:buNone/>
            </a:pPr>
            <a:r>
              <a:rPr lang="en-US" sz="1249">
                <a:solidFill>
                  <a:srgbClr val="E24B4A"/>
                </a:solidFill>
                <a:latin typeface="Courier New"/>
                <a:ea typeface="Courier New"/>
                <a:cs typeface="Courier New"/>
                <a:sym typeface="Courier New"/>
              </a:rPr>
              <a:t>WHAT THIS TELLS US</a:t>
            </a:r>
            <a:endParaRPr sz="1249">
              <a:solidFill>
                <a:schemeClr val="dk1"/>
              </a:solidFill>
              <a:latin typeface="Calibri"/>
              <a:ea typeface="Calibri"/>
              <a:cs typeface="Calibri"/>
              <a:sym typeface="Calibri"/>
            </a:endParaRPr>
          </a:p>
        </p:txBody>
      </p:sp>
      <p:sp>
        <p:nvSpPr>
          <p:cNvPr id="480" name="Google Shape;480;p13"/>
          <p:cNvSpPr/>
          <p:nvPr/>
        </p:nvSpPr>
        <p:spPr>
          <a:xfrm>
            <a:off x="9620250" y="6210300"/>
            <a:ext cx="7672007" cy="1152525"/>
          </a:xfrm>
          <a:prstGeom prst="rect">
            <a:avLst/>
          </a:prstGeom>
          <a:noFill/>
          <a:ln>
            <a:noFill/>
          </a:ln>
        </p:spPr>
        <p:txBody>
          <a:bodyPr spcFirstLastPara="1" wrap="square" lIns="25400" tIns="25400" rIns="25400" bIns="25400" anchor="t" anchorCtr="0">
            <a:normAutofit/>
          </a:bodyPr>
          <a:lstStyle/>
          <a:p>
            <a:pPr marL="0" marR="0" lvl="0" indent="0" algn="l" rtl="0">
              <a:lnSpc>
                <a:spcPct val="140000"/>
              </a:lnSpc>
              <a:spcBef>
                <a:spcPts val="0"/>
              </a:spcBef>
              <a:spcAft>
                <a:spcPts val="0"/>
              </a:spcAft>
              <a:buClr>
                <a:srgbClr val="1C1B1A"/>
              </a:buClr>
              <a:buSzPts val="1942"/>
              <a:buFont typeface="Arial"/>
              <a:buNone/>
            </a:pPr>
            <a:r>
              <a:rPr lang="en-US" sz="1943">
                <a:solidFill>
                  <a:srgbClr val="1C1B1A"/>
                </a:solidFill>
                <a:latin typeface="Arial"/>
                <a:ea typeface="Arial"/>
                <a:cs typeface="Arial"/>
                <a:sym typeface="Arial"/>
              </a:rPr>
              <a:t>Low silhouette scores indicate soft, overlapping boundaries. Unsupervised methods alone cannot reliably predict outcomes — supervision is required.</a:t>
            </a:r>
            <a:endParaRPr sz="1943">
              <a:solidFill>
                <a:schemeClr val="dk1"/>
              </a:solidFill>
              <a:latin typeface="Calibri"/>
              <a:ea typeface="Calibri"/>
              <a:cs typeface="Calibri"/>
              <a:sym typeface="Calibri"/>
            </a:endParaRPr>
          </a:p>
        </p:txBody>
      </p:sp>
      <p:sp>
        <p:nvSpPr>
          <p:cNvPr id="481" name="Google Shape;481;p13"/>
          <p:cNvSpPr/>
          <p:nvPr/>
        </p:nvSpPr>
        <p:spPr>
          <a:xfrm>
            <a:off x="16692116" y="7677150"/>
            <a:ext cx="1100584" cy="2952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665"/>
              <a:buFont typeface="Courier New"/>
              <a:buNone/>
            </a:pPr>
            <a:r>
              <a:rPr lang="en-US" sz="1665">
                <a:solidFill>
                  <a:srgbClr val="807C76"/>
                </a:solidFill>
                <a:latin typeface="Courier New"/>
                <a:ea typeface="Courier New"/>
                <a:cs typeface="Courier New"/>
                <a:sym typeface="Courier New"/>
              </a:rPr>
              <a:t>13/19</a:t>
            </a:r>
            <a:endParaRPr sz="1665">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Shape 486"/>
        <p:cNvGrpSpPr/>
        <p:nvPr/>
      </p:nvGrpSpPr>
      <p:grpSpPr>
        <a:xfrm>
          <a:off x="0" y="0"/>
          <a:ext cx="0" cy="0"/>
          <a:chOff x="0" y="0"/>
          <a:chExt cx="0" cy="0"/>
        </a:xfrm>
      </p:grpSpPr>
      <p:sp>
        <p:nvSpPr>
          <p:cNvPr id="487" name="Google Shape;487;p14"/>
          <p:cNvSpPr/>
          <p:nvPr/>
        </p:nvSpPr>
        <p:spPr>
          <a:xfrm>
            <a:off x="952500" y="1047006"/>
            <a:ext cx="533400" cy="19050"/>
          </a:xfrm>
          <a:prstGeom prst="rect">
            <a:avLst/>
          </a:prstGeom>
          <a:solidFill>
            <a:srgbClr val="4B484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88" name="Google Shape;488;p14"/>
          <p:cNvSpPr/>
          <p:nvPr/>
        </p:nvSpPr>
        <p:spPr>
          <a:xfrm>
            <a:off x="1657350" y="952500"/>
            <a:ext cx="5143047" cy="2952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665"/>
              <a:buFont typeface="Courier New"/>
              <a:buNone/>
            </a:pPr>
            <a:r>
              <a:rPr lang="en-US" sz="1665">
                <a:solidFill>
                  <a:srgbClr val="807C76"/>
                </a:solidFill>
                <a:latin typeface="Courier New"/>
                <a:ea typeface="Courier New"/>
                <a:cs typeface="Courier New"/>
                <a:sym typeface="Courier New"/>
              </a:rPr>
              <a:t>13 · ASSOCIATION RULE MINING</a:t>
            </a:r>
            <a:endParaRPr sz="1665">
              <a:solidFill>
                <a:schemeClr val="dk1"/>
              </a:solidFill>
              <a:latin typeface="Calibri"/>
              <a:ea typeface="Calibri"/>
              <a:cs typeface="Calibri"/>
              <a:sym typeface="Calibri"/>
            </a:endParaRPr>
          </a:p>
        </p:txBody>
      </p:sp>
      <p:sp>
        <p:nvSpPr>
          <p:cNvPr id="489" name="Google Shape;489;p14"/>
          <p:cNvSpPr/>
          <p:nvPr/>
        </p:nvSpPr>
        <p:spPr>
          <a:xfrm>
            <a:off x="952500" y="1704975"/>
            <a:ext cx="6248681" cy="1295400"/>
          </a:xfrm>
          <a:prstGeom prst="rect">
            <a:avLst/>
          </a:prstGeom>
          <a:noFill/>
          <a:ln>
            <a:noFill/>
          </a:ln>
        </p:spPr>
        <p:txBody>
          <a:bodyPr spcFirstLastPara="1" wrap="square" lIns="25400" tIns="25400" rIns="25400" bIns="25400" anchor="t" anchorCtr="0">
            <a:normAutofit/>
          </a:bodyPr>
          <a:lstStyle/>
          <a:p>
            <a:pPr marL="0" marR="0" lvl="0" indent="0" algn="l" rtl="0">
              <a:lnSpc>
                <a:spcPct val="84000"/>
              </a:lnSpc>
              <a:spcBef>
                <a:spcPts val="0"/>
              </a:spcBef>
              <a:spcAft>
                <a:spcPts val="0"/>
              </a:spcAft>
              <a:buClr>
                <a:srgbClr val="1C1B1A"/>
              </a:buClr>
              <a:buSzPts val="4440"/>
              <a:buFont typeface="Georgia"/>
              <a:buNone/>
            </a:pPr>
            <a:r>
              <a:rPr lang="en-US" sz="4440" b="1">
                <a:solidFill>
                  <a:srgbClr val="1C1B1A"/>
                </a:solidFill>
                <a:latin typeface="Georgia"/>
                <a:ea typeface="Georgia"/>
                <a:cs typeface="Georgia"/>
                <a:sym typeface="Georgia"/>
              </a:rPr>
              <a:t>Apriori on binned features</a:t>
            </a:r>
            <a:endParaRPr sz="4440">
              <a:solidFill>
                <a:schemeClr val="dk1"/>
              </a:solidFill>
              <a:latin typeface="Calibri"/>
              <a:ea typeface="Calibri"/>
              <a:cs typeface="Calibri"/>
              <a:sym typeface="Calibri"/>
            </a:endParaRPr>
          </a:p>
        </p:txBody>
      </p:sp>
      <p:sp>
        <p:nvSpPr>
          <p:cNvPr id="490" name="Google Shape;490;p14"/>
          <p:cNvSpPr/>
          <p:nvPr/>
        </p:nvSpPr>
        <p:spPr>
          <a:xfrm>
            <a:off x="952500" y="3819525"/>
            <a:ext cx="6066681"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1" name="Google Shape;491;p14"/>
          <p:cNvSpPr/>
          <p:nvPr/>
        </p:nvSpPr>
        <p:spPr>
          <a:xfrm>
            <a:off x="952500" y="3409950"/>
            <a:ext cx="1690092" cy="27622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526"/>
              <a:buFont typeface="Courier New"/>
              <a:buNone/>
            </a:pPr>
            <a:r>
              <a:rPr lang="en-US" sz="1526">
                <a:solidFill>
                  <a:srgbClr val="807C76"/>
                </a:solidFill>
                <a:latin typeface="Courier New"/>
                <a:ea typeface="Courier New"/>
                <a:cs typeface="Courier New"/>
                <a:sym typeface="Courier New"/>
              </a:rPr>
              <a:t>MIN_SUPPORT</a:t>
            </a:r>
            <a:endParaRPr sz="1526">
              <a:solidFill>
                <a:schemeClr val="dk1"/>
              </a:solidFill>
              <a:latin typeface="Calibri"/>
              <a:ea typeface="Calibri"/>
              <a:cs typeface="Calibri"/>
              <a:sym typeface="Calibri"/>
            </a:endParaRPr>
          </a:p>
        </p:txBody>
      </p:sp>
      <p:sp>
        <p:nvSpPr>
          <p:cNvPr id="492" name="Google Shape;492;p14"/>
          <p:cNvSpPr/>
          <p:nvPr/>
        </p:nvSpPr>
        <p:spPr>
          <a:xfrm>
            <a:off x="5301408" y="3267075"/>
            <a:ext cx="1793973" cy="457200"/>
          </a:xfrm>
          <a:prstGeom prst="rect">
            <a:avLst/>
          </a:prstGeom>
          <a:noFill/>
          <a:ln>
            <a:noFill/>
          </a:ln>
        </p:spPr>
        <p:txBody>
          <a:bodyPr spcFirstLastPara="1" wrap="square" lIns="25400" tIns="25400" rIns="25400" bIns="25400" anchor="t" anchorCtr="0">
            <a:normAutofit/>
          </a:bodyPr>
          <a:lstStyle/>
          <a:p>
            <a:pPr marL="0" marR="0" lvl="0" indent="0" algn="l" rtl="0">
              <a:spcBef>
                <a:spcPts val="0"/>
              </a:spcBef>
              <a:spcAft>
                <a:spcPts val="0"/>
              </a:spcAft>
              <a:buClr>
                <a:srgbClr val="1C1B1A"/>
              </a:buClr>
              <a:buSzPts val="2400"/>
              <a:buFont typeface="Georgia"/>
              <a:buNone/>
            </a:pPr>
            <a:r>
              <a:rPr lang="en-US" sz="2400" b="1">
                <a:solidFill>
                  <a:srgbClr val="1C1B1A"/>
                </a:solidFill>
                <a:latin typeface="Georgia"/>
                <a:ea typeface="Georgia"/>
                <a:cs typeface="Georgia"/>
                <a:sym typeface="Georgia"/>
              </a:rPr>
              <a:t>0.05</a:t>
            </a:r>
            <a:endParaRPr sz="2400">
              <a:solidFill>
                <a:schemeClr val="dk1"/>
              </a:solidFill>
              <a:latin typeface="Calibri"/>
              <a:ea typeface="Calibri"/>
              <a:cs typeface="Calibri"/>
              <a:sym typeface="Calibri"/>
            </a:endParaRPr>
          </a:p>
        </p:txBody>
      </p:sp>
      <p:sp>
        <p:nvSpPr>
          <p:cNvPr id="493" name="Google Shape;493;p14"/>
          <p:cNvSpPr/>
          <p:nvPr/>
        </p:nvSpPr>
        <p:spPr>
          <a:xfrm>
            <a:off x="952500" y="4552950"/>
            <a:ext cx="6066681"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4" name="Google Shape;494;p14"/>
          <p:cNvSpPr/>
          <p:nvPr/>
        </p:nvSpPr>
        <p:spPr>
          <a:xfrm>
            <a:off x="952500" y="4143375"/>
            <a:ext cx="2130177" cy="27622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526"/>
              <a:buFont typeface="Courier New"/>
              <a:buNone/>
            </a:pPr>
            <a:r>
              <a:rPr lang="en-US" sz="1526">
                <a:solidFill>
                  <a:srgbClr val="807C76"/>
                </a:solidFill>
                <a:latin typeface="Courier New"/>
                <a:ea typeface="Courier New"/>
                <a:cs typeface="Courier New"/>
                <a:sym typeface="Courier New"/>
              </a:rPr>
              <a:t>MIN_CONFIDENCE</a:t>
            </a:r>
            <a:endParaRPr sz="1526">
              <a:solidFill>
                <a:schemeClr val="dk1"/>
              </a:solidFill>
              <a:latin typeface="Calibri"/>
              <a:ea typeface="Calibri"/>
              <a:cs typeface="Calibri"/>
              <a:sym typeface="Calibri"/>
            </a:endParaRPr>
          </a:p>
        </p:txBody>
      </p:sp>
      <p:sp>
        <p:nvSpPr>
          <p:cNvPr id="495" name="Google Shape;495;p14"/>
          <p:cNvSpPr/>
          <p:nvPr/>
        </p:nvSpPr>
        <p:spPr>
          <a:xfrm>
            <a:off x="5301408" y="4000500"/>
            <a:ext cx="1793973" cy="457200"/>
          </a:xfrm>
          <a:prstGeom prst="rect">
            <a:avLst/>
          </a:prstGeom>
          <a:noFill/>
          <a:ln>
            <a:noFill/>
          </a:ln>
        </p:spPr>
        <p:txBody>
          <a:bodyPr spcFirstLastPara="1" wrap="square" lIns="25400" tIns="25400" rIns="25400" bIns="25400" anchor="t" anchorCtr="0">
            <a:normAutofit/>
          </a:bodyPr>
          <a:lstStyle/>
          <a:p>
            <a:pPr marL="0" marR="0" lvl="0" indent="0" algn="l" rtl="0">
              <a:spcBef>
                <a:spcPts val="0"/>
              </a:spcBef>
              <a:spcAft>
                <a:spcPts val="0"/>
              </a:spcAft>
              <a:buClr>
                <a:srgbClr val="1C1B1A"/>
              </a:buClr>
              <a:buSzPts val="2400"/>
              <a:buFont typeface="Georgia"/>
              <a:buNone/>
            </a:pPr>
            <a:r>
              <a:rPr lang="en-US" sz="2400" b="1">
                <a:solidFill>
                  <a:srgbClr val="1C1B1A"/>
                </a:solidFill>
                <a:latin typeface="Georgia"/>
                <a:ea typeface="Georgia"/>
                <a:cs typeface="Georgia"/>
                <a:sym typeface="Georgia"/>
              </a:rPr>
              <a:t>0.60</a:t>
            </a:r>
            <a:endParaRPr sz="2400">
              <a:solidFill>
                <a:schemeClr val="dk1"/>
              </a:solidFill>
              <a:latin typeface="Calibri"/>
              <a:ea typeface="Calibri"/>
              <a:cs typeface="Calibri"/>
              <a:sym typeface="Calibri"/>
            </a:endParaRPr>
          </a:p>
        </p:txBody>
      </p:sp>
      <p:sp>
        <p:nvSpPr>
          <p:cNvPr id="496" name="Google Shape;496;p14"/>
          <p:cNvSpPr/>
          <p:nvPr/>
        </p:nvSpPr>
        <p:spPr>
          <a:xfrm>
            <a:off x="952500" y="5286375"/>
            <a:ext cx="6066681"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7" name="Google Shape;497;p14"/>
          <p:cNvSpPr/>
          <p:nvPr/>
        </p:nvSpPr>
        <p:spPr>
          <a:xfrm>
            <a:off x="952500" y="4876800"/>
            <a:ext cx="2570262" cy="27622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526"/>
              <a:buFont typeface="Courier New"/>
              <a:buNone/>
            </a:pPr>
            <a:r>
              <a:rPr lang="en-US" sz="1526">
                <a:solidFill>
                  <a:srgbClr val="807C76"/>
                </a:solidFill>
                <a:latin typeface="Courier New"/>
                <a:ea typeface="Courier New"/>
                <a:cs typeface="Courier New"/>
                <a:sym typeface="Courier New"/>
              </a:rPr>
              <a:t>FREQUENT ITEMSETS</a:t>
            </a:r>
            <a:endParaRPr sz="1526">
              <a:solidFill>
                <a:schemeClr val="dk1"/>
              </a:solidFill>
              <a:latin typeface="Calibri"/>
              <a:ea typeface="Calibri"/>
              <a:cs typeface="Calibri"/>
              <a:sym typeface="Calibri"/>
            </a:endParaRPr>
          </a:p>
        </p:txBody>
      </p:sp>
      <p:sp>
        <p:nvSpPr>
          <p:cNvPr id="498" name="Google Shape;498;p14"/>
          <p:cNvSpPr/>
          <p:nvPr/>
        </p:nvSpPr>
        <p:spPr>
          <a:xfrm>
            <a:off x="5301407" y="4733925"/>
            <a:ext cx="1793974" cy="457200"/>
          </a:xfrm>
          <a:prstGeom prst="rect">
            <a:avLst/>
          </a:prstGeom>
          <a:noFill/>
          <a:ln>
            <a:noFill/>
          </a:ln>
        </p:spPr>
        <p:txBody>
          <a:bodyPr spcFirstLastPara="1" wrap="square" lIns="25400" tIns="25400" rIns="25400" bIns="25400" anchor="t" anchorCtr="0">
            <a:normAutofit/>
          </a:bodyPr>
          <a:lstStyle/>
          <a:p>
            <a:pPr marL="0" marR="0" lvl="0" indent="0" algn="l" rtl="0">
              <a:spcBef>
                <a:spcPts val="0"/>
              </a:spcBef>
              <a:spcAft>
                <a:spcPts val="0"/>
              </a:spcAft>
              <a:buClr>
                <a:srgbClr val="1C1B1A"/>
              </a:buClr>
              <a:buSzPts val="2400"/>
              <a:buFont typeface="Georgia"/>
              <a:buNone/>
            </a:pPr>
            <a:r>
              <a:rPr lang="en-US" sz="2400" b="1">
                <a:solidFill>
                  <a:srgbClr val="1C1B1A"/>
                </a:solidFill>
                <a:latin typeface="Georgia"/>
                <a:ea typeface="Georgia"/>
                <a:cs typeface="Georgia"/>
                <a:sym typeface="Georgia"/>
              </a:rPr>
              <a:t>189</a:t>
            </a:r>
            <a:endParaRPr sz="2400">
              <a:solidFill>
                <a:schemeClr val="dk1"/>
              </a:solidFill>
              <a:latin typeface="Calibri"/>
              <a:ea typeface="Calibri"/>
              <a:cs typeface="Calibri"/>
              <a:sym typeface="Calibri"/>
            </a:endParaRPr>
          </a:p>
        </p:txBody>
      </p:sp>
      <p:sp>
        <p:nvSpPr>
          <p:cNvPr id="499" name="Google Shape;499;p14"/>
          <p:cNvSpPr/>
          <p:nvPr/>
        </p:nvSpPr>
        <p:spPr>
          <a:xfrm>
            <a:off x="952500" y="6019800"/>
            <a:ext cx="6066681"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0" name="Google Shape;500;p14"/>
          <p:cNvSpPr/>
          <p:nvPr/>
        </p:nvSpPr>
        <p:spPr>
          <a:xfrm>
            <a:off x="952500" y="5610225"/>
            <a:ext cx="1690092" cy="27622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526"/>
              <a:buFont typeface="Courier New"/>
              <a:buNone/>
            </a:pPr>
            <a:r>
              <a:rPr lang="en-US" sz="1526">
                <a:solidFill>
                  <a:srgbClr val="807C76"/>
                </a:solidFill>
                <a:latin typeface="Courier New"/>
                <a:ea typeface="Courier New"/>
                <a:cs typeface="Courier New"/>
                <a:sym typeface="Courier New"/>
              </a:rPr>
              <a:t>TOTAL RULES</a:t>
            </a:r>
            <a:endParaRPr sz="1526">
              <a:solidFill>
                <a:schemeClr val="dk1"/>
              </a:solidFill>
              <a:latin typeface="Calibri"/>
              <a:ea typeface="Calibri"/>
              <a:cs typeface="Calibri"/>
              <a:sym typeface="Calibri"/>
            </a:endParaRPr>
          </a:p>
        </p:txBody>
      </p:sp>
      <p:sp>
        <p:nvSpPr>
          <p:cNvPr id="501" name="Google Shape;501;p14"/>
          <p:cNvSpPr/>
          <p:nvPr/>
        </p:nvSpPr>
        <p:spPr>
          <a:xfrm>
            <a:off x="5301407" y="5467350"/>
            <a:ext cx="1793974" cy="457200"/>
          </a:xfrm>
          <a:prstGeom prst="rect">
            <a:avLst/>
          </a:prstGeom>
          <a:noFill/>
          <a:ln>
            <a:noFill/>
          </a:ln>
        </p:spPr>
        <p:txBody>
          <a:bodyPr spcFirstLastPara="1" wrap="square" lIns="25400" tIns="25400" rIns="25400" bIns="25400" anchor="t" anchorCtr="0">
            <a:normAutofit/>
          </a:bodyPr>
          <a:lstStyle/>
          <a:p>
            <a:pPr marL="0" marR="0" lvl="0" indent="0" algn="l" rtl="0">
              <a:spcBef>
                <a:spcPts val="0"/>
              </a:spcBef>
              <a:spcAft>
                <a:spcPts val="0"/>
              </a:spcAft>
              <a:buClr>
                <a:srgbClr val="1C1B1A"/>
              </a:buClr>
              <a:buSzPts val="2400"/>
              <a:buFont typeface="Georgia"/>
              <a:buNone/>
            </a:pPr>
            <a:r>
              <a:rPr lang="en-US" sz="2400" b="1">
                <a:solidFill>
                  <a:srgbClr val="1C1B1A"/>
                </a:solidFill>
                <a:latin typeface="Georgia"/>
                <a:ea typeface="Georgia"/>
                <a:cs typeface="Georgia"/>
                <a:sym typeface="Georgia"/>
              </a:rPr>
              <a:t>334</a:t>
            </a:r>
            <a:endParaRPr sz="2400">
              <a:solidFill>
                <a:schemeClr val="dk1"/>
              </a:solidFill>
              <a:latin typeface="Calibri"/>
              <a:ea typeface="Calibri"/>
              <a:cs typeface="Calibri"/>
              <a:sym typeface="Calibri"/>
            </a:endParaRPr>
          </a:p>
        </p:txBody>
      </p:sp>
      <p:sp>
        <p:nvSpPr>
          <p:cNvPr id="502" name="Google Shape;502;p14"/>
          <p:cNvSpPr/>
          <p:nvPr/>
        </p:nvSpPr>
        <p:spPr>
          <a:xfrm>
            <a:off x="952500" y="6753225"/>
            <a:ext cx="6066681"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3" name="Google Shape;503;p14"/>
          <p:cNvSpPr/>
          <p:nvPr/>
        </p:nvSpPr>
        <p:spPr>
          <a:xfrm>
            <a:off x="952500" y="6343650"/>
            <a:ext cx="1836688" cy="27622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526"/>
              <a:buFont typeface="Courier New"/>
              <a:buNone/>
            </a:pPr>
            <a:r>
              <a:rPr lang="en-US" sz="1526">
                <a:solidFill>
                  <a:srgbClr val="807C76"/>
                </a:solidFill>
                <a:latin typeface="Courier New"/>
                <a:ea typeface="Courier New"/>
                <a:cs typeface="Courier New"/>
                <a:sym typeface="Courier New"/>
              </a:rPr>
              <a:t>TARGET RULES</a:t>
            </a:r>
            <a:endParaRPr sz="1526">
              <a:solidFill>
                <a:schemeClr val="dk1"/>
              </a:solidFill>
              <a:latin typeface="Calibri"/>
              <a:ea typeface="Calibri"/>
              <a:cs typeface="Calibri"/>
              <a:sym typeface="Calibri"/>
            </a:endParaRPr>
          </a:p>
        </p:txBody>
      </p:sp>
      <p:sp>
        <p:nvSpPr>
          <p:cNvPr id="504" name="Google Shape;504;p14"/>
          <p:cNvSpPr/>
          <p:nvPr/>
        </p:nvSpPr>
        <p:spPr>
          <a:xfrm>
            <a:off x="5301408" y="6200775"/>
            <a:ext cx="1793974" cy="457200"/>
          </a:xfrm>
          <a:prstGeom prst="rect">
            <a:avLst/>
          </a:prstGeom>
          <a:noFill/>
          <a:ln>
            <a:noFill/>
          </a:ln>
        </p:spPr>
        <p:txBody>
          <a:bodyPr spcFirstLastPara="1" wrap="square" lIns="25400" tIns="25400" rIns="25400" bIns="25400" anchor="t" anchorCtr="0">
            <a:normAutofit/>
          </a:bodyPr>
          <a:lstStyle/>
          <a:p>
            <a:pPr marL="0" marR="0" lvl="0" indent="0" algn="l" rtl="0">
              <a:spcBef>
                <a:spcPts val="0"/>
              </a:spcBef>
              <a:spcAft>
                <a:spcPts val="0"/>
              </a:spcAft>
              <a:buClr>
                <a:srgbClr val="1C1B1A"/>
              </a:buClr>
              <a:buSzPts val="2400"/>
              <a:buFont typeface="Georgia"/>
              <a:buNone/>
            </a:pPr>
            <a:r>
              <a:rPr lang="en-US" sz="2400" b="1">
                <a:solidFill>
                  <a:srgbClr val="1C1B1A"/>
                </a:solidFill>
                <a:latin typeface="Georgia"/>
                <a:ea typeface="Georgia"/>
                <a:cs typeface="Georgia"/>
                <a:sym typeface="Georgia"/>
              </a:rPr>
              <a:t>85</a:t>
            </a:r>
            <a:endParaRPr sz="2400">
              <a:solidFill>
                <a:schemeClr val="dk1"/>
              </a:solidFill>
              <a:latin typeface="Calibri"/>
              <a:ea typeface="Calibri"/>
              <a:cs typeface="Calibri"/>
              <a:sym typeface="Calibri"/>
            </a:endParaRPr>
          </a:p>
        </p:txBody>
      </p:sp>
      <p:sp>
        <p:nvSpPr>
          <p:cNvPr id="505" name="Google Shape;505;p14"/>
          <p:cNvSpPr/>
          <p:nvPr/>
        </p:nvSpPr>
        <p:spPr>
          <a:xfrm>
            <a:off x="7628781" y="2543175"/>
            <a:ext cx="4199334" cy="19050"/>
          </a:xfrm>
          <a:prstGeom prst="rect">
            <a:avLst/>
          </a:prstGeom>
          <a:solidFill>
            <a:srgbClr val="1C1B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6" name="Google Shape;506;p14"/>
          <p:cNvSpPr/>
          <p:nvPr/>
        </p:nvSpPr>
        <p:spPr>
          <a:xfrm>
            <a:off x="7838331" y="1876425"/>
            <a:ext cx="3906214" cy="533400"/>
          </a:xfrm>
          <a:prstGeom prst="rect">
            <a:avLst/>
          </a:prstGeom>
          <a:noFill/>
          <a:ln>
            <a:noFill/>
          </a:ln>
        </p:spPr>
        <p:txBody>
          <a:bodyPr spcFirstLastPara="1" wrap="square" lIns="25400" tIns="25400" rIns="25400" bIns="25400" anchor="ctr" anchorCtr="0">
            <a:normAutofit/>
          </a:bodyPr>
          <a:lstStyle/>
          <a:p>
            <a:pPr marL="0" marR="0" lvl="0" indent="0" algn="l" rtl="0">
              <a:spcBef>
                <a:spcPts val="0"/>
              </a:spcBef>
              <a:spcAft>
                <a:spcPts val="0"/>
              </a:spcAft>
              <a:buClr>
                <a:srgbClr val="807C76"/>
              </a:buClr>
              <a:buSzPts val="1650"/>
              <a:buFont typeface="Arial"/>
              <a:buNone/>
            </a:pPr>
            <a:r>
              <a:rPr lang="en-US" sz="1650" b="1">
                <a:solidFill>
                  <a:srgbClr val="807C76"/>
                </a:solidFill>
                <a:latin typeface="Arial"/>
                <a:ea typeface="Arial"/>
                <a:cs typeface="Arial"/>
                <a:sym typeface="Arial"/>
              </a:rPr>
              <a:t>ANTECEDENT</a:t>
            </a:r>
            <a:endParaRPr sz="1650">
              <a:solidFill>
                <a:schemeClr val="dk1"/>
              </a:solidFill>
              <a:latin typeface="Calibri"/>
              <a:ea typeface="Calibri"/>
              <a:cs typeface="Calibri"/>
              <a:sym typeface="Calibri"/>
            </a:endParaRPr>
          </a:p>
        </p:txBody>
      </p:sp>
      <p:sp>
        <p:nvSpPr>
          <p:cNvPr id="507" name="Google Shape;507;p14"/>
          <p:cNvSpPr/>
          <p:nvPr/>
        </p:nvSpPr>
        <p:spPr>
          <a:xfrm>
            <a:off x="11828115" y="2543175"/>
            <a:ext cx="2136874" cy="19050"/>
          </a:xfrm>
          <a:prstGeom prst="rect">
            <a:avLst/>
          </a:prstGeom>
          <a:solidFill>
            <a:srgbClr val="1C1B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8" name="Google Shape;508;p14"/>
          <p:cNvSpPr/>
          <p:nvPr/>
        </p:nvSpPr>
        <p:spPr>
          <a:xfrm>
            <a:off x="12037665" y="1876425"/>
            <a:ext cx="1793974" cy="533400"/>
          </a:xfrm>
          <a:prstGeom prst="rect">
            <a:avLst/>
          </a:prstGeom>
          <a:noFill/>
          <a:ln>
            <a:noFill/>
          </a:ln>
        </p:spPr>
        <p:txBody>
          <a:bodyPr spcFirstLastPara="1" wrap="square" lIns="25400" tIns="25400" rIns="25400" bIns="25400" anchor="ctr" anchorCtr="0">
            <a:normAutofit/>
          </a:bodyPr>
          <a:lstStyle/>
          <a:p>
            <a:pPr marL="0" marR="0" lvl="0" indent="0" algn="l" rtl="0">
              <a:lnSpc>
                <a:spcPct val="90000"/>
              </a:lnSpc>
              <a:spcBef>
                <a:spcPts val="0"/>
              </a:spcBef>
              <a:spcAft>
                <a:spcPts val="0"/>
              </a:spcAft>
              <a:buClr>
                <a:srgbClr val="807C76"/>
              </a:buClr>
              <a:buSzPts val="1650"/>
              <a:buFont typeface="Arial"/>
              <a:buNone/>
            </a:pPr>
            <a:r>
              <a:rPr lang="en-US" sz="1650" b="1">
                <a:solidFill>
                  <a:srgbClr val="807C76"/>
                </a:solidFill>
                <a:latin typeface="Arial"/>
                <a:ea typeface="Arial"/>
                <a:cs typeface="Arial"/>
                <a:sym typeface="Arial"/>
              </a:rPr>
              <a:t>→ CONSEQUENT</a:t>
            </a:r>
            <a:endParaRPr sz="1650">
              <a:solidFill>
                <a:schemeClr val="dk1"/>
              </a:solidFill>
              <a:latin typeface="Calibri"/>
              <a:ea typeface="Calibri"/>
              <a:cs typeface="Calibri"/>
              <a:sym typeface="Calibri"/>
            </a:endParaRPr>
          </a:p>
        </p:txBody>
      </p:sp>
      <p:sp>
        <p:nvSpPr>
          <p:cNvPr id="509" name="Google Shape;509;p14"/>
          <p:cNvSpPr/>
          <p:nvPr/>
        </p:nvSpPr>
        <p:spPr>
          <a:xfrm>
            <a:off x="13964989" y="2543175"/>
            <a:ext cx="1181100" cy="19050"/>
          </a:xfrm>
          <a:prstGeom prst="rect">
            <a:avLst/>
          </a:prstGeom>
          <a:solidFill>
            <a:srgbClr val="1C1B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0" name="Google Shape;510;p14"/>
          <p:cNvSpPr/>
          <p:nvPr/>
        </p:nvSpPr>
        <p:spPr>
          <a:xfrm>
            <a:off x="14098339" y="1876425"/>
            <a:ext cx="838200" cy="533400"/>
          </a:xfrm>
          <a:prstGeom prst="rect">
            <a:avLst/>
          </a:prstGeom>
          <a:noFill/>
          <a:ln>
            <a:noFill/>
          </a:ln>
        </p:spPr>
        <p:txBody>
          <a:bodyPr spcFirstLastPara="1" wrap="square" lIns="25400" tIns="25400" rIns="25400" bIns="25400" anchor="ctr" anchorCtr="0">
            <a:normAutofit/>
          </a:bodyPr>
          <a:lstStyle/>
          <a:p>
            <a:pPr marL="0" marR="0" lvl="0" indent="0" algn="r" rtl="0">
              <a:spcBef>
                <a:spcPts val="0"/>
              </a:spcBef>
              <a:spcAft>
                <a:spcPts val="0"/>
              </a:spcAft>
              <a:buClr>
                <a:srgbClr val="807C76"/>
              </a:buClr>
              <a:buSzPts val="1650"/>
              <a:buFont typeface="Arial"/>
              <a:buNone/>
            </a:pPr>
            <a:r>
              <a:rPr lang="en-US" sz="1650" b="1">
                <a:solidFill>
                  <a:srgbClr val="807C76"/>
                </a:solidFill>
                <a:latin typeface="Arial"/>
                <a:ea typeface="Arial"/>
                <a:cs typeface="Arial"/>
                <a:sym typeface="Arial"/>
              </a:rPr>
              <a:t>SUP.</a:t>
            </a:r>
            <a:endParaRPr sz="1650">
              <a:solidFill>
                <a:schemeClr val="dk1"/>
              </a:solidFill>
              <a:latin typeface="Calibri"/>
              <a:ea typeface="Calibri"/>
              <a:cs typeface="Calibri"/>
              <a:sym typeface="Calibri"/>
            </a:endParaRPr>
          </a:p>
        </p:txBody>
      </p:sp>
      <p:sp>
        <p:nvSpPr>
          <p:cNvPr id="511" name="Google Shape;511;p14"/>
          <p:cNvSpPr/>
          <p:nvPr/>
        </p:nvSpPr>
        <p:spPr>
          <a:xfrm>
            <a:off x="15146089" y="2543175"/>
            <a:ext cx="1181100" cy="19050"/>
          </a:xfrm>
          <a:prstGeom prst="rect">
            <a:avLst/>
          </a:prstGeom>
          <a:solidFill>
            <a:srgbClr val="1C1B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2" name="Google Shape;512;p14"/>
          <p:cNvSpPr/>
          <p:nvPr/>
        </p:nvSpPr>
        <p:spPr>
          <a:xfrm>
            <a:off x="15279439" y="1876425"/>
            <a:ext cx="838200" cy="533400"/>
          </a:xfrm>
          <a:prstGeom prst="rect">
            <a:avLst/>
          </a:prstGeom>
          <a:noFill/>
          <a:ln>
            <a:noFill/>
          </a:ln>
        </p:spPr>
        <p:txBody>
          <a:bodyPr spcFirstLastPara="1" wrap="square" lIns="25400" tIns="25400" rIns="25400" bIns="25400" anchor="ctr" anchorCtr="0">
            <a:normAutofit/>
          </a:bodyPr>
          <a:lstStyle/>
          <a:p>
            <a:pPr marL="0" marR="0" lvl="0" indent="0" algn="r" rtl="0">
              <a:spcBef>
                <a:spcPts val="0"/>
              </a:spcBef>
              <a:spcAft>
                <a:spcPts val="0"/>
              </a:spcAft>
              <a:buClr>
                <a:srgbClr val="807C76"/>
              </a:buClr>
              <a:buSzPts val="1650"/>
              <a:buFont typeface="Arial"/>
              <a:buNone/>
            </a:pPr>
            <a:r>
              <a:rPr lang="en-US" sz="1650" b="1">
                <a:solidFill>
                  <a:srgbClr val="807C76"/>
                </a:solidFill>
                <a:latin typeface="Arial"/>
                <a:ea typeface="Arial"/>
                <a:cs typeface="Arial"/>
                <a:sym typeface="Arial"/>
              </a:rPr>
              <a:t>CONF.</a:t>
            </a:r>
            <a:endParaRPr sz="1650">
              <a:solidFill>
                <a:schemeClr val="dk1"/>
              </a:solidFill>
              <a:latin typeface="Calibri"/>
              <a:ea typeface="Calibri"/>
              <a:cs typeface="Calibri"/>
              <a:sym typeface="Calibri"/>
            </a:endParaRPr>
          </a:p>
        </p:txBody>
      </p:sp>
      <p:sp>
        <p:nvSpPr>
          <p:cNvPr id="513" name="Google Shape;513;p14"/>
          <p:cNvSpPr/>
          <p:nvPr/>
        </p:nvSpPr>
        <p:spPr>
          <a:xfrm>
            <a:off x="16327189" y="2543175"/>
            <a:ext cx="1008459" cy="19050"/>
          </a:xfrm>
          <a:prstGeom prst="rect">
            <a:avLst/>
          </a:prstGeom>
          <a:solidFill>
            <a:srgbClr val="1C1B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4" name="Google Shape;514;p14"/>
          <p:cNvSpPr/>
          <p:nvPr/>
        </p:nvSpPr>
        <p:spPr>
          <a:xfrm>
            <a:off x="16460539" y="1876425"/>
            <a:ext cx="665559" cy="533400"/>
          </a:xfrm>
          <a:prstGeom prst="rect">
            <a:avLst/>
          </a:prstGeom>
          <a:noFill/>
          <a:ln>
            <a:noFill/>
          </a:ln>
        </p:spPr>
        <p:txBody>
          <a:bodyPr spcFirstLastPara="1" wrap="square" lIns="25400" tIns="25400" rIns="25400" bIns="25400" anchor="ctr" anchorCtr="0">
            <a:normAutofit/>
          </a:bodyPr>
          <a:lstStyle/>
          <a:p>
            <a:pPr marL="0" marR="0" lvl="0" indent="0" algn="r" rtl="0">
              <a:spcBef>
                <a:spcPts val="0"/>
              </a:spcBef>
              <a:spcAft>
                <a:spcPts val="0"/>
              </a:spcAft>
              <a:buClr>
                <a:srgbClr val="807C76"/>
              </a:buClr>
              <a:buSzPts val="1650"/>
              <a:buFont typeface="Arial"/>
              <a:buNone/>
            </a:pPr>
            <a:r>
              <a:rPr lang="en-US" sz="1650" b="1">
                <a:solidFill>
                  <a:srgbClr val="807C76"/>
                </a:solidFill>
                <a:latin typeface="Arial"/>
                <a:ea typeface="Arial"/>
                <a:cs typeface="Arial"/>
                <a:sym typeface="Arial"/>
              </a:rPr>
              <a:t>LIFT</a:t>
            </a:r>
            <a:endParaRPr sz="1650">
              <a:solidFill>
                <a:schemeClr val="dk1"/>
              </a:solidFill>
              <a:latin typeface="Calibri"/>
              <a:ea typeface="Calibri"/>
              <a:cs typeface="Calibri"/>
              <a:sym typeface="Calibri"/>
            </a:endParaRPr>
          </a:p>
        </p:txBody>
      </p:sp>
      <p:sp>
        <p:nvSpPr>
          <p:cNvPr id="515" name="Google Shape;515;p14"/>
          <p:cNvSpPr/>
          <p:nvPr/>
        </p:nvSpPr>
        <p:spPr>
          <a:xfrm>
            <a:off x="7628781" y="2562225"/>
            <a:ext cx="4199334" cy="681038"/>
          </a:xfrm>
          <a:prstGeom prst="rect">
            <a:avLst/>
          </a:prstGeom>
          <a:solidFill>
            <a:srgbClr val="1D9E75">
              <a:alpha val="7843"/>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6" name="Google Shape;516;p14"/>
          <p:cNvSpPr/>
          <p:nvPr/>
        </p:nvSpPr>
        <p:spPr>
          <a:xfrm>
            <a:off x="7628781" y="3233738"/>
            <a:ext cx="4199334"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7" name="Google Shape;517;p14"/>
          <p:cNvSpPr/>
          <p:nvPr/>
        </p:nvSpPr>
        <p:spPr>
          <a:xfrm>
            <a:off x="7838331" y="2733675"/>
            <a:ext cx="3906214" cy="366712"/>
          </a:xfrm>
          <a:prstGeom prst="rect">
            <a:avLst/>
          </a:prstGeom>
          <a:noFill/>
          <a:ln>
            <a:noFill/>
          </a:ln>
        </p:spPr>
        <p:txBody>
          <a:bodyPr spcFirstLastPara="1" wrap="square" lIns="25400" tIns="25400" rIns="25400" bIns="25400" anchor="ctr" anchorCtr="0">
            <a:normAutofit/>
          </a:bodyPr>
          <a:lstStyle/>
          <a:p>
            <a:pPr marL="0" marR="0" lvl="0" indent="0" algn="l" rtl="0">
              <a:spcBef>
                <a:spcPts val="0"/>
              </a:spcBef>
              <a:spcAft>
                <a:spcPts val="0"/>
              </a:spcAft>
              <a:buClr>
                <a:srgbClr val="1C1B1A"/>
              </a:buClr>
              <a:buSzPts val="1650"/>
              <a:buFont typeface="Courier New"/>
              <a:buNone/>
            </a:pPr>
            <a:r>
              <a:rPr lang="en-US" sz="1650" b="1">
                <a:solidFill>
                  <a:srgbClr val="1C1B1A"/>
                </a:solidFill>
                <a:latin typeface="Courier New"/>
                <a:ea typeface="Courier New"/>
                <a:cs typeface="Courier New"/>
                <a:sym typeface="Courier New"/>
              </a:rPr>
              <a:t>CU1_Low + Age_Mid</a:t>
            </a:r>
            <a:endParaRPr sz="1650">
              <a:solidFill>
                <a:schemeClr val="dk1"/>
              </a:solidFill>
              <a:latin typeface="Calibri"/>
              <a:ea typeface="Calibri"/>
              <a:cs typeface="Calibri"/>
              <a:sym typeface="Calibri"/>
            </a:endParaRPr>
          </a:p>
        </p:txBody>
      </p:sp>
      <p:sp>
        <p:nvSpPr>
          <p:cNvPr id="518" name="Google Shape;518;p14"/>
          <p:cNvSpPr/>
          <p:nvPr/>
        </p:nvSpPr>
        <p:spPr>
          <a:xfrm>
            <a:off x="11828115" y="2562225"/>
            <a:ext cx="2136874" cy="681038"/>
          </a:xfrm>
          <a:prstGeom prst="rect">
            <a:avLst/>
          </a:prstGeom>
          <a:solidFill>
            <a:srgbClr val="1D9E75">
              <a:alpha val="7843"/>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9" name="Google Shape;519;p14"/>
          <p:cNvSpPr/>
          <p:nvPr/>
        </p:nvSpPr>
        <p:spPr>
          <a:xfrm>
            <a:off x="11828115" y="3233738"/>
            <a:ext cx="2136874"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0" name="Google Shape;520;p14"/>
          <p:cNvSpPr/>
          <p:nvPr/>
        </p:nvSpPr>
        <p:spPr>
          <a:xfrm>
            <a:off x="12037665" y="2733675"/>
            <a:ext cx="1793974" cy="366712"/>
          </a:xfrm>
          <a:prstGeom prst="rect">
            <a:avLst/>
          </a:prstGeom>
          <a:noFill/>
          <a:ln>
            <a:noFill/>
          </a:ln>
        </p:spPr>
        <p:txBody>
          <a:bodyPr spcFirstLastPara="1" wrap="square" lIns="25400" tIns="25400" rIns="25400" bIns="25400" anchor="ctr" anchorCtr="0">
            <a:normAutofit/>
          </a:bodyPr>
          <a:lstStyle/>
          <a:p>
            <a:pPr marL="0" marR="0" lvl="0" indent="0" algn="l" rtl="0">
              <a:spcBef>
                <a:spcPts val="0"/>
              </a:spcBef>
              <a:spcAft>
                <a:spcPts val="0"/>
              </a:spcAft>
              <a:buClr>
                <a:srgbClr val="E24B4A"/>
              </a:buClr>
              <a:buSzPts val="1650"/>
              <a:buFont typeface="Courier New"/>
              <a:buNone/>
            </a:pPr>
            <a:r>
              <a:rPr lang="en-US" sz="1650" b="1">
                <a:solidFill>
                  <a:srgbClr val="E24B4A"/>
                </a:solidFill>
                <a:latin typeface="Courier New"/>
                <a:ea typeface="Courier New"/>
                <a:cs typeface="Courier New"/>
                <a:sym typeface="Courier New"/>
              </a:rPr>
              <a:t>Dropout</a:t>
            </a:r>
            <a:endParaRPr sz="1650">
              <a:solidFill>
                <a:schemeClr val="dk1"/>
              </a:solidFill>
              <a:latin typeface="Calibri"/>
              <a:ea typeface="Calibri"/>
              <a:cs typeface="Calibri"/>
              <a:sym typeface="Calibri"/>
            </a:endParaRPr>
          </a:p>
        </p:txBody>
      </p:sp>
      <p:sp>
        <p:nvSpPr>
          <p:cNvPr id="521" name="Google Shape;521;p14"/>
          <p:cNvSpPr/>
          <p:nvPr/>
        </p:nvSpPr>
        <p:spPr>
          <a:xfrm>
            <a:off x="13964989" y="2562225"/>
            <a:ext cx="1181100" cy="681038"/>
          </a:xfrm>
          <a:prstGeom prst="rect">
            <a:avLst/>
          </a:prstGeom>
          <a:solidFill>
            <a:srgbClr val="1D9E75">
              <a:alpha val="7843"/>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2" name="Google Shape;522;p14"/>
          <p:cNvSpPr/>
          <p:nvPr/>
        </p:nvSpPr>
        <p:spPr>
          <a:xfrm>
            <a:off x="13964989" y="3233738"/>
            <a:ext cx="1181100"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3" name="Google Shape;523;p14"/>
          <p:cNvSpPr/>
          <p:nvPr/>
        </p:nvSpPr>
        <p:spPr>
          <a:xfrm>
            <a:off x="14098339" y="2733675"/>
            <a:ext cx="838200" cy="366712"/>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2100"/>
              <a:buFont typeface="Arial"/>
              <a:buNone/>
            </a:pPr>
            <a:r>
              <a:rPr lang="en-US" sz="2100" b="1">
                <a:solidFill>
                  <a:srgbClr val="1C1B1A"/>
                </a:solidFill>
                <a:latin typeface="Arial"/>
                <a:ea typeface="Arial"/>
                <a:cs typeface="Arial"/>
                <a:sym typeface="Arial"/>
              </a:rPr>
              <a:t>0.058</a:t>
            </a:r>
            <a:endParaRPr sz="2100">
              <a:solidFill>
                <a:schemeClr val="dk1"/>
              </a:solidFill>
              <a:latin typeface="Calibri"/>
              <a:ea typeface="Calibri"/>
              <a:cs typeface="Calibri"/>
              <a:sym typeface="Calibri"/>
            </a:endParaRPr>
          </a:p>
        </p:txBody>
      </p:sp>
      <p:sp>
        <p:nvSpPr>
          <p:cNvPr id="524" name="Google Shape;524;p14"/>
          <p:cNvSpPr/>
          <p:nvPr/>
        </p:nvSpPr>
        <p:spPr>
          <a:xfrm>
            <a:off x="15146089" y="2562225"/>
            <a:ext cx="1181100" cy="681038"/>
          </a:xfrm>
          <a:prstGeom prst="rect">
            <a:avLst/>
          </a:prstGeom>
          <a:solidFill>
            <a:srgbClr val="1D9E75">
              <a:alpha val="7843"/>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5" name="Google Shape;525;p14"/>
          <p:cNvSpPr/>
          <p:nvPr/>
        </p:nvSpPr>
        <p:spPr>
          <a:xfrm>
            <a:off x="15146089" y="3233738"/>
            <a:ext cx="1181100"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6" name="Google Shape;526;p14"/>
          <p:cNvSpPr/>
          <p:nvPr/>
        </p:nvSpPr>
        <p:spPr>
          <a:xfrm>
            <a:off x="15279439" y="2733675"/>
            <a:ext cx="838200" cy="366712"/>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2100"/>
              <a:buFont typeface="Arial"/>
              <a:buNone/>
            </a:pPr>
            <a:r>
              <a:rPr lang="en-US" sz="2100" b="1">
                <a:solidFill>
                  <a:srgbClr val="1C1B1A"/>
                </a:solidFill>
                <a:latin typeface="Arial"/>
                <a:ea typeface="Arial"/>
                <a:cs typeface="Arial"/>
                <a:sym typeface="Arial"/>
              </a:rPr>
              <a:t>0.874</a:t>
            </a:r>
            <a:endParaRPr sz="2100">
              <a:solidFill>
                <a:schemeClr val="dk1"/>
              </a:solidFill>
              <a:latin typeface="Calibri"/>
              <a:ea typeface="Calibri"/>
              <a:cs typeface="Calibri"/>
              <a:sym typeface="Calibri"/>
            </a:endParaRPr>
          </a:p>
        </p:txBody>
      </p:sp>
      <p:sp>
        <p:nvSpPr>
          <p:cNvPr id="527" name="Google Shape;527;p14"/>
          <p:cNvSpPr/>
          <p:nvPr/>
        </p:nvSpPr>
        <p:spPr>
          <a:xfrm>
            <a:off x="16327189" y="2562225"/>
            <a:ext cx="1008459" cy="681038"/>
          </a:xfrm>
          <a:prstGeom prst="rect">
            <a:avLst/>
          </a:prstGeom>
          <a:solidFill>
            <a:srgbClr val="1D9E75">
              <a:alpha val="7843"/>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8" name="Google Shape;528;p14"/>
          <p:cNvSpPr/>
          <p:nvPr/>
        </p:nvSpPr>
        <p:spPr>
          <a:xfrm>
            <a:off x="16327189" y="3233738"/>
            <a:ext cx="1008459"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9" name="Google Shape;529;p14"/>
          <p:cNvSpPr/>
          <p:nvPr/>
        </p:nvSpPr>
        <p:spPr>
          <a:xfrm>
            <a:off x="16460539" y="2733675"/>
            <a:ext cx="665559" cy="366712"/>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2100"/>
              <a:buFont typeface="Arial"/>
              <a:buNone/>
            </a:pPr>
            <a:r>
              <a:rPr lang="en-US" sz="2100" b="1">
                <a:solidFill>
                  <a:srgbClr val="1C1B1A"/>
                </a:solidFill>
                <a:latin typeface="Arial"/>
                <a:ea typeface="Arial"/>
                <a:cs typeface="Arial"/>
                <a:sym typeface="Arial"/>
              </a:rPr>
              <a:t>2.72</a:t>
            </a:r>
            <a:endParaRPr sz="2100">
              <a:solidFill>
                <a:schemeClr val="dk1"/>
              </a:solidFill>
              <a:latin typeface="Calibri"/>
              <a:ea typeface="Calibri"/>
              <a:cs typeface="Calibri"/>
              <a:sym typeface="Calibri"/>
            </a:endParaRPr>
          </a:p>
        </p:txBody>
      </p:sp>
      <p:sp>
        <p:nvSpPr>
          <p:cNvPr id="530" name="Google Shape;530;p14"/>
          <p:cNvSpPr/>
          <p:nvPr/>
        </p:nvSpPr>
        <p:spPr>
          <a:xfrm>
            <a:off x="7628781" y="3910013"/>
            <a:ext cx="4199334"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31" name="Google Shape;531;p14"/>
          <p:cNvSpPr/>
          <p:nvPr/>
        </p:nvSpPr>
        <p:spPr>
          <a:xfrm>
            <a:off x="7838331" y="3414713"/>
            <a:ext cx="3906214" cy="361950"/>
          </a:xfrm>
          <a:prstGeom prst="rect">
            <a:avLst/>
          </a:prstGeom>
          <a:noFill/>
          <a:ln>
            <a:noFill/>
          </a:ln>
        </p:spPr>
        <p:txBody>
          <a:bodyPr spcFirstLastPara="1" wrap="square" lIns="25400" tIns="25400" rIns="25400" bIns="25400" anchor="ctr" anchorCtr="0">
            <a:normAutofit/>
          </a:bodyPr>
          <a:lstStyle/>
          <a:p>
            <a:pPr marL="0" marR="0" lvl="0" indent="0" algn="l" rtl="0">
              <a:spcBef>
                <a:spcPts val="0"/>
              </a:spcBef>
              <a:spcAft>
                <a:spcPts val="0"/>
              </a:spcAft>
              <a:buClr>
                <a:srgbClr val="1C1B1A"/>
              </a:buClr>
              <a:buSzPts val="1650"/>
              <a:buFont typeface="Courier New"/>
              <a:buNone/>
            </a:pPr>
            <a:r>
              <a:rPr lang="en-US" sz="1650">
                <a:solidFill>
                  <a:srgbClr val="1C1B1A"/>
                </a:solidFill>
                <a:latin typeface="Courier New"/>
                <a:ea typeface="Courier New"/>
                <a:cs typeface="Courier New"/>
                <a:sym typeface="Courier New"/>
              </a:rPr>
              <a:t>AdmGrade_Low + CU1_Low</a:t>
            </a:r>
            <a:endParaRPr sz="1650">
              <a:solidFill>
                <a:schemeClr val="dk1"/>
              </a:solidFill>
              <a:latin typeface="Calibri"/>
              <a:ea typeface="Calibri"/>
              <a:cs typeface="Calibri"/>
              <a:sym typeface="Calibri"/>
            </a:endParaRPr>
          </a:p>
        </p:txBody>
      </p:sp>
      <p:sp>
        <p:nvSpPr>
          <p:cNvPr id="532" name="Google Shape;532;p14"/>
          <p:cNvSpPr/>
          <p:nvPr/>
        </p:nvSpPr>
        <p:spPr>
          <a:xfrm>
            <a:off x="11828115" y="3910013"/>
            <a:ext cx="2136874"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33" name="Google Shape;533;p14"/>
          <p:cNvSpPr/>
          <p:nvPr/>
        </p:nvSpPr>
        <p:spPr>
          <a:xfrm>
            <a:off x="12037665" y="3414713"/>
            <a:ext cx="1793974" cy="361950"/>
          </a:xfrm>
          <a:prstGeom prst="rect">
            <a:avLst/>
          </a:prstGeom>
          <a:noFill/>
          <a:ln>
            <a:noFill/>
          </a:ln>
        </p:spPr>
        <p:txBody>
          <a:bodyPr spcFirstLastPara="1" wrap="square" lIns="25400" tIns="25400" rIns="25400" bIns="25400" anchor="ctr" anchorCtr="0">
            <a:normAutofit/>
          </a:bodyPr>
          <a:lstStyle/>
          <a:p>
            <a:pPr marL="0" marR="0" lvl="0" indent="0" algn="l" rtl="0">
              <a:spcBef>
                <a:spcPts val="0"/>
              </a:spcBef>
              <a:spcAft>
                <a:spcPts val="0"/>
              </a:spcAft>
              <a:buClr>
                <a:srgbClr val="E24B4A"/>
              </a:buClr>
              <a:buSzPts val="1650"/>
              <a:buFont typeface="Courier New"/>
              <a:buNone/>
            </a:pPr>
            <a:r>
              <a:rPr lang="en-US" sz="1650" b="1">
                <a:solidFill>
                  <a:srgbClr val="E24B4A"/>
                </a:solidFill>
                <a:latin typeface="Courier New"/>
                <a:ea typeface="Courier New"/>
                <a:cs typeface="Courier New"/>
                <a:sym typeface="Courier New"/>
              </a:rPr>
              <a:t>Dropout</a:t>
            </a:r>
            <a:endParaRPr sz="1650">
              <a:solidFill>
                <a:schemeClr val="dk1"/>
              </a:solidFill>
              <a:latin typeface="Calibri"/>
              <a:ea typeface="Calibri"/>
              <a:cs typeface="Calibri"/>
              <a:sym typeface="Calibri"/>
            </a:endParaRPr>
          </a:p>
        </p:txBody>
      </p:sp>
      <p:sp>
        <p:nvSpPr>
          <p:cNvPr id="534" name="Google Shape;534;p14"/>
          <p:cNvSpPr/>
          <p:nvPr/>
        </p:nvSpPr>
        <p:spPr>
          <a:xfrm>
            <a:off x="13964989" y="3910013"/>
            <a:ext cx="1181100"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35" name="Google Shape;535;p14"/>
          <p:cNvSpPr/>
          <p:nvPr/>
        </p:nvSpPr>
        <p:spPr>
          <a:xfrm>
            <a:off x="14098339" y="3414713"/>
            <a:ext cx="838200" cy="36195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2100"/>
              <a:buFont typeface="Arial"/>
              <a:buNone/>
            </a:pPr>
            <a:r>
              <a:rPr lang="en-US" sz="2100">
                <a:solidFill>
                  <a:srgbClr val="1C1B1A"/>
                </a:solidFill>
                <a:latin typeface="Arial"/>
                <a:ea typeface="Arial"/>
                <a:cs typeface="Arial"/>
                <a:sym typeface="Arial"/>
              </a:rPr>
              <a:t>0.069</a:t>
            </a:r>
            <a:endParaRPr sz="2100">
              <a:solidFill>
                <a:schemeClr val="dk1"/>
              </a:solidFill>
              <a:latin typeface="Calibri"/>
              <a:ea typeface="Calibri"/>
              <a:cs typeface="Calibri"/>
              <a:sym typeface="Calibri"/>
            </a:endParaRPr>
          </a:p>
        </p:txBody>
      </p:sp>
      <p:sp>
        <p:nvSpPr>
          <p:cNvPr id="536" name="Google Shape;536;p14"/>
          <p:cNvSpPr/>
          <p:nvPr/>
        </p:nvSpPr>
        <p:spPr>
          <a:xfrm>
            <a:off x="15146089" y="3910013"/>
            <a:ext cx="1181100"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37" name="Google Shape;537;p14"/>
          <p:cNvSpPr/>
          <p:nvPr/>
        </p:nvSpPr>
        <p:spPr>
          <a:xfrm>
            <a:off x="15279439" y="3414713"/>
            <a:ext cx="838200" cy="36195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2100"/>
              <a:buFont typeface="Arial"/>
              <a:buNone/>
            </a:pPr>
            <a:r>
              <a:rPr lang="en-US" sz="2100">
                <a:solidFill>
                  <a:srgbClr val="1C1B1A"/>
                </a:solidFill>
                <a:latin typeface="Arial"/>
                <a:ea typeface="Arial"/>
                <a:cs typeface="Arial"/>
                <a:sym typeface="Arial"/>
              </a:rPr>
              <a:t>0.860</a:t>
            </a:r>
            <a:endParaRPr sz="2100">
              <a:solidFill>
                <a:schemeClr val="dk1"/>
              </a:solidFill>
              <a:latin typeface="Calibri"/>
              <a:ea typeface="Calibri"/>
              <a:cs typeface="Calibri"/>
              <a:sym typeface="Calibri"/>
            </a:endParaRPr>
          </a:p>
        </p:txBody>
      </p:sp>
      <p:sp>
        <p:nvSpPr>
          <p:cNvPr id="538" name="Google Shape;538;p14"/>
          <p:cNvSpPr/>
          <p:nvPr/>
        </p:nvSpPr>
        <p:spPr>
          <a:xfrm>
            <a:off x="16327189" y="3910013"/>
            <a:ext cx="1008459"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39" name="Google Shape;539;p14"/>
          <p:cNvSpPr/>
          <p:nvPr/>
        </p:nvSpPr>
        <p:spPr>
          <a:xfrm>
            <a:off x="16460539" y="3414713"/>
            <a:ext cx="665559" cy="36195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2100"/>
              <a:buFont typeface="Arial"/>
              <a:buNone/>
            </a:pPr>
            <a:r>
              <a:rPr lang="en-US" sz="2100" b="1">
                <a:solidFill>
                  <a:srgbClr val="1C1B1A"/>
                </a:solidFill>
                <a:latin typeface="Arial"/>
                <a:ea typeface="Arial"/>
                <a:cs typeface="Arial"/>
                <a:sym typeface="Arial"/>
              </a:rPr>
              <a:t>2.68</a:t>
            </a:r>
            <a:endParaRPr sz="2100">
              <a:solidFill>
                <a:schemeClr val="dk1"/>
              </a:solidFill>
              <a:latin typeface="Calibri"/>
              <a:ea typeface="Calibri"/>
              <a:cs typeface="Calibri"/>
              <a:sym typeface="Calibri"/>
            </a:endParaRPr>
          </a:p>
        </p:txBody>
      </p:sp>
      <p:sp>
        <p:nvSpPr>
          <p:cNvPr id="540" name="Google Shape;540;p14"/>
          <p:cNvSpPr/>
          <p:nvPr/>
        </p:nvSpPr>
        <p:spPr>
          <a:xfrm>
            <a:off x="7628781" y="4586288"/>
            <a:ext cx="4199334"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41" name="Google Shape;541;p14"/>
          <p:cNvSpPr/>
          <p:nvPr/>
        </p:nvSpPr>
        <p:spPr>
          <a:xfrm>
            <a:off x="7838331" y="4090987"/>
            <a:ext cx="3906214" cy="361950"/>
          </a:xfrm>
          <a:prstGeom prst="rect">
            <a:avLst/>
          </a:prstGeom>
          <a:noFill/>
          <a:ln>
            <a:noFill/>
          </a:ln>
        </p:spPr>
        <p:txBody>
          <a:bodyPr spcFirstLastPara="1" wrap="square" lIns="25400" tIns="25400" rIns="25400" bIns="25400" anchor="ctr" anchorCtr="0">
            <a:normAutofit/>
          </a:bodyPr>
          <a:lstStyle/>
          <a:p>
            <a:pPr marL="0" marR="0" lvl="0" indent="0" algn="l" rtl="0">
              <a:spcBef>
                <a:spcPts val="0"/>
              </a:spcBef>
              <a:spcAft>
                <a:spcPts val="0"/>
              </a:spcAft>
              <a:buClr>
                <a:srgbClr val="1C1B1A"/>
              </a:buClr>
              <a:buSzPts val="1650"/>
              <a:buFont typeface="Courier New"/>
              <a:buNone/>
            </a:pPr>
            <a:r>
              <a:rPr lang="en-US" sz="1650">
                <a:solidFill>
                  <a:srgbClr val="1C1B1A"/>
                </a:solidFill>
                <a:latin typeface="Courier New"/>
                <a:ea typeface="Courier New"/>
                <a:cs typeface="Courier New"/>
                <a:sym typeface="Courier New"/>
              </a:rPr>
              <a:t>CU1_Low</a:t>
            </a:r>
            <a:endParaRPr sz="1650">
              <a:solidFill>
                <a:schemeClr val="dk1"/>
              </a:solidFill>
              <a:latin typeface="Calibri"/>
              <a:ea typeface="Calibri"/>
              <a:cs typeface="Calibri"/>
              <a:sym typeface="Calibri"/>
            </a:endParaRPr>
          </a:p>
        </p:txBody>
      </p:sp>
      <p:sp>
        <p:nvSpPr>
          <p:cNvPr id="542" name="Google Shape;542;p14"/>
          <p:cNvSpPr/>
          <p:nvPr/>
        </p:nvSpPr>
        <p:spPr>
          <a:xfrm>
            <a:off x="11828115" y="4586288"/>
            <a:ext cx="2136874"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43" name="Google Shape;543;p14"/>
          <p:cNvSpPr/>
          <p:nvPr/>
        </p:nvSpPr>
        <p:spPr>
          <a:xfrm>
            <a:off x="12037665" y="4090987"/>
            <a:ext cx="1793974" cy="361950"/>
          </a:xfrm>
          <a:prstGeom prst="rect">
            <a:avLst/>
          </a:prstGeom>
          <a:noFill/>
          <a:ln>
            <a:noFill/>
          </a:ln>
        </p:spPr>
        <p:txBody>
          <a:bodyPr spcFirstLastPara="1" wrap="square" lIns="25400" tIns="25400" rIns="25400" bIns="25400" anchor="ctr" anchorCtr="0">
            <a:normAutofit/>
          </a:bodyPr>
          <a:lstStyle/>
          <a:p>
            <a:pPr marL="0" marR="0" lvl="0" indent="0" algn="l" rtl="0">
              <a:spcBef>
                <a:spcPts val="0"/>
              </a:spcBef>
              <a:spcAft>
                <a:spcPts val="0"/>
              </a:spcAft>
              <a:buClr>
                <a:srgbClr val="E24B4A"/>
              </a:buClr>
              <a:buSzPts val="1650"/>
              <a:buFont typeface="Courier New"/>
              <a:buNone/>
            </a:pPr>
            <a:r>
              <a:rPr lang="en-US" sz="1650" b="1">
                <a:solidFill>
                  <a:srgbClr val="E24B4A"/>
                </a:solidFill>
                <a:latin typeface="Courier New"/>
                <a:ea typeface="Courier New"/>
                <a:cs typeface="Courier New"/>
                <a:sym typeface="Courier New"/>
              </a:rPr>
              <a:t>Dropout</a:t>
            </a:r>
            <a:endParaRPr sz="1650">
              <a:solidFill>
                <a:schemeClr val="dk1"/>
              </a:solidFill>
              <a:latin typeface="Calibri"/>
              <a:ea typeface="Calibri"/>
              <a:cs typeface="Calibri"/>
              <a:sym typeface="Calibri"/>
            </a:endParaRPr>
          </a:p>
        </p:txBody>
      </p:sp>
      <p:sp>
        <p:nvSpPr>
          <p:cNvPr id="544" name="Google Shape;544;p14"/>
          <p:cNvSpPr/>
          <p:nvPr/>
        </p:nvSpPr>
        <p:spPr>
          <a:xfrm>
            <a:off x="13964989" y="4586288"/>
            <a:ext cx="1181100"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45" name="Google Shape;545;p14"/>
          <p:cNvSpPr/>
          <p:nvPr/>
        </p:nvSpPr>
        <p:spPr>
          <a:xfrm>
            <a:off x="14098339" y="4090987"/>
            <a:ext cx="838200" cy="36195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2100"/>
              <a:buFont typeface="Arial"/>
              <a:buNone/>
            </a:pPr>
            <a:r>
              <a:rPr lang="en-US" sz="2100">
                <a:solidFill>
                  <a:srgbClr val="1C1B1A"/>
                </a:solidFill>
                <a:latin typeface="Arial"/>
                <a:ea typeface="Arial"/>
                <a:cs typeface="Arial"/>
                <a:sym typeface="Arial"/>
              </a:rPr>
              <a:t>0.175</a:t>
            </a:r>
            <a:endParaRPr sz="2100">
              <a:solidFill>
                <a:schemeClr val="dk1"/>
              </a:solidFill>
              <a:latin typeface="Calibri"/>
              <a:ea typeface="Calibri"/>
              <a:cs typeface="Calibri"/>
              <a:sym typeface="Calibri"/>
            </a:endParaRPr>
          </a:p>
        </p:txBody>
      </p:sp>
      <p:sp>
        <p:nvSpPr>
          <p:cNvPr id="546" name="Google Shape;546;p14"/>
          <p:cNvSpPr/>
          <p:nvPr/>
        </p:nvSpPr>
        <p:spPr>
          <a:xfrm>
            <a:off x="15146089" y="4586288"/>
            <a:ext cx="1181100"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47" name="Google Shape;547;p14"/>
          <p:cNvSpPr/>
          <p:nvPr/>
        </p:nvSpPr>
        <p:spPr>
          <a:xfrm>
            <a:off x="15279439" y="4090987"/>
            <a:ext cx="838200" cy="36195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2100"/>
              <a:buFont typeface="Arial"/>
              <a:buNone/>
            </a:pPr>
            <a:r>
              <a:rPr lang="en-US" sz="2100">
                <a:solidFill>
                  <a:srgbClr val="1C1B1A"/>
                </a:solidFill>
                <a:latin typeface="Arial"/>
                <a:ea typeface="Arial"/>
                <a:cs typeface="Arial"/>
                <a:sym typeface="Arial"/>
              </a:rPr>
              <a:t>0.771</a:t>
            </a:r>
            <a:endParaRPr sz="2100">
              <a:solidFill>
                <a:schemeClr val="dk1"/>
              </a:solidFill>
              <a:latin typeface="Calibri"/>
              <a:ea typeface="Calibri"/>
              <a:cs typeface="Calibri"/>
              <a:sym typeface="Calibri"/>
            </a:endParaRPr>
          </a:p>
        </p:txBody>
      </p:sp>
      <p:sp>
        <p:nvSpPr>
          <p:cNvPr id="548" name="Google Shape;548;p14"/>
          <p:cNvSpPr/>
          <p:nvPr/>
        </p:nvSpPr>
        <p:spPr>
          <a:xfrm>
            <a:off x="16327189" y="4586288"/>
            <a:ext cx="1008459"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49" name="Google Shape;549;p14"/>
          <p:cNvSpPr/>
          <p:nvPr/>
        </p:nvSpPr>
        <p:spPr>
          <a:xfrm>
            <a:off x="16460539" y="4090987"/>
            <a:ext cx="665559" cy="36195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2100"/>
              <a:buFont typeface="Arial"/>
              <a:buNone/>
            </a:pPr>
            <a:r>
              <a:rPr lang="en-US" sz="2100" b="1">
                <a:solidFill>
                  <a:srgbClr val="1C1B1A"/>
                </a:solidFill>
                <a:latin typeface="Arial"/>
                <a:ea typeface="Arial"/>
                <a:cs typeface="Arial"/>
                <a:sym typeface="Arial"/>
              </a:rPr>
              <a:t>2.40</a:t>
            </a:r>
            <a:endParaRPr sz="2100">
              <a:solidFill>
                <a:schemeClr val="dk1"/>
              </a:solidFill>
              <a:latin typeface="Calibri"/>
              <a:ea typeface="Calibri"/>
              <a:cs typeface="Calibri"/>
              <a:sym typeface="Calibri"/>
            </a:endParaRPr>
          </a:p>
        </p:txBody>
      </p:sp>
      <p:sp>
        <p:nvSpPr>
          <p:cNvPr id="550" name="Google Shape;550;p14"/>
          <p:cNvSpPr/>
          <p:nvPr/>
        </p:nvSpPr>
        <p:spPr>
          <a:xfrm>
            <a:off x="7628781" y="5262563"/>
            <a:ext cx="4199334"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51" name="Google Shape;551;p14"/>
          <p:cNvSpPr/>
          <p:nvPr/>
        </p:nvSpPr>
        <p:spPr>
          <a:xfrm>
            <a:off x="7838331" y="4767263"/>
            <a:ext cx="3906214" cy="361950"/>
          </a:xfrm>
          <a:prstGeom prst="rect">
            <a:avLst/>
          </a:prstGeom>
          <a:noFill/>
          <a:ln>
            <a:noFill/>
          </a:ln>
        </p:spPr>
        <p:txBody>
          <a:bodyPr spcFirstLastPara="1" wrap="square" lIns="25400" tIns="25400" rIns="25400" bIns="25400" anchor="ctr" anchorCtr="0">
            <a:normAutofit/>
          </a:bodyPr>
          <a:lstStyle/>
          <a:p>
            <a:pPr marL="0" marR="0" lvl="0" indent="0" algn="l" rtl="0">
              <a:spcBef>
                <a:spcPts val="0"/>
              </a:spcBef>
              <a:spcAft>
                <a:spcPts val="0"/>
              </a:spcAft>
              <a:buClr>
                <a:srgbClr val="1C1B1A"/>
              </a:buClr>
              <a:buSzPts val="1650"/>
              <a:buFont typeface="Courier New"/>
              <a:buNone/>
            </a:pPr>
            <a:r>
              <a:rPr lang="en-US" sz="1650">
                <a:solidFill>
                  <a:srgbClr val="1C1B1A"/>
                </a:solidFill>
                <a:latin typeface="Courier New"/>
                <a:ea typeface="Courier New"/>
                <a:cs typeface="Courier New"/>
                <a:sym typeface="Courier New"/>
              </a:rPr>
              <a:t>CU1_Low + AdmGrade_Med</a:t>
            </a:r>
            <a:endParaRPr sz="1650">
              <a:solidFill>
                <a:schemeClr val="dk1"/>
              </a:solidFill>
              <a:latin typeface="Calibri"/>
              <a:ea typeface="Calibri"/>
              <a:cs typeface="Calibri"/>
              <a:sym typeface="Calibri"/>
            </a:endParaRPr>
          </a:p>
        </p:txBody>
      </p:sp>
      <p:sp>
        <p:nvSpPr>
          <p:cNvPr id="552" name="Google Shape;552;p14"/>
          <p:cNvSpPr/>
          <p:nvPr/>
        </p:nvSpPr>
        <p:spPr>
          <a:xfrm>
            <a:off x="11828115" y="5262563"/>
            <a:ext cx="2136874"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53" name="Google Shape;553;p14"/>
          <p:cNvSpPr/>
          <p:nvPr/>
        </p:nvSpPr>
        <p:spPr>
          <a:xfrm>
            <a:off x="12037665" y="4767263"/>
            <a:ext cx="1793974" cy="361950"/>
          </a:xfrm>
          <a:prstGeom prst="rect">
            <a:avLst/>
          </a:prstGeom>
          <a:noFill/>
          <a:ln>
            <a:noFill/>
          </a:ln>
        </p:spPr>
        <p:txBody>
          <a:bodyPr spcFirstLastPara="1" wrap="square" lIns="25400" tIns="25400" rIns="25400" bIns="25400" anchor="ctr" anchorCtr="0">
            <a:normAutofit/>
          </a:bodyPr>
          <a:lstStyle/>
          <a:p>
            <a:pPr marL="0" marR="0" lvl="0" indent="0" algn="l" rtl="0">
              <a:spcBef>
                <a:spcPts val="0"/>
              </a:spcBef>
              <a:spcAft>
                <a:spcPts val="0"/>
              </a:spcAft>
              <a:buClr>
                <a:srgbClr val="E24B4A"/>
              </a:buClr>
              <a:buSzPts val="1650"/>
              <a:buFont typeface="Courier New"/>
              <a:buNone/>
            </a:pPr>
            <a:r>
              <a:rPr lang="en-US" sz="1650" b="1">
                <a:solidFill>
                  <a:srgbClr val="E24B4A"/>
                </a:solidFill>
                <a:latin typeface="Courier New"/>
                <a:ea typeface="Courier New"/>
                <a:cs typeface="Courier New"/>
                <a:sym typeface="Courier New"/>
              </a:rPr>
              <a:t>Dropout</a:t>
            </a:r>
            <a:endParaRPr sz="1650">
              <a:solidFill>
                <a:schemeClr val="dk1"/>
              </a:solidFill>
              <a:latin typeface="Calibri"/>
              <a:ea typeface="Calibri"/>
              <a:cs typeface="Calibri"/>
              <a:sym typeface="Calibri"/>
            </a:endParaRPr>
          </a:p>
        </p:txBody>
      </p:sp>
      <p:sp>
        <p:nvSpPr>
          <p:cNvPr id="554" name="Google Shape;554;p14"/>
          <p:cNvSpPr/>
          <p:nvPr/>
        </p:nvSpPr>
        <p:spPr>
          <a:xfrm>
            <a:off x="13964989" y="5262563"/>
            <a:ext cx="1181100"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55" name="Google Shape;555;p14"/>
          <p:cNvSpPr/>
          <p:nvPr/>
        </p:nvSpPr>
        <p:spPr>
          <a:xfrm>
            <a:off x="14098339" y="4767263"/>
            <a:ext cx="838200" cy="36195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2100"/>
              <a:buFont typeface="Arial"/>
              <a:buNone/>
            </a:pPr>
            <a:r>
              <a:rPr lang="en-US" sz="2100">
                <a:solidFill>
                  <a:srgbClr val="1C1B1A"/>
                </a:solidFill>
                <a:latin typeface="Arial"/>
                <a:ea typeface="Arial"/>
                <a:cs typeface="Arial"/>
                <a:sym typeface="Arial"/>
              </a:rPr>
              <a:t>0.084</a:t>
            </a:r>
            <a:endParaRPr sz="2100">
              <a:solidFill>
                <a:schemeClr val="dk1"/>
              </a:solidFill>
              <a:latin typeface="Calibri"/>
              <a:ea typeface="Calibri"/>
              <a:cs typeface="Calibri"/>
              <a:sym typeface="Calibri"/>
            </a:endParaRPr>
          </a:p>
        </p:txBody>
      </p:sp>
      <p:sp>
        <p:nvSpPr>
          <p:cNvPr id="556" name="Google Shape;556;p14"/>
          <p:cNvSpPr/>
          <p:nvPr/>
        </p:nvSpPr>
        <p:spPr>
          <a:xfrm>
            <a:off x="15146089" y="5262563"/>
            <a:ext cx="1181100"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57" name="Google Shape;557;p14"/>
          <p:cNvSpPr/>
          <p:nvPr/>
        </p:nvSpPr>
        <p:spPr>
          <a:xfrm>
            <a:off x="15279439" y="4767263"/>
            <a:ext cx="838200" cy="36195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2100"/>
              <a:buFont typeface="Arial"/>
              <a:buNone/>
            </a:pPr>
            <a:r>
              <a:rPr lang="en-US" sz="2100">
                <a:solidFill>
                  <a:srgbClr val="1C1B1A"/>
                </a:solidFill>
                <a:latin typeface="Arial"/>
                <a:ea typeface="Arial"/>
                <a:cs typeface="Arial"/>
                <a:sym typeface="Arial"/>
              </a:rPr>
              <a:t>0.764</a:t>
            </a:r>
            <a:endParaRPr sz="2100">
              <a:solidFill>
                <a:schemeClr val="dk1"/>
              </a:solidFill>
              <a:latin typeface="Calibri"/>
              <a:ea typeface="Calibri"/>
              <a:cs typeface="Calibri"/>
              <a:sym typeface="Calibri"/>
            </a:endParaRPr>
          </a:p>
        </p:txBody>
      </p:sp>
      <p:sp>
        <p:nvSpPr>
          <p:cNvPr id="558" name="Google Shape;558;p14"/>
          <p:cNvSpPr/>
          <p:nvPr/>
        </p:nvSpPr>
        <p:spPr>
          <a:xfrm>
            <a:off x="16327189" y="5262563"/>
            <a:ext cx="1008459"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59" name="Google Shape;559;p14"/>
          <p:cNvSpPr/>
          <p:nvPr/>
        </p:nvSpPr>
        <p:spPr>
          <a:xfrm>
            <a:off x="16460539" y="4767263"/>
            <a:ext cx="665559" cy="36195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2100"/>
              <a:buFont typeface="Arial"/>
              <a:buNone/>
            </a:pPr>
            <a:r>
              <a:rPr lang="en-US" sz="2100" b="1">
                <a:solidFill>
                  <a:srgbClr val="1C1B1A"/>
                </a:solidFill>
                <a:latin typeface="Arial"/>
                <a:ea typeface="Arial"/>
                <a:cs typeface="Arial"/>
                <a:sym typeface="Arial"/>
              </a:rPr>
              <a:t>2.38</a:t>
            </a:r>
            <a:endParaRPr sz="2100">
              <a:solidFill>
                <a:schemeClr val="dk1"/>
              </a:solidFill>
              <a:latin typeface="Calibri"/>
              <a:ea typeface="Calibri"/>
              <a:cs typeface="Calibri"/>
              <a:sym typeface="Calibri"/>
            </a:endParaRPr>
          </a:p>
        </p:txBody>
      </p:sp>
      <p:sp>
        <p:nvSpPr>
          <p:cNvPr id="560" name="Google Shape;560;p14"/>
          <p:cNvSpPr/>
          <p:nvPr/>
        </p:nvSpPr>
        <p:spPr>
          <a:xfrm>
            <a:off x="7628781" y="5938838"/>
            <a:ext cx="4199334"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61" name="Google Shape;561;p14"/>
          <p:cNvSpPr/>
          <p:nvPr/>
        </p:nvSpPr>
        <p:spPr>
          <a:xfrm>
            <a:off x="7838331" y="5443538"/>
            <a:ext cx="3906214" cy="361950"/>
          </a:xfrm>
          <a:prstGeom prst="rect">
            <a:avLst/>
          </a:prstGeom>
          <a:noFill/>
          <a:ln>
            <a:noFill/>
          </a:ln>
        </p:spPr>
        <p:txBody>
          <a:bodyPr spcFirstLastPara="1" wrap="square" lIns="25400" tIns="25400" rIns="25400" bIns="25400" anchor="ctr" anchorCtr="0">
            <a:normAutofit/>
          </a:bodyPr>
          <a:lstStyle/>
          <a:p>
            <a:pPr marL="0" marR="0" lvl="0" indent="0" algn="l" rtl="0">
              <a:spcBef>
                <a:spcPts val="0"/>
              </a:spcBef>
              <a:spcAft>
                <a:spcPts val="0"/>
              </a:spcAft>
              <a:buClr>
                <a:srgbClr val="1C1B1A"/>
              </a:buClr>
              <a:buSzPts val="1650"/>
              <a:buFont typeface="Courier New"/>
              <a:buNone/>
            </a:pPr>
            <a:r>
              <a:rPr lang="en-US" sz="1650">
                <a:solidFill>
                  <a:srgbClr val="1C1B1A"/>
                </a:solidFill>
                <a:latin typeface="Courier New"/>
                <a:ea typeface="Courier New"/>
                <a:cs typeface="Courier New"/>
                <a:sym typeface="Courier New"/>
              </a:rPr>
              <a:t>TuitionUpToDate + CU1_Low</a:t>
            </a:r>
            <a:endParaRPr sz="1650">
              <a:solidFill>
                <a:schemeClr val="dk1"/>
              </a:solidFill>
              <a:latin typeface="Calibri"/>
              <a:ea typeface="Calibri"/>
              <a:cs typeface="Calibri"/>
              <a:sym typeface="Calibri"/>
            </a:endParaRPr>
          </a:p>
        </p:txBody>
      </p:sp>
      <p:sp>
        <p:nvSpPr>
          <p:cNvPr id="562" name="Google Shape;562;p14"/>
          <p:cNvSpPr/>
          <p:nvPr/>
        </p:nvSpPr>
        <p:spPr>
          <a:xfrm>
            <a:off x="11828115" y="5938838"/>
            <a:ext cx="2136874"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63" name="Google Shape;563;p14"/>
          <p:cNvSpPr/>
          <p:nvPr/>
        </p:nvSpPr>
        <p:spPr>
          <a:xfrm>
            <a:off x="12037665" y="5443538"/>
            <a:ext cx="1793974" cy="361950"/>
          </a:xfrm>
          <a:prstGeom prst="rect">
            <a:avLst/>
          </a:prstGeom>
          <a:noFill/>
          <a:ln>
            <a:noFill/>
          </a:ln>
        </p:spPr>
        <p:txBody>
          <a:bodyPr spcFirstLastPara="1" wrap="square" lIns="25400" tIns="25400" rIns="25400" bIns="25400" anchor="ctr" anchorCtr="0">
            <a:normAutofit/>
          </a:bodyPr>
          <a:lstStyle/>
          <a:p>
            <a:pPr marL="0" marR="0" lvl="0" indent="0" algn="l" rtl="0">
              <a:spcBef>
                <a:spcPts val="0"/>
              </a:spcBef>
              <a:spcAft>
                <a:spcPts val="0"/>
              </a:spcAft>
              <a:buClr>
                <a:srgbClr val="E24B4A"/>
              </a:buClr>
              <a:buSzPts val="1650"/>
              <a:buFont typeface="Courier New"/>
              <a:buNone/>
            </a:pPr>
            <a:r>
              <a:rPr lang="en-US" sz="1650" b="1">
                <a:solidFill>
                  <a:srgbClr val="E24B4A"/>
                </a:solidFill>
                <a:latin typeface="Courier New"/>
                <a:ea typeface="Courier New"/>
                <a:cs typeface="Courier New"/>
                <a:sym typeface="Courier New"/>
              </a:rPr>
              <a:t>Dropout</a:t>
            </a:r>
            <a:endParaRPr sz="1650">
              <a:solidFill>
                <a:schemeClr val="dk1"/>
              </a:solidFill>
              <a:latin typeface="Calibri"/>
              <a:ea typeface="Calibri"/>
              <a:cs typeface="Calibri"/>
              <a:sym typeface="Calibri"/>
            </a:endParaRPr>
          </a:p>
        </p:txBody>
      </p:sp>
      <p:sp>
        <p:nvSpPr>
          <p:cNvPr id="564" name="Google Shape;564;p14"/>
          <p:cNvSpPr/>
          <p:nvPr/>
        </p:nvSpPr>
        <p:spPr>
          <a:xfrm>
            <a:off x="13964989" y="5938838"/>
            <a:ext cx="1181100"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65" name="Google Shape;565;p14"/>
          <p:cNvSpPr/>
          <p:nvPr/>
        </p:nvSpPr>
        <p:spPr>
          <a:xfrm>
            <a:off x="14098339" y="5443538"/>
            <a:ext cx="838200" cy="36195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2100"/>
              <a:buFont typeface="Arial"/>
              <a:buNone/>
            </a:pPr>
            <a:r>
              <a:rPr lang="en-US" sz="2100">
                <a:solidFill>
                  <a:srgbClr val="1C1B1A"/>
                </a:solidFill>
                <a:latin typeface="Arial"/>
                <a:ea typeface="Arial"/>
                <a:cs typeface="Arial"/>
                <a:sym typeface="Arial"/>
              </a:rPr>
              <a:t>0.115</a:t>
            </a:r>
            <a:endParaRPr sz="2100">
              <a:solidFill>
                <a:schemeClr val="dk1"/>
              </a:solidFill>
              <a:latin typeface="Calibri"/>
              <a:ea typeface="Calibri"/>
              <a:cs typeface="Calibri"/>
              <a:sym typeface="Calibri"/>
            </a:endParaRPr>
          </a:p>
        </p:txBody>
      </p:sp>
      <p:sp>
        <p:nvSpPr>
          <p:cNvPr id="566" name="Google Shape;566;p14"/>
          <p:cNvSpPr/>
          <p:nvPr/>
        </p:nvSpPr>
        <p:spPr>
          <a:xfrm>
            <a:off x="15146089" y="5938838"/>
            <a:ext cx="1181100"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67" name="Google Shape;567;p14"/>
          <p:cNvSpPr/>
          <p:nvPr/>
        </p:nvSpPr>
        <p:spPr>
          <a:xfrm>
            <a:off x="15279439" y="5443538"/>
            <a:ext cx="838200" cy="36195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2100"/>
              <a:buFont typeface="Arial"/>
              <a:buNone/>
            </a:pPr>
            <a:r>
              <a:rPr lang="en-US" sz="2100">
                <a:solidFill>
                  <a:srgbClr val="1C1B1A"/>
                </a:solidFill>
                <a:latin typeface="Arial"/>
                <a:ea typeface="Arial"/>
                <a:cs typeface="Arial"/>
                <a:sym typeface="Arial"/>
              </a:rPr>
              <a:t>0.696</a:t>
            </a:r>
            <a:endParaRPr sz="2100">
              <a:solidFill>
                <a:schemeClr val="dk1"/>
              </a:solidFill>
              <a:latin typeface="Calibri"/>
              <a:ea typeface="Calibri"/>
              <a:cs typeface="Calibri"/>
              <a:sym typeface="Calibri"/>
            </a:endParaRPr>
          </a:p>
        </p:txBody>
      </p:sp>
      <p:sp>
        <p:nvSpPr>
          <p:cNvPr id="568" name="Google Shape;568;p14"/>
          <p:cNvSpPr/>
          <p:nvPr/>
        </p:nvSpPr>
        <p:spPr>
          <a:xfrm>
            <a:off x="16327189" y="5938838"/>
            <a:ext cx="1008459"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69" name="Google Shape;569;p14"/>
          <p:cNvSpPr/>
          <p:nvPr/>
        </p:nvSpPr>
        <p:spPr>
          <a:xfrm>
            <a:off x="16460539" y="5443538"/>
            <a:ext cx="665559" cy="36195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2100"/>
              <a:buFont typeface="Arial"/>
              <a:buNone/>
            </a:pPr>
            <a:r>
              <a:rPr lang="en-US" sz="2100" b="1">
                <a:solidFill>
                  <a:srgbClr val="1C1B1A"/>
                </a:solidFill>
                <a:latin typeface="Arial"/>
                <a:ea typeface="Arial"/>
                <a:cs typeface="Arial"/>
                <a:sym typeface="Arial"/>
              </a:rPr>
              <a:t>2.17</a:t>
            </a:r>
            <a:endParaRPr sz="2100">
              <a:solidFill>
                <a:schemeClr val="dk1"/>
              </a:solidFill>
              <a:latin typeface="Calibri"/>
              <a:ea typeface="Calibri"/>
              <a:cs typeface="Calibri"/>
              <a:sym typeface="Calibri"/>
            </a:endParaRPr>
          </a:p>
        </p:txBody>
      </p:sp>
      <p:sp>
        <p:nvSpPr>
          <p:cNvPr id="570" name="Google Shape;570;p14"/>
          <p:cNvSpPr/>
          <p:nvPr/>
        </p:nvSpPr>
        <p:spPr>
          <a:xfrm>
            <a:off x="7628781" y="6843713"/>
            <a:ext cx="4199334"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71" name="Google Shape;571;p14"/>
          <p:cNvSpPr/>
          <p:nvPr/>
        </p:nvSpPr>
        <p:spPr>
          <a:xfrm>
            <a:off x="7838331" y="6119813"/>
            <a:ext cx="3906214" cy="590550"/>
          </a:xfrm>
          <a:prstGeom prst="rect">
            <a:avLst/>
          </a:prstGeom>
          <a:noFill/>
          <a:ln>
            <a:noFill/>
          </a:ln>
        </p:spPr>
        <p:txBody>
          <a:bodyPr spcFirstLastPara="1" wrap="square" lIns="25400" tIns="25400" rIns="25400" bIns="25400" anchor="ctr" anchorCtr="0">
            <a:normAutofit/>
          </a:bodyPr>
          <a:lstStyle/>
          <a:p>
            <a:pPr marL="0" marR="0" lvl="0" indent="0" algn="l" rtl="0">
              <a:spcBef>
                <a:spcPts val="0"/>
              </a:spcBef>
              <a:spcAft>
                <a:spcPts val="0"/>
              </a:spcAft>
              <a:buClr>
                <a:srgbClr val="1C1B1A"/>
              </a:buClr>
              <a:buSzPts val="1650"/>
              <a:buFont typeface="Courier New"/>
              <a:buNone/>
            </a:pPr>
            <a:r>
              <a:rPr lang="en-US" sz="1650">
                <a:solidFill>
                  <a:srgbClr val="1C1B1A"/>
                </a:solidFill>
                <a:latin typeface="Courier New"/>
                <a:ea typeface="Courier New"/>
                <a:cs typeface="Courier New"/>
                <a:sym typeface="Courier New"/>
              </a:rPr>
              <a:t>TuitionUpToDate + CU1_High + Scholarship + AdmGrade_Med</a:t>
            </a:r>
            <a:endParaRPr sz="1650">
              <a:solidFill>
                <a:schemeClr val="dk1"/>
              </a:solidFill>
              <a:latin typeface="Calibri"/>
              <a:ea typeface="Calibri"/>
              <a:cs typeface="Calibri"/>
              <a:sym typeface="Calibri"/>
            </a:endParaRPr>
          </a:p>
        </p:txBody>
      </p:sp>
      <p:sp>
        <p:nvSpPr>
          <p:cNvPr id="572" name="Google Shape;572;p14"/>
          <p:cNvSpPr/>
          <p:nvPr/>
        </p:nvSpPr>
        <p:spPr>
          <a:xfrm>
            <a:off x="11828115" y="6843713"/>
            <a:ext cx="2136874"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73" name="Google Shape;573;p14"/>
          <p:cNvSpPr/>
          <p:nvPr/>
        </p:nvSpPr>
        <p:spPr>
          <a:xfrm>
            <a:off x="12037665" y="6119813"/>
            <a:ext cx="1793974" cy="590550"/>
          </a:xfrm>
          <a:prstGeom prst="rect">
            <a:avLst/>
          </a:prstGeom>
          <a:noFill/>
          <a:ln>
            <a:noFill/>
          </a:ln>
        </p:spPr>
        <p:txBody>
          <a:bodyPr spcFirstLastPara="1" wrap="square" lIns="25400" tIns="25400" rIns="25400" bIns="25400" anchor="ctr" anchorCtr="0">
            <a:normAutofit/>
          </a:bodyPr>
          <a:lstStyle/>
          <a:p>
            <a:pPr marL="0" marR="0" lvl="0" indent="0" algn="l" rtl="0">
              <a:spcBef>
                <a:spcPts val="0"/>
              </a:spcBef>
              <a:spcAft>
                <a:spcPts val="0"/>
              </a:spcAft>
              <a:buClr>
                <a:srgbClr val="1D9E75"/>
              </a:buClr>
              <a:buSzPts val="1650"/>
              <a:buFont typeface="Courier New"/>
              <a:buNone/>
            </a:pPr>
            <a:r>
              <a:rPr lang="en-US" sz="1650" b="1">
                <a:solidFill>
                  <a:srgbClr val="1D9E75"/>
                </a:solidFill>
                <a:latin typeface="Courier New"/>
                <a:ea typeface="Courier New"/>
                <a:cs typeface="Courier New"/>
                <a:sym typeface="Courier New"/>
              </a:rPr>
              <a:t>Age_Young + Graduate</a:t>
            </a:r>
            <a:endParaRPr sz="1650">
              <a:solidFill>
                <a:schemeClr val="dk1"/>
              </a:solidFill>
              <a:latin typeface="Calibri"/>
              <a:ea typeface="Calibri"/>
              <a:cs typeface="Calibri"/>
              <a:sym typeface="Calibri"/>
            </a:endParaRPr>
          </a:p>
        </p:txBody>
      </p:sp>
      <p:sp>
        <p:nvSpPr>
          <p:cNvPr id="574" name="Google Shape;574;p14"/>
          <p:cNvSpPr/>
          <p:nvPr/>
        </p:nvSpPr>
        <p:spPr>
          <a:xfrm>
            <a:off x="13964989" y="6843713"/>
            <a:ext cx="1181100"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75" name="Google Shape;575;p14"/>
          <p:cNvSpPr/>
          <p:nvPr/>
        </p:nvSpPr>
        <p:spPr>
          <a:xfrm>
            <a:off x="14098339" y="6119813"/>
            <a:ext cx="838200" cy="590550"/>
          </a:xfrm>
          <a:prstGeom prst="rect">
            <a:avLst/>
          </a:prstGeom>
          <a:noFill/>
          <a:ln>
            <a:noFill/>
          </a:ln>
        </p:spPr>
        <p:txBody>
          <a:bodyPr spcFirstLastPara="1" wrap="square" lIns="25400" tIns="25400" rIns="25400" bIns="25400" anchor="ctr" anchorCtr="0">
            <a:normAutofit/>
          </a:bodyPr>
          <a:lstStyle/>
          <a:p>
            <a:pPr marL="0" marR="0" lvl="0" indent="0" algn="r" rtl="0">
              <a:spcBef>
                <a:spcPts val="0"/>
              </a:spcBef>
              <a:spcAft>
                <a:spcPts val="0"/>
              </a:spcAft>
              <a:buClr>
                <a:srgbClr val="1C1B1A"/>
              </a:buClr>
              <a:buSzPts val="2100"/>
              <a:buFont typeface="Arial"/>
              <a:buNone/>
            </a:pPr>
            <a:r>
              <a:rPr lang="en-US" sz="2100">
                <a:solidFill>
                  <a:srgbClr val="1C1B1A"/>
                </a:solidFill>
                <a:latin typeface="Arial"/>
                <a:ea typeface="Arial"/>
                <a:cs typeface="Arial"/>
                <a:sym typeface="Arial"/>
              </a:rPr>
              <a:t>0.078</a:t>
            </a:r>
            <a:endParaRPr sz="2100">
              <a:solidFill>
                <a:schemeClr val="dk1"/>
              </a:solidFill>
              <a:latin typeface="Calibri"/>
              <a:ea typeface="Calibri"/>
              <a:cs typeface="Calibri"/>
              <a:sym typeface="Calibri"/>
            </a:endParaRPr>
          </a:p>
        </p:txBody>
      </p:sp>
      <p:sp>
        <p:nvSpPr>
          <p:cNvPr id="576" name="Google Shape;576;p14"/>
          <p:cNvSpPr/>
          <p:nvPr/>
        </p:nvSpPr>
        <p:spPr>
          <a:xfrm>
            <a:off x="15146089" y="6843713"/>
            <a:ext cx="1181100"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77" name="Google Shape;577;p14"/>
          <p:cNvSpPr/>
          <p:nvPr/>
        </p:nvSpPr>
        <p:spPr>
          <a:xfrm>
            <a:off x="15279439" y="6119813"/>
            <a:ext cx="838200" cy="590550"/>
          </a:xfrm>
          <a:prstGeom prst="rect">
            <a:avLst/>
          </a:prstGeom>
          <a:noFill/>
          <a:ln>
            <a:noFill/>
          </a:ln>
        </p:spPr>
        <p:txBody>
          <a:bodyPr spcFirstLastPara="1" wrap="square" lIns="25400" tIns="25400" rIns="25400" bIns="25400" anchor="ctr" anchorCtr="0">
            <a:normAutofit/>
          </a:bodyPr>
          <a:lstStyle/>
          <a:p>
            <a:pPr marL="0" marR="0" lvl="0" indent="0" algn="r" rtl="0">
              <a:spcBef>
                <a:spcPts val="0"/>
              </a:spcBef>
              <a:spcAft>
                <a:spcPts val="0"/>
              </a:spcAft>
              <a:buClr>
                <a:srgbClr val="1C1B1A"/>
              </a:buClr>
              <a:buSzPts val="2100"/>
              <a:buFont typeface="Arial"/>
              <a:buNone/>
            </a:pPr>
            <a:r>
              <a:rPr lang="en-US" sz="2100">
                <a:solidFill>
                  <a:srgbClr val="1C1B1A"/>
                </a:solidFill>
                <a:latin typeface="Arial"/>
                <a:ea typeface="Arial"/>
                <a:cs typeface="Arial"/>
                <a:sym typeface="Arial"/>
              </a:rPr>
              <a:t>0.801</a:t>
            </a:r>
            <a:endParaRPr sz="2100">
              <a:solidFill>
                <a:schemeClr val="dk1"/>
              </a:solidFill>
              <a:latin typeface="Calibri"/>
              <a:ea typeface="Calibri"/>
              <a:cs typeface="Calibri"/>
              <a:sym typeface="Calibri"/>
            </a:endParaRPr>
          </a:p>
        </p:txBody>
      </p:sp>
      <p:sp>
        <p:nvSpPr>
          <p:cNvPr id="578" name="Google Shape;578;p14"/>
          <p:cNvSpPr/>
          <p:nvPr/>
        </p:nvSpPr>
        <p:spPr>
          <a:xfrm>
            <a:off x="16327189" y="6843713"/>
            <a:ext cx="1008459"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79" name="Google Shape;579;p14"/>
          <p:cNvSpPr/>
          <p:nvPr/>
        </p:nvSpPr>
        <p:spPr>
          <a:xfrm>
            <a:off x="16460539" y="6119813"/>
            <a:ext cx="665559" cy="590550"/>
          </a:xfrm>
          <a:prstGeom prst="rect">
            <a:avLst/>
          </a:prstGeom>
          <a:noFill/>
          <a:ln>
            <a:noFill/>
          </a:ln>
        </p:spPr>
        <p:txBody>
          <a:bodyPr spcFirstLastPara="1" wrap="square" lIns="25400" tIns="25400" rIns="25400" bIns="25400" anchor="ctr" anchorCtr="0">
            <a:normAutofit/>
          </a:bodyPr>
          <a:lstStyle/>
          <a:p>
            <a:pPr marL="0" marR="0" lvl="0" indent="0" algn="r" rtl="0">
              <a:spcBef>
                <a:spcPts val="0"/>
              </a:spcBef>
              <a:spcAft>
                <a:spcPts val="0"/>
              </a:spcAft>
              <a:buClr>
                <a:srgbClr val="1C1B1A"/>
              </a:buClr>
              <a:buSzPts val="2100"/>
              <a:buFont typeface="Arial"/>
              <a:buNone/>
            </a:pPr>
            <a:r>
              <a:rPr lang="en-US" sz="2100" b="1">
                <a:solidFill>
                  <a:srgbClr val="1C1B1A"/>
                </a:solidFill>
                <a:latin typeface="Arial"/>
                <a:ea typeface="Arial"/>
                <a:cs typeface="Arial"/>
                <a:sym typeface="Arial"/>
              </a:rPr>
              <a:t>2.09</a:t>
            </a:r>
            <a:endParaRPr sz="2100">
              <a:solidFill>
                <a:schemeClr val="dk1"/>
              </a:solidFill>
              <a:latin typeface="Calibri"/>
              <a:ea typeface="Calibri"/>
              <a:cs typeface="Calibri"/>
              <a:sym typeface="Calibri"/>
            </a:endParaRPr>
          </a:p>
        </p:txBody>
      </p:sp>
      <p:sp>
        <p:nvSpPr>
          <p:cNvPr id="580" name="Google Shape;580;p14"/>
          <p:cNvSpPr/>
          <p:nvPr/>
        </p:nvSpPr>
        <p:spPr>
          <a:xfrm>
            <a:off x="7628781" y="7086600"/>
            <a:ext cx="9706719" cy="1047750"/>
          </a:xfrm>
          <a:prstGeom prst="rect">
            <a:avLst/>
          </a:prstGeom>
          <a:solidFill>
            <a:srgbClr val="F2EEE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81" name="Google Shape;581;p14"/>
          <p:cNvSpPr/>
          <p:nvPr/>
        </p:nvSpPr>
        <p:spPr>
          <a:xfrm>
            <a:off x="7628781" y="7086600"/>
            <a:ext cx="38100" cy="1047750"/>
          </a:xfrm>
          <a:prstGeom prst="rect">
            <a:avLst/>
          </a:prstGeom>
          <a:solidFill>
            <a:srgbClr val="E24B4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82" name="Google Shape;582;p14"/>
          <p:cNvSpPr/>
          <p:nvPr/>
        </p:nvSpPr>
        <p:spPr>
          <a:xfrm>
            <a:off x="7628781" y="7277100"/>
            <a:ext cx="9769321" cy="704850"/>
          </a:xfrm>
          <a:prstGeom prst="rect">
            <a:avLst/>
          </a:prstGeom>
          <a:noFill/>
          <a:ln>
            <a:noFill/>
          </a:ln>
        </p:spPr>
        <p:txBody>
          <a:bodyPr spcFirstLastPara="1" wrap="square" lIns="25400" tIns="25400" rIns="25400" bIns="25400" anchor="t" anchorCtr="0">
            <a:normAutofit/>
          </a:bodyPr>
          <a:lstStyle/>
          <a:p>
            <a:pPr marL="0" marR="0" lvl="0" indent="0" algn="l" rtl="0">
              <a:lnSpc>
                <a:spcPct val="140000"/>
              </a:lnSpc>
              <a:spcBef>
                <a:spcPts val="0"/>
              </a:spcBef>
              <a:spcAft>
                <a:spcPts val="0"/>
              </a:spcAft>
              <a:buClr>
                <a:srgbClr val="1C1B1A"/>
              </a:buClr>
              <a:buSzPts val="1800"/>
              <a:buFont typeface="Arial"/>
              <a:buNone/>
            </a:pPr>
            <a:r>
              <a:rPr lang="en-US" sz="1800" b="1">
                <a:solidFill>
                  <a:srgbClr val="1C1B1A"/>
                </a:solidFill>
                <a:latin typeface="Arial"/>
                <a:ea typeface="Arial"/>
                <a:cs typeface="Arial"/>
                <a:sym typeface="Arial"/>
              </a:rPr>
              <a:t>Top finding:</a:t>
            </a:r>
            <a:r>
              <a:rPr lang="en-US" sz="1800">
                <a:solidFill>
                  <a:srgbClr val="1C1B1A"/>
                </a:solidFill>
                <a:latin typeface="Arial"/>
                <a:ea typeface="Arial"/>
                <a:cs typeface="Arial"/>
                <a:sym typeface="Arial"/>
              </a:rPr>
              <a:t>low 1st-semester approved units + mid age → Dropout · </a:t>
            </a:r>
            <a:r>
              <a:rPr lang="en-US" sz="1800">
                <a:solidFill>
                  <a:srgbClr val="1C1B1A"/>
                </a:solidFill>
                <a:latin typeface="Courier New"/>
                <a:ea typeface="Courier New"/>
                <a:cs typeface="Courier New"/>
                <a:sym typeface="Courier New"/>
              </a:rPr>
              <a:t>conf 87.4% · lift 2.72×</a:t>
            </a:r>
            <a:endParaRPr sz="1800">
              <a:solidFill>
                <a:schemeClr val="dk1"/>
              </a:solidFill>
              <a:latin typeface="Calibri"/>
              <a:ea typeface="Calibri"/>
              <a:cs typeface="Calibri"/>
              <a:sym typeface="Calibri"/>
            </a:endParaRPr>
          </a:p>
        </p:txBody>
      </p:sp>
      <p:sp>
        <p:nvSpPr>
          <p:cNvPr id="583" name="Google Shape;583;p14"/>
          <p:cNvSpPr/>
          <p:nvPr/>
        </p:nvSpPr>
        <p:spPr>
          <a:xfrm>
            <a:off x="16692116" y="8258175"/>
            <a:ext cx="1100584" cy="2952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665"/>
              <a:buFont typeface="Courier New"/>
              <a:buNone/>
            </a:pPr>
            <a:r>
              <a:rPr lang="en-US" sz="1665">
                <a:solidFill>
                  <a:srgbClr val="807C76"/>
                </a:solidFill>
                <a:latin typeface="Courier New"/>
                <a:ea typeface="Courier New"/>
                <a:cs typeface="Courier New"/>
                <a:sym typeface="Courier New"/>
              </a:rPr>
              <a:t>14/19</a:t>
            </a:r>
            <a:endParaRPr sz="1665">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Shape 588"/>
        <p:cNvGrpSpPr/>
        <p:nvPr/>
      </p:nvGrpSpPr>
      <p:grpSpPr>
        <a:xfrm>
          <a:off x="0" y="0"/>
          <a:ext cx="0" cy="0"/>
          <a:chOff x="0" y="0"/>
          <a:chExt cx="0" cy="0"/>
        </a:xfrm>
      </p:grpSpPr>
      <p:sp>
        <p:nvSpPr>
          <p:cNvPr id="589" name="Google Shape;589;p15"/>
          <p:cNvSpPr/>
          <p:nvPr/>
        </p:nvSpPr>
        <p:spPr>
          <a:xfrm>
            <a:off x="952500" y="1047006"/>
            <a:ext cx="533400" cy="19050"/>
          </a:xfrm>
          <a:prstGeom prst="rect">
            <a:avLst/>
          </a:prstGeom>
          <a:solidFill>
            <a:srgbClr val="4B484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90" name="Google Shape;590;p15"/>
          <p:cNvSpPr/>
          <p:nvPr/>
        </p:nvSpPr>
        <p:spPr>
          <a:xfrm>
            <a:off x="1657350" y="952500"/>
            <a:ext cx="3857286" cy="2952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665"/>
              <a:buFont typeface="Courier New"/>
              <a:buNone/>
            </a:pPr>
            <a:r>
              <a:rPr lang="en-US" sz="1665">
                <a:solidFill>
                  <a:srgbClr val="807C76"/>
                </a:solidFill>
                <a:latin typeface="Courier New"/>
                <a:ea typeface="Courier New"/>
                <a:cs typeface="Courier New"/>
                <a:sym typeface="Courier New"/>
              </a:rPr>
              <a:t>14 · MODEL COMPARISON</a:t>
            </a:r>
            <a:endParaRPr sz="1665">
              <a:solidFill>
                <a:schemeClr val="dk1"/>
              </a:solidFill>
              <a:latin typeface="Calibri"/>
              <a:ea typeface="Calibri"/>
              <a:cs typeface="Calibri"/>
              <a:sym typeface="Calibri"/>
            </a:endParaRPr>
          </a:p>
        </p:txBody>
      </p:sp>
      <p:sp>
        <p:nvSpPr>
          <p:cNvPr id="591" name="Google Shape;591;p15"/>
          <p:cNvSpPr/>
          <p:nvPr/>
        </p:nvSpPr>
        <p:spPr>
          <a:xfrm>
            <a:off x="952500" y="1290638"/>
            <a:ext cx="16874490" cy="1081087"/>
          </a:xfrm>
          <a:prstGeom prst="rect">
            <a:avLst/>
          </a:prstGeom>
          <a:noFill/>
          <a:ln>
            <a:noFill/>
          </a:ln>
        </p:spPr>
        <p:txBody>
          <a:bodyPr spcFirstLastPara="1" wrap="square" lIns="25400" tIns="25400" rIns="25400" bIns="25400" anchor="t" anchorCtr="0">
            <a:normAutofit/>
          </a:bodyPr>
          <a:lstStyle/>
          <a:p>
            <a:pPr marL="0" marR="0" lvl="0" indent="0" algn="l" rtl="0">
              <a:lnSpc>
                <a:spcPct val="104000"/>
              </a:lnSpc>
              <a:spcBef>
                <a:spcPts val="0"/>
              </a:spcBef>
              <a:spcAft>
                <a:spcPts val="0"/>
              </a:spcAft>
              <a:buClr>
                <a:srgbClr val="1C1B1A"/>
              </a:buClr>
              <a:buSzPts val="4440"/>
              <a:buFont typeface="Georgia"/>
              <a:buNone/>
            </a:pPr>
            <a:r>
              <a:rPr lang="en-US" sz="4440" b="1">
                <a:solidFill>
                  <a:srgbClr val="1C1B1A"/>
                </a:solidFill>
                <a:latin typeface="Georgia"/>
                <a:ea typeface="Georgia"/>
                <a:cs typeface="Georgia"/>
                <a:sym typeface="Georgia"/>
              </a:rPr>
              <a:t>XGBoost wins on F1-macro · Random Forest on accuracy</a:t>
            </a:r>
            <a:endParaRPr sz="4440">
              <a:solidFill>
                <a:schemeClr val="dk1"/>
              </a:solidFill>
              <a:latin typeface="Calibri"/>
              <a:ea typeface="Calibri"/>
              <a:cs typeface="Calibri"/>
              <a:sym typeface="Calibri"/>
            </a:endParaRPr>
          </a:p>
        </p:txBody>
      </p:sp>
      <p:sp>
        <p:nvSpPr>
          <p:cNvPr id="592" name="Google Shape;592;p15"/>
          <p:cNvSpPr/>
          <p:nvPr/>
        </p:nvSpPr>
        <p:spPr>
          <a:xfrm>
            <a:off x="952500" y="3295650"/>
            <a:ext cx="4616053" cy="19050"/>
          </a:xfrm>
          <a:prstGeom prst="rect">
            <a:avLst/>
          </a:prstGeom>
          <a:solidFill>
            <a:srgbClr val="1C1B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93" name="Google Shape;593;p15"/>
          <p:cNvSpPr/>
          <p:nvPr/>
        </p:nvSpPr>
        <p:spPr>
          <a:xfrm>
            <a:off x="1162050" y="2886075"/>
            <a:ext cx="4335435" cy="276225"/>
          </a:xfrm>
          <a:prstGeom prst="rect">
            <a:avLst/>
          </a:prstGeom>
          <a:noFill/>
          <a:ln>
            <a:noFill/>
          </a:ln>
        </p:spPr>
        <p:txBody>
          <a:bodyPr spcFirstLastPara="1" wrap="square" lIns="25400" tIns="25400" rIns="25400" bIns="25400" anchor="ctr" anchorCtr="0">
            <a:normAutofit/>
          </a:bodyPr>
          <a:lstStyle/>
          <a:p>
            <a:pPr marL="0" marR="0" lvl="0" indent="0" algn="l" rtl="0">
              <a:lnSpc>
                <a:spcPct val="90000"/>
              </a:lnSpc>
              <a:spcBef>
                <a:spcPts val="0"/>
              </a:spcBef>
              <a:spcAft>
                <a:spcPts val="0"/>
              </a:spcAft>
              <a:buClr>
                <a:srgbClr val="807C76"/>
              </a:buClr>
              <a:buSzPts val="1526"/>
              <a:buFont typeface="Arial"/>
              <a:buNone/>
            </a:pPr>
            <a:r>
              <a:rPr lang="en-US" sz="1526" b="1">
                <a:solidFill>
                  <a:srgbClr val="807C76"/>
                </a:solidFill>
                <a:latin typeface="Arial"/>
                <a:ea typeface="Arial"/>
                <a:cs typeface="Arial"/>
                <a:sym typeface="Arial"/>
              </a:rPr>
              <a:t>MODEL</a:t>
            </a:r>
            <a:endParaRPr sz="1526">
              <a:solidFill>
                <a:schemeClr val="dk1"/>
              </a:solidFill>
              <a:latin typeface="Calibri"/>
              <a:ea typeface="Calibri"/>
              <a:cs typeface="Calibri"/>
              <a:sym typeface="Calibri"/>
            </a:endParaRPr>
          </a:p>
        </p:txBody>
      </p:sp>
      <p:sp>
        <p:nvSpPr>
          <p:cNvPr id="594" name="Google Shape;594;p15"/>
          <p:cNvSpPr/>
          <p:nvPr/>
        </p:nvSpPr>
        <p:spPr>
          <a:xfrm>
            <a:off x="5568553" y="3295650"/>
            <a:ext cx="2408634" cy="19050"/>
          </a:xfrm>
          <a:prstGeom prst="rect">
            <a:avLst/>
          </a:prstGeom>
          <a:solidFill>
            <a:srgbClr val="1C1B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95" name="Google Shape;595;p15"/>
          <p:cNvSpPr/>
          <p:nvPr/>
        </p:nvSpPr>
        <p:spPr>
          <a:xfrm>
            <a:off x="5701903" y="2886075"/>
            <a:ext cx="2065734" cy="276225"/>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807C76"/>
              </a:buClr>
              <a:buSzPts val="1526"/>
              <a:buFont typeface="Arial"/>
              <a:buNone/>
            </a:pPr>
            <a:r>
              <a:rPr lang="en-US" sz="1526" b="1">
                <a:solidFill>
                  <a:srgbClr val="807C76"/>
                </a:solidFill>
                <a:latin typeface="Arial"/>
                <a:ea typeface="Arial"/>
                <a:cs typeface="Arial"/>
                <a:sym typeface="Arial"/>
              </a:rPr>
              <a:t>ACCURACY</a:t>
            </a:r>
            <a:endParaRPr sz="1526">
              <a:solidFill>
                <a:schemeClr val="dk1"/>
              </a:solidFill>
              <a:latin typeface="Calibri"/>
              <a:ea typeface="Calibri"/>
              <a:cs typeface="Calibri"/>
              <a:sym typeface="Calibri"/>
            </a:endParaRPr>
          </a:p>
        </p:txBody>
      </p:sp>
      <p:sp>
        <p:nvSpPr>
          <p:cNvPr id="596" name="Google Shape;596;p15"/>
          <p:cNvSpPr/>
          <p:nvPr/>
        </p:nvSpPr>
        <p:spPr>
          <a:xfrm>
            <a:off x="7977188" y="3295650"/>
            <a:ext cx="2564011" cy="19050"/>
          </a:xfrm>
          <a:prstGeom prst="rect">
            <a:avLst/>
          </a:prstGeom>
          <a:solidFill>
            <a:srgbClr val="1C1B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97" name="Google Shape;597;p15"/>
          <p:cNvSpPr/>
          <p:nvPr/>
        </p:nvSpPr>
        <p:spPr>
          <a:xfrm>
            <a:off x="8109817" y="2886075"/>
            <a:ext cx="2221831" cy="276225"/>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807C76"/>
              </a:buClr>
              <a:buSzPts val="1526"/>
              <a:buFont typeface="Arial"/>
              <a:buNone/>
            </a:pPr>
            <a:r>
              <a:rPr lang="en-US" sz="1526" b="1">
                <a:solidFill>
                  <a:srgbClr val="807C76"/>
                </a:solidFill>
                <a:latin typeface="Arial"/>
                <a:ea typeface="Arial"/>
                <a:cs typeface="Arial"/>
                <a:sym typeface="Arial"/>
              </a:rPr>
              <a:t>F1 (MACRO)</a:t>
            </a:r>
            <a:endParaRPr sz="1526">
              <a:solidFill>
                <a:schemeClr val="dk1"/>
              </a:solidFill>
              <a:latin typeface="Calibri"/>
              <a:ea typeface="Calibri"/>
              <a:cs typeface="Calibri"/>
              <a:sym typeface="Calibri"/>
            </a:endParaRPr>
          </a:p>
        </p:txBody>
      </p:sp>
      <p:sp>
        <p:nvSpPr>
          <p:cNvPr id="598" name="Google Shape;598;p15"/>
          <p:cNvSpPr/>
          <p:nvPr/>
        </p:nvSpPr>
        <p:spPr>
          <a:xfrm>
            <a:off x="10541198" y="3295650"/>
            <a:ext cx="3107829" cy="19050"/>
          </a:xfrm>
          <a:prstGeom prst="rect">
            <a:avLst/>
          </a:prstGeom>
          <a:solidFill>
            <a:srgbClr val="1C1B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99" name="Google Shape;599;p15"/>
          <p:cNvSpPr/>
          <p:nvPr/>
        </p:nvSpPr>
        <p:spPr>
          <a:xfrm>
            <a:off x="10657514" y="2886075"/>
            <a:ext cx="2781964" cy="276225"/>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807C76"/>
              </a:buClr>
              <a:buSzPts val="1526"/>
              <a:buFont typeface="Arial"/>
              <a:buNone/>
            </a:pPr>
            <a:r>
              <a:rPr lang="en-US" sz="1526" b="1">
                <a:solidFill>
                  <a:srgbClr val="807C76"/>
                </a:solidFill>
                <a:latin typeface="Arial"/>
                <a:ea typeface="Arial"/>
                <a:cs typeface="Arial"/>
                <a:sym typeface="Arial"/>
              </a:rPr>
              <a:t>F1 (WEIGHTED)</a:t>
            </a:r>
            <a:endParaRPr sz="1526">
              <a:solidFill>
                <a:schemeClr val="dk1"/>
              </a:solidFill>
              <a:latin typeface="Calibri"/>
              <a:ea typeface="Calibri"/>
              <a:cs typeface="Calibri"/>
              <a:sym typeface="Calibri"/>
            </a:endParaRPr>
          </a:p>
        </p:txBody>
      </p:sp>
      <p:sp>
        <p:nvSpPr>
          <p:cNvPr id="600" name="Google Shape;600;p15"/>
          <p:cNvSpPr/>
          <p:nvPr/>
        </p:nvSpPr>
        <p:spPr>
          <a:xfrm>
            <a:off x="13649027" y="3295650"/>
            <a:ext cx="3687068" cy="19050"/>
          </a:xfrm>
          <a:prstGeom prst="rect">
            <a:avLst/>
          </a:prstGeom>
          <a:solidFill>
            <a:srgbClr val="1C1B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01" name="Google Shape;601;p15"/>
          <p:cNvSpPr/>
          <p:nvPr/>
        </p:nvSpPr>
        <p:spPr>
          <a:xfrm>
            <a:off x="13747965" y="2886075"/>
            <a:ext cx="3378580" cy="276225"/>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807C76"/>
              </a:buClr>
              <a:buSzPts val="1526"/>
              <a:buFont typeface="Arial"/>
              <a:buNone/>
            </a:pPr>
            <a:r>
              <a:rPr lang="en-US" sz="1526" b="1">
                <a:solidFill>
                  <a:srgbClr val="807C76"/>
                </a:solidFill>
                <a:latin typeface="Arial"/>
                <a:ea typeface="Arial"/>
                <a:cs typeface="Arial"/>
                <a:sym typeface="Arial"/>
              </a:rPr>
              <a:t>CV F1 MEAN ± STD</a:t>
            </a:r>
            <a:endParaRPr sz="1526">
              <a:solidFill>
                <a:schemeClr val="dk1"/>
              </a:solidFill>
              <a:latin typeface="Calibri"/>
              <a:ea typeface="Calibri"/>
              <a:cs typeface="Calibri"/>
              <a:sym typeface="Calibri"/>
            </a:endParaRPr>
          </a:p>
        </p:txBody>
      </p:sp>
      <p:sp>
        <p:nvSpPr>
          <p:cNvPr id="602" name="Google Shape;602;p15"/>
          <p:cNvSpPr/>
          <p:nvPr/>
        </p:nvSpPr>
        <p:spPr>
          <a:xfrm>
            <a:off x="952500" y="3314700"/>
            <a:ext cx="4616053" cy="681038"/>
          </a:xfrm>
          <a:prstGeom prst="rect">
            <a:avLst/>
          </a:prstGeom>
          <a:solidFill>
            <a:srgbClr val="1D9E75">
              <a:alpha val="7843"/>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03" name="Google Shape;603;p15"/>
          <p:cNvSpPr/>
          <p:nvPr/>
        </p:nvSpPr>
        <p:spPr>
          <a:xfrm>
            <a:off x="952500" y="3986213"/>
            <a:ext cx="4616053"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04" name="Google Shape;604;p15"/>
          <p:cNvSpPr/>
          <p:nvPr/>
        </p:nvSpPr>
        <p:spPr>
          <a:xfrm>
            <a:off x="1162050" y="3486150"/>
            <a:ext cx="4335435" cy="366712"/>
          </a:xfrm>
          <a:prstGeom prst="rect">
            <a:avLst/>
          </a:prstGeom>
          <a:noFill/>
          <a:ln>
            <a:noFill/>
          </a:ln>
        </p:spPr>
        <p:txBody>
          <a:bodyPr spcFirstLastPara="1" wrap="square" lIns="25400" tIns="25400" rIns="25400" bIns="25400" anchor="ctr" anchorCtr="0">
            <a:normAutofit/>
          </a:bodyPr>
          <a:lstStyle/>
          <a:p>
            <a:pPr marL="0" marR="0" lvl="0" indent="0" algn="l" rtl="0">
              <a:lnSpc>
                <a:spcPct val="90000"/>
              </a:lnSpc>
              <a:spcBef>
                <a:spcPts val="0"/>
              </a:spcBef>
              <a:spcAft>
                <a:spcPts val="0"/>
              </a:spcAft>
              <a:buClr>
                <a:srgbClr val="1C1B1A"/>
              </a:buClr>
              <a:buSzPts val="2100"/>
              <a:buFont typeface="Arial"/>
              <a:buNone/>
            </a:pPr>
            <a:r>
              <a:rPr lang="en-US" sz="2100">
                <a:solidFill>
                  <a:srgbClr val="1C1B1A"/>
                </a:solidFill>
                <a:highlight>
                  <a:srgbClr val="00FF00"/>
                </a:highlight>
                <a:latin typeface="Arial"/>
                <a:ea typeface="Arial"/>
                <a:cs typeface="Arial"/>
                <a:sym typeface="Arial"/>
              </a:rPr>
              <a:t>XGBoost</a:t>
            </a:r>
            <a:r>
              <a:rPr lang="en-US" sz="2100">
                <a:solidFill>
                  <a:srgbClr val="1C1B1A"/>
                </a:solidFill>
                <a:latin typeface="Arial"/>
                <a:ea typeface="Arial"/>
                <a:cs typeface="Arial"/>
                <a:sym typeface="Arial"/>
              </a:rPr>
              <a:t>  </a:t>
            </a:r>
            <a:r>
              <a:rPr lang="en-US" sz="1350">
                <a:solidFill>
                  <a:srgbClr val="1D9E75"/>
                </a:solidFill>
                <a:latin typeface="Courier New"/>
                <a:ea typeface="Courier New"/>
                <a:cs typeface="Courier New"/>
                <a:sym typeface="Courier New"/>
              </a:rPr>
              <a:t>BEST F1</a:t>
            </a:r>
            <a:endParaRPr sz="2100">
              <a:solidFill>
                <a:schemeClr val="dk1"/>
              </a:solidFill>
              <a:latin typeface="Calibri"/>
              <a:ea typeface="Calibri"/>
              <a:cs typeface="Calibri"/>
              <a:sym typeface="Calibri"/>
            </a:endParaRPr>
          </a:p>
        </p:txBody>
      </p:sp>
      <p:sp>
        <p:nvSpPr>
          <p:cNvPr id="605" name="Google Shape;605;p15"/>
          <p:cNvSpPr/>
          <p:nvPr/>
        </p:nvSpPr>
        <p:spPr>
          <a:xfrm>
            <a:off x="5568553" y="3314700"/>
            <a:ext cx="2408634" cy="681038"/>
          </a:xfrm>
          <a:prstGeom prst="rect">
            <a:avLst/>
          </a:prstGeom>
          <a:solidFill>
            <a:srgbClr val="1D9E75">
              <a:alpha val="7843"/>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06" name="Google Shape;606;p15"/>
          <p:cNvSpPr/>
          <p:nvPr/>
        </p:nvSpPr>
        <p:spPr>
          <a:xfrm>
            <a:off x="5568553" y="3986213"/>
            <a:ext cx="2408634"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07" name="Google Shape;607;p15"/>
          <p:cNvSpPr/>
          <p:nvPr/>
        </p:nvSpPr>
        <p:spPr>
          <a:xfrm>
            <a:off x="5701903" y="3486150"/>
            <a:ext cx="2065734" cy="366712"/>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2100"/>
              <a:buFont typeface="Arial"/>
              <a:buNone/>
            </a:pPr>
            <a:r>
              <a:rPr lang="en-US" sz="2100" b="1">
                <a:solidFill>
                  <a:srgbClr val="1C1B1A"/>
                </a:solidFill>
                <a:latin typeface="Arial"/>
                <a:ea typeface="Arial"/>
                <a:cs typeface="Arial"/>
                <a:sym typeface="Arial"/>
              </a:rPr>
              <a:t>76.95%</a:t>
            </a:r>
            <a:endParaRPr sz="2100">
              <a:solidFill>
                <a:schemeClr val="dk1"/>
              </a:solidFill>
              <a:latin typeface="Calibri"/>
              <a:ea typeface="Calibri"/>
              <a:cs typeface="Calibri"/>
              <a:sym typeface="Calibri"/>
            </a:endParaRPr>
          </a:p>
        </p:txBody>
      </p:sp>
      <p:sp>
        <p:nvSpPr>
          <p:cNvPr id="608" name="Google Shape;608;p15"/>
          <p:cNvSpPr/>
          <p:nvPr/>
        </p:nvSpPr>
        <p:spPr>
          <a:xfrm>
            <a:off x="7977188" y="3314700"/>
            <a:ext cx="2564011" cy="681038"/>
          </a:xfrm>
          <a:prstGeom prst="rect">
            <a:avLst/>
          </a:prstGeom>
          <a:solidFill>
            <a:srgbClr val="1D9E75">
              <a:alpha val="7843"/>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09" name="Google Shape;609;p15"/>
          <p:cNvSpPr/>
          <p:nvPr/>
        </p:nvSpPr>
        <p:spPr>
          <a:xfrm>
            <a:off x="7977188" y="3986213"/>
            <a:ext cx="2564011"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10" name="Google Shape;610;p15"/>
          <p:cNvSpPr/>
          <p:nvPr/>
        </p:nvSpPr>
        <p:spPr>
          <a:xfrm>
            <a:off x="8109817" y="3486150"/>
            <a:ext cx="2221831" cy="366712"/>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2100"/>
              <a:buFont typeface="Arial"/>
              <a:buNone/>
            </a:pPr>
            <a:r>
              <a:rPr lang="en-US" sz="2100" b="1">
                <a:solidFill>
                  <a:srgbClr val="1C1B1A"/>
                </a:solidFill>
                <a:latin typeface="Arial"/>
                <a:ea typeface="Arial"/>
                <a:cs typeface="Arial"/>
                <a:sym typeface="Arial"/>
              </a:rPr>
              <a:t>0.7056</a:t>
            </a:r>
            <a:endParaRPr sz="2100">
              <a:solidFill>
                <a:schemeClr val="dk1"/>
              </a:solidFill>
              <a:latin typeface="Calibri"/>
              <a:ea typeface="Calibri"/>
              <a:cs typeface="Calibri"/>
              <a:sym typeface="Calibri"/>
            </a:endParaRPr>
          </a:p>
        </p:txBody>
      </p:sp>
      <p:sp>
        <p:nvSpPr>
          <p:cNvPr id="611" name="Google Shape;611;p15"/>
          <p:cNvSpPr/>
          <p:nvPr/>
        </p:nvSpPr>
        <p:spPr>
          <a:xfrm>
            <a:off x="10541198" y="3314700"/>
            <a:ext cx="3107829" cy="681038"/>
          </a:xfrm>
          <a:prstGeom prst="rect">
            <a:avLst/>
          </a:prstGeom>
          <a:solidFill>
            <a:srgbClr val="1D9E75">
              <a:alpha val="7843"/>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12" name="Google Shape;612;p15"/>
          <p:cNvSpPr/>
          <p:nvPr/>
        </p:nvSpPr>
        <p:spPr>
          <a:xfrm>
            <a:off x="10541198" y="3986213"/>
            <a:ext cx="3107829"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13" name="Google Shape;613;p15"/>
          <p:cNvSpPr/>
          <p:nvPr/>
        </p:nvSpPr>
        <p:spPr>
          <a:xfrm>
            <a:off x="10657514" y="3486150"/>
            <a:ext cx="2781964" cy="366712"/>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2100"/>
              <a:buFont typeface="Arial"/>
              <a:buNone/>
            </a:pPr>
            <a:r>
              <a:rPr lang="en-US" sz="2100" b="1">
                <a:solidFill>
                  <a:srgbClr val="1C1B1A"/>
                </a:solidFill>
                <a:latin typeface="Arial"/>
                <a:ea typeface="Arial"/>
                <a:cs typeface="Arial"/>
                <a:sym typeface="Arial"/>
              </a:rPr>
              <a:t>0.7634</a:t>
            </a:r>
            <a:endParaRPr sz="2100">
              <a:solidFill>
                <a:schemeClr val="dk1"/>
              </a:solidFill>
              <a:latin typeface="Calibri"/>
              <a:ea typeface="Calibri"/>
              <a:cs typeface="Calibri"/>
              <a:sym typeface="Calibri"/>
            </a:endParaRPr>
          </a:p>
        </p:txBody>
      </p:sp>
      <p:sp>
        <p:nvSpPr>
          <p:cNvPr id="614" name="Google Shape;614;p15"/>
          <p:cNvSpPr/>
          <p:nvPr/>
        </p:nvSpPr>
        <p:spPr>
          <a:xfrm>
            <a:off x="13649027" y="3314700"/>
            <a:ext cx="3687068" cy="681038"/>
          </a:xfrm>
          <a:prstGeom prst="rect">
            <a:avLst/>
          </a:prstGeom>
          <a:solidFill>
            <a:srgbClr val="1D9E75">
              <a:alpha val="7843"/>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15" name="Google Shape;615;p15"/>
          <p:cNvSpPr/>
          <p:nvPr/>
        </p:nvSpPr>
        <p:spPr>
          <a:xfrm>
            <a:off x="13649027" y="3986213"/>
            <a:ext cx="3687068"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16" name="Google Shape;616;p15"/>
          <p:cNvSpPr/>
          <p:nvPr/>
        </p:nvSpPr>
        <p:spPr>
          <a:xfrm>
            <a:off x="13747965" y="3486150"/>
            <a:ext cx="3378580" cy="366712"/>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2100"/>
              <a:buFont typeface="Arial"/>
              <a:buNone/>
            </a:pPr>
            <a:r>
              <a:rPr lang="en-US" sz="2100" b="1">
                <a:solidFill>
                  <a:srgbClr val="1C1B1A"/>
                </a:solidFill>
                <a:latin typeface="Arial"/>
                <a:ea typeface="Arial"/>
                <a:cs typeface="Arial"/>
                <a:sym typeface="Arial"/>
              </a:rPr>
              <a:t>0.7136 ± 0.0131</a:t>
            </a:r>
            <a:endParaRPr sz="2100">
              <a:solidFill>
                <a:schemeClr val="dk1"/>
              </a:solidFill>
              <a:latin typeface="Calibri"/>
              <a:ea typeface="Calibri"/>
              <a:cs typeface="Calibri"/>
              <a:sym typeface="Calibri"/>
            </a:endParaRPr>
          </a:p>
        </p:txBody>
      </p:sp>
      <p:sp>
        <p:nvSpPr>
          <p:cNvPr id="617" name="Google Shape;617;p15"/>
          <p:cNvSpPr/>
          <p:nvPr/>
        </p:nvSpPr>
        <p:spPr>
          <a:xfrm>
            <a:off x="952500" y="4662488"/>
            <a:ext cx="4616053"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18" name="Google Shape;618;p15"/>
          <p:cNvSpPr/>
          <p:nvPr/>
        </p:nvSpPr>
        <p:spPr>
          <a:xfrm>
            <a:off x="1162050" y="4167188"/>
            <a:ext cx="4335435" cy="361950"/>
          </a:xfrm>
          <a:prstGeom prst="rect">
            <a:avLst/>
          </a:prstGeom>
          <a:noFill/>
          <a:ln>
            <a:noFill/>
          </a:ln>
        </p:spPr>
        <p:txBody>
          <a:bodyPr spcFirstLastPara="1" wrap="square" lIns="25400" tIns="25400" rIns="25400" bIns="25400" anchor="ctr" anchorCtr="0">
            <a:normAutofit/>
          </a:bodyPr>
          <a:lstStyle/>
          <a:p>
            <a:pPr marL="0" marR="0" lvl="0" indent="0" algn="l" rtl="0">
              <a:lnSpc>
                <a:spcPct val="90000"/>
              </a:lnSpc>
              <a:spcBef>
                <a:spcPts val="0"/>
              </a:spcBef>
              <a:spcAft>
                <a:spcPts val="0"/>
              </a:spcAft>
              <a:buClr>
                <a:srgbClr val="1C1B1A"/>
              </a:buClr>
              <a:buSzPts val="2100"/>
              <a:buFont typeface="Arial"/>
              <a:buNone/>
            </a:pPr>
            <a:r>
              <a:rPr lang="en-US" sz="2100">
                <a:solidFill>
                  <a:srgbClr val="1C1B1A"/>
                </a:solidFill>
                <a:latin typeface="Arial"/>
                <a:ea typeface="Arial"/>
                <a:cs typeface="Arial"/>
                <a:sym typeface="Arial"/>
              </a:rPr>
              <a:t>Random Forest  </a:t>
            </a:r>
            <a:r>
              <a:rPr lang="en-US" sz="1350">
                <a:solidFill>
                  <a:srgbClr val="0E3A53"/>
                </a:solidFill>
                <a:latin typeface="Courier New"/>
                <a:ea typeface="Courier New"/>
                <a:cs typeface="Courier New"/>
                <a:sym typeface="Courier New"/>
              </a:rPr>
              <a:t>BEST ACC</a:t>
            </a:r>
            <a:endParaRPr sz="2100">
              <a:solidFill>
                <a:schemeClr val="dk1"/>
              </a:solidFill>
              <a:latin typeface="Calibri"/>
              <a:ea typeface="Calibri"/>
              <a:cs typeface="Calibri"/>
              <a:sym typeface="Calibri"/>
            </a:endParaRPr>
          </a:p>
        </p:txBody>
      </p:sp>
      <p:sp>
        <p:nvSpPr>
          <p:cNvPr id="619" name="Google Shape;619;p15"/>
          <p:cNvSpPr/>
          <p:nvPr/>
        </p:nvSpPr>
        <p:spPr>
          <a:xfrm>
            <a:off x="5568553" y="4662488"/>
            <a:ext cx="2408634"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20" name="Google Shape;620;p15"/>
          <p:cNvSpPr/>
          <p:nvPr/>
        </p:nvSpPr>
        <p:spPr>
          <a:xfrm>
            <a:off x="5701903" y="4167188"/>
            <a:ext cx="2065734" cy="36195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2100"/>
              <a:buFont typeface="Arial"/>
              <a:buNone/>
            </a:pPr>
            <a:r>
              <a:rPr lang="en-US" sz="2100">
                <a:solidFill>
                  <a:srgbClr val="1C1B1A"/>
                </a:solidFill>
                <a:latin typeface="Arial"/>
                <a:ea typeface="Arial"/>
                <a:cs typeface="Arial"/>
                <a:sym typeface="Arial"/>
              </a:rPr>
              <a:t>77.06%</a:t>
            </a:r>
            <a:endParaRPr sz="2100">
              <a:solidFill>
                <a:schemeClr val="dk1"/>
              </a:solidFill>
              <a:latin typeface="Calibri"/>
              <a:ea typeface="Calibri"/>
              <a:cs typeface="Calibri"/>
              <a:sym typeface="Calibri"/>
            </a:endParaRPr>
          </a:p>
        </p:txBody>
      </p:sp>
      <p:sp>
        <p:nvSpPr>
          <p:cNvPr id="621" name="Google Shape;621;p15"/>
          <p:cNvSpPr/>
          <p:nvPr/>
        </p:nvSpPr>
        <p:spPr>
          <a:xfrm>
            <a:off x="7977188" y="4662488"/>
            <a:ext cx="2564011"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22" name="Google Shape;622;p15"/>
          <p:cNvSpPr/>
          <p:nvPr/>
        </p:nvSpPr>
        <p:spPr>
          <a:xfrm>
            <a:off x="8109817" y="4167188"/>
            <a:ext cx="2221831" cy="36195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2100"/>
              <a:buFont typeface="Arial"/>
              <a:buNone/>
            </a:pPr>
            <a:r>
              <a:rPr lang="en-US" sz="2100">
                <a:solidFill>
                  <a:srgbClr val="1C1B1A"/>
                </a:solidFill>
                <a:latin typeface="Arial"/>
                <a:ea typeface="Arial"/>
                <a:cs typeface="Arial"/>
                <a:sym typeface="Arial"/>
              </a:rPr>
              <a:t>0.6887</a:t>
            </a:r>
            <a:endParaRPr sz="2100">
              <a:solidFill>
                <a:schemeClr val="dk1"/>
              </a:solidFill>
              <a:latin typeface="Calibri"/>
              <a:ea typeface="Calibri"/>
              <a:cs typeface="Calibri"/>
              <a:sym typeface="Calibri"/>
            </a:endParaRPr>
          </a:p>
        </p:txBody>
      </p:sp>
      <p:sp>
        <p:nvSpPr>
          <p:cNvPr id="623" name="Google Shape;623;p15"/>
          <p:cNvSpPr/>
          <p:nvPr/>
        </p:nvSpPr>
        <p:spPr>
          <a:xfrm>
            <a:off x="10541198" y="4662488"/>
            <a:ext cx="3107829"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24" name="Google Shape;624;p15"/>
          <p:cNvSpPr/>
          <p:nvPr/>
        </p:nvSpPr>
        <p:spPr>
          <a:xfrm>
            <a:off x="10657514" y="4167188"/>
            <a:ext cx="2781964" cy="36195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2100"/>
              <a:buFont typeface="Arial"/>
              <a:buNone/>
            </a:pPr>
            <a:r>
              <a:rPr lang="en-US" sz="2100">
                <a:solidFill>
                  <a:srgbClr val="1C1B1A"/>
                </a:solidFill>
                <a:latin typeface="Arial"/>
                <a:ea typeface="Arial"/>
                <a:cs typeface="Arial"/>
                <a:sym typeface="Arial"/>
              </a:rPr>
              <a:t>0.7548</a:t>
            </a:r>
            <a:endParaRPr sz="2100">
              <a:solidFill>
                <a:schemeClr val="dk1"/>
              </a:solidFill>
              <a:latin typeface="Calibri"/>
              <a:ea typeface="Calibri"/>
              <a:cs typeface="Calibri"/>
              <a:sym typeface="Calibri"/>
            </a:endParaRPr>
          </a:p>
        </p:txBody>
      </p:sp>
      <p:sp>
        <p:nvSpPr>
          <p:cNvPr id="625" name="Google Shape;625;p15"/>
          <p:cNvSpPr/>
          <p:nvPr/>
        </p:nvSpPr>
        <p:spPr>
          <a:xfrm>
            <a:off x="13649027" y="4662488"/>
            <a:ext cx="3687068"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26" name="Google Shape;626;p15"/>
          <p:cNvSpPr/>
          <p:nvPr/>
        </p:nvSpPr>
        <p:spPr>
          <a:xfrm>
            <a:off x="13747965" y="4167188"/>
            <a:ext cx="3378580" cy="36195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2100"/>
              <a:buFont typeface="Arial"/>
              <a:buNone/>
            </a:pPr>
            <a:r>
              <a:rPr lang="en-US" sz="2100">
                <a:solidFill>
                  <a:srgbClr val="1C1B1A"/>
                </a:solidFill>
                <a:latin typeface="Arial"/>
                <a:ea typeface="Arial"/>
                <a:cs typeface="Arial"/>
                <a:sym typeface="Arial"/>
              </a:rPr>
              <a:t>0.6956 ± 0.0087</a:t>
            </a:r>
            <a:endParaRPr sz="2100">
              <a:solidFill>
                <a:schemeClr val="dk1"/>
              </a:solidFill>
              <a:latin typeface="Calibri"/>
              <a:ea typeface="Calibri"/>
              <a:cs typeface="Calibri"/>
              <a:sym typeface="Calibri"/>
            </a:endParaRPr>
          </a:p>
        </p:txBody>
      </p:sp>
      <p:sp>
        <p:nvSpPr>
          <p:cNvPr id="627" name="Google Shape;627;p15"/>
          <p:cNvSpPr/>
          <p:nvPr/>
        </p:nvSpPr>
        <p:spPr>
          <a:xfrm>
            <a:off x="952500" y="5338763"/>
            <a:ext cx="4616053"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28" name="Google Shape;628;p15"/>
          <p:cNvSpPr/>
          <p:nvPr/>
        </p:nvSpPr>
        <p:spPr>
          <a:xfrm>
            <a:off x="1162050" y="4843463"/>
            <a:ext cx="4335435" cy="361950"/>
          </a:xfrm>
          <a:prstGeom prst="rect">
            <a:avLst/>
          </a:prstGeom>
          <a:noFill/>
          <a:ln>
            <a:noFill/>
          </a:ln>
        </p:spPr>
        <p:txBody>
          <a:bodyPr spcFirstLastPara="1" wrap="square" lIns="25400" tIns="25400" rIns="25400" bIns="25400" anchor="ctr" anchorCtr="0">
            <a:normAutofit/>
          </a:bodyPr>
          <a:lstStyle/>
          <a:p>
            <a:pPr marL="0" marR="0" lvl="0" indent="0" algn="l" rtl="0">
              <a:lnSpc>
                <a:spcPct val="90000"/>
              </a:lnSpc>
              <a:spcBef>
                <a:spcPts val="0"/>
              </a:spcBef>
              <a:spcAft>
                <a:spcPts val="0"/>
              </a:spcAft>
              <a:buClr>
                <a:srgbClr val="1C1B1A"/>
              </a:buClr>
              <a:buSzPts val="2100"/>
              <a:buFont typeface="Arial"/>
              <a:buNone/>
            </a:pPr>
            <a:r>
              <a:rPr lang="en-US" sz="2100">
                <a:solidFill>
                  <a:srgbClr val="1C1B1A"/>
                </a:solidFill>
                <a:latin typeface="Arial"/>
                <a:ea typeface="Arial"/>
                <a:cs typeface="Arial"/>
                <a:sym typeface="Arial"/>
              </a:rPr>
              <a:t>Logistic Regression</a:t>
            </a:r>
            <a:endParaRPr sz="2100">
              <a:solidFill>
                <a:schemeClr val="dk1"/>
              </a:solidFill>
              <a:latin typeface="Calibri"/>
              <a:ea typeface="Calibri"/>
              <a:cs typeface="Calibri"/>
              <a:sym typeface="Calibri"/>
            </a:endParaRPr>
          </a:p>
        </p:txBody>
      </p:sp>
      <p:sp>
        <p:nvSpPr>
          <p:cNvPr id="629" name="Google Shape;629;p15"/>
          <p:cNvSpPr/>
          <p:nvPr/>
        </p:nvSpPr>
        <p:spPr>
          <a:xfrm>
            <a:off x="5568553" y="5338763"/>
            <a:ext cx="2408634"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30" name="Google Shape;630;p15"/>
          <p:cNvSpPr/>
          <p:nvPr/>
        </p:nvSpPr>
        <p:spPr>
          <a:xfrm>
            <a:off x="5701903" y="4843463"/>
            <a:ext cx="2065734" cy="36195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2100"/>
              <a:buFont typeface="Arial"/>
              <a:buNone/>
            </a:pPr>
            <a:r>
              <a:rPr lang="en-US" sz="2100">
                <a:solidFill>
                  <a:srgbClr val="1C1B1A"/>
                </a:solidFill>
                <a:latin typeface="Arial"/>
                <a:ea typeface="Arial"/>
                <a:cs typeface="Arial"/>
                <a:sym typeface="Arial"/>
              </a:rPr>
              <a:t>76.84%</a:t>
            </a:r>
            <a:endParaRPr sz="2100">
              <a:solidFill>
                <a:schemeClr val="dk1"/>
              </a:solidFill>
              <a:latin typeface="Calibri"/>
              <a:ea typeface="Calibri"/>
              <a:cs typeface="Calibri"/>
              <a:sym typeface="Calibri"/>
            </a:endParaRPr>
          </a:p>
        </p:txBody>
      </p:sp>
      <p:sp>
        <p:nvSpPr>
          <p:cNvPr id="631" name="Google Shape;631;p15"/>
          <p:cNvSpPr/>
          <p:nvPr/>
        </p:nvSpPr>
        <p:spPr>
          <a:xfrm>
            <a:off x="7977188" y="5338763"/>
            <a:ext cx="2564011"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32" name="Google Shape;632;p15"/>
          <p:cNvSpPr/>
          <p:nvPr/>
        </p:nvSpPr>
        <p:spPr>
          <a:xfrm>
            <a:off x="8109817" y="4843463"/>
            <a:ext cx="2221831" cy="36195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2100"/>
              <a:buFont typeface="Arial"/>
              <a:buNone/>
            </a:pPr>
            <a:r>
              <a:rPr lang="en-US" sz="2100">
                <a:solidFill>
                  <a:srgbClr val="1C1B1A"/>
                </a:solidFill>
                <a:latin typeface="Arial"/>
                <a:ea typeface="Arial"/>
                <a:cs typeface="Arial"/>
                <a:sym typeface="Arial"/>
              </a:rPr>
              <a:t>0.6826</a:t>
            </a:r>
            <a:endParaRPr sz="2100">
              <a:solidFill>
                <a:schemeClr val="dk1"/>
              </a:solidFill>
              <a:latin typeface="Calibri"/>
              <a:ea typeface="Calibri"/>
              <a:cs typeface="Calibri"/>
              <a:sym typeface="Calibri"/>
            </a:endParaRPr>
          </a:p>
        </p:txBody>
      </p:sp>
      <p:sp>
        <p:nvSpPr>
          <p:cNvPr id="633" name="Google Shape;633;p15"/>
          <p:cNvSpPr/>
          <p:nvPr/>
        </p:nvSpPr>
        <p:spPr>
          <a:xfrm>
            <a:off x="10541198" y="5338763"/>
            <a:ext cx="3107829"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34" name="Google Shape;634;p15"/>
          <p:cNvSpPr/>
          <p:nvPr/>
        </p:nvSpPr>
        <p:spPr>
          <a:xfrm>
            <a:off x="10657514" y="4843463"/>
            <a:ext cx="2781964" cy="36195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2100"/>
              <a:buFont typeface="Arial"/>
              <a:buNone/>
            </a:pPr>
            <a:r>
              <a:rPr lang="en-US" sz="2100">
                <a:solidFill>
                  <a:srgbClr val="1C1B1A"/>
                </a:solidFill>
                <a:latin typeface="Arial"/>
                <a:ea typeface="Arial"/>
                <a:cs typeface="Arial"/>
                <a:sym typeface="Arial"/>
              </a:rPr>
              <a:t>0.7531</a:t>
            </a:r>
            <a:endParaRPr sz="2100">
              <a:solidFill>
                <a:schemeClr val="dk1"/>
              </a:solidFill>
              <a:latin typeface="Calibri"/>
              <a:ea typeface="Calibri"/>
              <a:cs typeface="Calibri"/>
              <a:sym typeface="Calibri"/>
            </a:endParaRPr>
          </a:p>
        </p:txBody>
      </p:sp>
      <p:sp>
        <p:nvSpPr>
          <p:cNvPr id="635" name="Google Shape;635;p15"/>
          <p:cNvSpPr/>
          <p:nvPr/>
        </p:nvSpPr>
        <p:spPr>
          <a:xfrm>
            <a:off x="13649027" y="5338763"/>
            <a:ext cx="3687068"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36" name="Google Shape;636;p15"/>
          <p:cNvSpPr/>
          <p:nvPr/>
        </p:nvSpPr>
        <p:spPr>
          <a:xfrm>
            <a:off x="13747965" y="4843463"/>
            <a:ext cx="3378580" cy="36195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2100"/>
              <a:buFont typeface="Arial"/>
              <a:buNone/>
            </a:pPr>
            <a:r>
              <a:rPr lang="en-US" sz="2100">
                <a:solidFill>
                  <a:srgbClr val="1C1B1A"/>
                </a:solidFill>
                <a:latin typeface="Arial"/>
                <a:ea typeface="Arial"/>
                <a:cs typeface="Arial"/>
                <a:sym typeface="Arial"/>
              </a:rPr>
              <a:t>0.6782 ± 0.0089</a:t>
            </a:r>
            <a:endParaRPr sz="2100">
              <a:solidFill>
                <a:schemeClr val="dk1"/>
              </a:solidFill>
              <a:latin typeface="Calibri"/>
              <a:ea typeface="Calibri"/>
              <a:cs typeface="Calibri"/>
              <a:sym typeface="Calibri"/>
            </a:endParaRPr>
          </a:p>
        </p:txBody>
      </p:sp>
      <p:sp>
        <p:nvSpPr>
          <p:cNvPr id="637" name="Google Shape;637;p15"/>
          <p:cNvSpPr/>
          <p:nvPr/>
        </p:nvSpPr>
        <p:spPr>
          <a:xfrm>
            <a:off x="952500" y="6015038"/>
            <a:ext cx="4616053"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38" name="Google Shape;638;p15"/>
          <p:cNvSpPr/>
          <p:nvPr/>
        </p:nvSpPr>
        <p:spPr>
          <a:xfrm>
            <a:off x="1162050" y="5519738"/>
            <a:ext cx="4335435" cy="361950"/>
          </a:xfrm>
          <a:prstGeom prst="rect">
            <a:avLst/>
          </a:prstGeom>
          <a:noFill/>
          <a:ln>
            <a:noFill/>
          </a:ln>
        </p:spPr>
        <p:txBody>
          <a:bodyPr spcFirstLastPara="1" wrap="square" lIns="25400" tIns="25400" rIns="25400" bIns="25400" anchor="ctr" anchorCtr="0">
            <a:normAutofit/>
          </a:bodyPr>
          <a:lstStyle/>
          <a:p>
            <a:pPr marL="0" marR="0" lvl="0" indent="0" algn="l" rtl="0">
              <a:lnSpc>
                <a:spcPct val="90000"/>
              </a:lnSpc>
              <a:spcBef>
                <a:spcPts val="0"/>
              </a:spcBef>
              <a:spcAft>
                <a:spcPts val="0"/>
              </a:spcAft>
              <a:buClr>
                <a:srgbClr val="1C1B1A"/>
              </a:buClr>
              <a:buSzPts val="2100"/>
              <a:buFont typeface="Arial"/>
              <a:buNone/>
            </a:pPr>
            <a:r>
              <a:rPr lang="en-US" sz="2100">
                <a:solidFill>
                  <a:srgbClr val="1C1B1A"/>
                </a:solidFill>
                <a:latin typeface="Arial"/>
                <a:ea typeface="Arial"/>
                <a:cs typeface="Arial"/>
                <a:sym typeface="Arial"/>
              </a:rPr>
              <a:t>SVM</a:t>
            </a:r>
            <a:endParaRPr sz="2100">
              <a:solidFill>
                <a:schemeClr val="dk1"/>
              </a:solidFill>
              <a:latin typeface="Calibri"/>
              <a:ea typeface="Calibri"/>
              <a:cs typeface="Calibri"/>
              <a:sym typeface="Calibri"/>
            </a:endParaRPr>
          </a:p>
        </p:txBody>
      </p:sp>
      <p:sp>
        <p:nvSpPr>
          <p:cNvPr id="639" name="Google Shape;639;p15"/>
          <p:cNvSpPr/>
          <p:nvPr/>
        </p:nvSpPr>
        <p:spPr>
          <a:xfrm>
            <a:off x="5568553" y="6015038"/>
            <a:ext cx="2408634"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40" name="Google Shape;640;p15"/>
          <p:cNvSpPr/>
          <p:nvPr/>
        </p:nvSpPr>
        <p:spPr>
          <a:xfrm>
            <a:off x="5701903" y="5519738"/>
            <a:ext cx="2065734" cy="36195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2100"/>
              <a:buFont typeface="Arial"/>
              <a:buNone/>
            </a:pPr>
            <a:r>
              <a:rPr lang="en-US" sz="2100">
                <a:solidFill>
                  <a:srgbClr val="1C1B1A"/>
                </a:solidFill>
                <a:latin typeface="Arial"/>
                <a:ea typeface="Arial"/>
                <a:cs typeface="Arial"/>
                <a:sym typeface="Arial"/>
              </a:rPr>
              <a:t>75.93%</a:t>
            </a:r>
            <a:endParaRPr sz="2100">
              <a:solidFill>
                <a:schemeClr val="dk1"/>
              </a:solidFill>
              <a:latin typeface="Calibri"/>
              <a:ea typeface="Calibri"/>
              <a:cs typeface="Calibri"/>
              <a:sym typeface="Calibri"/>
            </a:endParaRPr>
          </a:p>
        </p:txBody>
      </p:sp>
      <p:sp>
        <p:nvSpPr>
          <p:cNvPr id="641" name="Google Shape;641;p15"/>
          <p:cNvSpPr/>
          <p:nvPr/>
        </p:nvSpPr>
        <p:spPr>
          <a:xfrm>
            <a:off x="7977188" y="6015038"/>
            <a:ext cx="2564011"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42" name="Google Shape;642;p15"/>
          <p:cNvSpPr/>
          <p:nvPr/>
        </p:nvSpPr>
        <p:spPr>
          <a:xfrm>
            <a:off x="8109817" y="5519738"/>
            <a:ext cx="2221831" cy="36195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2100"/>
              <a:buFont typeface="Arial"/>
              <a:buNone/>
            </a:pPr>
            <a:r>
              <a:rPr lang="en-US" sz="2100">
                <a:solidFill>
                  <a:srgbClr val="1C1B1A"/>
                </a:solidFill>
                <a:latin typeface="Arial"/>
                <a:ea typeface="Arial"/>
                <a:cs typeface="Arial"/>
                <a:sym typeface="Arial"/>
              </a:rPr>
              <a:t>0.6797</a:t>
            </a:r>
            <a:endParaRPr sz="2100">
              <a:solidFill>
                <a:schemeClr val="dk1"/>
              </a:solidFill>
              <a:latin typeface="Calibri"/>
              <a:ea typeface="Calibri"/>
              <a:cs typeface="Calibri"/>
              <a:sym typeface="Calibri"/>
            </a:endParaRPr>
          </a:p>
        </p:txBody>
      </p:sp>
      <p:sp>
        <p:nvSpPr>
          <p:cNvPr id="643" name="Google Shape;643;p15"/>
          <p:cNvSpPr/>
          <p:nvPr/>
        </p:nvSpPr>
        <p:spPr>
          <a:xfrm>
            <a:off x="10541198" y="6015038"/>
            <a:ext cx="3107829"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44" name="Google Shape;644;p15"/>
          <p:cNvSpPr/>
          <p:nvPr/>
        </p:nvSpPr>
        <p:spPr>
          <a:xfrm>
            <a:off x="10657514" y="5519738"/>
            <a:ext cx="2781964" cy="36195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2100"/>
              <a:buFont typeface="Arial"/>
              <a:buNone/>
            </a:pPr>
            <a:r>
              <a:rPr lang="en-US" sz="2100">
                <a:solidFill>
                  <a:srgbClr val="1C1B1A"/>
                </a:solidFill>
                <a:latin typeface="Arial"/>
                <a:ea typeface="Arial"/>
                <a:cs typeface="Arial"/>
                <a:sym typeface="Arial"/>
              </a:rPr>
              <a:t>0.7466</a:t>
            </a:r>
            <a:endParaRPr sz="2100">
              <a:solidFill>
                <a:schemeClr val="dk1"/>
              </a:solidFill>
              <a:latin typeface="Calibri"/>
              <a:ea typeface="Calibri"/>
              <a:cs typeface="Calibri"/>
              <a:sym typeface="Calibri"/>
            </a:endParaRPr>
          </a:p>
        </p:txBody>
      </p:sp>
      <p:sp>
        <p:nvSpPr>
          <p:cNvPr id="645" name="Google Shape;645;p15"/>
          <p:cNvSpPr/>
          <p:nvPr/>
        </p:nvSpPr>
        <p:spPr>
          <a:xfrm>
            <a:off x="13649027" y="6015038"/>
            <a:ext cx="3687068"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46" name="Google Shape;646;p15"/>
          <p:cNvSpPr/>
          <p:nvPr/>
        </p:nvSpPr>
        <p:spPr>
          <a:xfrm>
            <a:off x="13747965" y="5519738"/>
            <a:ext cx="3378580" cy="36195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2100"/>
              <a:buFont typeface="Arial"/>
              <a:buNone/>
            </a:pPr>
            <a:r>
              <a:rPr lang="en-US" sz="2100">
                <a:solidFill>
                  <a:srgbClr val="1C1B1A"/>
                </a:solidFill>
                <a:latin typeface="Arial"/>
                <a:ea typeface="Arial"/>
                <a:cs typeface="Arial"/>
                <a:sym typeface="Arial"/>
              </a:rPr>
              <a:t>0.6798 ± 0.0220</a:t>
            </a:r>
            <a:endParaRPr sz="2100">
              <a:solidFill>
                <a:schemeClr val="dk1"/>
              </a:solidFill>
              <a:latin typeface="Calibri"/>
              <a:ea typeface="Calibri"/>
              <a:cs typeface="Calibri"/>
              <a:sym typeface="Calibri"/>
            </a:endParaRPr>
          </a:p>
        </p:txBody>
      </p:sp>
      <p:sp>
        <p:nvSpPr>
          <p:cNvPr id="647" name="Google Shape;647;p15"/>
          <p:cNvSpPr/>
          <p:nvPr/>
        </p:nvSpPr>
        <p:spPr>
          <a:xfrm>
            <a:off x="952500" y="6691313"/>
            <a:ext cx="4616053"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48" name="Google Shape;648;p15"/>
          <p:cNvSpPr/>
          <p:nvPr/>
        </p:nvSpPr>
        <p:spPr>
          <a:xfrm>
            <a:off x="1162050" y="6196013"/>
            <a:ext cx="4335435" cy="361950"/>
          </a:xfrm>
          <a:prstGeom prst="rect">
            <a:avLst/>
          </a:prstGeom>
          <a:noFill/>
          <a:ln>
            <a:noFill/>
          </a:ln>
        </p:spPr>
        <p:txBody>
          <a:bodyPr spcFirstLastPara="1" wrap="square" lIns="25400" tIns="25400" rIns="25400" bIns="25400" anchor="ctr" anchorCtr="0">
            <a:normAutofit/>
          </a:bodyPr>
          <a:lstStyle/>
          <a:p>
            <a:pPr marL="0" marR="0" lvl="0" indent="0" algn="l" rtl="0">
              <a:lnSpc>
                <a:spcPct val="90000"/>
              </a:lnSpc>
              <a:spcBef>
                <a:spcPts val="0"/>
              </a:spcBef>
              <a:spcAft>
                <a:spcPts val="0"/>
              </a:spcAft>
              <a:buClr>
                <a:srgbClr val="1C1B1A"/>
              </a:buClr>
              <a:buSzPts val="2100"/>
              <a:buFont typeface="Arial"/>
              <a:buNone/>
            </a:pPr>
            <a:r>
              <a:rPr lang="en-US" sz="2100">
                <a:solidFill>
                  <a:srgbClr val="1C1B1A"/>
                </a:solidFill>
                <a:latin typeface="Arial"/>
                <a:ea typeface="Arial"/>
                <a:cs typeface="Arial"/>
                <a:sym typeface="Arial"/>
              </a:rPr>
              <a:t>Decision Tree</a:t>
            </a:r>
            <a:endParaRPr sz="2100">
              <a:solidFill>
                <a:schemeClr val="dk1"/>
              </a:solidFill>
              <a:latin typeface="Calibri"/>
              <a:ea typeface="Calibri"/>
              <a:cs typeface="Calibri"/>
              <a:sym typeface="Calibri"/>
            </a:endParaRPr>
          </a:p>
        </p:txBody>
      </p:sp>
      <p:sp>
        <p:nvSpPr>
          <p:cNvPr id="649" name="Google Shape;649;p15"/>
          <p:cNvSpPr/>
          <p:nvPr/>
        </p:nvSpPr>
        <p:spPr>
          <a:xfrm>
            <a:off x="5568553" y="6691313"/>
            <a:ext cx="2408634"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50" name="Google Shape;650;p15"/>
          <p:cNvSpPr/>
          <p:nvPr/>
        </p:nvSpPr>
        <p:spPr>
          <a:xfrm>
            <a:off x="5701903" y="6196013"/>
            <a:ext cx="2065734" cy="36195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2100"/>
              <a:buFont typeface="Arial"/>
              <a:buNone/>
            </a:pPr>
            <a:r>
              <a:rPr lang="en-US" sz="2100">
                <a:solidFill>
                  <a:srgbClr val="1C1B1A"/>
                </a:solidFill>
                <a:latin typeface="Arial"/>
                <a:ea typeface="Arial"/>
                <a:cs typeface="Arial"/>
                <a:sym typeface="Arial"/>
              </a:rPr>
              <a:t>71.19%</a:t>
            </a:r>
            <a:endParaRPr sz="2100">
              <a:solidFill>
                <a:schemeClr val="dk1"/>
              </a:solidFill>
              <a:latin typeface="Calibri"/>
              <a:ea typeface="Calibri"/>
              <a:cs typeface="Calibri"/>
              <a:sym typeface="Calibri"/>
            </a:endParaRPr>
          </a:p>
        </p:txBody>
      </p:sp>
      <p:sp>
        <p:nvSpPr>
          <p:cNvPr id="651" name="Google Shape;651;p15"/>
          <p:cNvSpPr/>
          <p:nvPr/>
        </p:nvSpPr>
        <p:spPr>
          <a:xfrm>
            <a:off x="7977188" y="6691313"/>
            <a:ext cx="2564011"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52" name="Google Shape;652;p15"/>
          <p:cNvSpPr/>
          <p:nvPr/>
        </p:nvSpPr>
        <p:spPr>
          <a:xfrm>
            <a:off x="8109817" y="6196013"/>
            <a:ext cx="2221831" cy="36195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2100"/>
              <a:buFont typeface="Arial"/>
              <a:buNone/>
            </a:pPr>
            <a:r>
              <a:rPr lang="en-US" sz="2100">
                <a:solidFill>
                  <a:srgbClr val="1C1B1A"/>
                </a:solidFill>
                <a:latin typeface="Arial"/>
                <a:ea typeface="Arial"/>
                <a:cs typeface="Arial"/>
                <a:sym typeface="Arial"/>
              </a:rPr>
              <a:t>0.6346</a:t>
            </a:r>
            <a:endParaRPr sz="2100">
              <a:solidFill>
                <a:schemeClr val="dk1"/>
              </a:solidFill>
              <a:latin typeface="Calibri"/>
              <a:ea typeface="Calibri"/>
              <a:cs typeface="Calibri"/>
              <a:sym typeface="Calibri"/>
            </a:endParaRPr>
          </a:p>
        </p:txBody>
      </p:sp>
      <p:sp>
        <p:nvSpPr>
          <p:cNvPr id="653" name="Google Shape;653;p15"/>
          <p:cNvSpPr/>
          <p:nvPr/>
        </p:nvSpPr>
        <p:spPr>
          <a:xfrm>
            <a:off x="10541198" y="6691313"/>
            <a:ext cx="3107829"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54" name="Google Shape;654;p15"/>
          <p:cNvSpPr/>
          <p:nvPr/>
        </p:nvSpPr>
        <p:spPr>
          <a:xfrm>
            <a:off x="10657514" y="6196013"/>
            <a:ext cx="2781964" cy="36195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2100"/>
              <a:buFont typeface="Arial"/>
              <a:buNone/>
            </a:pPr>
            <a:r>
              <a:rPr lang="en-US" sz="2100">
                <a:solidFill>
                  <a:srgbClr val="1C1B1A"/>
                </a:solidFill>
                <a:latin typeface="Arial"/>
                <a:ea typeface="Arial"/>
                <a:cs typeface="Arial"/>
                <a:sym typeface="Arial"/>
              </a:rPr>
              <a:t>0.7052</a:t>
            </a:r>
            <a:endParaRPr sz="2100">
              <a:solidFill>
                <a:schemeClr val="dk1"/>
              </a:solidFill>
              <a:latin typeface="Calibri"/>
              <a:ea typeface="Calibri"/>
              <a:cs typeface="Calibri"/>
              <a:sym typeface="Calibri"/>
            </a:endParaRPr>
          </a:p>
        </p:txBody>
      </p:sp>
      <p:sp>
        <p:nvSpPr>
          <p:cNvPr id="655" name="Google Shape;655;p15"/>
          <p:cNvSpPr/>
          <p:nvPr/>
        </p:nvSpPr>
        <p:spPr>
          <a:xfrm>
            <a:off x="13649027" y="6691313"/>
            <a:ext cx="3687068"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56" name="Google Shape;656;p15"/>
          <p:cNvSpPr/>
          <p:nvPr/>
        </p:nvSpPr>
        <p:spPr>
          <a:xfrm>
            <a:off x="13747965" y="6196013"/>
            <a:ext cx="3378580" cy="36195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2100"/>
              <a:buFont typeface="Arial"/>
              <a:buNone/>
            </a:pPr>
            <a:r>
              <a:rPr lang="en-US" sz="2100">
                <a:solidFill>
                  <a:srgbClr val="1C1B1A"/>
                </a:solidFill>
                <a:latin typeface="Arial"/>
                <a:ea typeface="Arial"/>
                <a:cs typeface="Arial"/>
                <a:sym typeface="Arial"/>
              </a:rPr>
              <a:t>0.6443 ± 0.0101</a:t>
            </a:r>
            <a:endParaRPr sz="2100">
              <a:solidFill>
                <a:schemeClr val="dk1"/>
              </a:solidFill>
              <a:latin typeface="Calibri"/>
              <a:ea typeface="Calibri"/>
              <a:cs typeface="Calibri"/>
              <a:sym typeface="Calibri"/>
            </a:endParaRPr>
          </a:p>
        </p:txBody>
      </p:sp>
      <p:sp>
        <p:nvSpPr>
          <p:cNvPr id="657" name="Google Shape;657;p15"/>
          <p:cNvSpPr/>
          <p:nvPr/>
        </p:nvSpPr>
        <p:spPr>
          <a:xfrm>
            <a:off x="952500" y="7367587"/>
            <a:ext cx="4616053"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58" name="Google Shape;658;p15"/>
          <p:cNvSpPr/>
          <p:nvPr/>
        </p:nvSpPr>
        <p:spPr>
          <a:xfrm>
            <a:off x="1162050" y="6872288"/>
            <a:ext cx="4335435" cy="361950"/>
          </a:xfrm>
          <a:prstGeom prst="rect">
            <a:avLst/>
          </a:prstGeom>
          <a:noFill/>
          <a:ln>
            <a:noFill/>
          </a:ln>
        </p:spPr>
        <p:txBody>
          <a:bodyPr spcFirstLastPara="1" wrap="square" lIns="25400" tIns="25400" rIns="25400" bIns="25400" anchor="ctr" anchorCtr="0">
            <a:normAutofit/>
          </a:bodyPr>
          <a:lstStyle/>
          <a:p>
            <a:pPr marL="0" marR="0" lvl="0" indent="0" algn="l" rtl="0">
              <a:lnSpc>
                <a:spcPct val="90000"/>
              </a:lnSpc>
              <a:spcBef>
                <a:spcPts val="0"/>
              </a:spcBef>
              <a:spcAft>
                <a:spcPts val="0"/>
              </a:spcAft>
              <a:buClr>
                <a:srgbClr val="1C1B1A"/>
              </a:buClr>
              <a:buSzPts val="2100"/>
              <a:buFont typeface="Arial"/>
              <a:buNone/>
            </a:pPr>
            <a:r>
              <a:rPr lang="en-US" sz="2100">
                <a:solidFill>
                  <a:srgbClr val="1C1B1A"/>
                </a:solidFill>
                <a:latin typeface="Arial"/>
                <a:ea typeface="Arial"/>
                <a:cs typeface="Arial"/>
                <a:sym typeface="Arial"/>
              </a:rPr>
              <a:t>KNN (k=11)</a:t>
            </a:r>
            <a:endParaRPr sz="2100">
              <a:solidFill>
                <a:schemeClr val="dk1"/>
              </a:solidFill>
              <a:latin typeface="Calibri"/>
              <a:ea typeface="Calibri"/>
              <a:cs typeface="Calibri"/>
              <a:sym typeface="Calibri"/>
            </a:endParaRPr>
          </a:p>
        </p:txBody>
      </p:sp>
      <p:sp>
        <p:nvSpPr>
          <p:cNvPr id="659" name="Google Shape;659;p15"/>
          <p:cNvSpPr/>
          <p:nvPr/>
        </p:nvSpPr>
        <p:spPr>
          <a:xfrm>
            <a:off x="5568553" y="7367587"/>
            <a:ext cx="2408634"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60" name="Google Shape;660;p15"/>
          <p:cNvSpPr/>
          <p:nvPr/>
        </p:nvSpPr>
        <p:spPr>
          <a:xfrm>
            <a:off x="5701903" y="6872288"/>
            <a:ext cx="2065734" cy="36195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2100"/>
              <a:buFont typeface="Arial"/>
              <a:buNone/>
            </a:pPr>
            <a:r>
              <a:rPr lang="en-US" sz="2100">
                <a:solidFill>
                  <a:srgbClr val="1C1B1A"/>
                </a:solidFill>
                <a:latin typeface="Arial"/>
                <a:ea typeface="Arial"/>
                <a:cs typeface="Arial"/>
                <a:sym typeface="Arial"/>
              </a:rPr>
              <a:t>69.49%</a:t>
            </a:r>
            <a:endParaRPr sz="2100">
              <a:solidFill>
                <a:schemeClr val="dk1"/>
              </a:solidFill>
              <a:latin typeface="Calibri"/>
              <a:ea typeface="Calibri"/>
              <a:cs typeface="Calibri"/>
              <a:sym typeface="Calibri"/>
            </a:endParaRPr>
          </a:p>
        </p:txBody>
      </p:sp>
      <p:sp>
        <p:nvSpPr>
          <p:cNvPr id="661" name="Google Shape;661;p15"/>
          <p:cNvSpPr/>
          <p:nvPr/>
        </p:nvSpPr>
        <p:spPr>
          <a:xfrm>
            <a:off x="7977188" y="7367587"/>
            <a:ext cx="2564011"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62" name="Google Shape;662;p15"/>
          <p:cNvSpPr/>
          <p:nvPr/>
        </p:nvSpPr>
        <p:spPr>
          <a:xfrm>
            <a:off x="8109817" y="6872288"/>
            <a:ext cx="2221831" cy="36195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2100"/>
              <a:buFont typeface="Arial"/>
              <a:buNone/>
            </a:pPr>
            <a:r>
              <a:rPr lang="en-US" sz="2100">
                <a:solidFill>
                  <a:srgbClr val="1C1B1A"/>
                </a:solidFill>
                <a:latin typeface="Arial"/>
                <a:ea typeface="Arial"/>
                <a:cs typeface="Arial"/>
                <a:sym typeface="Arial"/>
              </a:rPr>
              <a:t>0.5860</a:t>
            </a:r>
            <a:endParaRPr sz="2100">
              <a:solidFill>
                <a:schemeClr val="dk1"/>
              </a:solidFill>
              <a:latin typeface="Calibri"/>
              <a:ea typeface="Calibri"/>
              <a:cs typeface="Calibri"/>
              <a:sym typeface="Calibri"/>
            </a:endParaRPr>
          </a:p>
        </p:txBody>
      </p:sp>
      <p:sp>
        <p:nvSpPr>
          <p:cNvPr id="663" name="Google Shape;663;p15"/>
          <p:cNvSpPr/>
          <p:nvPr/>
        </p:nvSpPr>
        <p:spPr>
          <a:xfrm>
            <a:off x="10541198" y="7367587"/>
            <a:ext cx="3107829"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64" name="Google Shape;664;p15"/>
          <p:cNvSpPr/>
          <p:nvPr/>
        </p:nvSpPr>
        <p:spPr>
          <a:xfrm>
            <a:off x="10657514" y="6872288"/>
            <a:ext cx="2781964" cy="36195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2100"/>
              <a:buFont typeface="Arial"/>
              <a:buNone/>
            </a:pPr>
            <a:r>
              <a:rPr lang="en-US" sz="2100">
                <a:solidFill>
                  <a:srgbClr val="1C1B1A"/>
                </a:solidFill>
                <a:latin typeface="Arial"/>
                <a:ea typeface="Arial"/>
                <a:cs typeface="Arial"/>
                <a:sym typeface="Arial"/>
              </a:rPr>
              <a:t>0.6694</a:t>
            </a:r>
            <a:endParaRPr sz="2100">
              <a:solidFill>
                <a:schemeClr val="dk1"/>
              </a:solidFill>
              <a:latin typeface="Calibri"/>
              <a:ea typeface="Calibri"/>
              <a:cs typeface="Calibri"/>
              <a:sym typeface="Calibri"/>
            </a:endParaRPr>
          </a:p>
        </p:txBody>
      </p:sp>
      <p:sp>
        <p:nvSpPr>
          <p:cNvPr id="665" name="Google Shape;665;p15"/>
          <p:cNvSpPr/>
          <p:nvPr/>
        </p:nvSpPr>
        <p:spPr>
          <a:xfrm>
            <a:off x="13649027" y="7367587"/>
            <a:ext cx="3687068" cy="9525"/>
          </a:xfrm>
          <a:prstGeom prst="rect">
            <a:avLst/>
          </a:prstGeom>
          <a:solidFill>
            <a:srgbClr val="D9D3C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66" name="Google Shape;666;p15"/>
          <p:cNvSpPr/>
          <p:nvPr/>
        </p:nvSpPr>
        <p:spPr>
          <a:xfrm>
            <a:off x="13747965" y="6872288"/>
            <a:ext cx="3378580" cy="361950"/>
          </a:xfrm>
          <a:prstGeom prst="rect">
            <a:avLst/>
          </a:prstGeom>
          <a:noFill/>
          <a:ln>
            <a:noFill/>
          </a:ln>
        </p:spPr>
        <p:txBody>
          <a:bodyPr spcFirstLastPara="1" wrap="square" lIns="25400" tIns="25400" rIns="25400" bIns="25400" anchor="ctr" anchorCtr="0">
            <a:normAutofit/>
          </a:bodyPr>
          <a:lstStyle/>
          <a:p>
            <a:pPr marL="0" marR="0" lvl="0" indent="0" algn="r" rtl="0">
              <a:lnSpc>
                <a:spcPct val="90000"/>
              </a:lnSpc>
              <a:spcBef>
                <a:spcPts val="0"/>
              </a:spcBef>
              <a:spcAft>
                <a:spcPts val="0"/>
              </a:spcAft>
              <a:buClr>
                <a:srgbClr val="1C1B1A"/>
              </a:buClr>
              <a:buSzPts val="2100"/>
              <a:buFont typeface="Arial"/>
              <a:buNone/>
            </a:pPr>
            <a:r>
              <a:rPr lang="en-US" sz="2100">
                <a:solidFill>
                  <a:srgbClr val="1C1B1A"/>
                </a:solidFill>
                <a:latin typeface="Arial"/>
                <a:ea typeface="Arial"/>
                <a:cs typeface="Arial"/>
                <a:sym typeface="Arial"/>
              </a:rPr>
              <a:t>0.6036 ± 0.0094</a:t>
            </a:r>
            <a:endParaRPr sz="2100">
              <a:solidFill>
                <a:schemeClr val="dk1"/>
              </a:solidFill>
              <a:latin typeface="Calibri"/>
              <a:ea typeface="Calibri"/>
              <a:cs typeface="Calibri"/>
              <a:sym typeface="Calibri"/>
            </a:endParaRPr>
          </a:p>
        </p:txBody>
      </p:sp>
      <p:sp>
        <p:nvSpPr>
          <p:cNvPr id="667" name="Google Shape;667;p15"/>
          <p:cNvSpPr/>
          <p:nvPr/>
        </p:nvSpPr>
        <p:spPr>
          <a:xfrm>
            <a:off x="952500" y="7724775"/>
            <a:ext cx="16874490" cy="685800"/>
          </a:xfrm>
          <a:prstGeom prst="rect">
            <a:avLst/>
          </a:prstGeom>
          <a:noFill/>
          <a:ln>
            <a:noFill/>
          </a:ln>
        </p:spPr>
        <p:txBody>
          <a:bodyPr spcFirstLastPara="1" wrap="square" lIns="25400" tIns="25400" rIns="25400" bIns="25400" anchor="t" anchorCtr="0">
            <a:normAutofit/>
          </a:bodyPr>
          <a:lstStyle/>
          <a:p>
            <a:pPr marL="0" marR="0" lvl="0" indent="0" algn="l" rtl="0">
              <a:lnSpc>
                <a:spcPct val="125000"/>
              </a:lnSpc>
              <a:spcBef>
                <a:spcPts val="0"/>
              </a:spcBef>
              <a:spcAft>
                <a:spcPts val="0"/>
              </a:spcAft>
              <a:buClr>
                <a:srgbClr val="4B4845"/>
              </a:buClr>
              <a:buSzPts val="1665"/>
              <a:buFont typeface="Arial"/>
              <a:buNone/>
            </a:pPr>
            <a:r>
              <a:rPr lang="en-US" sz="1665">
                <a:solidFill>
                  <a:srgbClr val="4B4845"/>
                </a:solidFill>
                <a:latin typeface="Arial"/>
                <a:ea typeface="Arial"/>
                <a:cs typeface="Arial"/>
                <a:sym typeface="Arial"/>
              </a:rPr>
              <a:t>Cross-validation standard deviations are tight across all models — performance is consistent, not lucky. F1-macro is our primary metric because it weights all three classes equally despite the imbalance.</a:t>
            </a:r>
            <a:endParaRPr sz="1665">
              <a:solidFill>
                <a:schemeClr val="dk1"/>
              </a:solidFill>
              <a:latin typeface="Calibri"/>
              <a:ea typeface="Calibri"/>
              <a:cs typeface="Calibri"/>
              <a:sym typeface="Calibri"/>
            </a:endParaRPr>
          </a:p>
        </p:txBody>
      </p:sp>
      <p:sp>
        <p:nvSpPr>
          <p:cNvPr id="668" name="Google Shape;668;p15"/>
          <p:cNvSpPr/>
          <p:nvPr/>
        </p:nvSpPr>
        <p:spPr>
          <a:xfrm>
            <a:off x="16692116" y="8496300"/>
            <a:ext cx="1100584" cy="2952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665"/>
              <a:buFont typeface="Courier New"/>
              <a:buNone/>
            </a:pPr>
            <a:r>
              <a:rPr lang="en-US" sz="1665">
                <a:solidFill>
                  <a:srgbClr val="807C76"/>
                </a:solidFill>
                <a:latin typeface="Courier New"/>
                <a:ea typeface="Courier New"/>
                <a:cs typeface="Courier New"/>
                <a:sym typeface="Courier New"/>
              </a:rPr>
              <a:t>15/19</a:t>
            </a:r>
            <a:endParaRPr sz="1665">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Shape 673"/>
        <p:cNvGrpSpPr/>
        <p:nvPr/>
      </p:nvGrpSpPr>
      <p:grpSpPr>
        <a:xfrm>
          <a:off x="0" y="0"/>
          <a:ext cx="0" cy="0"/>
          <a:chOff x="0" y="0"/>
          <a:chExt cx="0" cy="0"/>
        </a:xfrm>
      </p:grpSpPr>
      <p:sp>
        <p:nvSpPr>
          <p:cNvPr id="674" name="Google Shape;674;p16"/>
          <p:cNvSpPr/>
          <p:nvPr/>
        </p:nvSpPr>
        <p:spPr>
          <a:xfrm>
            <a:off x="952500" y="1047006"/>
            <a:ext cx="533400" cy="19050"/>
          </a:xfrm>
          <a:prstGeom prst="rect">
            <a:avLst/>
          </a:prstGeom>
          <a:solidFill>
            <a:srgbClr val="4B484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75" name="Google Shape;675;p16"/>
          <p:cNvSpPr/>
          <p:nvPr/>
        </p:nvSpPr>
        <p:spPr>
          <a:xfrm>
            <a:off x="1657350" y="952500"/>
            <a:ext cx="4224646" cy="2952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665"/>
              <a:buFont typeface="Courier New"/>
              <a:buNone/>
            </a:pPr>
            <a:r>
              <a:rPr lang="en-US" sz="1665">
                <a:solidFill>
                  <a:srgbClr val="807C76"/>
                </a:solidFill>
                <a:latin typeface="Courier New"/>
                <a:ea typeface="Courier New"/>
                <a:cs typeface="Courier New"/>
                <a:sym typeface="Courier New"/>
              </a:rPr>
              <a:t>15 · FEATURE IMPORTANCE</a:t>
            </a:r>
            <a:endParaRPr sz="1665">
              <a:solidFill>
                <a:schemeClr val="dk1"/>
              </a:solidFill>
              <a:latin typeface="Calibri"/>
              <a:ea typeface="Calibri"/>
              <a:cs typeface="Calibri"/>
              <a:sym typeface="Calibri"/>
            </a:endParaRPr>
          </a:p>
        </p:txBody>
      </p:sp>
      <p:sp>
        <p:nvSpPr>
          <p:cNvPr id="676" name="Google Shape;676;p16"/>
          <p:cNvSpPr/>
          <p:nvPr/>
        </p:nvSpPr>
        <p:spPr>
          <a:xfrm>
            <a:off x="952500" y="1294656"/>
            <a:ext cx="16874490" cy="1077069"/>
          </a:xfrm>
          <a:prstGeom prst="rect">
            <a:avLst/>
          </a:prstGeom>
          <a:noFill/>
          <a:ln>
            <a:noFill/>
          </a:ln>
        </p:spPr>
        <p:txBody>
          <a:bodyPr spcFirstLastPara="1" wrap="square" lIns="25400" tIns="25400" rIns="25400" bIns="25400" anchor="t" anchorCtr="0">
            <a:normAutofit/>
          </a:bodyPr>
          <a:lstStyle/>
          <a:p>
            <a:pPr marL="0" marR="0" lvl="0" indent="0" algn="l" rtl="0">
              <a:lnSpc>
                <a:spcPct val="104000"/>
              </a:lnSpc>
              <a:spcBef>
                <a:spcPts val="0"/>
              </a:spcBef>
              <a:spcAft>
                <a:spcPts val="0"/>
              </a:spcAft>
              <a:buClr>
                <a:srgbClr val="1C1B1A"/>
              </a:buClr>
              <a:buSzPts val="4440"/>
              <a:buFont typeface="Georgia"/>
              <a:buNone/>
            </a:pPr>
            <a:r>
              <a:rPr lang="en-US" sz="4440" b="1">
                <a:solidFill>
                  <a:srgbClr val="1C1B1A"/>
                </a:solidFill>
                <a:latin typeface="Georgia"/>
                <a:ea typeface="Georgia"/>
                <a:cs typeface="Georgia"/>
                <a:sym typeface="Georgia"/>
              </a:rPr>
              <a:t>Semester performance dominates · finance plays second</a:t>
            </a:r>
            <a:endParaRPr sz="4440">
              <a:solidFill>
                <a:schemeClr val="dk1"/>
              </a:solidFill>
              <a:latin typeface="Calibri"/>
              <a:ea typeface="Calibri"/>
              <a:cs typeface="Calibri"/>
              <a:sym typeface="Calibri"/>
            </a:endParaRPr>
          </a:p>
        </p:txBody>
      </p:sp>
      <p:sp>
        <p:nvSpPr>
          <p:cNvPr id="677" name="Google Shape;677;p16"/>
          <p:cNvSpPr/>
          <p:nvPr/>
        </p:nvSpPr>
        <p:spPr>
          <a:xfrm>
            <a:off x="952500" y="3248025"/>
            <a:ext cx="7905750" cy="19050"/>
          </a:xfrm>
          <a:prstGeom prst="rect">
            <a:avLst/>
          </a:prstGeom>
          <a:solidFill>
            <a:srgbClr val="0E3A5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78" name="Google Shape;678;p16"/>
          <p:cNvSpPr/>
          <p:nvPr/>
        </p:nvSpPr>
        <p:spPr>
          <a:xfrm>
            <a:off x="952500" y="2714625"/>
            <a:ext cx="2825956" cy="457200"/>
          </a:xfrm>
          <a:prstGeom prst="rect">
            <a:avLst/>
          </a:prstGeom>
          <a:noFill/>
          <a:ln>
            <a:noFill/>
          </a:ln>
        </p:spPr>
        <p:txBody>
          <a:bodyPr spcFirstLastPara="1" wrap="square" lIns="25400" tIns="25400" rIns="25400" bIns="25400" anchor="t" anchorCtr="0">
            <a:normAutofit/>
          </a:bodyPr>
          <a:lstStyle/>
          <a:p>
            <a:pPr marL="0" marR="0" lvl="0" indent="0" algn="l" rtl="0">
              <a:spcBef>
                <a:spcPts val="0"/>
              </a:spcBef>
              <a:spcAft>
                <a:spcPts val="0"/>
              </a:spcAft>
              <a:buClr>
                <a:srgbClr val="1C1B1A"/>
              </a:buClr>
              <a:buSzPts val="2400"/>
              <a:buFont typeface="Georgia"/>
              <a:buNone/>
            </a:pPr>
            <a:r>
              <a:rPr lang="en-US" sz="2400" b="1">
                <a:solidFill>
                  <a:srgbClr val="1C1B1A"/>
                </a:solidFill>
                <a:latin typeface="Georgia"/>
                <a:ea typeface="Georgia"/>
                <a:cs typeface="Georgia"/>
                <a:sym typeface="Georgia"/>
              </a:rPr>
              <a:t>Random Forest</a:t>
            </a:r>
            <a:endParaRPr sz="2400">
              <a:solidFill>
                <a:schemeClr val="dk1"/>
              </a:solidFill>
              <a:latin typeface="Calibri"/>
              <a:ea typeface="Calibri"/>
              <a:cs typeface="Calibri"/>
              <a:sym typeface="Calibri"/>
            </a:endParaRPr>
          </a:p>
        </p:txBody>
      </p:sp>
      <p:sp>
        <p:nvSpPr>
          <p:cNvPr id="679" name="Google Shape;679;p16"/>
          <p:cNvSpPr/>
          <p:nvPr/>
        </p:nvSpPr>
        <p:spPr>
          <a:xfrm>
            <a:off x="6114604" y="2886075"/>
            <a:ext cx="2825956" cy="22860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0E3A53"/>
              </a:buClr>
              <a:buSzPts val="1248"/>
              <a:buFont typeface="Courier New"/>
              <a:buNone/>
            </a:pPr>
            <a:r>
              <a:rPr lang="en-US" sz="1249">
                <a:solidFill>
                  <a:srgbClr val="0E3A53"/>
                </a:solidFill>
                <a:latin typeface="Courier New"/>
                <a:ea typeface="Courier New"/>
                <a:cs typeface="Courier New"/>
                <a:sym typeface="Courier New"/>
              </a:rPr>
              <a:t>MEAN DECREASE IN IMPURITY</a:t>
            </a:r>
            <a:endParaRPr sz="1249">
              <a:solidFill>
                <a:schemeClr val="dk1"/>
              </a:solidFill>
              <a:latin typeface="Calibri"/>
              <a:ea typeface="Calibri"/>
              <a:cs typeface="Calibri"/>
              <a:sym typeface="Calibri"/>
            </a:endParaRPr>
          </a:p>
        </p:txBody>
      </p:sp>
      <p:sp>
        <p:nvSpPr>
          <p:cNvPr id="680" name="Google Shape;680;p16"/>
          <p:cNvSpPr/>
          <p:nvPr/>
        </p:nvSpPr>
        <p:spPr>
          <a:xfrm>
            <a:off x="952500" y="3438525"/>
            <a:ext cx="323850" cy="352425"/>
          </a:xfrm>
          <a:prstGeom prst="rect">
            <a:avLst/>
          </a:prstGeom>
          <a:noFill/>
          <a:ln>
            <a:noFill/>
          </a:ln>
        </p:spPr>
        <p:txBody>
          <a:bodyPr spcFirstLastPara="1" wrap="square" lIns="25400" tIns="25400" rIns="25400" bIns="25400" anchor="t" anchorCtr="0">
            <a:normAutofit/>
          </a:bodyPr>
          <a:lstStyle/>
          <a:p>
            <a:pPr marL="0" marR="0" lvl="0" indent="0" algn="l" rtl="0">
              <a:lnSpc>
                <a:spcPct val="110000"/>
              </a:lnSpc>
              <a:spcBef>
                <a:spcPts val="0"/>
              </a:spcBef>
              <a:spcAft>
                <a:spcPts val="0"/>
              </a:spcAft>
              <a:buClr>
                <a:srgbClr val="0E3A53"/>
              </a:buClr>
              <a:buSzPts val="1803"/>
              <a:buFont typeface="Georgia"/>
              <a:buNone/>
            </a:pPr>
            <a:r>
              <a:rPr lang="en-US" sz="1804" b="1">
                <a:solidFill>
                  <a:srgbClr val="0E3A53"/>
                </a:solidFill>
                <a:latin typeface="Georgia"/>
                <a:ea typeface="Georgia"/>
                <a:cs typeface="Georgia"/>
                <a:sym typeface="Georgia"/>
              </a:rPr>
              <a:t>1</a:t>
            </a:r>
            <a:endParaRPr sz="1804">
              <a:solidFill>
                <a:schemeClr val="dk1"/>
              </a:solidFill>
              <a:latin typeface="Calibri"/>
              <a:ea typeface="Calibri"/>
              <a:cs typeface="Calibri"/>
              <a:sym typeface="Calibri"/>
            </a:endParaRPr>
          </a:p>
        </p:txBody>
      </p:sp>
      <p:sp>
        <p:nvSpPr>
          <p:cNvPr id="681" name="Google Shape;681;p16"/>
          <p:cNvSpPr/>
          <p:nvPr/>
        </p:nvSpPr>
        <p:spPr>
          <a:xfrm>
            <a:off x="1333500" y="3462338"/>
            <a:ext cx="3531870" cy="304800"/>
          </a:xfrm>
          <a:prstGeom prst="rect">
            <a:avLst/>
          </a:prstGeom>
          <a:noFill/>
          <a:ln>
            <a:noFill/>
          </a:ln>
        </p:spPr>
        <p:txBody>
          <a:bodyPr spcFirstLastPara="1" wrap="square" lIns="25400" tIns="25400" rIns="25400" bIns="25400" anchor="t" anchorCtr="0">
            <a:normAutofit/>
          </a:bodyPr>
          <a:lstStyle/>
          <a:p>
            <a:pPr marL="0" marR="0" lvl="0" indent="0" algn="l" rtl="0">
              <a:lnSpc>
                <a:spcPct val="110000"/>
              </a:lnSpc>
              <a:spcBef>
                <a:spcPts val="0"/>
              </a:spcBef>
              <a:spcAft>
                <a:spcPts val="0"/>
              </a:spcAft>
              <a:buClr>
                <a:srgbClr val="4B4845"/>
              </a:buClr>
              <a:buSzPts val="1526"/>
              <a:buFont typeface="Arial"/>
              <a:buNone/>
            </a:pPr>
            <a:r>
              <a:rPr lang="en-US" sz="1526">
                <a:solidFill>
                  <a:srgbClr val="4B4845"/>
                </a:solidFill>
                <a:latin typeface="Arial"/>
                <a:ea typeface="Arial"/>
                <a:cs typeface="Arial"/>
                <a:sym typeface="Arial"/>
              </a:rPr>
              <a:t>Curricular units 2nd sem (approved)</a:t>
            </a:r>
            <a:endParaRPr sz="1526">
              <a:solidFill>
                <a:schemeClr val="dk1"/>
              </a:solidFill>
              <a:latin typeface="Calibri"/>
              <a:ea typeface="Calibri"/>
              <a:cs typeface="Calibri"/>
              <a:sym typeface="Calibri"/>
            </a:endParaRPr>
          </a:p>
        </p:txBody>
      </p:sp>
      <p:sp>
        <p:nvSpPr>
          <p:cNvPr id="682" name="Google Shape;682;p16"/>
          <p:cNvSpPr/>
          <p:nvPr/>
        </p:nvSpPr>
        <p:spPr>
          <a:xfrm>
            <a:off x="4895850" y="3509963"/>
            <a:ext cx="3162300" cy="171450"/>
          </a:xfrm>
          <a:prstGeom prst="rect">
            <a:avLst/>
          </a:prstGeom>
          <a:solidFill>
            <a:srgbClr val="F2EEE6"/>
          </a:solidFill>
          <a:ln w="9525" cap="flat" cmpd="sng">
            <a:solidFill>
              <a:srgbClr val="D9D3C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83" name="Google Shape;683;p16"/>
          <p:cNvSpPr/>
          <p:nvPr/>
        </p:nvSpPr>
        <p:spPr>
          <a:xfrm>
            <a:off x="4905375" y="3519488"/>
            <a:ext cx="3045023" cy="152400"/>
          </a:xfrm>
          <a:prstGeom prst="rect">
            <a:avLst/>
          </a:prstGeom>
          <a:solidFill>
            <a:srgbClr val="0E3A5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84" name="Google Shape;684;p16"/>
          <p:cNvSpPr/>
          <p:nvPr/>
        </p:nvSpPr>
        <p:spPr>
          <a:xfrm>
            <a:off x="8115300" y="3471863"/>
            <a:ext cx="742950" cy="285750"/>
          </a:xfrm>
          <a:prstGeom prst="rect">
            <a:avLst/>
          </a:prstGeom>
          <a:noFill/>
          <a:ln>
            <a:noFill/>
          </a:ln>
        </p:spPr>
        <p:txBody>
          <a:bodyPr spcFirstLastPara="1" wrap="square" lIns="25400" tIns="25400" rIns="25400" bIns="25400" anchor="t" anchorCtr="0">
            <a:normAutofit/>
          </a:bodyPr>
          <a:lstStyle/>
          <a:p>
            <a:pPr marL="0" marR="0" lvl="0" indent="0" algn="r" rtl="0">
              <a:lnSpc>
                <a:spcPct val="110000"/>
              </a:lnSpc>
              <a:spcBef>
                <a:spcPts val="0"/>
              </a:spcBef>
              <a:spcAft>
                <a:spcPts val="0"/>
              </a:spcAft>
              <a:buClr>
                <a:srgbClr val="1C1B1A"/>
              </a:buClr>
              <a:buSzPts val="1387"/>
              <a:buFont typeface="Courier New"/>
              <a:buNone/>
            </a:pPr>
            <a:r>
              <a:rPr lang="en-US" sz="1388">
                <a:solidFill>
                  <a:srgbClr val="1C1B1A"/>
                </a:solidFill>
                <a:latin typeface="Courier New"/>
                <a:ea typeface="Courier New"/>
                <a:cs typeface="Courier New"/>
                <a:sym typeface="Courier New"/>
              </a:rPr>
              <a:t>0.155</a:t>
            </a:r>
            <a:endParaRPr sz="1388">
              <a:solidFill>
                <a:schemeClr val="dk1"/>
              </a:solidFill>
              <a:latin typeface="Calibri"/>
              <a:ea typeface="Calibri"/>
              <a:cs typeface="Calibri"/>
              <a:sym typeface="Calibri"/>
            </a:endParaRPr>
          </a:p>
        </p:txBody>
      </p:sp>
      <p:sp>
        <p:nvSpPr>
          <p:cNvPr id="685" name="Google Shape;685;p16"/>
          <p:cNvSpPr/>
          <p:nvPr/>
        </p:nvSpPr>
        <p:spPr>
          <a:xfrm>
            <a:off x="952500" y="3886200"/>
            <a:ext cx="323850" cy="352425"/>
          </a:xfrm>
          <a:prstGeom prst="rect">
            <a:avLst/>
          </a:prstGeom>
          <a:noFill/>
          <a:ln>
            <a:noFill/>
          </a:ln>
        </p:spPr>
        <p:txBody>
          <a:bodyPr spcFirstLastPara="1" wrap="square" lIns="25400" tIns="25400" rIns="25400" bIns="25400" anchor="t" anchorCtr="0">
            <a:normAutofit/>
          </a:bodyPr>
          <a:lstStyle/>
          <a:p>
            <a:pPr marL="0" marR="0" lvl="0" indent="0" algn="l" rtl="0">
              <a:lnSpc>
                <a:spcPct val="110000"/>
              </a:lnSpc>
              <a:spcBef>
                <a:spcPts val="0"/>
              </a:spcBef>
              <a:spcAft>
                <a:spcPts val="0"/>
              </a:spcAft>
              <a:buClr>
                <a:srgbClr val="0E3A53"/>
              </a:buClr>
              <a:buSzPts val="1803"/>
              <a:buFont typeface="Georgia"/>
              <a:buNone/>
            </a:pPr>
            <a:r>
              <a:rPr lang="en-US" sz="1804" b="1">
                <a:solidFill>
                  <a:srgbClr val="0E3A53"/>
                </a:solidFill>
                <a:latin typeface="Georgia"/>
                <a:ea typeface="Georgia"/>
                <a:cs typeface="Georgia"/>
                <a:sym typeface="Georgia"/>
              </a:rPr>
              <a:t>2</a:t>
            </a:r>
            <a:endParaRPr sz="1804">
              <a:solidFill>
                <a:schemeClr val="dk1"/>
              </a:solidFill>
              <a:latin typeface="Calibri"/>
              <a:ea typeface="Calibri"/>
              <a:cs typeface="Calibri"/>
              <a:sym typeface="Calibri"/>
            </a:endParaRPr>
          </a:p>
        </p:txBody>
      </p:sp>
      <p:sp>
        <p:nvSpPr>
          <p:cNvPr id="686" name="Google Shape;686;p16"/>
          <p:cNvSpPr/>
          <p:nvPr/>
        </p:nvSpPr>
        <p:spPr>
          <a:xfrm>
            <a:off x="1333500" y="3910013"/>
            <a:ext cx="3531870" cy="304800"/>
          </a:xfrm>
          <a:prstGeom prst="rect">
            <a:avLst/>
          </a:prstGeom>
          <a:noFill/>
          <a:ln>
            <a:noFill/>
          </a:ln>
        </p:spPr>
        <p:txBody>
          <a:bodyPr spcFirstLastPara="1" wrap="square" lIns="25400" tIns="25400" rIns="25400" bIns="25400" anchor="t" anchorCtr="0">
            <a:normAutofit/>
          </a:bodyPr>
          <a:lstStyle/>
          <a:p>
            <a:pPr marL="0" marR="0" lvl="0" indent="0" algn="l" rtl="0">
              <a:lnSpc>
                <a:spcPct val="110000"/>
              </a:lnSpc>
              <a:spcBef>
                <a:spcPts val="0"/>
              </a:spcBef>
              <a:spcAft>
                <a:spcPts val="0"/>
              </a:spcAft>
              <a:buClr>
                <a:srgbClr val="4B4845"/>
              </a:buClr>
              <a:buSzPts val="1526"/>
              <a:buFont typeface="Arial"/>
              <a:buNone/>
            </a:pPr>
            <a:r>
              <a:rPr lang="en-US" sz="1526">
                <a:solidFill>
                  <a:srgbClr val="4B4845"/>
                </a:solidFill>
                <a:latin typeface="Arial"/>
                <a:ea typeface="Arial"/>
                <a:cs typeface="Arial"/>
                <a:sym typeface="Arial"/>
              </a:rPr>
              <a:t>Curricular units 2nd sem (grade)</a:t>
            </a:r>
            <a:endParaRPr sz="1526">
              <a:solidFill>
                <a:schemeClr val="dk1"/>
              </a:solidFill>
              <a:latin typeface="Calibri"/>
              <a:ea typeface="Calibri"/>
              <a:cs typeface="Calibri"/>
              <a:sym typeface="Calibri"/>
            </a:endParaRPr>
          </a:p>
        </p:txBody>
      </p:sp>
      <p:sp>
        <p:nvSpPr>
          <p:cNvPr id="687" name="Google Shape;687;p16"/>
          <p:cNvSpPr/>
          <p:nvPr/>
        </p:nvSpPr>
        <p:spPr>
          <a:xfrm>
            <a:off x="4895850" y="3957638"/>
            <a:ext cx="3162300" cy="171450"/>
          </a:xfrm>
          <a:prstGeom prst="rect">
            <a:avLst/>
          </a:prstGeom>
          <a:solidFill>
            <a:srgbClr val="F2EEE6"/>
          </a:solidFill>
          <a:ln w="9525" cap="flat" cmpd="sng">
            <a:solidFill>
              <a:srgbClr val="D9D3C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88" name="Google Shape;688;p16"/>
          <p:cNvSpPr/>
          <p:nvPr/>
        </p:nvSpPr>
        <p:spPr>
          <a:xfrm>
            <a:off x="4905375" y="3967163"/>
            <a:ext cx="1807369" cy="152400"/>
          </a:xfrm>
          <a:prstGeom prst="rect">
            <a:avLst/>
          </a:prstGeom>
          <a:solidFill>
            <a:srgbClr val="0E3A5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89" name="Google Shape;689;p16"/>
          <p:cNvSpPr/>
          <p:nvPr/>
        </p:nvSpPr>
        <p:spPr>
          <a:xfrm>
            <a:off x="8115300" y="3919537"/>
            <a:ext cx="742950" cy="285750"/>
          </a:xfrm>
          <a:prstGeom prst="rect">
            <a:avLst/>
          </a:prstGeom>
          <a:noFill/>
          <a:ln>
            <a:noFill/>
          </a:ln>
        </p:spPr>
        <p:txBody>
          <a:bodyPr spcFirstLastPara="1" wrap="square" lIns="25400" tIns="25400" rIns="25400" bIns="25400" anchor="t" anchorCtr="0">
            <a:normAutofit/>
          </a:bodyPr>
          <a:lstStyle/>
          <a:p>
            <a:pPr marL="0" marR="0" lvl="0" indent="0" algn="r" rtl="0">
              <a:lnSpc>
                <a:spcPct val="110000"/>
              </a:lnSpc>
              <a:spcBef>
                <a:spcPts val="0"/>
              </a:spcBef>
              <a:spcAft>
                <a:spcPts val="0"/>
              </a:spcAft>
              <a:buClr>
                <a:srgbClr val="1C1B1A"/>
              </a:buClr>
              <a:buSzPts val="1387"/>
              <a:buFont typeface="Courier New"/>
              <a:buNone/>
            </a:pPr>
            <a:r>
              <a:rPr lang="en-US" sz="1388">
                <a:solidFill>
                  <a:srgbClr val="1C1B1A"/>
                </a:solidFill>
                <a:latin typeface="Courier New"/>
                <a:ea typeface="Courier New"/>
                <a:cs typeface="Courier New"/>
                <a:sym typeface="Courier New"/>
              </a:rPr>
              <a:t>0.092</a:t>
            </a:r>
            <a:endParaRPr sz="1388">
              <a:solidFill>
                <a:schemeClr val="dk1"/>
              </a:solidFill>
              <a:latin typeface="Calibri"/>
              <a:ea typeface="Calibri"/>
              <a:cs typeface="Calibri"/>
              <a:sym typeface="Calibri"/>
            </a:endParaRPr>
          </a:p>
        </p:txBody>
      </p:sp>
      <p:sp>
        <p:nvSpPr>
          <p:cNvPr id="690" name="Google Shape;690;p16"/>
          <p:cNvSpPr/>
          <p:nvPr/>
        </p:nvSpPr>
        <p:spPr>
          <a:xfrm>
            <a:off x="952500" y="4333875"/>
            <a:ext cx="323850" cy="352425"/>
          </a:xfrm>
          <a:prstGeom prst="rect">
            <a:avLst/>
          </a:prstGeom>
          <a:noFill/>
          <a:ln>
            <a:noFill/>
          </a:ln>
        </p:spPr>
        <p:txBody>
          <a:bodyPr spcFirstLastPara="1" wrap="square" lIns="25400" tIns="25400" rIns="25400" bIns="25400" anchor="t" anchorCtr="0">
            <a:normAutofit/>
          </a:bodyPr>
          <a:lstStyle/>
          <a:p>
            <a:pPr marL="0" marR="0" lvl="0" indent="0" algn="l" rtl="0">
              <a:lnSpc>
                <a:spcPct val="110000"/>
              </a:lnSpc>
              <a:spcBef>
                <a:spcPts val="0"/>
              </a:spcBef>
              <a:spcAft>
                <a:spcPts val="0"/>
              </a:spcAft>
              <a:buClr>
                <a:srgbClr val="0E3A53"/>
              </a:buClr>
              <a:buSzPts val="1803"/>
              <a:buFont typeface="Georgia"/>
              <a:buNone/>
            </a:pPr>
            <a:r>
              <a:rPr lang="en-US" sz="1804" b="1">
                <a:solidFill>
                  <a:srgbClr val="0E3A53"/>
                </a:solidFill>
                <a:latin typeface="Georgia"/>
                <a:ea typeface="Georgia"/>
                <a:cs typeface="Georgia"/>
                <a:sym typeface="Georgia"/>
              </a:rPr>
              <a:t>3</a:t>
            </a:r>
            <a:endParaRPr sz="1804">
              <a:solidFill>
                <a:schemeClr val="dk1"/>
              </a:solidFill>
              <a:latin typeface="Calibri"/>
              <a:ea typeface="Calibri"/>
              <a:cs typeface="Calibri"/>
              <a:sym typeface="Calibri"/>
            </a:endParaRPr>
          </a:p>
        </p:txBody>
      </p:sp>
      <p:sp>
        <p:nvSpPr>
          <p:cNvPr id="691" name="Google Shape;691;p16"/>
          <p:cNvSpPr/>
          <p:nvPr/>
        </p:nvSpPr>
        <p:spPr>
          <a:xfrm>
            <a:off x="1333500" y="4357688"/>
            <a:ext cx="3531870" cy="304800"/>
          </a:xfrm>
          <a:prstGeom prst="rect">
            <a:avLst/>
          </a:prstGeom>
          <a:noFill/>
          <a:ln>
            <a:noFill/>
          </a:ln>
        </p:spPr>
        <p:txBody>
          <a:bodyPr spcFirstLastPara="1" wrap="square" lIns="25400" tIns="25400" rIns="25400" bIns="25400" anchor="t" anchorCtr="0">
            <a:normAutofit/>
          </a:bodyPr>
          <a:lstStyle/>
          <a:p>
            <a:pPr marL="0" marR="0" lvl="0" indent="0" algn="l" rtl="0">
              <a:lnSpc>
                <a:spcPct val="110000"/>
              </a:lnSpc>
              <a:spcBef>
                <a:spcPts val="0"/>
              </a:spcBef>
              <a:spcAft>
                <a:spcPts val="0"/>
              </a:spcAft>
              <a:buClr>
                <a:srgbClr val="4B4845"/>
              </a:buClr>
              <a:buSzPts val="1526"/>
              <a:buFont typeface="Arial"/>
              <a:buNone/>
            </a:pPr>
            <a:r>
              <a:rPr lang="en-US" sz="1526">
                <a:solidFill>
                  <a:srgbClr val="4B4845"/>
                </a:solidFill>
                <a:latin typeface="Arial"/>
                <a:ea typeface="Arial"/>
                <a:cs typeface="Arial"/>
                <a:sym typeface="Arial"/>
              </a:rPr>
              <a:t>Curricular units 1st sem (approved)</a:t>
            </a:r>
            <a:endParaRPr sz="1526">
              <a:solidFill>
                <a:schemeClr val="dk1"/>
              </a:solidFill>
              <a:latin typeface="Calibri"/>
              <a:ea typeface="Calibri"/>
              <a:cs typeface="Calibri"/>
              <a:sym typeface="Calibri"/>
            </a:endParaRPr>
          </a:p>
        </p:txBody>
      </p:sp>
      <p:sp>
        <p:nvSpPr>
          <p:cNvPr id="692" name="Google Shape;692;p16"/>
          <p:cNvSpPr/>
          <p:nvPr/>
        </p:nvSpPr>
        <p:spPr>
          <a:xfrm>
            <a:off x="4895850" y="4405313"/>
            <a:ext cx="3162300" cy="171450"/>
          </a:xfrm>
          <a:prstGeom prst="rect">
            <a:avLst/>
          </a:prstGeom>
          <a:solidFill>
            <a:srgbClr val="F2EEE6"/>
          </a:solidFill>
          <a:ln w="9525" cap="flat" cmpd="sng">
            <a:solidFill>
              <a:srgbClr val="D9D3C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93" name="Google Shape;693;p16"/>
          <p:cNvSpPr/>
          <p:nvPr/>
        </p:nvSpPr>
        <p:spPr>
          <a:xfrm>
            <a:off x="4905375" y="4414838"/>
            <a:ext cx="1748433" cy="152400"/>
          </a:xfrm>
          <a:prstGeom prst="rect">
            <a:avLst/>
          </a:prstGeom>
          <a:solidFill>
            <a:srgbClr val="0E3A5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94" name="Google Shape;694;p16"/>
          <p:cNvSpPr/>
          <p:nvPr/>
        </p:nvSpPr>
        <p:spPr>
          <a:xfrm>
            <a:off x="8115300" y="4367213"/>
            <a:ext cx="742950" cy="285750"/>
          </a:xfrm>
          <a:prstGeom prst="rect">
            <a:avLst/>
          </a:prstGeom>
          <a:noFill/>
          <a:ln>
            <a:noFill/>
          </a:ln>
        </p:spPr>
        <p:txBody>
          <a:bodyPr spcFirstLastPara="1" wrap="square" lIns="25400" tIns="25400" rIns="25400" bIns="25400" anchor="t" anchorCtr="0">
            <a:normAutofit/>
          </a:bodyPr>
          <a:lstStyle/>
          <a:p>
            <a:pPr marL="0" marR="0" lvl="0" indent="0" algn="r" rtl="0">
              <a:lnSpc>
                <a:spcPct val="110000"/>
              </a:lnSpc>
              <a:spcBef>
                <a:spcPts val="0"/>
              </a:spcBef>
              <a:spcAft>
                <a:spcPts val="0"/>
              </a:spcAft>
              <a:buClr>
                <a:srgbClr val="1C1B1A"/>
              </a:buClr>
              <a:buSzPts val="1387"/>
              <a:buFont typeface="Courier New"/>
              <a:buNone/>
            </a:pPr>
            <a:r>
              <a:rPr lang="en-US" sz="1388">
                <a:solidFill>
                  <a:srgbClr val="1C1B1A"/>
                </a:solidFill>
                <a:latin typeface="Courier New"/>
                <a:ea typeface="Courier New"/>
                <a:cs typeface="Courier New"/>
                <a:sym typeface="Courier New"/>
              </a:rPr>
              <a:t>0.089</a:t>
            </a:r>
            <a:endParaRPr sz="1388">
              <a:solidFill>
                <a:schemeClr val="dk1"/>
              </a:solidFill>
              <a:latin typeface="Calibri"/>
              <a:ea typeface="Calibri"/>
              <a:cs typeface="Calibri"/>
              <a:sym typeface="Calibri"/>
            </a:endParaRPr>
          </a:p>
        </p:txBody>
      </p:sp>
      <p:sp>
        <p:nvSpPr>
          <p:cNvPr id="695" name="Google Shape;695;p16"/>
          <p:cNvSpPr/>
          <p:nvPr/>
        </p:nvSpPr>
        <p:spPr>
          <a:xfrm>
            <a:off x="952500" y="4781550"/>
            <a:ext cx="323850" cy="352425"/>
          </a:xfrm>
          <a:prstGeom prst="rect">
            <a:avLst/>
          </a:prstGeom>
          <a:noFill/>
          <a:ln>
            <a:noFill/>
          </a:ln>
        </p:spPr>
        <p:txBody>
          <a:bodyPr spcFirstLastPara="1" wrap="square" lIns="25400" tIns="25400" rIns="25400" bIns="25400" anchor="t" anchorCtr="0">
            <a:normAutofit/>
          </a:bodyPr>
          <a:lstStyle/>
          <a:p>
            <a:pPr marL="0" marR="0" lvl="0" indent="0" algn="l" rtl="0">
              <a:lnSpc>
                <a:spcPct val="110000"/>
              </a:lnSpc>
              <a:spcBef>
                <a:spcPts val="0"/>
              </a:spcBef>
              <a:spcAft>
                <a:spcPts val="0"/>
              </a:spcAft>
              <a:buClr>
                <a:srgbClr val="0E3A53"/>
              </a:buClr>
              <a:buSzPts val="1803"/>
              <a:buFont typeface="Georgia"/>
              <a:buNone/>
            </a:pPr>
            <a:r>
              <a:rPr lang="en-US" sz="1804" b="1">
                <a:solidFill>
                  <a:srgbClr val="0E3A53"/>
                </a:solidFill>
                <a:latin typeface="Georgia"/>
                <a:ea typeface="Georgia"/>
                <a:cs typeface="Georgia"/>
                <a:sym typeface="Georgia"/>
              </a:rPr>
              <a:t>4</a:t>
            </a:r>
            <a:endParaRPr sz="1804">
              <a:solidFill>
                <a:schemeClr val="dk1"/>
              </a:solidFill>
              <a:latin typeface="Calibri"/>
              <a:ea typeface="Calibri"/>
              <a:cs typeface="Calibri"/>
              <a:sym typeface="Calibri"/>
            </a:endParaRPr>
          </a:p>
        </p:txBody>
      </p:sp>
      <p:sp>
        <p:nvSpPr>
          <p:cNvPr id="696" name="Google Shape;696;p16"/>
          <p:cNvSpPr/>
          <p:nvPr/>
        </p:nvSpPr>
        <p:spPr>
          <a:xfrm>
            <a:off x="1333500" y="4805363"/>
            <a:ext cx="3531870" cy="304800"/>
          </a:xfrm>
          <a:prstGeom prst="rect">
            <a:avLst/>
          </a:prstGeom>
          <a:noFill/>
          <a:ln>
            <a:noFill/>
          </a:ln>
        </p:spPr>
        <p:txBody>
          <a:bodyPr spcFirstLastPara="1" wrap="square" lIns="25400" tIns="25400" rIns="25400" bIns="25400" anchor="t" anchorCtr="0">
            <a:normAutofit/>
          </a:bodyPr>
          <a:lstStyle/>
          <a:p>
            <a:pPr marL="0" marR="0" lvl="0" indent="0" algn="l" rtl="0">
              <a:lnSpc>
                <a:spcPct val="110000"/>
              </a:lnSpc>
              <a:spcBef>
                <a:spcPts val="0"/>
              </a:spcBef>
              <a:spcAft>
                <a:spcPts val="0"/>
              </a:spcAft>
              <a:buClr>
                <a:srgbClr val="4B4845"/>
              </a:buClr>
              <a:buSzPts val="1526"/>
              <a:buFont typeface="Arial"/>
              <a:buNone/>
            </a:pPr>
            <a:r>
              <a:rPr lang="en-US" sz="1526">
                <a:solidFill>
                  <a:srgbClr val="4B4845"/>
                </a:solidFill>
                <a:latin typeface="Arial"/>
                <a:ea typeface="Arial"/>
                <a:cs typeface="Arial"/>
                <a:sym typeface="Arial"/>
              </a:rPr>
              <a:t>Curricular units 1st sem (grade)</a:t>
            </a:r>
            <a:endParaRPr sz="1526">
              <a:solidFill>
                <a:schemeClr val="dk1"/>
              </a:solidFill>
              <a:latin typeface="Calibri"/>
              <a:ea typeface="Calibri"/>
              <a:cs typeface="Calibri"/>
              <a:sym typeface="Calibri"/>
            </a:endParaRPr>
          </a:p>
        </p:txBody>
      </p:sp>
      <p:sp>
        <p:nvSpPr>
          <p:cNvPr id="697" name="Google Shape;697;p16"/>
          <p:cNvSpPr/>
          <p:nvPr/>
        </p:nvSpPr>
        <p:spPr>
          <a:xfrm>
            <a:off x="4895850" y="4852988"/>
            <a:ext cx="3162300" cy="171450"/>
          </a:xfrm>
          <a:prstGeom prst="rect">
            <a:avLst/>
          </a:prstGeom>
          <a:solidFill>
            <a:srgbClr val="F2EEE6"/>
          </a:solidFill>
          <a:ln w="9525" cap="flat" cmpd="sng">
            <a:solidFill>
              <a:srgbClr val="D9D3C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98" name="Google Shape;698;p16"/>
          <p:cNvSpPr/>
          <p:nvPr/>
        </p:nvSpPr>
        <p:spPr>
          <a:xfrm>
            <a:off x="4905375" y="4862513"/>
            <a:ext cx="1296591" cy="152400"/>
          </a:xfrm>
          <a:prstGeom prst="rect">
            <a:avLst/>
          </a:prstGeom>
          <a:solidFill>
            <a:srgbClr val="0E3A5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99" name="Google Shape;699;p16"/>
          <p:cNvSpPr/>
          <p:nvPr/>
        </p:nvSpPr>
        <p:spPr>
          <a:xfrm>
            <a:off x="8115300" y="4814888"/>
            <a:ext cx="742950" cy="285750"/>
          </a:xfrm>
          <a:prstGeom prst="rect">
            <a:avLst/>
          </a:prstGeom>
          <a:noFill/>
          <a:ln>
            <a:noFill/>
          </a:ln>
        </p:spPr>
        <p:txBody>
          <a:bodyPr spcFirstLastPara="1" wrap="square" lIns="25400" tIns="25400" rIns="25400" bIns="25400" anchor="t" anchorCtr="0">
            <a:normAutofit/>
          </a:bodyPr>
          <a:lstStyle/>
          <a:p>
            <a:pPr marL="0" marR="0" lvl="0" indent="0" algn="r" rtl="0">
              <a:lnSpc>
                <a:spcPct val="110000"/>
              </a:lnSpc>
              <a:spcBef>
                <a:spcPts val="0"/>
              </a:spcBef>
              <a:spcAft>
                <a:spcPts val="0"/>
              </a:spcAft>
              <a:buClr>
                <a:srgbClr val="1C1B1A"/>
              </a:buClr>
              <a:buSzPts val="1387"/>
              <a:buFont typeface="Courier New"/>
              <a:buNone/>
            </a:pPr>
            <a:r>
              <a:rPr lang="en-US" sz="1388">
                <a:solidFill>
                  <a:srgbClr val="1C1B1A"/>
                </a:solidFill>
                <a:latin typeface="Courier New"/>
                <a:ea typeface="Courier New"/>
                <a:cs typeface="Courier New"/>
                <a:sym typeface="Courier New"/>
              </a:rPr>
              <a:t>0.066</a:t>
            </a:r>
            <a:endParaRPr sz="1388">
              <a:solidFill>
                <a:schemeClr val="dk1"/>
              </a:solidFill>
              <a:latin typeface="Calibri"/>
              <a:ea typeface="Calibri"/>
              <a:cs typeface="Calibri"/>
              <a:sym typeface="Calibri"/>
            </a:endParaRPr>
          </a:p>
        </p:txBody>
      </p:sp>
      <p:sp>
        <p:nvSpPr>
          <p:cNvPr id="700" name="Google Shape;700;p16"/>
          <p:cNvSpPr/>
          <p:nvPr/>
        </p:nvSpPr>
        <p:spPr>
          <a:xfrm>
            <a:off x="952500" y="5229225"/>
            <a:ext cx="323850" cy="352425"/>
          </a:xfrm>
          <a:prstGeom prst="rect">
            <a:avLst/>
          </a:prstGeom>
          <a:noFill/>
          <a:ln>
            <a:noFill/>
          </a:ln>
        </p:spPr>
        <p:txBody>
          <a:bodyPr spcFirstLastPara="1" wrap="square" lIns="25400" tIns="25400" rIns="25400" bIns="25400" anchor="t" anchorCtr="0">
            <a:normAutofit/>
          </a:bodyPr>
          <a:lstStyle/>
          <a:p>
            <a:pPr marL="0" marR="0" lvl="0" indent="0" algn="l" rtl="0">
              <a:lnSpc>
                <a:spcPct val="110000"/>
              </a:lnSpc>
              <a:spcBef>
                <a:spcPts val="0"/>
              </a:spcBef>
              <a:spcAft>
                <a:spcPts val="0"/>
              </a:spcAft>
              <a:buClr>
                <a:srgbClr val="0E3A53"/>
              </a:buClr>
              <a:buSzPts val="1803"/>
              <a:buFont typeface="Georgia"/>
              <a:buNone/>
            </a:pPr>
            <a:r>
              <a:rPr lang="en-US" sz="1804" b="1">
                <a:solidFill>
                  <a:srgbClr val="0E3A53"/>
                </a:solidFill>
                <a:latin typeface="Georgia"/>
                <a:ea typeface="Georgia"/>
                <a:cs typeface="Georgia"/>
                <a:sym typeface="Georgia"/>
              </a:rPr>
              <a:t>5</a:t>
            </a:r>
            <a:endParaRPr sz="1804">
              <a:solidFill>
                <a:schemeClr val="dk1"/>
              </a:solidFill>
              <a:latin typeface="Calibri"/>
              <a:ea typeface="Calibri"/>
              <a:cs typeface="Calibri"/>
              <a:sym typeface="Calibri"/>
            </a:endParaRPr>
          </a:p>
        </p:txBody>
      </p:sp>
      <p:sp>
        <p:nvSpPr>
          <p:cNvPr id="701" name="Google Shape;701;p16"/>
          <p:cNvSpPr/>
          <p:nvPr/>
        </p:nvSpPr>
        <p:spPr>
          <a:xfrm>
            <a:off x="1333500" y="5253038"/>
            <a:ext cx="3531870" cy="304800"/>
          </a:xfrm>
          <a:prstGeom prst="rect">
            <a:avLst/>
          </a:prstGeom>
          <a:noFill/>
          <a:ln>
            <a:noFill/>
          </a:ln>
        </p:spPr>
        <p:txBody>
          <a:bodyPr spcFirstLastPara="1" wrap="square" lIns="25400" tIns="25400" rIns="25400" bIns="25400" anchor="t" anchorCtr="0">
            <a:normAutofit/>
          </a:bodyPr>
          <a:lstStyle/>
          <a:p>
            <a:pPr marL="0" marR="0" lvl="0" indent="0" algn="l" rtl="0">
              <a:lnSpc>
                <a:spcPct val="110000"/>
              </a:lnSpc>
              <a:spcBef>
                <a:spcPts val="0"/>
              </a:spcBef>
              <a:spcAft>
                <a:spcPts val="0"/>
              </a:spcAft>
              <a:buClr>
                <a:srgbClr val="4B4845"/>
              </a:buClr>
              <a:buSzPts val="1526"/>
              <a:buFont typeface="Arial"/>
              <a:buNone/>
            </a:pPr>
            <a:r>
              <a:rPr lang="en-US" sz="1526">
                <a:solidFill>
                  <a:srgbClr val="4B4845"/>
                </a:solidFill>
                <a:latin typeface="Arial"/>
                <a:ea typeface="Arial"/>
                <a:cs typeface="Arial"/>
                <a:sym typeface="Arial"/>
              </a:rPr>
              <a:t>Admission grade</a:t>
            </a:r>
            <a:endParaRPr sz="1526">
              <a:solidFill>
                <a:schemeClr val="dk1"/>
              </a:solidFill>
              <a:latin typeface="Calibri"/>
              <a:ea typeface="Calibri"/>
              <a:cs typeface="Calibri"/>
              <a:sym typeface="Calibri"/>
            </a:endParaRPr>
          </a:p>
        </p:txBody>
      </p:sp>
      <p:sp>
        <p:nvSpPr>
          <p:cNvPr id="702" name="Google Shape;702;p16"/>
          <p:cNvSpPr/>
          <p:nvPr/>
        </p:nvSpPr>
        <p:spPr>
          <a:xfrm>
            <a:off x="4895850" y="5300663"/>
            <a:ext cx="3162300" cy="171450"/>
          </a:xfrm>
          <a:prstGeom prst="rect">
            <a:avLst/>
          </a:prstGeom>
          <a:solidFill>
            <a:srgbClr val="F2EEE6"/>
          </a:solidFill>
          <a:ln w="9525" cap="flat" cmpd="sng">
            <a:solidFill>
              <a:srgbClr val="D9D3C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03" name="Google Shape;703;p16"/>
          <p:cNvSpPr/>
          <p:nvPr/>
        </p:nvSpPr>
        <p:spPr>
          <a:xfrm>
            <a:off x="4905375" y="5310188"/>
            <a:ext cx="864394" cy="152400"/>
          </a:xfrm>
          <a:prstGeom prst="rect">
            <a:avLst/>
          </a:prstGeom>
          <a:solidFill>
            <a:srgbClr val="0E3A5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04" name="Google Shape;704;p16"/>
          <p:cNvSpPr/>
          <p:nvPr/>
        </p:nvSpPr>
        <p:spPr>
          <a:xfrm>
            <a:off x="8115300" y="5262563"/>
            <a:ext cx="742950" cy="285750"/>
          </a:xfrm>
          <a:prstGeom prst="rect">
            <a:avLst/>
          </a:prstGeom>
          <a:noFill/>
          <a:ln>
            <a:noFill/>
          </a:ln>
        </p:spPr>
        <p:txBody>
          <a:bodyPr spcFirstLastPara="1" wrap="square" lIns="25400" tIns="25400" rIns="25400" bIns="25400" anchor="t" anchorCtr="0">
            <a:normAutofit/>
          </a:bodyPr>
          <a:lstStyle/>
          <a:p>
            <a:pPr marL="0" marR="0" lvl="0" indent="0" algn="r" rtl="0">
              <a:lnSpc>
                <a:spcPct val="110000"/>
              </a:lnSpc>
              <a:spcBef>
                <a:spcPts val="0"/>
              </a:spcBef>
              <a:spcAft>
                <a:spcPts val="0"/>
              </a:spcAft>
              <a:buClr>
                <a:srgbClr val="1C1B1A"/>
              </a:buClr>
              <a:buSzPts val="1387"/>
              <a:buFont typeface="Courier New"/>
              <a:buNone/>
            </a:pPr>
            <a:r>
              <a:rPr lang="en-US" sz="1388">
                <a:solidFill>
                  <a:srgbClr val="1C1B1A"/>
                </a:solidFill>
                <a:latin typeface="Courier New"/>
                <a:ea typeface="Courier New"/>
                <a:cs typeface="Courier New"/>
                <a:sym typeface="Courier New"/>
              </a:rPr>
              <a:t>0.044</a:t>
            </a:r>
            <a:endParaRPr sz="1388">
              <a:solidFill>
                <a:schemeClr val="dk1"/>
              </a:solidFill>
              <a:latin typeface="Calibri"/>
              <a:ea typeface="Calibri"/>
              <a:cs typeface="Calibri"/>
              <a:sym typeface="Calibri"/>
            </a:endParaRPr>
          </a:p>
        </p:txBody>
      </p:sp>
      <p:sp>
        <p:nvSpPr>
          <p:cNvPr id="705" name="Google Shape;705;p16"/>
          <p:cNvSpPr/>
          <p:nvPr/>
        </p:nvSpPr>
        <p:spPr>
          <a:xfrm>
            <a:off x="9429750" y="3248025"/>
            <a:ext cx="7905750" cy="19050"/>
          </a:xfrm>
          <a:prstGeom prst="rect">
            <a:avLst/>
          </a:prstGeom>
          <a:solidFill>
            <a:srgbClr val="B95D2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06" name="Google Shape;706;p16"/>
          <p:cNvSpPr/>
          <p:nvPr/>
        </p:nvSpPr>
        <p:spPr>
          <a:xfrm>
            <a:off x="9429750" y="2714625"/>
            <a:ext cx="2170579" cy="457200"/>
          </a:xfrm>
          <a:prstGeom prst="rect">
            <a:avLst/>
          </a:prstGeom>
          <a:noFill/>
          <a:ln>
            <a:noFill/>
          </a:ln>
        </p:spPr>
        <p:txBody>
          <a:bodyPr spcFirstLastPara="1" wrap="square" lIns="25400" tIns="25400" rIns="25400" bIns="25400" anchor="t" anchorCtr="0">
            <a:normAutofit/>
          </a:bodyPr>
          <a:lstStyle/>
          <a:p>
            <a:pPr marL="0" marR="0" lvl="0" indent="0" algn="l" rtl="0">
              <a:spcBef>
                <a:spcPts val="0"/>
              </a:spcBef>
              <a:spcAft>
                <a:spcPts val="0"/>
              </a:spcAft>
              <a:buClr>
                <a:srgbClr val="1C1B1A"/>
              </a:buClr>
              <a:buSzPts val="2400"/>
              <a:buFont typeface="Georgia"/>
              <a:buNone/>
            </a:pPr>
            <a:r>
              <a:rPr lang="en-US" sz="2400" b="1">
                <a:solidFill>
                  <a:srgbClr val="1C1B1A"/>
                </a:solidFill>
                <a:latin typeface="Georgia"/>
                <a:ea typeface="Georgia"/>
                <a:cs typeface="Georgia"/>
                <a:sym typeface="Georgia"/>
              </a:rPr>
              <a:t>XGBoost</a:t>
            </a:r>
            <a:endParaRPr sz="2400">
              <a:solidFill>
                <a:schemeClr val="dk1"/>
              </a:solidFill>
              <a:latin typeface="Calibri"/>
              <a:ea typeface="Calibri"/>
              <a:cs typeface="Calibri"/>
              <a:sym typeface="Calibri"/>
            </a:endParaRPr>
          </a:p>
        </p:txBody>
      </p:sp>
      <p:sp>
        <p:nvSpPr>
          <p:cNvPr id="707" name="Google Shape;707;p16"/>
          <p:cNvSpPr/>
          <p:nvPr/>
        </p:nvSpPr>
        <p:spPr>
          <a:xfrm>
            <a:off x="15030748" y="2886075"/>
            <a:ext cx="2380952" cy="22860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B95D2C"/>
              </a:buClr>
              <a:buSzPts val="1248"/>
              <a:buFont typeface="Courier New"/>
              <a:buNone/>
            </a:pPr>
            <a:r>
              <a:rPr lang="en-US" sz="1249">
                <a:solidFill>
                  <a:srgbClr val="B95D2C"/>
                </a:solidFill>
                <a:latin typeface="Courier New"/>
                <a:ea typeface="Courier New"/>
                <a:cs typeface="Courier New"/>
                <a:sym typeface="Courier New"/>
              </a:rPr>
              <a:t>GAIN-BASED IMPORTANCE</a:t>
            </a:r>
            <a:endParaRPr sz="1249">
              <a:solidFill>
                <a:schemeClr val="dk1"/>
              </a:solidFill>
              <a:latin typeface="Calibri"/>
              <a:ea typeface="Calibri"/>
              <a:cs typeface="Calibri"/>
              <a:sym typeface="Calibri"/>
            </a:endParaRPr>
          </a:p>
        </p:txBody>
      </p:sp>
      <p:sp>
        <p:nvSpPr>
          <p:cNvPr id="708" name="Google Shape;708;p16"/>
          <p:cNvSpPr/>
          <p:nvPr/>
        </p:nvSpPr>
        <p:spPr>
          <a:xfrm>
            <a:off x="9429750" y="3438525"/>
            <a:ext cx="323850" cy="352425"/>
          </a:xfrm>
          <a:prstGeom prst="rect">
            <a:avLst/>
          </a:prstGeom>
          <a:noFill/>
          <a:ln>
            <a:noFill/>
          </a:ln>
        </p:spPr>
        <p:txBody>
          <a:bodyPr spcFirstLastPara="1" wrap="square" lIns="25400" tIns="25400" rIns="25400" bIns="25400" anchor="t" anchorCtr="0">
            <a:normAutofit/>
          </a:bodyPr>
          <a:lstStyle/>
          <a:p>
            <a:pPr marL="0" marR="0" lvl="0" indent="0" algn="l" rtl="0">
              <a:lnSpc>
                <a:spcPct val="110000"/>
              </a:lnSpc>
              <a:spcBef>
                <a:spcPts val="0"/>
              </a:spcBef>
              <a:spcAft>
                <a:spcPts val="0"/>
              </a:spcAft>
              <a:buClr>
                <a:srgbClr val="B95D2C"/>
              </a:buClr>
              <a:buSzPts val="1803"/>
              <a:buFont typeface="Georgia"/>
              <a:buNone/>
            </a:pPr>
            <a:r>
              <a:rPr lang="en-US" sz="1804" b="1">
                <a:solidFill>
                  <a:srgbClr val="B95D2C"/>
                </a:solidFill>
                <a:latin typeface="Georgia"/>
                <a:ea typeface="Georgia"/>
                <a:cs typeface="Georgia"/>
                <a:sym typeface="Georgia"/>
              </a:rPr>
              <a:t>1</a:t>
            </a:r>
            <a:endParaRPr sz="1804">
              <a:solidFill>
                <a:schemeClr val="dk1"/>
              </a:solidFill>
              <a:latin typeface="Calibri"/>
              <a:ea typeface="Calibri"/>
              <a:cs typeface="Calibri"/>
              <a:sym typeface="Calibri"/>
            </a:endParaRPr>
          </a:p>
        </p:txBody>
      </p:sp>
      <p:sp>
        <p:nvSpPr>
          <p:cNvPr id="709" name="Google Shape;709;p16"/>
          <p:cNvSpPr/>
          <p:nvPr/>
        </p:nvSpPr>
        <p:spPr>
          <a:xfrm>
            <a:off x="9810750" y="3462338"/>
            <a:ext cx="3531870" cy="304800"/>
          </a:xfrm>
          <a:prstGeom prst="rect">
            <a:avLst/>
          </a:prstGeom>
          <a:noFill/>
          <a:ln>
            <a:noFill/>
          </a:ln>
        </p:spPr>
        <p:txBody>
          <a:bodyPr spcFirstLastPara="1" wrap="square" lIns="25400" tIns="25400" rIns="25400" bIns="25400" anchor="t" anchorCtr="0">
            <a:normAutofit/>
          </a:bodyPr>
          <a:lstStyle/>
          <a:p>
            <a:pPr marL="0" marR="0" lvl="0" indent="0" algn="l" rtl="0">
              <a:lnSpc>
                <a:spcPct val="110000"/>
              </a:lnSpc>
              <a:spcBef>
                <a:spcPts val="0"/>
              </a:spcBef>
              <a:spcAft>
                <a:spcPts val="0"/>
              </a:spcAft>
              <a:buClr>
                <a:srgbClr val="4B4845"/>
              </a:buClr>
              <a:buSzPts val="1526"/>
              <a:buFont typeface="Arial"/>
              <a:buNone/>
            </a:pPr>
            <a:r>
              <a:rPr lang="en-US" sz="1526">
                <a:solidFill>
                  <a:srgbClr val="4B4845"/>
                </a:solidFill>
                <a:latin typeface="Arial"/>
                <a:ea typeface="Arial"/>
                <a:cs typeface="Arial"/>
                <a:sym typeface="Arial"/>
              </a:rPr>
              <a:t>Curricular units 2nd sem (approved)</a:t>
            </a:r>
            <a:endParaRPr sz="1526">
              <a:solidFill>
                <a:schemeClr val="dk1"/>
              </a:solidFill>
              <a:latin typeface="Calibri"/>
              <a:ea typeface="Calibri"/>
              <a:cs typeface="Calibri"/>
              <a:sym typeface="Calibri"/>
            </a:endParaRPr>
          </a:p>
        </p:txBody>
      </p:sp>
      <p:sp>
        <p:nvSpPr>
          <p:cNvPr id="710" name="Google Shape;710;p16"/>
          <p:cNvSpPr/>
          <p:nvPr/>
        </p:nvSpPr>
        <p:spPr>
          <a:xfrm>
            <a:off x="13373100" y="3509963"/>
            <a:ext cx="3162300" cy="171450"/>
          </a:xfrm>
          <a:prstGeom prst="rect">
            <a:avLst/>
          </a:prstGeom>
          <a:solidFill>
            <a:srgbClr val="F2EEE6"/>
          </a:solidFill>
          <a:ln w="9525" cap="flat" cmpd="sng">
            <a:solidFill>
              <a:srgbClr val="D9D3C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11" name="Google Shape;711;p16"/>
          <p:cNvSpPr/>
          <p:nvPr/>
        </p:nvSpPr>
        <p:spPr>
          <a:xfrm>
            <a:off x="13382625" y="3519488"/>
            <a:ext cx="3071813" cy="152400"/>
          </a:xfrm>
          <a:prstGeom prst="rect">
            <a:avLst/>
          </a:prstGeom>
          <a:solidFill>
            <a:srgbClr val="B95D2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12" name="Google Shape;712;p16"/>
          <p:cNvSpPr/>
          <p:nvPr/>
        </p:nvSpPr>
        <p:spPr>
          <a:xfrm>
            <a:off x="16592550" y="3471863"/>
            <a:ext cx="742950" cy="285750"/>
          </a:xfrm>
          <a:prstGeom prst="rect">
            <a:avLst/>
          </a:prstGeom>
          <a:noFill/>
          <a:ln>
            <a:noFill/>
          </a:ln>
        </p:spPr>
        <p:txBody>
          <a:bodyPr spcFirstLastPara="1" wrap="square" lIns="25400" tIns="25400" rIns="25400" bIns="25400" anchor="t" anchorCtr="0">
            <a:normAutofit/>
          </a:bodyPr>
          <a:lstStyle/>
          <a:p>
            <a:pPr marL="0" marR="0" lvl="0" indent="0" algn="r" rtl="0">
              <a:lnSpc>
                <a:spcPct val="110000"/>
              </a:lnSpc>
              <a:spcBef>
                <a:spcPts val="0"/>
              </a:spcBef>
              <a:spcAft>
                <a:spcPts val="0"/>
              </a:spcAft>
              <a:buClr>
                <a:srgbClr val="1C1B1A"/>
              </a:buClr>
              <a:buSzPts val="1387"/>
              <a:buFont typeface="Courier New"/>
              <a:buNone/>
            </a:pPr>
            <a:r>
              <a:rPr lang="en-US" sz="1388">
                <a:solidFill>
                  <a:srgbClr val="1C1B1A"/>
                </a:solidFill>
                <a:latin typeface="Courier New"/>
                <a:ea typeface="Courier New"/>
                <a:cs typeface="Courier New"/>
                <a:sym typeface="Courier New"/>
              </a:rPr>
              <a:t>0.215</a:t>
            </a:r>
            <a:endParaRPr sz="1388">
              <a:solidFill>
                <a:schemeClr val="dk1"/>
              </a:solidFill>
              <a:latin typeface="Calibri"/>
              <a:ea typeface="Calibri"/>
              <a:cs typeface="Calibri"/>
              <a:sym typeface="Calibri"/>
            </a:endParaRPr>
          </a:p>
        </p:txBody>
      </p:sp>
      <p:sp>
        <p:nvSpPr>
          <p:cNvPr id="713" name="Google Shape;713;p16"/>
          <p:cNvSpPr/>
          <p:nvPr/>
        </p:nvSpPr>
        <p:spPr>
          <a:xfrm>
            <a:off x="9429750" y="3886200"/>
            <a:ext cx="323850" cy="352425"/>
          </a:xfrm>
          <a:prstGeom prst="rect">
            <a:avLst/>
          </a:prstGeom>
          <a:noFill/>
          <a:ln>
            <a:noFill/>
          </a:ln>
        </p:spPr>
        <p:txBody>
          <a:bodyPr spcFirstLastPara="1" wrap="square" lIns="25400" tIns="25400" rIns="25400" bIns="25400" anchor="t" anchorCtr="0">
            <a:normAutofit/>
          </a:bodyPr>
          <a:lstStyle/>
          <a:p>
            <a:pPr marL="0" marR="0" lvl="0" indent="0" algn="l" rtl="0">
              <a:lnSpc>
                <a:spcPct val="110000"/>
              </a:lnSpc>
              <a:spcBef>
                <a:spcPts val="0"/>
              </a:spcBef>
              <a:spcAft>
                <a:spcPts val="0"/>
              </a:spcAft>
              <a:buClr>
                <a:srgbClr val="B95D2C"/>
              </a:buClr>
              <a:buSzPts val="1803"/>
              <a:buFont typeface="Georgia"/>
              <a:buNone/>
            </a:pPr>
            <a:r>
              <a:rPr lang="en-US" sz="1804" b="1">
                <a:solidFill>
                  <a:srgbClr val="B95D2C"/>
                </a:solidFill>
                <a:latin typeface="Georgia"/>
                <a:ea typeface="Georgia"/>
                <a:cs typeface="Georgia"/>
                <a:sym typeface="Georgia"/>
              </a:rPr>
              <a:t>2</a:t>
            </a:r>
            <a:endParaRPr sz="1804">
              <a:solidFill>
                <a:schemeClr val="dk1"/>
              </a:solidFill>
              <a:latin typeface="Calibri"/>
              <a:ea typeface="Calibri"/>
              <a:cs typeface="Calibri"/>
              <a:sym typeface="Calibri"/>
            </a:endParaRPr>
          </a:p>
        </p:txBody>
      </p:sp>
      <p:sp>
        <p:nvSpPr>
          <p:cNvPr id="714" name="Google Shape;714;p16"/>
          <p:cNvSpPr/>
          <p:nvPr/>
        </p:nvSpPr>
        <p:spPr>
          <a:xfrm>
            <a:off x="9810750" y="3910013"/>
            <a:ext cx="3531870" cy="304800"/>
          </a:xfrm>
          <a:prstGeom prst="rect">
            <a:avLst/>
          </a:prstGeom>
          <a:noFill/>
          <a:ln>
            <a:noFill/>
          </a:ln>
        </p:spPr>
        <p:txBody>
          <a:bodyPr spcFirstLastPara="1" wrap="square" lIns="25400" tIns="25400" rIns="25400" bIns="25400" anchor="t" anchorCtr="0">
            <a:normAutofit/>
          </a:bodyPr>
          <a:lstStyle/>
          <a:p>
            <a:pPr marL="0" marR="0" lvl="0" indent="0" algn="l" rtl="0">
              <a:lnSpc>
                <a:spcPct val="110000"/>
              </a:lnSpc>
              <a:spcBef>
                <a:spcPts val="0"/>
              </a:spcBef>
              <a:spcAft>
                <a:spcPts val="0"/>
              </a:spcAft>
              <a:buClr>
                <a:srgbClr val="4B4845"/>
              </a:buClr>
              <a:buSzPts val="1526"/>
              <a:buFont typeface="Arial"/>
              <a:buNone/>
            </a:pPr>
            <a:r>
              <a:rPr lang="en-US" sz="1526">
                <a:solidFill>
                  <a:srgbClr val="4B4845"/>
                </a:solidFill>
                <a:latin typeface="Arial"/>
                <a:ea typeface="Arial"/>
                <a:cs typeface="Arial"/>
                <a:sym typeface="Arial"/>
              </a:rPr>
              <a:t>Tuition fees up to date</a:t>
            </a:r>
            <a:endParaRPr sz="1526">
              <a:solidFill>
                <a:schemeClr val="dk1"/>
              </a:solidFill>
              <a:latin typeface="Calibri"/>
              <a:ea typeface="Calibri"/>
              <a:cs typeface="Calibri"/>
              <a:sym typeface="Calibri"/>
            </a:endParaRPr>
          </a:p>
        </p:txBody>
      </p:sp>
      <p:sp>
        <p:nvSpPr>
          <p:cNvPr id="715" name="Google Shape;715;p16"/>
          <p:cNvSpPr/>
          <p:nvPr/>
        </p:nvSpPr>
        <p:spPr>
          <a:xfrm>
            <a:off x="13373100" y="3957638"/>
            <a:ext cx="3162300" cy="171450"/>
          </a:xfrm>
          <a:prstGeom prst="rect">
            <a:avLst/>
          </a:prstGeom>
          <a:solidFill>
            <a:srgbClr val="F2EEE6"/>
          </a:solidFill>
          <a:ln w="9525" cap="flat" cmpd="sng">
            <a:solidFill>
              <a:srgbClr val="D9D3C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16" name="Google Shape;716;p16"/>
          <p:cNvSpPr/>
          <p:nvPr/>
        </p:nvSpPr>
        <p:spPr>
          <a:xfrm>
            <a:off x="13382625" y="3967163"/>
            <a:ext cx="1671638" cy="152400"/>
          </a:xfrm>
          <a:prstGeom prst="rect">
            <a:avLst/>
          </a:prstGeom>
          <a:solidFill>
            <a:srgbClr val="B95D2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17" name="Google Shape;717;p16"/>
          <p:cNvSpPr/>
          <p:nvPr/>
        </p:nvSpPr>
        <p:spPr>
          <a:xfrm>
            <a:off x="16592550" y="3919537"/>
            <a:ext cx="742950" cy="285750"/>
          </a:xfrm>
          <a:prstGeom prst="rect">
            <a:avLst/>
          </a:prstGeom>
          <a:noFill/>
          <a:ln>
            <a:noFill/>
          </a:ln>
        </p:spPr>
        <p:txBody>
          <a:bodyPr spcFirstLastPara="1" wrap="square" lIns="25400" tIns="25400" rIns="25400" bIns="25400" anchor="t" anchorCtr="0">
            <a:normAutofit/>
          </a:bodyPr>
          <a:lstStyle/>
          <a:p>
            <a:pPr marL="0" marR="0" lvl="0" indent="0" algn="r" rtl="0">
              <a:lnSpc>
                <a:spcPct val="110000"/>
              </a:lnSpc>
              <a:spcBef>
                <a:spcPts val="0"/>
              </a:spcBef>
              <a:spcAft>
                <a:spcPts val="0"/>
              </a:spcAft>
              <a:buClr>
                <a:srgbClr val="1C1B1A"/>
              </a:buClr>
              <a:buSzPts val="1387"/>
              <a:buFont typeface="Courier New"/>
              <a:buNone/>
            </a:pPr>
            <a:r>
              <a:rPr lang="en-US" sz="1388">
                <a:solidFill>
                  <a:srgbClr val="1C1B1A"/>
                </a:solidFill>
                <a:latin typeface="Courier New"/>
                <a:ea typeface="Courier New"/>
                <a:cs typeface="Courier New"/>
                <a:sym typeface="Courier New"/>
              </a:rPr>
              <a:t>0.117</a:t>
            </a:r>
            <a:endParaRPr sz="1388">
              <a:solidFill>
                <a:schemeClr val="dk1"/>
              </a:solidFill>
              <a:latin typeface="Calibri"/>
              <a:ea typeface="Calibri"/>
              <a:cs typeface="Calibri"/>
              <a:sym typeface="Calibri"/>
            </a:endParaRPr>
          </a:p>
        </p:txBody>
      </p:sp>
      <p:sp>
        <p:nvSpPr>
          <p:cNvPr id="718" name="Google Shape;718;p16"/>
          <p:cNvSpPr/>
          <p:nvPr/>
        </p:nvSpPr>
        <p:spPr>
          <a:xfrm>
            <a:off x="9429750" y="4333875"/>
            <a:ext cx="323850" cy="352425"/>
          </a:xfrm>
          <a:prstGeom prst="rect">
            <a:avLst/>
          </a:prstGeom>
          <a:noFill/>
          <a:ln>
            <a:noFill/>
          </a:ln>
        </p:spPr>
        <p:txBody>
          <a:bodyPr spcFirstLastPara="1" wrap="square" lIns="25400" tIns="25400" rIns="25400" bIns="25400" anchor="t" anchorCtr="0">
            <a:normAutofit/>
          </a:bodyPr>
          <a:lstStyle/>
          <a:p>
            <a:pPr marL="0" marR="0" lvl="0" indent="0" algn="l" rtl="0">
              <a:lnSpc>
                <a:spcPct val="110000"/>
              </a:lnSpc>
              <a:spcBef>
                <a:spcPts val="0"/>
              </a:spcBef>
              <a:spcAft>
                <a:spcPts val="0"/>
              </a:spcAft>
              <a:buClr>
                <a:srgbClr val="B95D2C"/>
              </a:buClr>
              <a:buSzPts val="1803"/>
              <a:buFont typeface="Georgia"/>
              <a:buNone/>
            </a:pPr>
            <a:r>
              <a:rPr lang="en-US" sz="1804" b="1">
                <a:solidFill>
                  <a:srgbClr val="B95D2C"/>
                </a:solidFill>
                <a:latin typeface="Georgia"/>
                <a:ea typeface="Georgia"/>
                <a:cs typeface="Georgia"/>
                <a:sym typeface="Georgia"/>
              </a:rPr>
              <a:t>3</a:t>
            </a:r>
            <a:endParaRPr sz="1804">
              <a:solidFill>
                <a:schemeClr val="dk1"/>
              </a:solidFill>
              <a:latin typeface="Calibri"/>
              <a:ea typeface="Calibri"/>
              <a:cs typeface="Calibri"/>
              <a:sym typeface="Calibri"/>
            </a:endParaRPr>
          </a:p>
        </p:txBody>
      </p:sp>
      <p:sp>
        <p:nvSpPr>
          <p:cNvPr id="719" name="Google Shape;719;p16"/>
          <p:cNvSpPr/>
          <p:nvPr/>
        </p:nvSpPr>
        <p:spPr>
          <a:xfrm>
            <a:off x="9810750" y="4357688"/>
            <a:ext cx="3531870" cy="304800"/>
          </a:xfrm>
          <a:prstGeom prst="rect">
            <a:avLst/>
          </a:prstGeom>
          <a:noFill/>
          <a:ln>
            <a:noFill/>
          </a:ln>
        </p:spPr>
        <p:txBody>
          <a:bodyPr spcFirstLastPara="1" wrap="square" lIns="25400" tIns="25400" rIns="25400" bIns="25400" anchor="t" anchorCtr="0">
            <a:normAutofit/>
          </a:bodyPr>
          <a:lstStyle/>
          <a:p>
            <a:pPr marL="0" marR="0" lvl="0" indent="0" algn="l" rtl="0">
              <a:lnSpc>
                <a:spcPct val="110000"/>
              </a:lnSpc>
              <a:spcBef>
                <a:spcPts val="0"/>
              </a:spcBef>
              <a:spcAft>
                <a:spcPts val="0"/>
              </a:spcAft>
              <a:buClr>
                <a:srgbClr val="4B4845"/>
              </a:buClr>
              <a:buSzPts val="1526"/>
              <a:buFont typeface="Arial"/>
              <a:buNone/>
            </a:pPr>
            <a:r>
              <a:rPr lang="en-US" sz="1526">
                <a:solidFill>
                  <a:srgbClr val="4B4845"/>
                </a:solidFill>
                <a:latin typeface="Arial"/>
                <a:ea typeface="Arial"/>
                <a:cs typeface="Arial"/>
                <a:sym typeface="Arial"/>
              </a:rPr>
              <a:t>Curricular units 1st sem (enrolled)</a:t>
            </a:r>
            <a:endParaRPr sz="1526">
              <a:solidFill>
                <a:schemeClr val="dk1"/>
              </a:solidFill>
              <a:latin typeface="Calibri"/>
              <a:ea typeface="Calibri"/>
              <a:cs typeface="Calibri"/>
              <a:sym typeface="Calibri"/>
            </a:endParaRPr>
          </a:p>
        </p:txBody>
      </p:sp>
      <p:sp>
        <p:nvSpPr>
          <p:cNvPr id="720" name="Google Shape;720;p16"/>
          <p:cNvSpPr/>
          <p:nvPr/>
        </p:nvSpPr>
        <p:spPr>
          <a:xfrm>
            <a:off x="13373100" y="4405313"/>
            <a:ext cx="3162300" cy="171450"/>
          </a:xfrm>
          <a:prstGeom prst="rect">
            <a:avLst/>
          </a:prstGeom>
          <a:solidFill>
            <a:srgbClr val="F2EEE6"/>
          </a:solidFill>
          <a:ln w="9525" cap="flat" cmpd="sng">
            <a:solidFill>
              <a:srgbClr val="D9D3C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21" name="Google Shape;721;p16"/>
          <p:cNvSpPr/>
          <p:nvPr/>
        </p:nvSpPr>
        <p:spPr>
          <a:xfrm>
            <a:off x="13382625" y="4414838"/>
            <a:ext cx="742950" cy="152400"/>
          </a:xfrm>
          <a:prstGeom prst="rect">
            <a:avLst/>
          </a:prstGeom>
          <a:solidFill>
            <a:srgbClr val="B95D2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22" name="Google Shape;722;p16"/>
          <p:cNvSpPr/>
          <p:nvPr/>
        </p:nvSpPr>
        <p:spPr>
          <a:xfrm>
            <a:off x="16592550" y="4367213"/>
            <a:ext cx="742950" cy="285750"/>
          </a:xfrm>
          <a:prstGeom prst="rect">
            <a:avLst/>
          </a:prstGeom>
          <a:noFill/>
          <a:ln>
            <a:noFill/>
          </a:ln>
        </p:spPr>
        <p:txBody>
          <a:bodyPr spcFirstLastPara="1" wrap="square" lIns="25400" tIns="25400" rIns="25400" bIns="25400" anchor="t" anchorCtr="0">
            <a:normAutofit/>
          </a:bodyPr>
          <a:lstStyle/>
          <a:p>
            <a:pPr marL="0" marR="0" lvl="0" indent="0" algn="r" rtl="0">
              <a:lnSpc>
                <a:spcPct val="110000"/>
              </a:lnSpc>
              <a:spcBef>
                <a:spcPts val="0"/>
              </a:spcBef>
              <a:spcAft>
                <a:spcPts val="0"/>
              </a:spcAft>
              <a:buClr>
                <a:srgbClr val="1C1B1A"/>
              </a:buClr>
              <a:buSzPts val="1387"/>
              <a:buFont typeface="Courier New"/>
              <a:buNone/>
            </a:pPr>
            <a:r>
              <a:rPr lang="en-US" sz="1388">
                <a:solidFill>
                  <a:srgbClr val="1C1B1A"/>
                </a:solidFill>
                <a:latin typeface="Courier New"/>
                <a:ea typeface="Courier New"/>
                <a:cs typeface="Courier New"/>
                <a:sym typeface="Courier New"/>
              </a:rPr>
              <a:t>0.052</a:t>
            </a:r>
            <a:endParaRPr sz="1388">
              <a:solidFill>
                <a:schemeClr val="dk1"/>
              </a:solidFill>
              <a:latin typeface="Calibri"/>
              <a:ea typeface="Calibri"/>
              <a:cs typeface="Calibri"/>
              <a:sym typeface="Calibri"/>
            </a:endParaRPr>
          </a:p>
        </p:txBody>
      </p:sp>
      <p:sp>
        <p:nvSpPr>
          <p:cNvPr id="723" name="Google Shape;723;p16"/>
          <p:cNvSpPr/>
          <p:nvPr/>
        </p:nvSpPr>
        <p:spPr>
          <a:xfrm>
            <a:off x="9429750" y="4781550"/>
            <a:ext cx="323850" cy="352425"/>
          </a:xfrm>
          <a:prstGeom prst="rect">
            <a:avLst/>
          </a:prstGeom>
          <a:noFill/>
          <a:ln>
            <a:noFill/>
          </a:ln>
        </p:spPr>
        <p:txBody>
          <a:bodyPr spcFirstLastPara="1" wrap="square" lIns="25400" tIns="25400" rIns="25400" bIns="25400" anchor="t" anchorCtr="0">
            <a:normAutofit/>
          </a:bodyPr>
          <a:lstStyle/>
          <a:p>
            <a:pPr marL="0" marR="0" lvl="0" indent="0" algn="l" rtl="0">
              <a:lnSpc>
                <a:spcPct val="110000"/>
              </a:lnSpc>
              <a:spcBef>
                <a:spcPts val="0"/>
              </a:spcBef>
              <a:spcAft>
                <a:spcPts val="0"/>
              </a:spcAft>
              <a:buClr>
                <a:srgbClr val="B95D2C"/>
              </a:buClr>
              <a:buSzPts val="1803"/>
              <a:buFont typeface="Georgia"/>
              <a:buNone/>
            </a:pPr>
            <a:r>
              <a:rPr lang="en-US" sz="1804" b="1">
                <a:solidFill>
                  <a:srgbClr val="B95D2C"/>
                </a:solidFill>
                <a:latin typeface="Georgia"/>
                <a:ea typeface="Georgia"/>
                <a:cs typeface="Georgia"/>
                <a:sym typeface="Georgia"/>
              </a:rPr>
              <a:t>4</a:t>
            </a:r>
            <a:endParaRPr sz="1804">
              <a:solidFill>
                <a:schemeClr val="dk1"/>
              </a:solidFill>
              <a:latin typeface="Calibri"/>
              <a:ea typeface="Calibri"/>
              <a:cs typeface="Calibri"/>
              <a:sym typeface="Calibri"/>
            </a:endParaRPr>
          </a:p>
        </p:txBody>
      </p:sp>
      <p:sp>
        <p:nvSpPr>
          <p:cNvPr id="724" name="Google Shape;724;p16"/>
          <p:cNvSpPr/>
          <p:nvPr/>
        </p:nvSpPr>
        <p:spPr>
          <a:xfrm>
            <a:off x="9810750" y="4805363"/>
            <a:ext cx="3531870" cy="304800"/>
          </a:xfrm>
          <a:prstGeom prst="rect">
            <a:avLst/>
          </a:prstGeom>
          <a:noFill/>
          <a:ln>
            <a:noFill/>
          </a:ln>
        </p:spPr>
        <p:txBody>
          <a:bodyPr spcFirstLastPara="1" wrap="square" lIns="25400" tIns="25400" rIns="25400" bIns="25400" anchor="t" anchorCtr="0">
            <a:normAutofit/>
          </a:bodyPr>
          <a:lstStyle/>
          <a:p>
            <a:pPr marL="0" marR="0" lvl="0" indent="0" algn="l" rtl="0">
              <a:lnSpc>
                <a:spcPct val="110000"/>
              </a:lnSpc>
              <a:spcBef>
                <a:spcPts val="0"/>
              </a:spcBef>
              <a:spcAft>
                <a:spcPts val="0"/>
              </a:spcAft>
              <a:buClr>
                <a:srgbClr val="4B4845"/>
              </a:buClr>
              <a:buSzPts val="1526"/>
              <a:buFont typeface="Arial"/>
              <a:buNone/>
            </a:pPr>
            <a:r>
              <a:rPr lang="en-US" sz="1526">
                <a:solidFill>
                  <a:srgbClr val="4B4845"/>
                </a:solidFill>
                <a:latin typeface="Arial"/>
                <a:ea typeface="Arial"/>
                <a:cs typeface="Arial"/>
                <a:sym typeface="Arial"/>
              </a:rPr>
              <a:t>Curricular units 2nd sem (enrolled)</a:t>
            </a:r>
            <a:endParaRPr sz="1526">
              <a:solidFill>
                <a:schemeClr val="dk1"/>
              </a:solidFill>
              <a:latin typeface="Calibri"/>
              <a:ea typeface="Calibri"/>
              <a:cs typeface="Calibri"/>
              <a:sym typeface="Calibri"/>
            </a:endParaRPr>
          </a:p>
        </p:txBody>
      </p:sp>
      <p:sp>
        <p:nvSpPr>
          <p:cNvPr id="725" name="Google Shape;725;p16"/>
          <p:cNvSpPr/>
          <p:nvPr/>
        </p:nvSpPr>
        <p:spPr>
          <a:xfrm>
            <a:off x="13373100" y="4852988"/>
            <a:ext cx="3162300" cy="171450"/>
          </a:xfrm>
          <a:prstGeom prst="rect">
            <a:avLst/>
          </a:prstGeom>
          <a:solidFill>
            <a:srgbClr val="F2EEE6"/>
          </a:solidFill>
          <a:ln w="9525" cap="flat" cmpd="sng">
            <a:solidFill>
              <a:srgbClr val="D9D3C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26" name="Google Shape;726;p16"/>
          <p:cNvSpPr/>
          <p:nvPr/>
        </p:nvSpPr>
        <p:spPr>
          <a:xfrm>
            <a:off x="13382625" y="4862513"/>
            <a:ext cx="542925" cy="152400"/>
          </a:xfrm>
          <a:prstGeom prst="rect">
            <a:avLst/>
          </a:prstGeom>
          <a:solidFill>
            <a:srgbClr val="B95D2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27" name="Google Shape;727;p16"/>
          <p:cNvSpPr/>
          <p:nvPr/>
        </p:nvSpPr>
        <p:spPr>
          <a:xfrm>
            <a:off x="16592550" y="4814888"/>
            <a:ext cx="742950" cy="285750"/>
          </a:xfrm>
          <a:prstGeom prst="rect">
            <a:avLst/>
          </a:prstGeom>
          <a:noFill/>
          <a:ln>
            <a:noFill/>
          </a:ln>
        </p:spPr>
        <p:txBody>
          <a:bodyPr spcFirstLastPara="1" wrap="square" lIns="25400" tIns="25400" rIns="25400" bIns="25400" anchor="t" anchorCtr="0">
            <a:normAutofit/>
          </a:bodyPr>
          <a:lstStyle/>
          <a:p>
            <a:pPr marL="0" marR="0" lvl="0" indent="0" algn="r" rtl="0">
              <a:lnSpc>
                <a:spcPct val="110000"/>
              </a:lnSpc>
              <a:spcBef>
                <a:spcPts val="0"/>
              </a:spcBef>
              <a:spcAft>
                <a:spcPts val="0"/>
              </a:spcAft>
              <a:buClr>
                <a:srgbClr val="1C1B1A"/>
              </a:buClr>
              <a:buSzPts val="1387"/>
              <a:buFont typeface="Courier New"/>
              <a:buNone/>
            </a:pPr>
            <a:r>
              <a:rPr lang="en-US" sz="1388">
                <a:solidFill>
                  <a:srgbClr val="1C1B1A"/>
                </a:solidFill>
                <a:latin typeface="Courier New"/>
                <a:ea typeface="Courier New"/>
                <a:cs typeface="Courier New"/>
                <a:sym typeface="Courier New"/>
              </a:rPr>
              <a:t>0.038</a:t>
            </a:r>
            <a:endParaRPr sz="1388">
              <a:solidFill>
                <a:schemeClr val="dk1"/>
              </a:solidFill>
              <a:latin typeface="Calibri"/>
              <a:ea typeface="Calibri"/>
              <a:cs typeface="Calibri"/>
              <a:sym typeface="Calibri"/>
            </a:endParaRPr>
          </a:p>
        </p:txBody>
      </p:sp>
      <p:sp>
        <p:nvSpPr>
          <p:cNvPr id="728" name="Google Shape;728;p16"/>
          <p:cNvSpPr/>
          <p:nvPr/>
        </p:nvSpPr>
        <p:spPr>
          <a:xfrm>
            <a:off x="9429750" y="5229225"/>
            <a:ext cx="323850" cy="352425"/>
          </a:xfrm>
          <a:prstGeom prst="rect">
            <a:avLst/>
          </a:prstGeom>
          <a:noFill/>
          <a:ln>
            <a:noFill/>
          </a:ln>
        </p:spPr>
        <p:txBody>
          <a:bodyPr spcFirstLastPara="1" wrap="square" lIns="25400" tIns="25400" rIns="25400" bIns="25400" anchor="t" anchorCtr="0">
            <a:normAutofit/>
          </a:bodyPr>
          <a:lstStyle/>
          <a:p>
            <a:pPr marL="0" marR="0" lvl="0" indent="0" algn="l" rtl="0">
              <a:lnSpc>
                <a:spcPct val="110000"/>
              </a:lnSpc>
              <a:spcBef>
                <a:spcPts val="0"/>
              </a:spcBef>
              <a:spcAft>
                <a:spcPts val="0"/>
              </a:spcAft>
              <a:buClr>
                <a:srgbClr val="B95D2C"/>
              </a:buClr>
              <a:buSzPts val="1803"/>
              <a:buFont typeface="Georgia"/>
              <a:buNone/>
            </a:pPr>
            <a:r>
              <a:rPr lang="en-US" sz="1804" b="1">
                <a:solidFill>
                  <a:srgbClr val="B95D2C"/>
                </a:solidFill>
                <a:latin typeface="Georgia"/>
                <a:ea typeface="Georgia"/>
                <a:cs typeface="Georgia"/>
                <a:sym typeface="Georgia"/>
              </a:rPr>
              <a:t>5</a:t>
            </a:r>
            <a:endParaRPr sz="1804">
              <a:solidFill>
                <a:schemeClr val="dk1"/>
              </a:solidFill>
              <a:latin typeface="Calibri"/>
              <a:ea typeface="Calibri"/>
              <a:cs typeface="Calibri"/>
              <a:sym typeface="Calibri"/>
            </a:endParaRPr>
          </a:p>
        </p:txBody>
      </p:sp>
      <p:sp>
        <p:nvSpPr>
          <p:cNvPr id="729" name="Google Shape;729;p16"/>
          <p:cNvSpPr/>
          <p:nvPr/>
        </p:nvSpPr>
        <p:spPr>
          <a:xfrm>
            <a:off x="9810750" y="5253038"/>
            <a:ext cx="3531870" cy="304800"/>
          </a:xfrm>
          <a:prstGeom prst="rect">
            <a:avLst/>
          </a:prstGeom>
          <a:noFill/>
          <a:ln>
            <a:noFill/>
          </a:ln>
        </p:spPr>
        <p:txBody>
          <a:bodyPr spcFirstLastPara="1" wrap="square" lIns="25400" tIns="25400" rIns="25400" bIns="25400" anchor="t" anchorCtr="0">
            <a:normAutofit/>
          </a:bodyPr>
          <a:lstStyle/>
          <a:p>
            <a:pPr marL="0" marR="0" lvl="0" indent="0" algn="l" rtl="0">
              <a:lnSpc>
                <a:spcPct val="110000"/>
              </a:lnSpc>
              <a:spcBef>
                <a:spcPts val="0"/>
              </a:spcBef>
              <a:spcAft>
                <a:spcPts val="0"/>
              </a:spcAft>
              <a:buClr>
                <a:srgbClr val="4B4845"/>
              </a:buClr>
              <a:buSzPts val="1526"/>
              <a:buFont typeface="Arial"/>
              <a:buNone/>
            </a:pPr>
            <a:r>
              <a:rPr lang="en-US" sz="1526">
                <a:solidFill>
                  <a:srgbClr val="4B4845"/>
                </a:solidFill>
                <a:latin typeface="Arial"/>
                <a:ea typeface="Arial"/>
                <a:cs typeface="Arial"/>
                <a:sym typeface="Arial"/>
              </a:rPr>
              <a:t>Scholarship holder</a:t>
            </a:r>
            <a:endParaRPr sz="1526">
              <a:solidFill>
                <a:schemeClr val="dk1"/>
              </a:solidFill>
              <a:latin typeface="Calibri"/>
              <a:ea typeface="Calibri"/>
              <a:cs typeface="Calibri"/>
              <a:sym typeface="Calibri"/>
            </a:endParaRPr>
          </a:p>
        </p:txBody>
      </p:sp>
      <p:sp>
        <p:nvSpPr>
          <p:cNvPr id="730" name="Google Shape;730;p16"/>
          <p:cNvSpPr/>
          <p:nvPr/>
        </p:nvSpPr>
        <p:spPr>
          <a:xfrm>
            <a:off x="13373100" y="5300663"/>
            <a:ext cx="3162300" cy="171450"/>
          </a:xfrm>
          <a:prstGeom prst="rect">
            <a:avLst/>
          </a:prstGeom>
          <a:solidFill>
            <a:srgbClr val="F2EEE6"/>
          </a:solidFill>
          <a:ln w="9525" cap="flat" cmpd="sng">
            <a:solidFill>
              <a:srgbClr val="D9D3C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31" name="Google Shape;731;p16"/>
          <p:cNvSpPr/>
          <p:nvPr/>
        </p:nvSpPr>
        <p:spPr>
          <a:xfrm>
            <a:off x="13382625" y="5310188"/>
            <a:ext cx="457200" cy="152400"/>
          </a:xfrm>
          <a:prstGeom prst="rect">
            <a:avLst/>
          </a:prstGeom>
          <a:solidFill>
            <a:srgbClr val="B95D2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32" name="Google Shape;732;p16"/>
          <p:cNvSpPr/>
          <p:nvPr/>
        </p:nvSpPr>
        <p:spPr>
          <a:xfrm>
            <a:off x="16592550" y="5262563"/>
            <a:ext cx="742950" cy="285750"/>
          </a:xfrm>
          <a:prstGeom prst="rect">
            <a:avLst/>
          </a:prstGeom>
          <a:noFill/>
          <a:ln>
            <a:noFill/>
          </a:ln>
        </p:spPr>
        <p:txBody>
          <a:bodyPr spcFirstLastPara="1" wrap="square" lIns="25400" tIns="25400" rIns="25400" bIns="25400" anchor="t" anchorCtr="0">
            <a:normAutofit/>
          </a:bodyPr>
          <a:lstStyle/>
          <a:p>
            <a:pPr marL="0" marR="0" lvl="0" indent="0" algn="r" rtl="0">
              <a:lnSpc>
                <a:spcPct val="110000"/>
              </a:lnSpc>
              <a:spcBef>
                <a:spcPts val="0"/>
              </a:spcBef>
              <a:spcAft>
                <a:spcPts val="0"/>
              </a:spcAft>
              <a:buClr>
                <a:srgbClr val="1C1B1A"/>
              </a:buClr>
              <a:buSzPts val="1387"/>
              <a:buFont typeface="Courier New"/>
              <a:buNone/>
            </a:pPr>
            <a:r>
              <a:rPr lang="en-US" sz="1388">
                <a:solidFill>
                  <a:srgbClr val="1C1B1A"/>
                </a:solidFill>
                <a:latin typeface="Courier New"/>
                <a:ea typeface="Courier New"/>
                <a:cs typeface="Courier New"/>
                <a:sym typeface="Courier New"/>
              </a:rPr>
              <a:t>0.032</a:t>
            </a:r>
            <a:endParaRPr sz="1388">
              <a:solidFill>
                <a:schemeClr val="dk1"/>
              </a:solidFill>
              <a:latin typeface="Calibri"/>
              <a:ea typeface="Calibri"/>
              <a:cs typeface="Calibri"/>
              <a:sym typeface="Calibri"/>
            </a:endParaRPr>
          </a:p>
        </p:txBody>
      </p:sp>
      <p:sp>
        <p:nvSpPr>
          <p:cNvPr id="733" name="Google Shape;733;p16"/>
          <p:cNvSpPr/>
          <p:nvPr/>
        </p:nvSpPr>
        <p:spPr>
          <a:xfrm>
            <a:off x="952500" y="5924550"/>
            <a:ext cx="16383000" cy="1104900"/>
          </a:xfrm>
          <a:prstGeom prst="rect">
            <a:avLst/>
          </a:prstGeom>
          <a:solidFill>
            <a:srgbClr val="F2EEE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34" name="Google Shape;734;p16"/>
          <p:cNvSpPr/>
          <p:nvPr/>
        </p:nvSpPr>
        <p:spPr>
          <a:xfrm>
            <a:off x="952500" y="5924550"/>
            <a:ext cx="38100" cy="1104900"/>
          </a:xfrm>
          <a:prstGeom prst="rect">
            <a:avLst/>
          </a:prstGeom>
          <a:solidFill>
            <a:srgbClr val="1D9E7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35" name="Google Shape;735;p16"/>
          <p:cNvSpPr/>
          <p:nvPr/>
        </p:nvSpPr>
        <p:spPr>
          <a:xfrm>
            <a:off x="1257300" y="6153150"/>
            <a:ext cx="16302990" cy="685800"/>
          </a:xfrm>
          <a:prstGeom prst="rect">
            <a:avLst/>
          </a:prstGeom>
          <a:noFill/>
          <a:ln>
            <a:noFill/>
          </a:ln>
        </p:spPr>
        <p:txBody>
          <a:bodyPr spcFirstLastPara="1" wrap="square" lIns="25400" tIns="25400" rIns="25400" bIns="25400" anchor="t" anchorCtr="0">
            <a:normAutofit/>
          </a:bodyPr>
          <a:lstStyle/>
          <a:p>
            <a:pPr marL="0" marR="0" lvl="0" indent="0" algn="l" rtl="0">
              <a:lnSpc>
                <a:spcPct val="125000"/>
              </a:lnSpc>
              <a:spcBef>
                <a:spcPts val="0"/>
              </a:spcBef>
              <a:spcAft>
                <a:spcPts val="0"/>
              </a:spcAft>
              <a:buClr>
                <a:srgbClr val="1C1B1A"/>
              </a:buClr>
              <a:buSzPts val="1665"/>
              <a:buFont typeface="Arial"/>
              <a:buNone/>
            </a:pPr>
            <a:r>
              <a:rPr lang="en-US" sz="1665">
                <a:solidFill>
                  <a:srgbClr val="1C1B1A"/>
                </a:solidFill>
                <a:latin typeface="Arial"/>
                <a:ea typeface="Arial"/>
                <a:cs typeface="Arial"/>
                <a:sym typeface="Arial"/>
              </a:rPr>
              <a:t>Both models converge on 2nd-semester approved units as the #1 predictor — RF MDI 0.155, XGB gain 0.215. XGBoost weighs financial signals (tuition 0.117, scholarship 0.032) more heavily; Random Forest leans on grade variables (4 of top 5 are grade-related).</a:t>
            </a:r>
            <a:endParaRPr sz="1665">
              <a:solidFill>
                <a:schemeClr val="dk1"/>
              </a:solidFill>
              <a:latin typeface="Calibri"/>
              <a:ea typeface="Calibri"/>
              <a:cs typeface="Calibri"/>
              <a:sym typeface="Calibri"/>
            </a:endParaRPr>
          </a:p>
        </p:txBody>
      </p:sp>
      <p:sp>
        <p:nvSpPr>
          <p:cNvPr id="736" name="Google Shape;736;p16"/>
          <p:cNvSpPr/>
          <p:nvPr/>
        </p:nvSpPr>
        <p:spPr>
          <a:xfrm>
            <a:off x="16692116" y="7153275"/>
            <a:ext cx="1100584" cy="2952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665"/>
              <a:buFont typeface="Courier New"/>
              <a:buNone/>
            </a:pPr>
            <a:r>
              <a:rPr lang="en-US" sz="1665">
                <a:solidFill>
                  <a:srgbClr val="807C76"/>
                </a:solidFill>
                <a:latin typeface="Courier New"/>
                <a:ea typeface="Courier New"/>
                <a:cs typeface="Courier New"/>
                <a:sym typeface="Courier New"/>
              </a:rPr>
              <a:t>16/19</a:t>
            </a:r>
            <a:endParaRPr sz="1665">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Shape 741"/>
        <p:cNvGrpSpPr/>
        <p:nvPr/>
      </p:nvGrpSpPr>
      <p:grpSpPr>
        <a:xfrm>
          <a:off x="0" y="0"/>
          <a:ext cx="0" cy="0"/>
          <a:chOff x="0" y="0"/>
          <a:chExt cx="0" cy="0"/>
        </a:xfrm>
      </p:grpSpPr>
      <p:sp>
        <p:nvSpPr>
          <p:cNvPr id="742" name="Google Shape;742;p17"/>
          <p:cNvSpPr/>
          <p:nvPr/>
        </p:nvSpPr>
        <p:spPr>
          <a:xfrm>
            <a:off x="0" y="0"/>
            <a:ext cx="18288000" cy="7648575"/>
          </a:xfrm>
          <a:prstGeom prst="rect">
            <a:avLst/>
          </a:prstGeom>
          <a:solidFill>
            <a:srgbClr val="0E3A5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43" name="Google Shape;743;p17"/>
          <p:cNvSpPr/>
          <p:nvPr/>
        </p:nvSpPr>
        <p:spPr>
          <a:xfrm>
            <a:off x="952500" y="1047006"/>
            <a:ext cx="533400" cy="19050"/>
          </a:xfrm>
          <a:prstGeom prst="rect">
            <a:avLst/>
          </a:prstGeom>
          <a:solidFill>
            <a:srgbClr val="FFFFFF">
              <a:alpha val="6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44" name="Google Shape;744;p17"/>
          <p:cNvSpPr/>
          <p:nvPr/>
        </p:nvSpPr>
        <p:spPr>
          <a:xfrm>
            <a:off x="1657350" y="952500"/>
            <a:ext cx="2938885" cy="2952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FFFFFF"/>
              </a:buClr>
              <a:buSzPts val="1665"/>
              <a:buFont typeface="Courier New"/>
              <a:buNone/>
            </a:pPr>
            <a:r>
              <a:rPr lang="en-US" sz="1665">
                <a:solidFill>
                  <a:srgbClr val="FFFFFF"/>
                </a:solidFill>
                <a:latin typeface="Courier New"/>
                <a:ea typeface="Courier New"/>
                <a:cs typeface="Courier New"/>
                <a:sym typeface="Courier New"/>
              </a:rPr>
              <a:t>16 · CONCLUSIONS</a:t>
            </a:r>
            <a:endParaRPr sz="1665">
              <a:solidFill>
                <a:schemeClr val="dk1"/>
              </a:solidFill>
              <a:latin typeface="Calibri"/>
              <a:ea typeface="Calibri"/>
              <a:cs typeface="Calibri"/>
              <a:sym typeface="Calibri"/>
            </a:endParaRPr>
          </a:p>
        </p:txBody>
      </p:sp>
      <p:sp>
        <p:nvSpPr>
          <p:cNvPr id="745" name="Google Shape;745;p17"/>
          <p:cNvSpPr/>
          <p:nvPr/>
        </p:nvSpPr>
        <p:spPr>
          <a:xfrm>
            <a:off x="952500" y="1704975"/>
            <a:ext cx="14716125" cy="666750"/>
          </a:xfrm>
          <a:prstGeom prst="rect">
            <a:avLst/>
          </a:prstGeom>
          <a:noFill/>
          <a:ln>
            <a:noFill/>
          </a:ln>
        </p:spPr>
        <p:txBody>
          <a:bodyPr spcFirstLastPara="1" wrap="square" lIns="25400" tIns="25400" rIns="25400" bIns="25400" anchor="t" anchorCtr="0">
            <a:normAutofit/>
          </a:bodyPr>
          <a:lstStyle/>
          <a:p>
            <a:pPr marL="0" marR="0" lvl="0" indent="0" algn="l" rtl="0">
              <a:lnSpc>
                <a:spcPct val="84000"/>
              </a:lnSpc>
              <a:spcBef>
                <a:spcPts val="0"/>
              </a:spcBef>
              <a:spcAft>
                <a:spcPts val="0"/>
              </a:spcAft>
              <a:buClr>
                <a:srgbClr val="FFFFFF"/>
              </a:buClr>
              <a:buSzPts val="4440"/>
              <a:buFont typeface="Georgia"/>
              <a:buNone/>
            </a:pPr>
            <a:r>
              <a:rPr lang="en-US" sz="4440" b="1">
                <a:solidFill>
                  <a:srgbClr val="FFFFFF"/>
                </a:solidFill>
                <a:latin typeface="Georgia"/>
                <a:ea typeface="Georgia"/>
                <a:cs typeface="Georgia"/>
                <a:sym typeface="Georgia"/>
              </a:rPr>
              <a:t>What we learned, and what to do about it</a:t>
            </a:r>
            <a:endParaRPr sz="4440">
              <a:solidFill>
                <a:schemeClr val="dk1"/>
              </a:solidFill>
              <a:latin typeface="Calibri"/>
              <a:ea typeface="Calibri"/>
              <a:cs typeface="Calibri"/>
              <a:sym typeface="Calibri"/>
            </a:endParaRPr>
          </a:p>
        </p:txBody>
      </p:sp>
      <p:sp>
        <p:nvSpPr>
          <p:cNvPr id="746" name="Google Shape;746;p17"/>
          <p:cNvSpPr/>
          <p:nvPr/>
        </p:nvSpPr>
        <p:spPr>
          <a:xfrm>
            <a:off x="952500" y="3419475"/>
            <a:ext cx="8182421" cy="9525"/>
          </a:xfrm>
          <a:prstGeom prst="rect">
            <a:avLst/>
          </a:prstGeom>
          <a:solidFill>
            <a:srgbClr val="FFFFFF">
              <a:alpha val="18039"/>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47" name="Google Shape;747;p17"/>
          <p:cNvSpPr/>
          <p:nvPr/>
        </p:nvSpPr>
        <p:spPr>
          <a:xfrm>
            <a:off x="952500" y="3009900"/>
            <a:ext cx="1790700" cy="22860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FFFFFF"/>
              </a:buClr>
              <a:buSzPts val="1248"/>
              <a:buFont typeface="Courier New"/>
              <a:buNone/>
            </a:pPr>
            <a:r>
              <a:rPr lang="en-US" sz="1249">
                <a:solidFill>
                  <a:srgbClr val="FFFFFF"/>
                </a:solidFill>
                <a:latin typeface="Courier New"/>
                <a:ea typeface="Courier New"/>
                <a:cs typeface="Courier New"/>
                <a:sym typeface="Courier New"/>
              </a:rPr>
              <a:t>BEST MODEL</a:t>
            </a:r>
            <a:endParaRPr sz="1249">
              <a:solidFill>
                <a:schemeClr val="dk1"/>
              </a:solidFill>
              <a:latin typeface="Calibri"/>
              <a:ea typeface="Calibri"/>
              <a:cs typeface="Calibri"/>
              <a:sym typeface="Calibri"/>
            </a:endParaRPr>
          </a:p>
        </p:txBody>
      </p:sp>
      <p:sp>
        <p:nvSpPr>
          <p:cNvPr id="748" name="Google Shape;748;p17"/>
          <p:cNvSpPr/>
          <p:nvPr/>
        </p:nvSpPr>
        <p:spPr>
          <a:xfrm>
            <a:off x="2895600" y="2867025"/>
            <a:ext cx="6122828" cy="419100"/>
          </a:xfrm>
          <a:prstGeom prst="rect">
            <a:avLst/>
          </a:prstGeom>
          <a:noFill/>
          <a:ln>
            <a:noFill/>
          </a:ln>
        </p:spPr>
        <p:txBody>
          <a:bodyPr spcFirstLastPara="1" wrap="square" lIns="25400" tIns="25400" rIns="25400" bIns="25400" anchor="t" anchorCtr="0">
            <a:normAutofit/>
          </a:bodyPr>
          <a:lstStyle/>
          <a:p>
            <a:pPr marL="0" marR="0" lvl="0" indent="0" algn="l" rtl="0">
              <a:lnSpc>
                <a:spcPct val="135000"/>
              </a:lnSpc>
              <a:spcBef>
                <a:spcPts val="0"/>
              </a:spcBef>
              <a:spcAft>
                <a:spcPts val="0"/>
              </a:spcAft>
              <a:buClr>
                <a:srgbClr val="FFFFFF"/>
              </a:buClr>
              <a:buSzPts val="1942"/>
              <a:buFont typeface="Arial"/>
              <a:buNone/>
            </a:pPr>
            <a:r>
              <a:rPr lang="en-US" sz="1943">
                <a:solidFill>
                  <a:srgbClr val="FFFFFF"/>
                </a:solidFill>
                <a:latin typeface="Arial"/>
                <a:ea typeface="Arial"/>
                <a:cs typeface="Arial"/>
                <a:sym typeface="Arial"/>
              </a:rPr>
              <a:t>XGBoost · F1-macro</a:t>
            </a:r>
            <a:r>
              <a:rPr lang="en-US" sz="1943" b="1">
                <a:solidFill>
                  <a:srgbClr val="FFFFFF"/>
                </a:solidFill>
                <a:latin typeface="Georgia"/>
                <a:ea typeface="Georgia"/>
                <a:cs typeface="Georgia"/>
                <a:sym typeface="Georgia"/>
              </a:rPr>
              <a:t>0.7056</a:t>
            </a:r>
            <a:r>
              <a:rPr lang="en-US" sz="1943">
                <a:solidFill>
                  <a:srgbClr val="FFFFFF"/>
                </a:solidFill>
                <a:latin typeface="Arial"/>
                <a:ea typeface="Arial"/>
                <a:cs typeface="Arial"/>
                <a:sym typeface="Arial"/>
              </a:rPr>
              <a:t>(vs RF 0.689, LR 0.683)</a:t>
            </a:r>
            <a:endParaRPr sz="1943">
              <a:solidFill>
                <a:schemeClr val="dk1"/>
              </a:solidFill>
              <a:latin typeface="Calibri"/>
              <a:ea typeface="Calibri"/>
              <a:cs typeface="Calibri"/>
              <a:sym typeface="Calibri"/>
            </a:endParaRPr>
          </a:p>
        </p:txBody>
      </p:sp>
      <p:sp>
        <p:nvSpPr>
          <p:cNvPr id="749" name="Google Shape;749;p17"/>
          <p:cNvSpPr/>
          <p:nvPr/>
        </p:nvSpPr>
        <p:spPr>
          <a:xfrm>
            <a:off x="952500" y="4572000"/>
            <a:ext cx="8182421" cy="9525"/>
          </a:xfrm>
          <a:prstGeom prst="rect">
            <a:avLst/>
          </a:prstGeom>
          <a:solidFill>
            <a:srgbClr val="FFFFFF">
              <a:alpha val="18039"/>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50" name="Google Shape;750;p17"/>
          <p:cNvSpPr/>
          <p:nvPr/>
        </p:nvSpPr>
        <p:spPr>
          <a:xfrm>
            <a:off x="952500" y="3781425"/>
            <a:ext cx="1790700" cy="22860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FFFFFF"/>
              </a:buClr>
              <a:buSzPts val="1248"/>
              <a:buFont typeface="Courier New"/>
              <a:buNone/>
            </a:pPr>
            <a:r>
              <a:rPr lang="en-US" sz="1249">
                <a:solidFill>
                  <a:srgbClr val="FFFFFF"/>
                </a:solidFill>
                <a:latin typeface="Courier New"/>
                <a:ea typeface="Courier New"/>
                <a:cs typeface="Courier New"/>
                <a:sym typeface="Courier New"/>
              </a:rPr>
              <a:t>TOP PREDICTOR</a:t>
            </a:r>
            <a:endParaRPr sz="1249">
              <a:solidFill>
                <a:schemeClr val="dk1"/>
              </a:solidFill>
              <a:latin typeface="Calibri"/>
              <a:ea typeface="Calibri"/>
              <a:cs typeface="Calibri"/>
              <a:sym typeface="Calibri"/>
            </a:endParaRPr>
          </a:p>
        </p:txBody>
      </p:sp>
      <p:sp>
        <p:nvSpPr>
          <p:cNvPr id="751" name="Google Shape;751;p17"/>
          <p:cNvSpPr/>
          <p:nvPr/>
        </p:nvSpPr>
        <p:spPr>
          <a:xfrm>
            <a:off x="2895600" y="3638550"/>
            <a:ext cx="6426501" cy="800100"/>
          </a:xfrm>
          <a:prstGeom prst="rect">
            <a:avLst/>
          </a:prstGeom>
          <a:noFill/>
          <a:ln>
            <a:noFill/>
          </a:ln>
        </p:spPr>
        <p:txBody>
          <a:bodyPr spcFirstLastPara="1" wrap="square" lIns="25400" tIns="25400" rIns="25400" bIns="25400" anchor="t" anchorCtr="0">
            <a:normAutofit/>
          </a:bodyPr>
          <a:lstStyle/>
          <a:p>
            <a:pPr marL="0" marR="0" lvl="0" indent="0" algn="l" rtl="0">
              <a:lnSpc>
                <a:spcPct val="135000"/>
              </a:lnSpc>
              <a:spcBef>
                <a:spcPts val="0"/>
              </a:spcBef>
              <a:spcAft>
                <a:spcPts val="0"/>
              </a:spcAft>
              <a:buClr>
                <a:srgbClr val="FFFFFF"/>
              </a:buClr>
              <a:buSzPts val="1942"/>
              <a:buFont typeface="Arial"/>
              <a:buNone/>
            </a:pPr>
            <a:r>
              <a:rPr lang="en-US" sz="1943">
                <a:solidFill>
                  <a:srgbClr val="FFFFFF"/>
                </a:solidFill>
                <a:latin typeface="Arial"/>
                <a:ea typeface="Arial"/>
                <a:cs typeface="Arial"/>
                <a:sym typeface="Arial"/>
              </a:rPr>
              <a:t>2nd-sem approved units · ρ ≈ 0.65 · RF MDI 0.155 · XGB gain 0.215</a:t>
            </a:r>
            <a:endParaRPr sz="1943">
              <a:solidFill>
                <a:schemeClr val="dk1"/>
              </a:solidFill>
              <a:latin typeface="Calibri"/>
              <a:ea typeface="Calibri"/>
              <a:cs typeface="Calibri"/>
              <a:sym typeface="Calibri"/>
            </a:endParaRPr>
          </a:p>
        </p:txBody>
      </p:sp>
      <p:sp>
        <p:nvSpPr>
          <p:cNvPr id="752" name="Google Shape;752;p17"/>
          <p:cNvSpPr/>
          <p:nvPr/>
        </p:nvSpPr>
        <p:spPr>
          <a:xfrm>
            <a:off x="952500" y="5724525"/>
            <a:ext cx="8182421" cy="9525"/>
          </a:xfrm>
          <a:prstGeom prst="rect">
            <a:avLst/>
          </a:prstGeom>
          <a:solidFill>
            <a:srgbClr val="FFFFFF">
              <a:alpha val="18039"/>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53" name="Google Shape;753;p17"/>
          <p:cNvSpPr/>
          <p:nvPr/>
        </p:nvSpPr>
        <p:spPr>
          <a:xfrm>
            <a:off x="952500" y="4933950"/>
            <a:ext cx="1790700" cy="419100"/>
          </a:xfrm>
          <a:prstGeom prst="rect">
            <a:avLst/>
          </a:prstGeom>
          <a:noFill/>
          <a:ln>
            <a:noFill/>
          </a:ln>
        </p:spPr>
        <p:txBody>
          <a:bodyPr spcFirstLastPara="1" wrap="square" lIns="25400" tIns="25400" rIns="25400" bIns="25400" anchor="t" anchorCtr="0">
            <a:normAutofit/>
          </a:bodyPr>
          <a:lstStyle/>
          <a:p>
            <a:pPr marL="0" marR="0" lvl="0" indent="0" algn="l" rtl="0">
              <a:spcBef>
                <a:spcPts val="0"/>
              </a:spcBef>
              <a:spcAft>
                <a:spcPts val="0"/>
              </a:spcAft>
              <a:buClr>
                <a:srgbClr val="FFFFFF"/>
              </a:buClr>
              <a:buSzPts val="1350"/>
              <a:buFont typeface="Courier New"/>
              <a:buNone/>
            </a:pPr>
            <a:r>
              <a:rPr lang="en-US" sz="1350">
                <a:solidFill>
                  <a:srgbClr val="FFFFFF"/>
                </a:solidFill>
                <a:latin typeface="Courier New"/>
                <a:ea typeface="Courier New"/>
                <a:cs typeface="Courier New"/>
                <a:sym typeface="Courier New"/>
              </a:rPr>
              <a:t>STRONGEST RULE</a:t>
            </a:r>
            <a:endParaRPr sz="1350">
              <a:solidFill>
                <a:schemeClr val="dk1"/>
              </a:solidFill>
              <a:latin typeface="Calibri"/>
              <a:ea typeface="Calibri"/>
              <a:cs typeface="Calibri"/>
              <a:sym typeface="Calibri"/>
            </a:endParaRPr>
          </a:p>
        </p:txBody>
      </p:sp>
      <p:sp>
        <p:nvSpPr>
          <p:cNvPr id="754" name="Google Shape;754;p17"/>
          <p:cNvSpPr/>
          <p:nvPr/>
        </p:nvSpPr>
        <p:spPr>
          <a:xfrm>
            <a:off x="2895600" y="4791075"/>
            <a:ext cx="6426501" cy="800100"/>
          </a:xfrm>
          <a:prstGeom prst="rect">
            <a:avLst/>
          </a:prstGeom>
          <a:noFill/>
          <a:ln>
            <a:noFill/>
          </a:ln>
        </p:spPr>
        <p:txBody>
          <a:bodyPr spcFirstLastPara="1" wrap="square" lIns="25400" tIns="25400" rIns="25400" bIns="25400" anchor="t" anchorCtr="0">
            <a:normAutofit/>
          </a:bodyPr>
          <a:lstStyle/>
          <a:p>
            <a:pPr marL="0" marR="0" lvl="0" indent="0" algn="l" rtl="0">
              <a:lnSpc>
                <a:spcPct val="135000"/>
              </a:lnSpc>
              <a:spcBef>
                <a:spcPts val="0"/>
              </a:spcBef>
              <a:spcAft>
                <a:spcPts val="0"/>
              </a:spcAft>
              <a:buClr>
                <a:srgbClr val="FFFFFF"/>
              </a:buClr>
              <a:buSzPts val="1942"/>
              <a:buFont typeface="Arial"/>
              <a:buNone/>
            </a:pPr>
            <a:r>
              <a:rPr lang="en-US" sz="1943">
                <a:solidFill>
                  <a:srgbClr val="FFFFFF"/>
                </a:solidFill>
                <a:latin typeface="Arial"/>
                <a:ea typeface="Arial"/>
                <a:cs typeface="Arial"/>
                <a:sym typeface="Arial"/>
              </a:rPr>
              <a:t>Low 1st-sem approved units →</a:t>
            </a:r>
            <a:r>
              <a:rPr lang="en-US" sz="1943" b="1">
                <a:solidFill>
                  <a:srgbClr val="E24B4A"/>
                </a:solidFill>
                <a:latin typeface="Arial"/>
                <a:ea typeface="Arial"/>
                <a:cs typeface="Arial"/>
                <a:sym typeface="Arial"/>
              </a:rPr>
              <a:t>77.1% dropout </a:t>
            </a:r>
            <a:r>
              <a:rPr lang="en-US" sz="1943">
                <a:solidFill>
                  <a:srgbClr val="FFFFFF"/>
                </a:solidFill>
                <a:latin typeface="Arial"/>
                <a:ea typeface="Arial"/>
                <a:cs typeface="Arial"/>
                <a:sym typeface="Arial"/>
              </a:rPr>
              <a:t>· lift 2.40× (Apriori, slide 14)</a:t>
            </a:r>
            <a:endParaRPr sz="1943">
              <a:solidFill>
                <a:schemeClr val="dk1"/>
              </a:solidFill>
              <a:latin typeface="Calibri"/>
              <a:ea typeface="Calibri"/>
              <a:cs typeface="Calibri"/>
              <a:sym typeface="Calibri"/>
            </a:endParaRPr>
          </a:p>
        </p:txBody>
      </p:sp>
      <p:sp>
        <p:nvSpPr>
          <p:cNvPr id="755" name="Google Shape;755;p17"/>
          <p:cNvSpPr/>
          <p:nvPr/>
        </p:nvSpPr>
        <p:spPr>
          <a:xfrm>
            <a:off x="952500" y="6877050"/>
            <a:ext cx="8182421" cy="9525"/>
          </a:xfrm>
          <a:prstGeom prst="rect">
            <a:avLst/>
          </a:prstGeom>
          <a:solidFill>
            <a:srgbClr val="FFFFFF">
              <a:alpha val="18039"/>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56" name="Google Shape;756;p17"/>
          <p:cNvSpPr/>
          <p:nvPr/>
        </p:nvSpPr>
        <p:spPr>
          <a:xfrm>
            <a:off x="952500" y="6086475"/>
            <a:ext cx="1790700" cy="22860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FFFFFF"/>
              </a:buClr>
              <a:buSzPts val="1248"/>
              <a:buFont typeface="Courier New"/>
              <a:buNone/>
            </a:pPr>
            <a:r>
              <a:rPr lang="en-US" sz="1249">
                <a:solidFill>
                  <a:srgbClr val="FFFFFF"/>
                </a:solidFill>
                <a:latin typeface="Courier New"/>
                <a:ea typeface="Courier New"/>
                <a:cs typeface="Courier New"/>
                <a:sym typeface="Courier New"/>
              </a:rPr>
              <a:t>CLUSTERING</a:t>
            </a:r>
            <a:endParaRPr sz="1249">
              <a:solidFill>
                <a:schemeClr val="dk1"/>
              </a:solidFill>
              <a:latin typeface="Calibri"/>
              <a:ea typeface="Calibri"/>
              <a:cs typeface="Calibri"/>
              <a:sym typeface="Calibri"/>
            </a:endParaRPr>
          </a:p>
        </p:txBody>
      </p:sp>
      <p:sp>
        <p:nvSpPr>
          <p:cNvPr id="757" name="Google Shape;757;p17"/>
          <p:cNvSpPr/>
          <p:nvPr/>
        </p:nvSpPr>
        <p:spPr>
          <a:xfrm>
            <a:off x="2895600" y="5943600"/>
            <a:ext cx="6426501" cy="800100"/>
          </a:xfrm>
          <a:prstGeom prst="rect">
            <a:avLst/>
          </a:prstGeom>
          <a:noFill/>
          <a:ln>
            <a:noFill/>
          </a:ln>
        </p:spPr>
        <p:txBody>
          <a:bodyPr spcFirstLastPara="1" wrap="square" lIns="25400" tIns="25400" rIns="25400" bIns="25400" anchor="t" anchorCtr="0">
            <a:normAutofit/>
          </a:bodyPr>
          <a:lstStyle/>
          <a:p>
            <a:pPr marL="0" marR="0" lvl="0" indent="0" algn="l" rtl="0">
              <a:lnSpc>
                <a:spcPct val="145000"/>
              </a:lnSpc>
              <a:spcBef>
                <a:spcPts val="0"/>
              </a:spcBef>
              <a:spcAft>
                <a:spcPts val="0"/>
              </a:spcAft>
              <a:buClr>
                <a:srgbClr val="FFFFFF"/>
              </a:buClr>
              <a:buSzPts val="1942"/>
              <a:buFont typeface="Arial"/>
              <a:buNone/>
            </a:pPr>
            <a:r>
              <a:rPr lang="en-US" sz="1943">
                <a:solidFill>
                  <a:srgbClr val="FFFFFF"/>
                </a:solidFill>
                <a:latin typeface="Arial"/>
                <a:ea typeface="Arial"/>
                <a:cs typeface="Arial"/>
                <a:sym typeface="Arial"/>
              </a:rPr>
              <a:t>K-Means k=3 silhouette 0.21 · Hierarchical 0.12 — overlapping</a:t>
            </a:r>
            <a:endParaRPr sz="1943">
              <a:solidFill>
                <a:schemeClr val="dk1"/>
              </a:solidFill>
              <a:latin typeface="Calibri"/>
              <a:ea typeface="Calibri"/>
              <a:cs typeface="Calibri"/>
              <a:sym typeface="Calibri"/>
            </a:endParaRPr>
          </a:p>
        </p:txBody>
      </p:sp>
      <p:sp>
        <p:nvSpPr>
          <p:cNvPr id="758" name="Google Shape;758;p17"/>
          <p:cNvSpPr/>
          <p:nvPr/>
        </p:nvSpPr>
        <p:spPr>
          <a:xfrm>
            <a:off x="9896921" y="2867025"/>
            <a:ext cx="7438579" cy="3248025"/>
          </a:xfrm>
          <a:prstGeom prst="rect">
            <a:avLst/>
          </a:prstGeom>
          <a:solidFill>
            <a:srgbClr val="FFFFFF">
              <a:alpha val="5882"/>
            </a:srgbClr>
          </a:solidFill>
          <a:ln w="9525" cap="flat" cmpd="sng">
            <a:solidFill>
              <a:srgbClr val="FFFFFF">
                <a:alpha val="18039"/>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59" name="Google Shape;759;p17"/>
          <p:cNvSpPr/>
          <p:nvPr/>
        </p:nvSpPr>
        <p:spPr>
          <a:xfrm>
            <a:off x="10287446" y="3219450"/>
            <a:ext cx="6857254" cy="22860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EF9F27"/>
              </a:buClr>
              <a:buSzPts val="1248"/>
              <a:buFont typeface="Courier New"/>
              <a:buNone/>
            </a:pPr>
            <a:r>
              <a:rPr lang="en-US" sz="1249">
                <a:solidFill>
                  <a:srgbClr val="EF9F27"/>
                </a:solidFill>
                <a:latin typeface="Courier New"/>
                <a:ea typeface="Courier New"/>
                <a:cs typeface="Courier New"/>
                <a:sym typeface="Courier New"/>
              </a:rPr>
              <a:t>RECOMMENDATION</a:t>
            </a:r>
            <a:endParaRPr sz="1249">
              <a:solidFill>
                <a:schemeClr val="dk1"/>
              </a:solidFill>
              <a:latin typeface="Calibri"/>
              <a:ea typeface="Calibri"/>
              <a:cs typeface="Calibri"/>
              <a:sym typeface="Calibri"/>
            </a:endParaRPr>
          </a:p>
        </p:txBody>
      </p:sp>
      <p:sp>
        <p:nvSpPr>
          <p:cNvPr id="760" name="Google Shape;760;p17"/>
          <p:cNvSpPr/>
          <p:nvPr/>
        </p:nvSpPr>
        <p:spPr>
          <a:xfrm>
            <a:off x="10287446" y="3581400"/>
            <a:ext cx="6857254" cy="1323975"/>
          </a:xfrm>
          <a:prstGeom prst="rect">
            <a:avLst/>
          </a:prstGeom>
          <a:noFill/>
          <a:ln>
            <a:noFill/>
          </a:ln>
        </p:spPr>
        <p:txBody>
          <a:bodyPr spcFirstLastPara="1" wrap="square" lIns="25400" tIns="25400" rIns="25400" bIns="25400" anchor="t" anchorCtr="0">
            <a:normAutofit/>
          </a:bodyPr>
          <a:lstStyle/>
          <a:p>
            <a:pPr marL="0" marR="0" lvl="0" indent="0" algn="l" rtl="0">
              <a:lnSpc>
                <a:spcPct val="100000"/>
              </a:lnSpc>
              <a:spcBef>
                <a:spcPts val="0"/>
              </a:spcBef>
              <a:spcAft>
                <a:spcPts val="0"/>
              </a:spcAft>
              <a:buClr>
                <a:srgbClr val="FFFFFF"/>
              </a:buClr>
              <a:buSzPts val="2636"/>
              <a:buFont typeface="Georgia"/>
              <a:buNone/>
            </a:pPr>
            <a:r>
              <a:rPr lang="en-US" sz="2636">
                <a:solidFill>
                  <a:srgbClr val="FFFFFF"/>
                </a:solidFill>
                <a:latin typeface="Georgia"/>
                <a:ea typeface="Georgia"/>
                <a:cs typeface="Georgia"/>
                <a:sym typeface="Georgia"/>
              </a:rPr>
              <a:t>Flag students with fewer than 3 approved units after semester 1 for immediate academic advising.</a:t>
            </a:r>
            <a:endParaRPr sz="2636">
              <a:solidFill>
                <a:schemeClr val="dk1"/>
              </a:solidFill>
              <a:latin typeface="Calibri"/>
              <a:ea typeface="Calibri"/>
              <a:cs typeface="Calibri"/>
              <a:sym typeface="Calibri"/>
            </a:endParaRPr>
          </a:p>
        </p:txBody>
      </p:sp>
      <p:sp>
        <p:nvSpPr>
          <p:cNvPr id="761" name="Google Shape;761;p17"/>
          <p:cNvSpPr/>
          <p:nvPr/>
        </p:nvSpPr>
        <p:spPr>
          <a:xfrm>
            <a:off x="10287446" y="5133975"/>
            <a:ext cx="6857254" cy="666750"/>
          </a:xfrm>
          <a:prstGeom prst="rect">
            <a:avLst/>
          </a:prstGeom>
          <a:noFill/>
          <a:ln>
            <a:noFill/>
          </a:ln>
        </p:spPr>
        <p:txBody>
          <a:bodyPr spcFirstLastPara="1" wrap="square" lIns="25400" tIns="25400" rIns="25400" bIns="25400" anchor="t" anchorCtr="0">
            <a:normAutofit/>
          </a:bodyPr>
          <a:lstStyle/>
          <a:p>
            <a:pPr marL="0" marR="0" lvl="0" indent="0" algn="l" rtl="0">
              <a:lnSpc>
                <a:spcPct val="140000"/>
              </a:lnSpc>
              <a:spcBef>
                <a:spcPts val="0"/>
              </a:spcBef>
              <a:spcAft>
                <a:spcPts val="0"/>
              </a:spcAft>
              <a:buClr>
                <a:srgbClr val="FFFFFF"/>
              </a:buClr>
              <a:buSzPts val="1526"/>
              <a:buFont typeface="Arial"/>
              <a:buNone/>
            </a:pPr>
            <a:r>
              <a:rPr lang="en-US" sz="1526" i="1">
                <a:solidFill>
                  <a:srgbClr val="FFFFFF"/>
                </a:solidFill>
                <a:latin typeface="Arial"/>
                <a:ea typeface="Arial"/>
                <a:cs typeface="Arial"/>
                <a:sym typeface="Arial"/>
              </a:rPr>
              <a:t>"Data mining can reliably identify at-risk students early enough for meaningful intervention."</a:t>
            </a:r>
            <a:endParaRPr sz="1526">
              <a:solidFill>
                <a:schemeClr val="dk1"/>
              </a:solidFill>
              <a:latin typeface="Calibri"/>
              <a:ea typeface="Calibri"/>
              <a:cs typeface="Calibri"/>
              <a:sym typeface="Calibri"/>
            </a:endParaRPr>
          </a:p>
        </p:txBody>
      </p:sp>
      <p:sp>
        <p:nvSpPr>
          <p:cNvPr id="762" name="Google Shape;762;p17"/>
          <p:cNvSpPr/>
          <p:nvPr/>
        </p:nvSpPr>
        <p:spPr>
          <a:xfrm>
            <a:off x="16692116" y="7010400"/>
            <a:ext cx="1100584" cy="2952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FFFFFF"/>
              </a:buClr>
              <a:buSzPts val="1665"/>
              <a:buFont typeface="Courier New"/>
              <a:buNone/>
            </a:pPr>
            <a:r>
              <a:rPr lang="en-US" sz="1665">
                <a:solidFill>
                  <a:srgbClr val="FFFFFF"/>
                </a:solidFill>
                <a:latin typeface="Courier New"/>
                <a:ea typeface="Courier New"/>
                <a:cs typeface="Courier New"/>
                <a:sym typeface="Courier New"/>
              </a:rPr>
              <a:t>17/19</a:t>
            </a:r>
            <a:endParaRPr sz="1665">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Shape 767"/>
        <p:cNvGrpSpPr/>
        <p:nvPr/>
      </p:nvGrpSpPr>
      <p:grpSpPr>
        <a:xfrm>
          <a:off x="0" y="0"/>
          <a:ext cx="0" cy="0"/>
          <a:chOff x="0" y="0"/>
          <a:chExt cx="0" cy="0"/>
        </a:xfrm>
      </p:grpSpPr>
      <p:sp>
        <p:nvSpPr>
          <p:cNvPr id="768" name="Google Shape;768;p18"/>
          <p:cNvSpPr/>
          <p:nvPr/>
        </p:nvSpPr>
        <p:spPr>
          <a:xfrm>
            <a:off x="952500" y="1047006"/>
            <a:ext cx="533400" cy="19050"/>
          </a:xfrm>
          <a:prstGeom prst="rect">
            <a:avLst/>
          </a:prstGeom>
          <a:solidFill>
            <a:srgbClr val="4B484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69" name="Google Shape;769;p18"/>
          <p:cNvSpPr/>
          <p:nvPr/>
        </p:nvSpPr>
        <p:spPr>
          <a:xfrm>
            <a:off x="1657350" y="952500"/>
            <a:ext cx="2938884" cy="2952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665"/>
              <a:buFont typeface="Courier New"/>
              <a:buNone/>
            </a:pPr>
            <a:r>
              <a:rPr lang="en-US" sz="1665">
                <a:solidFill>
                  <a:srgbClr val="807C76"/>
                </a:solidFill>
                <a:latin typeface="Courier New"/>
                <a:ea typeface="Courier New"/>
                <a:cs typeface="Courier New"/>
                <a:sym typeface="Courier New"/>
              </a:rPr>
              <a:t>17 · FUTURE WORK</a:t>
            </a:r>
            <a:endParaRPr sz="1665">
              <a:solidFill>
                <a:schemeClr val="dk1"/>
              </a:solidFill>
              <a:latin typeface="Calibri"/>
              <a:ea typeface="Calibri"/>
              <a:cs typeface="Calibri"/>
              <a:sym typeface="Calibri"/>
            </a:endParaRPr>
          </a:p>
        </p:txBody>
      </p:sp>
      <p:sp>
        <p:nvSpPr>
          <p:cNvPr id="770" name="Google Shape;770;p18"/>
          <p:cNvSpPr/>
          <p:nvPr/>
        </p:nvSpPr>
        <p:spPr>
          <a:xfrm>
            <a:off x="952500" y="1704975"/>
            <a:ext cx="16874490" cy="666750"/>
          </a:xfrm>
          <a:prstGeom prst="rect">
            <a:avLst/>
          </a:prstGeom>
          <a:noFill/>
          <a:ln>
            <a:noFill/>
          </a:ln>
        </p:spPr>
        <p:txBody>
          <a:bodyPr spcFirstLastPara="1" wrap="square" lIns="25400" tIns="25400" rIns="25400" bIns="25400" anchor="t" anchorCtr="0">
            <a:normAutofit/>
          </a:bodyPr>
          <a:lstStyle/>
          <a:p>
            <a:pPr marL="0" marR="0" lvl="0" indent="0" algn="l" rtl="0">
              <a:lnSpc>
                <a:spcPct val="84000"/>
              </a:lnSpc>
              <a:spcBef>
                <a:spcPts val="0"/>
              </a:spcBef>
              <a:spcAft>
                <a:spcPts val="0"/>
              </a:spcAft>
              <a:buClr>
                <a:srgbClr val="1C1B1A"/>
              </a:buClr>
              <a:buSzPts val="4440"/>
              <a:buFont typeface="Georgia"/>
              <a:buNone/>
            </a:pPr>
            <a:r>
              <a:rPr lang="en-US" sz="4440" b="1">
                <a:solidFill>
                  <a:srgbClr val="1C1B1A"/>
                </a:solidFill>
                <a:latin typeface="Georgia"/>
                <a:ea typeface="Georgia"/>
                <a:cs typeface="Georgia"/>
                <a:sym typeface="Georgia"/>
              </a:rPr>
              <a:t>Where this work could go next</a:t>
            </a:r>
            <a:endParaRPr sz="4440">
              <a:solidFill>
                <a:schemeClr val="dk1"/>
              </a:solidFill>
              <a:latin typeface="Calibri"/>
              <a:ea typeface="Calibri"/>
              <a:cs typeface="Calibri"/>
              <a:sym typeface="Calibri"/>
            </a:endParaRPr>
          </a:p>
        </p:txBody>
      </p:sp>
      <p:sp>
        <p:nvSpPr>
          <p:cNvPr id="771" name="Google Shape;771;p18"/>
          <p:cNvSpPr/>
          <p:nvPr/>
        </p:nvSpPr>
        <p:spPr>
          <a:xfrm>
            <a:off x="952500" y="2790825"/>
            <a:ext cx="8058150" cy="1543050"/>
          </a:xfrm>
          <a:prstGeom prst="rect">
            <a:avLst/>
          </a:prstGeom>
          <a:solidFill>
            <a:srgbClr val="FFFFFF"/>
          </a:solidFill>
          <a:ln w="9525" cap="flat" cmpd="sng">
            <a:solidFill>
              <a:srgbClr val="D9D3C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72" name="Google Shape;772;p18"/>
          <p:cNvSpPr/>
          <p:nvPr/>
        </p:nvSpPr>
        <p:spPr>
          <a:xfrm>
            <a:off x="1228725" y="3028950"/>
            <a:ext cx="790575" cy="66675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B95D2C"/>
              </a:buClr>
              <a:buSzPts val="4200"/>
              <a:buFont typeface="Georgia"/>
              <a:buNone/>
            </a:pPr>
            <a:r>
              <a:rPr lang="en-US" sz="4200" b="1">
                <a:solidFill>
                  <a:srgbClr val="B95D2C"/>
                </a:solidFill>
                <a:latin typeface="Georgia"/>
                <a:ea typeface="Georgia"/>
                <a:cs typeface="Georgia"/>
                <a:sym typeface="Georgia"/>
              </a:rPr>
              <a:t>01</a:t>
            </a:r>
            <a:endParaRPr sz="4200">
              <a:solidFill>
                <a:schemeClr val="dk1"/>
              </a:solidFill>
              <a:latin typeface="Calibri"/>
              <a:ea typeface="Calibri"/>
              <a:cs typeface="Calibri"/>
              <a:sym typeface="Calibri"/>
            </a:endParaRPr>
          </a:p>
        </p:txBody>
      </p:sp>
      <p:sp>
        <p:nvSpPr>
          <p:cNvPr id="773" name="Google Shape;773;p18"/>
          <p:cNvSpPr/>
          <p:nvPr/>
        </p:nvSpPr>
        <p:spPr>
          <a:xfrm>
            <a:off x="2019300" y="3028950"/>
            <a:ext cx="6916579" cy="381000"/>
          </a:xfrm>
          <a:prstGeom prst="rect">
            <a:avLst/>
          </a:prstGeom>
          <a:noFill/>
          <a:ln>
            <a:noFill/>
          </a:ln>
        </p:spPr>
        <p:txBody>
          <a:bodyPr spcFirstLastPara="1" wrap="square" lIns="25400" tIns="25400" rIns="25400" bIns="25400" anchor="t" anchorCtr="0">
            <a:normAutofit/>
          </a:bodyPr>
          <a:lstStyle/>
          <a:p>
            <a:pPr marL="0" marR="0" lvl="0" indent="0" algn="l" rtl="0">
              <a:lnSpc>
                <a:spcPct val="100000"/>
              </a:lnSpc>
              <a:spcBef>
                <a:spcPts val="0"/>
              </a:spcBef>
              <a:spcAft>
                <a:spcPts val="0"/>
              </a:spcAft>
              <a:buClr>
                <a:srgbClr val="1C1B1A"/>
              </a:buClr>
              <a:buSzPts val="2081"/>
              <a:buFont typeface="Arial"/>
              <a:buNone/>
            </a:pPr>
            <a:r>
              <a:rPr lang="en-US" sz="2081" b="1">
                <a:solidFill>
                  <a:srgbClr val="1C1B1A"/>
                </a:solidFill>
                <a:latin typeface="Arial"/>
                <a:ea typeface="Arial"/>
                <a:cs typeface="Arial"/>
                <a:sym typeface="Arial"/>
              </a:rPr>
              <a:t>Real-time prediction</a:t>
            </a:r>
            <a:endParaRPr sz="2081">
              <a:solidFill>
                <a:schemeClr val="dk1"/>
              </a:solidFill>
              <a:latin typeface="Calibri"/>
              <a:ea typeface="Calibri"/>
              <a:cs typeface="Calibri"/>
              <a:sym typeface="Calibri"/>
            </a:endParaRPr>
          </a:p>
        </p:txBody>
      </p:sp>
      <p:sp>
        <p:nvSpPr>
          <p:cNvPr id="774" name="Google Shape;774;p18"/>
          <p:cNvSpPr/>
          <p:nvPr/>
        </p:nvSpPr>
        <p:spPr>
          <a:xfrm>
            <a:off x="2019300" y="3467100"/>
            <a:ext cx="6916579" cy="666750"/>
          </a:xfrm>
          <a:prstGeom prst="rect">
            <a:avLst/>
          </a:prstGeom>
          <a:noFill/>
          <a:ln>
            <a:noFill/>
          </a:ln>
        </p:spPr>
        <p:txBody>
          <a:bodyPr spcFirstLastPara="1" wrap="square" lIns="25400" tIns="25400" rIns="25400" bIns="25400" anchor="t" anchorCtr="0">
            <a:normAutofit/>
          </a:bodyPr>
          <a:lstStyle/>
          <a:p>
            <a:pPr marL="0" marR="0" lvl="0" indent="0" algn="l" rtl="0">
              <a:lnSpc>
                <a:spcPct val="120000"/>
              </a:lnSpc>
              <a:spcBef>
                <a:spcPts val="0"/>
              </a:spcBef>
              <a:spcAft>
                <a:spcPts val="0"/>
              </a:spcAft>
              <a:buClr>
                <a:srgbClr val="4B4845"/>
              </a:buClr>
              <a:buSzPts val="1665"/>
              <a:buFont typeface="Arial"/>
              <a:buNone/>
            </a:pPr>
            <a:r>
              <a:rPr lang="en-US" sz="1665">
                <a:solidFill>
                  <a:srgbClr val="4B4845"/>
                </a:solidFill>
                <a:latin typeface="Arial"/>
                <a:ea typeface="Arial"/>
                <a:cs typeface="Arial"/>
                <a:sym typeface="Arial"/>
              </a:rPr>
              <a:t>Incorporate live semester data for dynamic risk scoring throughout the academic year</a:t>
            </a:r>
            <a:endParaRPr sz="1665">
              <a:solidFill>
                <a:schemeClr val="dk1"/>
              </a:solidFill>
              <a:latin typeface="Calibri"/>
              <a:ea typeface="Calibri"/>
              <a:cs typeface="Calibri"/>
              <a:sym typeface="Calibri"/>
            </a:endParaRPr>
          </a:p>
        </p:txBody>
      </p:sp>
      <p:sp>
        <p:nvSpPr>
          <p:cNvPr id="775" name="Google Shape;775;p18"/>
          <p:cNvSpPr/>
          <p:nvPr/>
        </p:nvSpPr>
        <p:spPr>
          <a:xfrm>
            <a:off x="9277350" y="2790825"/>
            <a:ext cx="8058150" cy="1543050"/>
          </a:xfrm>
          <a:prstGeom prst="rect">
            <a:avLst/>
          </a:prstGeom>
          <a:solidFill>
            <a:srgbClr val="FFFFFF"/>
          </a:solidFill>
          <a:ln w="9525" cap="flat" cmpd="sng">
            <a:solidFill>
              <a:srgbClr val="D9D3C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76" name="Google Shape;776;p18"/>
          <p:cNvSpPr/>
          <p:nvPr/>
        </p:nvSpPr>
        <p:spPr>
          <a:xfrm>
            <a:off x="9553575" y="3028950"/>
            <a:ext cx="790575" cy="514350"/>
          </a:xfrm>
          <a:prstGeom prst="rect">
            <a:avLst/>
          </a:prstGeom>
          <a:noFill/>
          <a:ln>
            <a:noFill/>
          </a:ln>
        </p:spPr>
        <p:txBody>
          <a:bodyPr spcFirstLastPara="1" wrap="square" lIns="25400" tIns="25400" rIns="25400" bIns="25400" anchor="t" anchorCtr="0">
            <a:normAutofit/>
          </a:bodyPr>
          <a:lstStyle/>
          <a:p>
            <a:pPr marL="0" marR="0" lvl="0" indent="0" algn="l" rtl="0">
              <a:lnSpc>
                <a:spcPct val="70000"/>
              </a:lnSpc>
              <a:spcBef>
                <a:spcPts val="0"/>
              </a:spcBef>
              <a:spcAft>
                <a:spcPts val="0"/>
              </a:spcAft>
              <a:buClr>
                <a:srgbClr val="B95D2C"/>
              </a:buClr>
              <a:buSzPts val="3884"/>
              <a:buFont typeface="Georgia"/>
              <a:buNone/>
            </a:pPr>
            <a:r>
              <a:rPr lang="en-US" sz="3885" b="1">
                <a:solidFill>
                  <a:srgbClr val="B95D2C"/>
                </a:solidFill>
                <a:latin typeface="Georgia"/>
                <a:ea typeface="Georgia"/>
                <a:cs typeface="Georgia"/>
                <a:sym typeface="Georgia"/>
              </a:rPr>
              <a:t>02</a:t>
            </a:r>
            <a:endParaRPr sz="3885">
              <a:solidFill>
                <a:schemeClr val="dk1"/>
              </a:solidFill>
              <a:latin typeface="Calibri"/>
              <a:ea typeface="Calibri"/>
              <a:cs typeface="Calibri"/>
              <a:sym typeface="Calibri"/>
            </a:endParaRPr>
          </a:p>
        </p:txBody>
      </p:sp>
      <p:sp>
        <p:nvSpPr>
          <p:cNvPr id="777" name="Google Shape;777;p18"/>
          <p:cNvSpPr/>
          <p:nvPr/>
        </p:nvSpPr>
        <p:spPr>
          <a:xfrm>
            <a:off x="10344150" y="3028950"/>
            <a:ext cx="6916579" cy="381000"/>
          </a:xfrm>
          <a:prstGeom prst="rect">
            <a:avLst/>
          </a:prstGeom>
          <a:noFill/>
          <a:ln>
            <a:noFill/>
          </a:ln>
        </p:spPr>
        <p:txBody>
          <a:bodyPr spcFirstLastPara="1" wrap="square" lIns="25400" tIns="25400" rIns="25400" bIns="25400" anchor="t" anchorCtr="0">
            <a:normAutofit/>
          </a:bodyPr>
          <a:lstStyle/>
          <a:p>
            <a:pPr marL="0" marR="0" lvl="0" indent="0" algn="l" rtl="0">
              <a:lnSpc>
                <a:spcPct val="100000"/>
              </a:lnSpc>
              <a:spcBef>
                <a:spcPts val="0"/>
              </a:spcBef>
              <a:spcAft>
                <a:spcPts val="0"/>
              </a:spcAft>
              <a:buClr>
                <a:srgbClr val="1C1B1A"/>
              </a:buClr>
              <a:buSzPts val="2081"/>
              <a:buFont typeface="Arial"/>
              <a:buNone/>
            </a:pPr>
            <a:r>
              <a:rPr lang="en-US" sz="2081" b="1">
                <a:solidFill>
                  <a:srgbClr val="1C1B1A"/>
                </a:solidFill>
                <a:latin typeface="Arial"/>
                <a:ea typeface="Arial"/>
                <a:cs typeface="Arial"/>
                <a:sym typeface="Arial"/>
              </a:rPr>
              <a:t>Advisor dashboard</a:t>
            </a:r>
            <a:endParaRPr sz="2081">
              <a:solidFill>
                <a:schemeClr val="dk1"/>
              </a:solidFill>
              <a:latin typeface="Calibri"/>
              <a:ea typeface="Calibri"/>
              <a:cs typeface="Calibri"/>
              <a:sym typeface="Calibri"/>
            </a:endParaRPr>
          </a:p>
        </p:txBody>
      </p:sp>
      <p:sp>
        <p:nvSpPr>
          <p:cNvPr id="778" name="Google Shape;778;p18"/>
          <p:cNvSpPr/>
          <p:nvPr/>
        </p:nvSpPr>
        <p:spPr>
          <a:xfrm>
            <a:off x="10344150" y="3467100"/>
            <a:ext cx="6916579" cy="666750"/>
          </a:xfrm>
          <a:prstGeom prst="rect">
            <a:avLst/>
          </a:prstGeom>
          <a:noFill/>
          <a:ln>
            <a:noFill/>
          </a:ln>
        </p:spPr>
        <p:txBody>
          <a:bodyPr spcFirstLastPara="1" wrap="square" lIns="25400" tIns="25400" rIns="25400" bIns="25400" anchor="t" anchorCtr="0">
            <a:normAutofit/>
          </a:bodyPr>
          <a:lstStyle/>
          <a:p>
            <a:pPr marL="0" marR="0" lvl="0" indent="0" algn="l" rtl="0">
              <a:lnSpc>
                <a:spcPct val="140000"/>
              </a:lnSpc>
              <a:spcBef>
                <a:spcPts val="0"/>
              </a:spcBef>
              <a:spcAft>
                <a:spcPts val="0"/>
              </a:spcAft>
              <a:buClr>
                <a:srgbClr val="4B4845"/>
              </a:buClr>
              <a:buSzPts val="1800"/>
              <a:buFont typeface="Arial"/>
              <a:buNone/>
            </a:pPr>
            <a:r>
              <a:rPr lang="en-US" sz="1800">
                <a:solidFill>
                  <a:srgbClr val="4B4845"/>
                </a:solidFill>
                <a:latin typeface="Arial"/>
                <a:ea typeface="Arial"/>
                <a:cs typeface="Arial"/>
                <a:sym typeface="Arial"/>
              </a:rPr>
              <a:t>Web app (Streamlit / Flask) so advisors can query student risk in real time</a:t>
            </a:r>
            <a:endParaRPr sz="1800">
              <a:solidFill>
                <a:schemeClr val="dk1"/>
              </a:solidFill>
              <a:latin typeface="Calibri"/>
              <a:ea typeface="Calibri"/>
              <a:cs typeface="Calibri"/>
              <a:sym typeface="Calibri"/>
            </a:endParaRPr>
          </a:p>
        </p:txBody>
      </p:sp>
      <p:sp>
        <p:nvSpPr>
          <p:cNvPr id="779" name="Google Shape;779;p18"/>
          <p:cNvSpPr/>
          <p:nvPr/>
        </p:nvSpPr>
        <p:spPr>
          <a:xfrm>
            <a:off x="952500" y="4600575"/>
            <a:ext cx="8058150" cy="1228725"/>
          </a:xfrm>
          <a:prstGeom prst="rect">
            <a:avLst/>
          </a:prstGeom>
          <a:solidFill>
            <a:srgbClr val="FFFFFF"/>
          </a:solidFill>
          <a:ln w="9525" cap="flat" cmpd="sng">
            <a:solidFill>
              <a:srgbClr val="D9D3C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80" name="Google Shape;780;p18"/>
          <p:cNvSpPr/>
          <p:nvPr/>
        </p:nvSpPr>
        <p:spPr>
          <a:xfrm>
            <a:off x="1228725" y="4838700"/>
            <a:ext cx="790575" cy="514350"/>
          </a:xfrm>
          <a:prstGeom prst="rect">
            <a:avLst/>
          </a:prstGeom>
          <a:noFill/>
          <a:ln>
            <a:noFill/>
          </a:ln>
        </p:spPr>
        <p:txBody>
          <a:bodyPr spcFirstLastPara="1" wrap="square" lIns="25400" tIns="25400" rIns="25400" bIns="25400" anchor="t" anchorCtr="0">
            <a:normAutofit/>
          </a:bodyPr>
          <a:lstStyle/>
          <a:p>
            <a:pPr marL="0" marR="0" lvl="0" indent="0" algn="l" rtl="0">
              <a:lnSpc>
                <a:spcPct val="70000"/>
              </a:lnSpc>
              <a:spcBef>
                <a:spcPts val="0"/>
              </a:spcBef>
              <a:spcAft>
                <a:spcPts val="0"/>
              </a:spcAft>
              <a:buClr>
                <a:srgbClr val="B95D2C"/>
              </a:buClr>
              <a:buSzPts val="3884"/>
              <a:buFont typeface="Georgia"/>
              <a:buNone/>
            </a:pPr>
            <a:r>
              <a:rPr lang="en-US" sz="3885" b="1">
                <a:solidFill>
                  <a:srgbClr val="B95D2C"/>
                </a:solidFill>
                <a:latin typeface="Georgia"/>
                <a:ea typeface="Georgia"/>
                <a:cs typeface="Georgia"/>
                <a:sym typeface="Georgia"/>
              </a:rPr>
              <a:t>03</a:t>
            </a:r>
            <a:endParaRPr sz="3885">
              <a:solidFill>
                <a:schemeClr val="dk1"/>
              </a:solidFill>
              <a:latin typeface="Calibri"/>
              <a:ea typeface="Calibri"/>
              <a:cs typeface="Calibri"/>
              <a:sym typeface="Calibri"/>
            </a:endParaRPr>
          </a:p>
        </p:txBody>
      </p:sp>
      <p:sp>
        <p:nvSpPr>
          <p:cNvPr id="781" name="Google Shape;781;p18"/>
          <p:cNvSpPr/>
          <p:nvPr/>
        </p:nvSpPr>
        <p:spPr>
          <a:xfrm>
            <a:off x="2019300" y="4838700"/>
            <a:ext cx="6014450" cy="381000"/>
          </a:xfrm>
          <a:prstGeom prst="rect">
            <a:avLst/>
          </a:prstGeom>
          <a:noFill/>
          <a:ln>
            <a:noFill/>
          </a:ln>
        </p:spPr>
        <p:txBody>
          <a:bodyPr spcFirstLastPara="1" wrap="square" lIns="25400" tIns="25400" rIns="25400" bIns="25400" anchor="t" anchorCtr="0">
            <a:normAutofit/>
          </a:bodyPr>
          <a:lstStyle/>
          <a:p>
            <a:pPr marL="0" marR="0" lvl="0" indent="0" algn="l" rtl="0">
              <a:lnSpc>
                <a:spcPct val="100000"/>
              </a:lnSpc>
              <a:spcBef>
                <a:spcPts val="0"/>
              </a:spcBef>
              <a:spcAft>
                <a:spcPts val="0"/>
              </a:spcAft>
              <a:buClr>
                <a:srgbClr val="1C1B1A"/>
              </a:buClr>
              <a:buSzPts val="2081"/>
              <a:buFont typeface="Arial"/>
              <a:buNone/>
            </a:pPr>
            <a:r>
              <a:rPr lang="en-US" sz="2081" b="1">
                <a:solidFill>
                  <a:srgbClr val="1C1B1A"/>
                </a:solidFill>
                <a:latin typeface="Arial"/>
                <a:ea typeface="Arial"/>
                <a:cs typeface="Arial"/>
                <a:sym typeface="Arial"/>
              </a:rPr>
              <a:t>Multi-institution validation</a:t>
            </a:r>
            <a:endParaRPr sz="2081">
              <a:solidFill>
                <a:schemeClr val="dk1"/>
              </a:solidFill>
              <a:latin typeface="Calibri"/>
              <a:ea typeface="Calibri"/>
              <a:cs typeface="Calibri"/>
              <a:sym typeface="Calibri"/>
            </a:endParaRPr>
          </a:p>
        </p:txBody>
      </p:sp>
      <p:sp>
        <p:nvSpPr>
          <p:cNvPr id="782" name="Google Shape;782;p18"/>
          <p:cNvSpPr/>
          <p:nvPr/>
        </p:nvSpPr>
        <p:spPr>
          <a:xfrm>
            <a:off x="2019300" y="5276850"/>
            <a:ext cx="6014450" cy="352425"/>
          </a:xfrm>
          <a:prstGeom prst="rect">
            <a:avLst/>
          </a:prstGeom>
          <a:noFill/>
          <a:ln>
            <a:noFill/>
          </a:ln>
        </p:spPr>
        <p:txBody>
          <a:bodyPr spcFirstLastPara="1" wrap="square" lIns="25400" tIns="25400" rIns="25400" bIns="25400" anchor="t" anchorCtr="0">
            <a:normAutofit/>
          </a:bodyPr>
          <a:lstStyle/>
          <a:p>
            <a:pPr marL="0" marR="0" lvl="0" indent="0" algn="l" rtl="0">
              <a:lnSpc>
                <a:spcPct val="120000"/>
              </a:lnSpc>
              <a:spcBef>
                <a:spcPts val="0"/>
              </a:spcBef>
              <a:spcAft>
                <a:spcPts val="0"/>
              </a:spcAft>
              <a:buClr>
                <a:srgbClr val="4B4845"/>
              </a:buClr>
              <a:buSzPts val="1665"/>
              <a:buFont typeface="Arial"/>
              <a:buNone/>
            </a:pPr>
            <a:r>
              <a:rPr lang="en-US" sz="1665">
                <a:solidFill>
                  <a:srgbClr val="4B4845"/>
                </a:solidFill>
                <a:latin typeface="Arial"/>
                <a:ea typeface="Arial"/>
                <a:cs typeface="Arial"/>
                <a:sym typeface="Arial"/>
              </a:rPr>
              <a:t>Test model generalizability across universities and countries</a:t>
            </a:r>
            <a:endParaRPr sz="1665">
              <a:solidFill>
                <a:schemeClr val="dk1"/>
              </a:solidFill>
              <a:latin typeface="Calibri"/>
              <a:ea typeface="Calibri"/>
              <a:cs typeface="Calibri"/>
              <a:sym typeface="Calibri"/>
            </a:endParaRPr>
          </a:p>
        </p:txBody>
      </p:sp>
      <p:sp>
        <p:nvSpPr>
          <p:cNvPr id="783" name="Google Shape;783;p18"/>
          <p:cNvSpPr/>
          <p:nvPr/>
        </p:nvSpPr>
        <p:spPr>
          <a:xfrm>
            <a:off x="9277350" y="4600575"/>
            <a:ext cx="8058150" cy="1228725"/>
          </a:xfrm>
          <a:prstGeom prst="rect">
            <a:avLst/>
          </a:prstGeom>
          <a:solidFill>
            <a:srgbClr val="FFFFFF"/>
          </a:solidFill>
          <a:ln w="9525" cap="flat" cmpd="sng">
            <a:solidFill>
              <a:srgbClr val="D9D3C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84" name="Google Shape;784;p18"/>
          <p:cNvSpPr/>
          <p:nvPr/>
        </p:nvSpPr>
        <p:spPr>
          <a:xfrm>
            <a:off x="9553575" y="4838700"/>
            <a:ext cx="790575" cy="514350"/>
          </a:xfrm>
          <a:prstGeom prst="rect">
            <a:avLst/>
          </a:prstGeom>
          <a:noFill/>
          <a:ln>
            <a:noFill/>
          </a:ln>
        </p:spPr>
        <p:txBody>
          <a:bodyPr spcFirstLastPara="1" wrap="square" lIns="25400" tIns="25400" rIns="25400" bIns="25400" anchor="t" anchorCtr="0">
            <a:normAutofit/>
          </a:bodyPr>
          <a:lstStyle/>
          <a:p>
            <a:pPr marL="0" marR="0" lvl="0" indent="0" algn="l" rtl="0">
              <a:lnSpc>
                <a:spcPct val="70000"/>
              </a:lnSpc>
              <a:spcBef>
                <a:spcPts val="0"/>
              </a:spcBef>
              <a:spcAft>
                <a:spcPts val="0"/>
              </a:spcAft>
              <a:buClr>
                <a:srgbClr val="B95D2C"/>
              </a:buClr>
              <a:buSzPts val="3884"/>
              <a:buFont typeface="Georgia"/>
              <a:buNone/>
            </a:pPr>
            <a:r>
              <a:rPr lang="en-US" sz="3885" b="1">
                <a:solidFill>
                  <a:srgbClr val="B95D2C"/>
                </a:solidFill>
                <a:latin typeface="Georgia"/>
                <a:ea typeface="Georgia"/>
                <a:cs typeface="Georgia"/>
                <a:sym typeface="Georgia"/>
              </a:rPr>
              <a:t>04</a:t>
            </a:r>
            <a:endParaRPr sz="3885">
              <a:solidFill>
                <a:schemeClr val="dk1"/>
              </a:solidFill>
              <a:latin typeface="Calibri"/>
              <a:ea typeface="Calibri"/>
              <a:cs typeface="Calibri"/>
              <a:sym typeface="Calibri"/>
            </a:endParaRPr>
          </a:p>
        </p:txBody>
      </p:sp>
      <p:sp>
        <p:nvSpPr>
          <p:cNvPr id="785" name="Google Shape;785;p18"/>
          <p:cNvSpPr/>
          <p:nvPr/>
        </p:nvSpPr>
        <p:spPr>
          <a:xfrm>
            <a:off x="10344150" y="4838700"/>
            <a:ext cx="6274281" cy="381000"/>
          </a:xfrm>
          <a:prstGeom prst="rect">
            <a:avLst/>
          </a:prstGeom>
          <a:noFill/>
          <a:ln>
            <a:noFill/>
          </a:ln>
        </p:spPr>
        <p:txBody>
          <a:bodyPr spcFirstLastPara="1" wrap="square" lIns="25400" tIns="25400" rIns="25400" bIns="25400" anchor="t" anchorCtr="0">
            <a:normAutofit/>
          </a:bodyPr>
          <a:lstStyle/>
          <a:p>
            <a:pPr marL="0" marR="0" lvl="0" indent="0" algn="l" rtl="0">
              <a:lnSpc>
                <a:spcPct val="100000"/>
              </a:lnSpc>
              <a:spcBef>
                <a:spcPts val="0"/>
              </a:spcBef>
              <a:spcAft>
                <a:spcPts val="0"/>
              </a:spcAft>
              <a:buClr>
                <a:srgbClr val="1C1B1A"/>
              </a:buClr>
              <a:buSzPts val="2081"/>
              <a:buFont typeface="Arial"/>
              <a:buNone/>
            </a:pPr>
            <a:r>
              <a:rPr lang="en-US" sz="2081" b="1">
                <a:solidFill>
                  <a:srgbClr val="1C1B1A"/>
                </a:solidFill>
                <a:latin typeface="Arial"/>
                <a:ea typeface="Arial"/>
                <a:cs typeface="Arial"/>
                <a:sym typeface="Arial"/>
              </a:rPr>
              <a:t>Deep learning</a:t>
            </a:r>
            <a:endParaRPr sz="2081">
              <a:solidFill>
                <a:schemeClr val="dk1"/>
              </a:solidFill>
              <a:latin typeface="Calibri"/>
              <a:ea typeface="Calibri"/>
              <a:cs typeface="Calibri"/>
              <a:sym typeface="Calibri"/>
            </a:endParaRPr>
          </a:p>
        </p:txBody>
      </p:sp>
      <p:sp>
        <p:nvSpPr>
          <p:cNvPr id="786" name="Google Shape;786;p18"/>
          <p:cNvSpPr/>
          <p:nvPr/>
        </p:nvSpPr>
        <p:spPr>
          <a:xfrm>
            <a:off x="10344150" y="5276850"/>
            <a:ext cx="6274281" cy="352425"/>
          </a:xfrm>
          <a:prstGeom prst="rect">
            <a:avLst/>
          </a:prstGeom>
          <a:noFill/>
          <a:ln>
            <a:noFill/>
          </a:ln>
        </p:spPr>
        <p:txBody>
          <a:bodyPr spcFirstLastPara="1" wrap="square" lIns="25400" tIns="25400" rIns="25400" bIns="25400" anchor="t" anchorCtr="0">
            <a:normAutofit/>
          </a:bodyPr>
          <a:lstStyle/>
          <a:p>
            <a:pPr marL="0" marR="0" lvl="0" indent="0" algn="l" rtl="0">
              <a:lnSpc>
                <a:spcPct val="120000"/>
              </a:lnSpc>
              <a:spcBef>
                <a:spcPts val="0"/>
              </a:spcBef>
              <a:spcAft>
                <a:spcPts val="0"/>
              </a:spcAft>
              <a:buClr>
                <a:srgbClr val="4B4845"/>
              </a:buClr>
              <a:buSzPts val="1665"/>
              <a:buFont typeface="Arial"/>
              <a:buNone/>
            </a:pPr>
            <a:r>
              <a:rPr lang="en-US" sz="1665">
                <a:solidFill>
                  <a:srgbClr val="4B4845"/>
                </a:solidFill>
                <a:latin typeface="Arial"/>
                <a:ea typeface="Arial"/>
                <a:cs typeface="Arial"/>
                <a:sym typeface="Arial"/>
              </a:rPr>
              <a:t>Explore TabNet and other neural architectures for tabular gains</a:t>
            </a:r>
            <a:endParaRPr sz="1665">
              <a:solidFill>
                <a:schemeClr val="dk1"/>
              </a:solidFill>
              <a:latin typeface="Calibri"/>
              <a:ea typeface="Calibri"/>
              <a:cs typeface="Calibri"/>
              <a:sym typeface="Calibri"/>
            </a:endParaRPr>
          </a:p>
        </p:txBody>
      </p:sp>
      <p:sp>
        <p:nvSpPr>
          <p:cNvPr id="787" name="Google Shape;787;p18"/>
          <p:cNvSpPr/>
          <p:nvPr/>
        </p:nvSpPr>
        <p:spPr>
          <a:xfrm>
            <a:off x="952500" y="6096000"/>
            <a:ext cx="8058150" cy="1543050"/>
          </a:xfrm>
          <a:prstGeom prst="rect">
            <a:avLst/>
          </a:prstGeom>
          <a:solidFill>
            <a:srgbClr val="FFFFFF"/>
          </a:solidFill>
          <a:ln w="9525" cap="flat" cmpd="sng">
            <a:solidFill>
              <a:srgbClr val="D9D3C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88" name="Google Shape;788;p18"/>
          <p:cNvSpPr/>
          <p:nvPr/>
        </p:nvSpPr>
        <p:spPr>
          <a:xfrm>
            <a:off x="1228725" y="6334125"/>
            <a:ext cx="790575" cy="514350"/>
          </a:xfrm>
          <a:prstGeom prst="rect">
            <a:avLst/>
          </a:prstGeom>
          <a:noFill/>
          <a:ln>
            <a:noFill/>
          </a:ln>
        </p:spPr>
        <p:txBody>
          <a:bodyPr spcFirstLastPara="1" wrap="square" lIns="25400" tIns="25400" rIns="25400" bIns="25400" anchor="t" anchorCtr="0">
            <a:normAutofit/>
          </a:bodyPr>
          <a:lstStyle/>
          <a:p>
            <a:pPr marL="0" marR="0" lvl="0" indent="0" algn="l" rtl="0">
              <a:lnSpc>
                <a:spcPct val="70000"/>
              </a:lnSpc>
              <a:spcBef>
                <a:spcPts val="0"/>
              </a:spcBef>
              <a:spcAft>
                <a:spcPts val="0"/>
              </a:spcAft>
              <a:buClr>
                <a:srgbClr val="B95D2C"/>
              </a:buClr>
              <a:buSzPts val="3884"/>
              <a:buFont typeface="Georgia"/>
              <a:buNone/>
            </a:pPr>
            <a:r>
              <a:rPr lang="en-US" sz="3885" b="1">
                <a:solidFill>
                  <a:srgbClr val="B95D2C"/>
                </a:solidFill>
                <a:latin typeface="Georgia"/>
                <a:ea typeface="Georgia"/>
                <a:cs typeface="Georgia"/>
                <a:sym typeface="Georgia"/>
              </a:rPr>
              <a:t>05</a:t>
            </a:r>
            <a:endParaRPr sz="3885">
              <a:solidFill>
                <a:schemeClr val="dk1"/>
              </a:solidFill>
              <a:latin typeface="Calibri"/>
              <a:ea typeface="Calibri"/>
              <a:cs typeface="Calibri"/>
              <a:sym typeface="Calibri"/>
            </a:endParaRPr>
          </a:p>
        </p:txBody>
      </p:sp>
      <p:sp>
        <p:nvSpPr>
          <p:cNvPr id="789" name="Google Shape;789;p18"/>
          <p:cNvSpPr/>
          <p:nvPr/>
        </p:nvSpPr>
        <p:spPr>
          <a:xfrm>
            <a:off x="2019300" y="6334125"/>
            <a:ext cx="6916579" cy="381000"/>
          </a:xfrm>
          <a:prstGeom prst="rect">
            <a:avLst/>
          </a:prstGeom>
          <a:noFill/>
          <a:ln>
            <a:noFill/>
          </a:ln>
        </p:spPr>
        <p:txBody>
          <a:bodyPr spcFirstLastPara="1" wrap="square" lIns="25400" tIns="25400" rIns="25400" bIns="25400" anchor="t" anchorCtr="0">
            <a:normAutofit/>
          </a:bodyPr>
          <a:lstStyle/>
          <a:p>
            <a:pPr marL="0" marR="0" lvl="0" indent="0" algn="l" rtl="0">
              <a:lnSpc>
                <a:spcPct val="100000"/>
              </a:lnSpc>
              <a:spcBef>
                <a:spcPts val="0"/>
              </a:spcBef>
              <a:spcAft>
                <a:spcPts val="0"/>
              </a:spcAft>
              <a:buClr>
                <a:srgbClr val="1C1B1A"/>
              </a:buClr>
              <a:buSzPts val="2081"/>
              <a:buFont typeface="Arial"/>
              <a:buNone/>
            </a:pPr>
            <a:r>
              <a:rPr lang="en-US" sz="2081" b="1">
                <a:solidFill>
                  <a:srgbClr val="1C1B1A"/>
                </a:solidFill>
                <a:latin typeface="Arial"/>
                <a:ea typeface="Arial"/>
                <a:cs typeface="Arial"/>
                <a:sym typeface="Arial"/>
              </a:rPr>
              <a:t>Temporal modeling</a:t>
            </a:r>
            <a:endParaRPr sz="2081">
              <a:solidFill>
                <a:schemeClr val="dk1"/>
              </a:solidFill>
              <a:latin typeface="Calibri"/>
              <a:ea typeface="Calibri"/>
              <a:cs typeface="Calibri"/>
              <a:sym typeface="Calibri"/>
            </a:endParaRPr>
          </a:p>
        </p:txBody>
      </p:sp>
      <p:sp>
        <p:nvSpPr>
          <p:cNvPr id="790" name="Google Shape;790;p18"/>
          <p:cNvSpPr/>
          <p:nvPr/>
        </p:nvSpPr>
        <p:spPr>
          <a:xfrm>
            <a:off x="2019300" y="6772275"/>
            <a:ext cx="6916579" cy="666750"/>
          </a:xfrm>
          <a:prstGeom prst="rect">
            <a:avLst/>
          </a:prstGeom>
          <a:noFill/>
          <a:ln>
            <a:noFill/>
          </a:ln>
        </p:spPr>
        <p:txBody>
          <a:bodyPr spcFirstLastPara="1" wrap="square" lIns="25400" tIns="25400" rIns="25400" bIns="25400" anchor="t" anchorCtr="0">
            <a:normAutofit/>
          </a:bodyPr>
          <a:lstStyle/>
          <a:p>
            <a:pPr marL="0" marR="0" lvl="0" indent="0" algn="l" rtl="0">
              <a:lnSpc>
                <a:spcPct val="140000"/>
              </a:lnSpc>
              <a:spcBef>
                <a:spcPts val="0"/>
              </a:spcBef>
              <a:spcAft>
                <a:spcPts val="0"/>
              </a:spcAft>
              <a:buClr>
                <a:srgbClr val="4B4845"/>
              </a:buClr>
              <a:buSzPts val="1665"/>
              <a:buFont typeface="Arial"/>
              <a:buNone/>
            </a:pPr>
            <a:r>
              <a:rPr lang="en-US" sz="1665">
                <a:solidFill>
                  <a:srgbClr val="4B4845"/>
                </a:solidFill>
                <a:latin typeface="Arial"/>
                <a:ea typeface="Arial"/>
                <a:cs typeface="Arial"/>
                <a:sym typeface="Arial"/>
              </a:rPr>
              <a:t>Sequence models that track how student risk evolves semester by semester</a:t>
            </a:r>
            <a:endParaRPr sz="1665">
              <a:solidFill>
                <a:schemeClr val="dk1"/>
              </a:solidFill>
              <a:latin typeface="Calibri"/>
              <a:ea typeface="Calibri"/>
              <a:cs typeface="Calibri"/>
              <a:sym typeface="Calibri"/>
            </a:endParaRPr>
          </a:p>
        </p:txBody>
      </p:sp>
      <p:sp>
        <p:nvSpPr>
          <p:cNvPr id="791" name="Google Shape;791;p18"/>
          <p:cNvSpPr/>
          <p:nvPr/>
        </p:nvSpPr>
        <p:spPr>
          <a:xfrm>
            <a:off x="9277350" y="6096000"/>
            <a:ext cx="8058150" cy="1543050"/>
          </a:xfrm>
          <a:prstGeom prst="rect">
            <a:avLst/>
          </a:prstGeom>
          <a:noFill/>
          <a:ln w="9525" cap="flat" cmpd="sng">
            <a:solidFill>
              <a:srgbClr val="D9D3C5"/>
            </a:solidFill>
            <a:prstDash val="dash"/>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92" name="Google Shape;792;p18"/>
          <p:cNvSpPr/>
          <p:nvPr/>
        </p:nvSpPr>
        <p:spPr>
          <a:xfrm>
            <a:off x="11441309" y="6396038"/>
            <a:ext cx="3730231" cy="981075"/>
          </a:xfrm>
          <a:prstGeom prst="rect">
            <a:avLst/>
          </a:prstGeom>
          <a:noFill/>
          <a:ln>
            <a:noFill/>
          </a:ln>
        </p:spPr>
        <p:txBody>
          <a:bodyPr spcFirstLastPara="1" wrap="square" lIns="25400" tIns="25400" rIns="25400" bIns="25400" anchor="t" anchorCtr="0">
            <a:normAutofit/>
          </a:bodyPr>
          <a:lstStyle/>
          <a:p>
            <a:pPr marL="0" marR="0" lvl="0" indent="0" algn="ctr" rtl="0">
              <a:lnSpc>
                <a:spcPct val="130000"/>
              </a:lnSpc>
              <a:spcBef>
                <a:spcPts val="0"/>
              </a:spcBef>
              <a:spcAft>
                <a:spcPts val="0"/>
              </a:spcAft>
              <a:buClr>
                <a:srgbClr val="807C76"/>
              </a:buClr>
              <a:buSzPts val="1526"/>
              <a:buFont typeface="Courier New"/>
              <a:buNone/>
            </a:pPr>
            <a:r>
              <a:rPr lang="en-US" sz="1526">
                <a:solidFill>
                  <a:srgbClr val="807C76"/>
                </a:solidFill>
                <a:latin typeface="Courier New"/>
                <a:ea typeface="Courier New"/>
                <a:cs typeface="Courier New"/>
                <a:sym typeface="Courier New"/>
              </a:rPr>
              <a:t>Each direction addresses a current limitation — </a:t>
            </a:r>
            <a:r>
              <a:rPr lang="en-US" sz="1526">
                <a:solidFill>
                  <a:srgbClr val="B95D2C"/>
                </a:solidFill>
                <a:latin typeface="Courier New"/>
                <a:ea typeface="Courier New"/>
                <a:cs typeface="Courier New"/>
                <a:sym typeface="Courier New"/>
              </a:rPr>
              <a:t>limitations → opportunities</a:t>
            </a:r>
            <a:endParaRPr sz="1526">
              <a:solidFill>
                <a:schemeClr val="dk1"/>
              </a:solidFill>
              <a:latin typeface="Calibri"/>
              <a:ea typeface="Calibri"/>
              <a:cs typeface="Calibri"/>
              <a:sym typeface="Calibri"/>
            </a:endParaRPr>
          </a:p>
        </p:txBody>
      </p:sp>
      <p:sp>
        <p:nvSpPr>
          <p:cNvPr id="793" name="Google Shape;793;p18"/>
          <p:cNvSpPr/>
          <p:nvPr/>
        </p:nvSpPr>
        <p:spPr>
          <a:xfrm>
            <a:off x="16692116" y="7762875"/>
            <a:ext cx="1100584" cy="2952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807C76"/>
              </a:buClr>
              <a:buSzPts val="1665"/>
              <a:buFont typeface="Courier New"/>
              <a:buNone/>
            </a:pPr>
            <a:r>
              <a:rPr lang="en-US" sz="1665">
                <a:solidFill>
                  <a:srgbClr val="807C76"/>
                </a:solidFill>
                <a:latin typeface="Courier New"/>
                <a:ea typeface="Courier New"/>
                <a:cs typeface="Courier New"/>
                <a:sym typeface="Courier New"/>
              </a:rPr>
              <a:t>18/19</a:t>
            </a:r>
            <a:endParaRPr sz="1665">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Shape 798"/>
        <p:cNvGrpSpPr/>
        <p:nvPr/>
      </p:nvGrpSpPr>
      <p:grpSpPr>
        <a:xfrm>
          <a:off x="0" y="0"/>
          <a:ext cx="0" cy="0"/>
          <a:chOff x="0" y="0"/>
          <a:chExt cx="0" cy="0"/>
        </a:xfrm>
      </p:grpSpPr>
      <p:sp>
        <p:nvSpPr>
          <p:cNvPr id="799" name="Google Shape;799;p19"/>
          <p:cNvSpPr/>
          <p:nvPr/>
        </p:nvSpPr>
        <p:spPr>
          <a:xfrm>
            <a:off x="0" y="0"/>
            <a:ext cx="18288000" cy="6924675"/>
          </a:xfrm>
          <a:prstGeom prst="rect">
            <a:avLst/>
          </a:prstGeom>
          <a:solidFill>
            <a:srgbClr val="0E3A5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00" name="Google Shape;800;p19"/>
          <p:cNvSpPr/>
          <p:nvPr/>
        </p:nvSpPr>
        <p:spPr>
          <a:xfrm>
            <a:off x="1143000" y="1237506"/>
            <a:ext cx="533400" cy="19050"/>
          </a:xfrm>
          <a:prstGeom prst="rect">
            <a:avLst/>
          </a:prstGeom>
          <a:solidFill>
            <a:srgbClr val="FFFFFF">
              <a:alpha val="6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01" name="Google Shape;801;p19"/>
          <p:cNvSpPr/>
          <p:nvPr/>
        </p:nvSpPr>
        <p:spPr>
          <a:xfrm>
            <a:off x="1847850" y="1143000"/>
            <a:ext cx="1502843" cy="2952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FFFFFF"/>
              </a:buClr>
              <a:buSzPts val="1665"/>
              <a:buFont typeface="Courier New"/>
              <a:buNone/>
            </a:pPr>
            <a:r>
              <a:rPr lang="en-US" sz="1665">
                <a:solidFill>
                  <a:srgbClr val="FFFFFF"/>
                </a:solidFill>
                <a:latin typeface="Courier New"/>
                <a:ea typeface="Courier New"/>
                <a:cs typeface="Courier New"/>
                <a:sym typeface="Courier New"/>
              </a:rPr>
              <a:t>18 · END</a:t>
            </a:r>
            <a:endParaRPr sz="1665">
              <a:solidFill>
                <a:schemeClr val="dk1"/>
              </a:solidFill>
              <a:latin typeface="Calibri"/>
              <a:ea typeface="Calibri"/>
              <a:cs typeface="Calibri"/>
              <a:sym typeface="Calibri"/>
            </a:endParaRPr>
          </a:p>
        </p:txBody>
      </p:sp>
      <p:sp>
        <p:nvSpPr>
          <p:cNvPr id="802" name="Google Shape;802;p19"/>
          <p:cNvSpPr/>
          <p:nvPr/>
        </p:nvSpPr>
        <p:spPr>
          <a:xfrm>
            <a:off x="1143000" y="2162175"/>
            <a:ext cx="16482060" cy="1619250"/>
          </a:xfrm>
          <a:prstGeom prst="rect">
            <a:avLst/>
          </a:prstGeom>
          <a:noFill/>
          <a:ln>
            <a:noFill/>
          </a:ln>
        </p:spPr>
        <p:txBody>
          <a:bodyPr spcFirstLastPara="1" wrap="square" lIns="25400" tIns="25400" rIns="25400" bIns="25400" anchor="t" anchorCtr="0">
            <a:normAutofit/>
          </a:bodyPr>
          <a:lstStyle/>
          <a:p>
            <a:pPr marL="0" marR="0" lvl="0" indent="0" algn="l" rtl="0">
              <a:lnSpc>
                <a:spcPct val="84000"/>
              </a:lnSpc>
              <a:spcBef>
                <a:spcPts val="0"/>
              </a:spcBef>
              <a:spcAft>
                <a:spcPts val="0"/>
              </a:spcAft>
              <a:buClr>
                <a:srgbClr val="FFFFFF"/>
              </a:buClr>
              <a:buSzPts val="11100"/>
              <a:buFont typeface="Georgia"/>
              <a:buNone/>
            </a:pPr>
            <a:r>
              <a:rPr lang="en-US" sz="11100">
                <a:solidFill>
                  <a:srgbClr val="FFFFFF"/>
                </a:solidFill>
                <a:latin typeface="Georgia"/>
                <a:ea typeface="Georgia"/>
                <a:cs typeface="Georgia"/>
                <a:sym typeface="Georgia"/>
              </a:rPr>
              <a:t>Thank you.</a:t>
            </a:r>
            <a:endParaRPr sz="11100">
              <a:solidFill>
                <a:schemeClr val="dk1"/>
              </a:solidFill>
              <a:latin typeface="Calibri"/>
              <a:ea typeface="Calibri"/>
              <a:cs typeface="Calibri"/>
              <a:sym typeface="Calibri"/>
            </a:endParaRPr>
          </a:p>
        </p:txBody>
      </p:sp>
      <p:sp>
        <p:nvSpPr>
          <p:cNvPr id="803" name="Google Shape;803;p19"/>
          <p:cNvSpPr/>
          <p:nvPr/>
        </p:nvSpPr>
        <p:spPr>
          <a:xfrm>
            <a:off x="1143000" y="3971925"/>
            <a:ext cx="16482060" cy="533400"/>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FFFFFF"/>
              </a:buClr>
              <a:buSzPts val="3300"/>
              <a:buFont typeface="Arial"/>
              <a:buNone/>
            </a:pPr>
            <a:r>
              <a:rPr lang="en-US" sz="3300">
                <a:solidFill>
                  <a:srgbClr val="FFFFFF"/>
                </a:solidFill>
                <a:latin typeface="Arial"/>
                <a:ea typeface="Arial"/>
                <a:cs typeface="Arial"/>
                <a:sym typeface="Arial"/>
              </a:rPr>
              <a:t>Questions welcome.</a:t>
            </a:r>
            <a:endParaRPr sz="3300">
              <a:solidFill>
                <a:schemeClr val="dk1"/>
              </a:solidFill>
              <a:latin typeface="Calibri"/>
              <a:ea typeface="Calibri"/>
              <a:cs typeface="Calibri"/>
              <a:sym typeface="Calibri"/>
            </a:endParaRPr>
          </a:p>
        </p:txBody>
      </p:sp>
      <p:sp>
        <p:nvSpPr>
          <p:cNvPr id="804" name="Google Shape;804;p19"/>
          <p:cNvSpPr/>
          <p:nvPr/>
        </p:nvSpPr>
        <p:spPr>
          <a:xfrm>
            <a:off x="1143000" y="4467225"/>
            <a:ext cx="4570583" cy="438150"/>
          </a:xfrm>
          <a:prstGeom prst="rect">
            <a:avLst/>
          </a:prstGeom>
          <a:noFill/>
          <a:ln>
            <a:noFill/>
          </a:ln>
        </p:spPr>
        <p:txBody>
          <a:bodyPr spcFirstLastPara="1" wrap="square" lIns="25400" tIns="25400" rIns="25400" bIns="25400" anchor="t" anchorCtr="0">
            <a:normAutofit/>
          </a:bodyPr>
          <a:lstStyle/>
          <a:p>
            <a:pPr marL="0" marR="0" lvl="0" indent="0" algn="l" rtl="0">
              <a:lnSpc>
                <a:spcPct val="140000"/>
              </a:lnSpc>
              <a:spcBef>
                <a:spcPts val="0"/>
              </a:spcBef>
              <a:spcAft>
                <a:spcPts val="0"/>
              </a:spcAft>
              <a:buClr>
                <a:srgbClr val="FFFFFF"/>
              </a:buClr>
              <a:buSzPts val="1942"/>
              <a:buFont typeface="Arial"/>
              <a:buNone/>
            </a:pPr>
            <a:r>
              <a:rPr lang="en-US" sz="1943" b="1">
                <a:solidFill>
                  <a:srgbClr val="FFFFFF"/>
                </a:solidFill>
                <a:latin typeface="Arial"/>
                <a:ea typeface="Arial"/>
                <a:cs typeface="Arial"/>
                <a:sym typeface="Arial"/>
              </a:rPr>
              <a:t>Lam Nguyen</a:t>
            </a:r>
            <a:r>
              <a:rPr lang="en-US" sz="1943">
                <a:solidFill>
                  <a:srgbClr val="FFFFFF"/>
                </a:solidFill>
                <a:latin typeface="Arial"/>
                <a:ea typeface="Arial"/>
                <a:cs typeface="Arial"/>
                <a:sym typeface="Arial"/>
              </a:rPr>
              <a:t>· 018229432</a:t>
            </a:r>
            <a:endParaRPr sz="1943">
              <a:solidFill>
                <a:schemeClr val="dk1"/>
              </a:solidFill>
              <a:latin typeface="Calibri"/>
              <a:ea typeface="Calibri"/>
              <a:cs typeface="Calibri"/>
              <a:sym typeface="Calibri"/>
            </a:endParaRPr>
          </a:p>
        </p:txBody>
      </p:sp>
      <p:sp>
        <p:nvSpPr>
          <p:cNvPr id="805" name="Google Shape;805;p19"/>
          <p:cNvSpPr/>
          <p:nvPr/>
        </p:nvSpPr>
        <p:spPr>
          <a:xfrm>
            <a:off x="1143000" y="4867275"/>
            <a:ext cx="4570583" cy="438150"/>
          </a:xfrm>
          <a:prstGeom prst="rect">
            <a:avLst/>
          </a:prstGeom>
          <a:noFill/>
          <a:ln>
            <a:noFill/>
          </a:ln>
        </p:spPr>
        <p:txBody>
          <a:bodyPr spcFirstLastPara="1" wrap="square" lIns="25400" tIns="25400" rIns="25400" bIns="25400" anchor="t" anchorCtr="0">
            <a:normAutofit/>
          </a:bodyPr>
          <a:lstStyle/>
          <a:p>
            <a:pPr marL="0" marR="0" lvl="0" indent="0" algn="l" rtl="0">
              <a:lnSpc>
                <a:spcPct val="140000"/>
              </a:lnSpc>
              <a:spcBef>
                <a:spcPts val="0"/>
              </a:spcBef>
              <a:spcAft>
                <a:spcPts val="0"/>
              </a:spcAft>
              <a:buClr>
                <a:srgbClr val="FFFFFF"/>
              </a:buClr>
              <a:buSzPts val="1942"/>
              <a:buFont typeface="Arial"/>
              <a:buNone/>
            </a:pPr>
            <a:r>
              <a:rPr lang="en-US" sz="1943" b="1">
                <a:solidFill>
                  <a:srgbClr val="FFFFFF"/>
                </a:solidFill>
                <a:latin typeface="Arial"/>
                <a:ea typeface="Arial"/>
                <a:cs typeface="Arial"/>
                <a:sym typeface="Arial"/>
              </a:rPr>
              <a:t>Tri Ngo</a:t>
            </a:r>
            <a:r>
              <a:rPr lang="en-US" sz="1943">
                <a:solidFill>
                  <a:srgbClr val="FFFFFF"/>
                </a:solidFill>
                <a:latin typeface="Arial"/>
                <a:ea typeface="Arial"/>
                <a:cs typeface="Arial"/>
                <a:sym typeface="Arial"/>
              </a:rPr>
              <a:t>· 015712749</a:t>
            </a:r>
            <a:endParaRPr sz="1943">
              <a:solidFill>
                <a:schemeClr val="dk1"/>
              </a:solidFill>
              <a:latin typeface="Calibri"/>
              <a:ea typeface="Calibri"/>
              <a:cs typeface="Calibri"/>
              <a:sym typeface="Calibri"/>
            </a:endParaRPr>
          </a:p>
        </p:txBody>
      </p:sp>
      <p:sp>
        <p:nvSpPr>
          <p:cNvPr id="806" name="Google Shape;806;p19"/>
          <p:cNvSpPr/>
          <p:nvPr/>
        </p:nvSpPr>
        <p:spPr>
          <a:xfrm>
            <a:off x="1143000" y="5381625"/>
            <a:ext cx="4570583" cy="438150"/>
          </a:xfrm>
          <a:prstGeom prst="rect">
            <a:avLst/>
          </a:prstGeom>
          <a:noFill/>
          <a:ln>
            <a:noFill/>
          </a:ln>
        </p:spPr>
        <p:txBody>
          <a:bodyPr spcFirstLastPara="1" wrap="square" lIns="25400" tIns="25400" rIns="25400" bIns="25400" anchor="t" anchorCtr="0">
            <a:normAutofit/>
          </a:bodyPr>
          <a:lstStyle/>
          <a:p>
            <a:pPr marL="0" marR="0" lvl="0" indent="0" algn="l" rtl="0">
              <a:lnSpc>
                <a:spcPct val="140000"/>
              </a:lnSpc>
              <a:spcBef>
                <a:spcPts val="0"/>
              </a:spcBef>
              <a:spcAft>
                <a:spcPts val="0"/>
              </a:spcAft>
              <a:buClr>
                <a:srgbClr val="FFFFFF"/>
              </a:buClr>
              <a:buSzPts val="1942"/>
              <a:buFont typeface="Arial"/>
              <a:buNone/>
            </a:pPr>
            <a:r>
              <a:rPr lang="en-US" sz="1943">
                <a:solidFill>
                  <a:srgbClr val="FFFFFF"/>
                </a:solidFill>
                <a:latin typeface="Arial"/>
                <a:ea typeface="Arial"/>
                <a:cs typeface="Arial"/>
                <a:sym typeface="Arial"/>
              </a:rPr>
              <a:t>CMPE 255 · Data Mining · Spring 2026</a:t>
            </a:r>
            <a:endParaRPr sz="1943">
              <a:solidFill>
                <a:schemeClr val="dk1"/>
              </a:solidFill>
              <a:latin typeface="Calibri"/>
              <a:ea typeface="Calibri"/>
              <a:cs typeface="Calibri"/>
              <a:sym typeface="Calibri"/>
            </a:endParaRPr>
          </a:p>
        </p:txBody>
      </p:sp>
      <p:sp>
        <p:nvSpPr>
          <p:cNvPr id="807" name="Google Shape;807;p19"/>
          <p:cNvSpPr/>
          <p:nvPr/>
        </p:nvSpPr>
        <p:spPr>
          <a:xfrm>
            <a:off x="12594345" y="5019675"/>
            <a:ext cx="4550655" cy="228600"/>
          </a:xfrm>
          <a:prstGeom prst="rect">
            <a:avLst/>
          </a:prstGeom>
          <a:noFill/>
          <a:ln>
            <a:noFill/>
          </a:ln>
        </p:spPr>
        <p:txBody>
          <a:bodyPr spcFirstLastPara="1" wrap="square" lIns="25400" tIns="25400" rIns="25400" bIns="25400" anchor="t" anchorCtr="0">
            <a:normAutofit/>
          </a:bodyPr>
          <a:lstStyle/>
          <a:p>
            <a:pPr marL="0" marR="0" lvl="0" indent="0" algn="r" rtl="0">
              <a:lnSpc>
                <a:spcPct val="90000"/>
              </a:lnSpc>
              <a:spcBef>
                <a:spcPts val="0"/>
              </a:spcBef>
              <a:spcAft>
                <a:spcPts val="0"/>
              </a:spcAft>
              <a:buClr>
                <a:srgbClr val="FFFFFF"/>
              </a:buClr>
              <a:buSzPts val="1248"/>
              <a:buFont typeface="Courier New"/>
              <a:buNone/>
            </a:pPr>
            <a:r>
              <a:rPr lang="en-US" sz="1249">
                <a:solidFill>
                  <a:srgbClr val="FFFFFF"/>
                </a:solidFill>
                <a:latin typeface="Courier New"/>
                <a:ea typeface="Courier New"/>
                <a:cs typeface="Courier New"/>
                <a:sym typeface="Courier New"/>
              </a:rPr>
              <a:t>REPOSITORY</a:t>
            </a:r>
            <a:endParaRPr sz="1249">
              <a:solidFill>
                <a:schemeClr val="dk1"/>
              </a:solidFill>
              <a:latin typeface="Calibri"/>
              <a:ea typeface="Calibri"/>
              <a:cs typeface="Calibri"/>
              <a:sym typeface="Calibri"/>
            </a:endParaRPr>
          </a:p>
        </p:txBody>
      </p:sp>
      <p:sp>
        <p:nvSpPr>
          <p:cNvPr id="808" name="Google Shape;808;p19"/>
          <p:cNvSpPr/>
          <p:nvPr/>
        </p:nvSpPr>
        <p:spPr>
          <a:xfrm>
            <a:off x="12594345" y="5305425"/>
            <a:ext cx="4550655" cy="514350"/>
          </a:xfrm>
          <a:prstGeom prst="rect">
            <a:avLst/>
          </a:prstGeom>
          <a:noFill/>
          <a:ln>
            <a:noFill/>
          </a:ln>
        </p:spPr>
        <p:txBody>
          <a:bodyPr spcFirstLastPara="1" wrap="square" lIns="25400" tIns="25400" rIns="25400" bIns="25400" anchor="t" anchorCtr="0">
            <a:normAutofit/>
          </a:bodyPr>
          <a:lstStyle/>
          <a:p>
            <a:pPr marL="0" marR="0" lvl="0" indent="0" algn="r" rtl="0">
              <a:lnSpc>
                <a:spcPct val="90000"/>
              </a:lnSpc>
              <a:spcBef>
                <a:spcPts val="0"/>
              </a:spcBef>
              <a:spcAft>
                <a:spcPts val="0"/>
              </a:spcAft>
              <a:buClr>
                <a:srgbClr val="FFFFFF"/>
              </a:buClr>
              <a:buSzPts val="1650"/>
              <a:buFont typeface="Courier New"/>
              <a:buNone/>
            </a:pPr>
            <a:r>
              <a:rPr lang="en-US" sz="1650">
                <a:solidFill>
                  <a:srgbClr val="FFFFFF"/>
                </a:solidFill>
                <a:latin typeface="Courier New"/>
                <a:ea typeface="Courier New"/>
                <a:cs typeface="Courier New"/>
                <a:sym typeface="Courier New"/>
              </a:rPr>
              <a:t>github.com/Lambert-Nguyen/ cmpe255-student-dropout-prediction</a:t>
            </a:r>
            <a:endParaRPr sz="1650">
              <a:solidFill>
                <a:schemeClr val="dk1"/>
              </a:solidFill>
              <a:latin typeface="Calibri"/>
              <a:ea typeface="Calibri"/>
              <a:cs typeface="Calibri"/>
              <a:sym typeface="Calibri"/>
            </a:endParaRPr>
          </a:p>
        </p:txBody>
      </p:sp>
      <p:sp>
        <p:nvSpPr>
          <p:cNvPr id="809" name="Google Shape;809;p19"/>
          <p:cNvSpPr/>
          <p:nvPr/>
        </p:nvSpPr>
        <p:spPr>
          <a:xfrm>
            <a:off x="16692116" y="6286500"/>
            <a:ext cx="1100584" cy="295275"/>
          </a:xfrm>
          <a:prstGeom prst="rect">
            <a:avLst/>
          </a:prstGeom>
          <a:noFill/>
          <a:ln>
            <a:noFill/>
          </a:ln>
        </p:spPr>
        <p:txBody>
          <a:bodyPr spcFirstLastPara="1" wrap="square" lIns="25400" tIns="25400" rIns="25400" bIns="25400" anchor="t" anchorCtr="0">
            <a:normAutofit/>
          </a:bodyPr>
          <a:lstStyle/>
          <a:p>
            <a:pPr marL="0" marR="0" lvl="0" indent="0" algn="l" rtl="0">
              <a:lnSpc>
                <a:spcPct val="90000"/>
              </a:lnSpc>
              <a:spcBef>
                <a:spcPts val="0"/>
              </a:spcBef>
              <a:spcAft>
                <a:spcPts val="0"/>
              </a:spcAft>
              <a:buClr>
                <a:srgbClr val="FFFFFF"/>
              </a:buClr>
              <a:buSzPts val="1665"/>
              <a:buFont typeface="Courier New"/>
              <a:buNone/>
            </a:pPr>
            <a:r>
              <a:rPr lang="en-US" sz="1665">
                <a:solidFill>
                  <a:srgbClr val="FFFFFF"/>
                </a:solidFill>
                <a:latin typeface="Courier New"/>
                <a:ea typeface="Courier New"/>
                <a:cs typeface="Courier New"/>
                <a:sym typeface="Courier New"/>
              </a:rPr>
              <a:t>19/19</a:t>
            </a:r>
            <a:endParaRPr sz="1665">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4513</Words>
  <Application>Microsoft Macintosh PowerPoint</Application>
  <PresentationFormat>Custom</PresentationFormat>
  <Paragraphs>555</Paragraphs>
  <Slides>19</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Courier New</vt:lpstr>
      <vt:lpstr>Arial</vt:lpstr>
      <vt:lpstr>Roboto</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PptxGenJS</dc:creator>
  <cp:lastModifiedBy>Lam Nguyen</cp:lastModifiedBy>
  <cp:revision>1</cp:revision>
  <dcterms:created xsi:type="dcterms:W3CDTF">2026-05-04T03:01:19Z</dcterms:created>
  <dcterms:modified xsi:type="dcterms:W3CDTF">2026-05-05T22:30:57Z</dcterms:modified>
</cp:coreProperties>
</file>